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8" r:id="rId2"/>
  </p:sldMasterIdLst>
  <p:notesMasterIdLst>
    <p:notesMasterId r:id="rId34"/>
  </p:notesMasterIdLst>
  <p:handoutMasterIdLst>
    <p:handoutMasterId r:id="rId35"/>
  </p:handoutMasterIdLst>
  <p:sldIdLst>
    <p:sldId id="479" r:id="rId3"/>
    <p:sldId id="481" r:id="rId4"/>
    <p:sldId id="528" r:id="rId5"/>
    <p:sldId id="556" r:id="rId6"/>
    <p:sldId id="541" r:id="rId7"/>
    <p:sldId id="557" r:id="rId8"/>
    <p:sldId id="529" r:id="rId9"/>
    <p:sldId id="558" r:id="rId10"/>
    <p:sldId id="564" r:id="rId11"/>
    <p:sldId id="559" r:id="rId12"/>
    <p:sldId id="562" r:id="rId13"/>
    <p:sldId id="563" r:id="rId14"/>
    <p:sldId id="524" r:id="rId15"/>
    <p:sldId id="532" r:id="rId16"/>
    <p:sldId id="533" r:id="rId17"/>
    <p:sldId id="534" r:id="rId18"/>
    <p:sldId id="535" r:id="rId19"/>
    <p:sldId id="525" r:id="rId20"/>
    <p:sldId id="546" r:id="rId21"/>
    <p:sldId id="547" r:id="rId22"/>
    <p:sldId id="548" r:id="rId23"/>
    <p:sldId id="536" r:id="rId24"/>
    <p:sldId id="538" r:id="rId25"/>
    <p:sldId id="526" r:id="rId26"/>
    <p:sldId id="549" r:id="rId27"/>
    <p:sldId id="550" r:id="rId28"/>
    <p:sldId id="551" r:id="rId29"/>
    <p:sldId id="552" r:id="rId30"/>
    <p:sldId id="553" r:id="rId31"/>
    <p:sldId id="554" r:id="rId32"/>
    <p:sldId id="540" r:id="rId33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tthew Hayes" initials="" lastIdx="2" clrIdx="0"/>
  <p:cmAuthor id="1" name="Graeme Malcolm" initials="GM" lastIdx="9" clrIdx="1">
    <p:extLst>
      <p:ext uri="{19B8F6BF-5375-455C-9EA6-DF929625EA0E}">
        <p15:presenceInfo xmlns:p15="http://schemas.microsoft.com/office/powerpoint/2012/main" userId="S-1-5-21-2127521184-1604012920-1887927527-56565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00"/>
    <a:srgbClr val="5A8DE6"/>
    <a:srgbClr val="0000CC"/>
    <a:srgbClr val="FFFFCC"/>
    <a:srgbClr val="FFFFFF"/>
    <a:srgbClr val="000066"/>
    <a:srgbClr val="BBAE54"/>
    <a:srgbClr val="000050"/>
    <a:srgbClr val="2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68" autoAdjust="0"/>
    <p:restoredTop sz="91096" autoAdjust="0"/>
  </p:normalViewPr>
  <p:slideViewPr>
    <p:cSldViewPr>
      <p:cViewPr varScale="1">
        <p:scale>
          <a:sx n="75" d="100"/>
          <a:sy n="75" d="100"/>
        </p:scale>
        <p:origin x="576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94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974"/>
    </p:cViewPr>
  </p:sorterViewPr>
  <p:notesViewPr>
    <p:cSldViewPr>
      <p:cViewPr varScale="1">
        <p:scale>
          <a:sx n="61" d="100"/>
          <a:sy n="61" d="100"/>
        </p:scale>
        <p:origin x="1632" y="3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260F0ECF-F84D-43BE-A58E-0DB2F99E2671}" type="datetimeFigureOut">
              <a:rPr lang="en-US" altLang="en-US"/>
              <a:pPr>
                <a:defRPr/>
              </a:pPr>
              <a:t>3/29/2026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312E49B-09D1-47A2-B871-8DE206184B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3037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FCC8B620-7FB1-4D4A-893E-5909C901B9B8}" type="datetimeFigureOut">
              <a:rPr lang="en-US" altLang="en-US"/>
              <a:pPr>
                <a:defRPr/>
              </a:pPr>
              <a:t>3/29/2026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5929A2E2-B731-4145-A8A4-FEBDEFC5FF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79171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33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969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power condition allows recurrence</a:t>
            </a:r>
          </a:p>
        </p:txBody>
      </p:sp>
    </p:spTree>
    <p:extLst>
      <p:ext uri="{BB962C8B-B14F-4D97-AF65-F5344CB8AC3E}">
        <p14:creationId xmlns:p14="http://schemas.microsoft.com/office/powerpoint/2010/main" val="37908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Remember that Theta implies Big O and Omega</a:t>
            </a:r>
          </a:p>
          <a:p>
            <a:r>
              <a:rPr lang="en-US" b="1" dirty="0"/>
              <a:t>provides approximate solution to a recursive equation</a:t>
            </a:r>
          </a:p>
        </p:txBody>
      </p:sp>
    </p:spTree>
    <p:extLst>
      <p:ext uri="{BB962C8B-B14F-4D97-AF65-F5344CB8AC3E}">
        <p14:creationId xmlns:p14="http://schemas.microsoft.com/office/powerpoint/2010/main" val="1750994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337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831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E4FD-D791-7BE4-B5C1-8990BE7C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A846EFD1-DC23-B00E-5D08-5BCB31D49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259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6F621-0C12-C6B6-BBF3-FD7AA712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66C00B15-3A57-44ED-902B-48C0947D9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75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FADF-4329-D0A6-3010-B3750CBA1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530731A1-9AAD-107D-6374-B1535C45C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72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5E906-FF74-1192-2D3D-E2B8C4C73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12C17321-7164-3D5A-4E45-7FC9ABFBEA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TimesTen-Roman"/>
              </a:rPr>
              <a:t>Assuming as usual that </a:t>
            </a:r>
            <a:r>
              <a:rPr lang="en-US" sz="1800" b="0" i="1" u="none" strike="noStrike" baseline="0" dirty="0">
                <a:latin typeface="MTMI"/>
              </a:rPr>
              <a:t>n </a:t>
            </a:r>
            <a:r>
              <a:rPr lang="en-US" sz="1800" b="0" i="0" u="none" strike="noStrike" baseline="0" dirty="0">
                <a:latin typeface="TimesTen-Roman"/>
              </a:rPr>
              <a:t>is a power of 2, we have the following recurrence for the running time of the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6340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54DA8-C61E-0AFD-2645-CC576F2B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B14E7CCB-ED82-050F-9A71-D9766ADDE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TimesTen-Roman"/>
              </a:rPr>
              <a:t>Assuming as usual that </a:t>
            </a:r>
            <a:r>
              <a:rPr lang="en-US" sz="1800" b="0" i="1" u="none" strike="noStrike" baseline="0" dirty="0">
                <a:latin typeface="MTMI"/>
              </a:rPr>
              <a:t>n </a:t>
            </a:r>
            <a:r>
              <a:rPr lang="en-US" sz="1800" b="0" i="0" u="none" strike="noStrike" baseline="0" dirty="0">
                <a:latin typeface="TimesTen-Roman"/>
              </a:rPr>
              <a:t>is a power of 2, we have the following recurrence for the running time of the 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780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747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4894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35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cs typeface="Arial" charset="0"/>
              </a:rPr>
              <a:t>O(log n) </a:t>
            </a:r>
            <a:r>
              <a:rPr lang="en-US" altLang="en-US" sz="1200">
                <a:cs typeface="Arial" charset="0"/>
              </a:rPr>
              <a:t>in general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6591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21497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07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748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7327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9330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the time complexity of M(n)=2M(n/2)+1 is O(n)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1232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TimesTen-Roman"/>
              </a:rPr>
              <a:t>Some applications, notably modern cryptography, require manipulation of integers that are over 100 decimal digits long. Since such integers are too long to fit in</a:t>
            </a:r>
          </a:p>
          <a:p>
            <a:pPr algn="l"/>
            <a:r>
              <a:rPr lang="en-US" sz="1800" b="0" i="0" u="none" strike="noStrike" baseline="0" dirty="0">
                <a:latin typeface="TimesTen-Roman"/>
              </a:rPr>
              <a:t>a single word of a modern computer, they require special treatment. This practical need seeks algorithms for efficient manipulation of large integers.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84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2612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9114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739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7625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421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7048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002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05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>
            <a:lvl1pPr>
              <a:defRPr sz="40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51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219200"/>
          </a:xfrm>
        </p:spPr>
        <p:txBody>
          <a:bodyPr/>
          <a:lstStyle>
            <a:lvl1pPr>
              <a:defRPr sz="3600" b="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526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4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2"/>
            <a:ext cx="5384800" cy="3916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4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8265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1999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96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7856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8576"/>
            <a:ext cx="12192000" cy="1247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1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90602"/>
            <a:ext cx="2743200" cy="4906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90602"/>
            <a:ext cx="8026400" cy="4906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20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0600"/>
            <a:ext cx="109728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1"/>
            <a:ext cx="5384800" cy="1881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14790"/>
            <a:ext cx="5384800" cy="188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2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90600"/>
            <a:ext cx="109728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2"/>
            <a:ext cx="5384800" cy="3916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197600" y="1981202"/>
            <a:ext cx="5384800" cy="3916363"/>
          </a:xfrm>
        </p:spPr>
        <p:txBody>
          <a:bodyPr/>
          <a:lstStyle/>
          <a:p>
            <a:pPr lvl="0"/>
            <a:r>
              <a:rPr lang="en-US" noProof="0"/>
              <a:t>Click icon to add media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9619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990602"/>
            <a:ext cx="10972800" cy="4906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477001"/>
            <a:ext cx="3860800" cy="24447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59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A585E1-CF01-406D-858C-101913AACD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2728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7BED28-CF36-4AE1-B3BC-441DDA300B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8390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AB5C3-E46F-47EA-B2C7-0537058F2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15900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11607-FEDE-4B3C-B093-8F69E31FE0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9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3879A-5510-441C-AF5A-BB7EDDA569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30370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A0A3C-4E93-4AE8-9691-5880DE951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478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90B27-A95E-4E85-A968-48FC38C18B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96243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B2C8D-9373-4A5C-966D-3D5A3E53D1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5902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5217E3-9142-477F-B01F-5956A03AE7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85203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2FD06C-BD9A-4128-BB6C-2F9A3DB4FA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3557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FAFB62-30DA-4A3E-98AA-4C489BA2EE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658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95400"/>
            <a:ext cx="10972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8575"/>
            <a:ext cx="12192000" cy="9906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2" r:id="rId1"/>
    <p:sldLayoutId id="2147484393" r:id="rId2"/>
    <p:sldLayoutId id="2147484373" r:id="rId3"/>
    <p:sldLayoutId id="2147484374" r:id="rId4"/>
    <p:sldLayoutId id="2147484394" r:id="rId5"/>
    <p:sldLayoutId id="2147484395" r:id="rId6"/>
    <p:sldLayoutId id="2147484396" r:id="rId7"/>
    <p:sldLayoutId id="2147484397" r:id="rId8"/>
    <p:sldLayoutId id="2147484375" r:id="rId9"/>
    <p:sldLayoutId id="2147484376" r:id="rId10"/>
    <p:sldLayoutId id="2147484377" r:id="rId11"/>
    <p:sldLayoutId id="2147484378" r:id="rId12"/>
    <p:sldLayoutId id="2147484379" r:id="rId13"/>
    <p:sldLayoutId id="2147484380" r:id="rId14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17"/>
        </a:buBlip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65000"/>
        <a:buBlip>
          <a:blip r:embed="rId18"/>
        </a:buBlip>
        <a:defRPr sz="2800">
          <a:solidFill>
            <a:srgbClr val="000050"/>
          </a:solidFill>
          <a:latin typeface="+mn-lt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65000"/>
        <a:buBlip>
          <a:blip r:embed="rId19"/>
        </a:buBlip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0BFDEB6E-1DDE-4718-956D-E92CB94A55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1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13.wmf"/><Relationship Id="rId4" Type="http://schemas.openxmlformats.org/officeDocument/2006/relationships/image" Target="../media/image3.png"/><Relationship Id="rId9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zhang-xiao-mu.blog/2019/01/20/tree-traversal-preorder-postorder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takeuforward.org/data-structure/inorder-traversal-of-binary-tree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takeuforward.org/data-structure/post-order-traversal-of-binary-tree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hyperlink" Target="https://takeuforward.org/data-structure/preorder-traversal-of-binary-tree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Topic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CC"/>
                </a:solidFill>
              </a:rPr>
              <a:t>Divide and Conquer</a:t>
            </a:r>
          </a:p>
          <a:p>
            <a:r>
              <a:rPr lang="en-US" b="1" dirty="0">
                <a:solidFill>
                  <a:srgbClr val="00B050"/>
                </a:solidFill>
                <a:latin typeface="Agency FB" panose="020B0503020202020204" pitchFamily="34" charset="0"/>
              </a:rPr>
              <a:t>Prof. </a:t>
            </a:r>
            <a:r>
              <a:rPr lang="en-US" b="1">
                <a:solidFill>
                  <a:srgbClr val="00B050"/>
                </a:solidFill>
                <a:latin typeface="Agency FB" panose="020B0503020202020204" pitchFamily="34" charset="0"/>
              </a:rPr>
              <a:t>Hanan Elazhary</a:t>
            </a:r>
          </a:p>
          <a:p>
            <a:endParaRPr lang="en-US" b="1" dirty="0">
              <a:solidFill>
                <a:srgbClr val="0000CC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1DDC7D-9AC9-1A5F-C492-B67EF3D30262}"/>
              </a:ext>
            </a:extLst>
          </p:cNvPr>
          <p:cNvSpPr txBox="1"/>
          <p:nvPr/>
        </p:nvSpPr>
        <p:spPr>
          <a:xfrm>
            <a:off x="2819400" y="6410980"/>
            <a:ext cx="93878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Main source: </a:t>
            </a:r>
            <a:r>
              <a:rPr lang="en-US" sz="1200" dirty="0"/>
              <a:t>A. Levitin, Introduction to the Design and Analysis of Algorithms, 3</a:t>
            </a:r>
            <a:r>
              <a:rPr lang="en-US" sz="1200" baseline="30000" dirty="0"/>
              <a:t>rd</a:t>
            </a:r>
            <a:r>
              <a:rPr lang="en-US" sz="1200" dirty="0"/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314059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FF0000"/>
                </a:solidFill>
              </a:rPr>
              <a:t>Divide and Conquer</a:t>
            </a:r>
            <a:endParaRPr sz="4000" b="1" spc="-18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2</a:t>
            </a:fld>
            <a:endParaRPr lang="en-U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54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The most-well known algorithm design strategy</a:t>
            </a:r>
          </a:p>
          <a:p>
            <a:pPr lvl="1">
              <a:lnSpc>
                <a:spcPct val="150000"/>
              </a:lnSpc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Divide instance of a problem into two or more smaller instances</a:t>
            </a:r>
          </a:p>
          <a:p>
            <a:pPr lvl="1">
              <a:lnSpc>
                <a:spcPct val="150000"/>
              </a:lnSpc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Solve smaller instances typically </a:t>
            </a:r>
            <a:r>
              <a:rPr lang="en-US" sz="1800" dirty="0">
                <a:cs typeface="Arial" charset="0"/>
              </a:rPr>
              <a:t>(but not necessarily)</a:t>
            </a:r>
            <a:r>
              <a:rPr lang="en-US" sz="2400" dirty="0">
                <a:cs typeface="Arial" charset="0"/>
              </a:rPr>
              <a:t> recursively</a:t>
            </a:r>
          </a:p>
          <a:p>
            <a:pPr lvl="1">
              <a:lnSpc>
                <a:spcPct val="150000"/>
              </a:lnSpc>
              <a:buClr>
                <a:srgbClr val="FF6600"/>
              </a:buClr>
              <a:tabLst>
                <a:tab pos="465671" algn="l"/>
              </a:tabLst>
            </a:pPr>
            <a:r>
              <a:rPr lang="en-US" sz="2400" dirty="0">
                <a:cs typeface="Arial" charset="0"/>
              </a:rPr>
              <a:t>Obtain solution to original </a:t>
            </a:r>
            <a:r>
              <a:rPr lang="en-US" sz="1800" dirty="0">
                <a:cs typeface="Arial" charset="0"/>
              </a:rPr>
              <a:t>(larger) </a:t>
            </a:r>
            <a:r>
              <a:rPr lang="en-US" sz="2400" dirty="0">
                <a:cs typeface="Arial" charset="0"/>
              </a:rPr>
              <a:t>instance by combining these solutions</a:t>
            </a:r>
          </a:p>
          <a:p>
            <a:pPr marL="0" indent="0">
              <a:buClr>
                <a:srgbClr val="FF6600"/>
              </a:buClr>
              <a:buNone/>
              <a:tabLst>
                <a:tab pos="465671" algn="l"/>
              </a:tabLst>
            </a:pPr>
            <a:endParaRPr lang="en-US" sz="2800" dirty="0">
              <a:solidFill>
                <a:srgbClr val="000000"/>
              </a:solidFill>
              <a:latin typeface="Arial"/>
              <a:cs typeface="Arial" charset="0"/>
            </a:endParaRPr>
          </a:p>
          <a:p>
            <a:pPr marL="0" indent="0">
              <a:buClr>
                <a:srgbClr val="FF6600"/>
              </a:buClr>
              <a:buNone/>
              <a:tabLst>
                <a:tab pos="465671" algn="l"/>
              </a:tabLst>
            </a:pPr>
            <a:endParaRPr lang="en-US" sz="2800" dirty="0">
              <a:cs typeface="Arial" charset="0"/>
            </a:endParaRPr>
          </a:p>
          <a:p>
            <a:pPr>
              <a:buClr>
                <a:srgbClr val="FF6600"/>
              </a:buClr>
              <a:tabLst>
                <a:tab pos="465671" algn="l"/>
              </a:tabLst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cs typeface="Arial" charset="0"/>
              </a:rPr>
              <a:t>Though we consider only sequential algorithms here, it is worth keeping in mind that the divide-and-conquer strategy is ideally suited for parallel computations, in which each subproblem can be solved simultaneously by its own processor</a:t>
            </a:r>
          </a:p>
        </p:txBody>
      </p:sp>
    </p:spTree>
    <p:extLst>
      <p:ext uri="{BB962C8B-B14F-4D97-AF65-F5344CB8AC3E}">
        <p14:creationId xmlns:p14="http://schemas.microsoft.com/office/powerpoint/2010/main" val="74004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0070C0"/>
                </a:solidFill>
              </a:rPr>
              <a:t>Divide and Conquer, Contd.</a:t>
            </a:r>
            <a:endParaRPr sz="40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3</a:t>
            </a:fld>
            <a:endParaRPr lang="en-US" dirty="0"/>
          </a:p>
        </p:txBody>
      </p:sp>
      <p:sp>
        <p:nvSpPr>
          <p:cNvPr id="2" name="Oval 6">
            <a:extLst>
              <a:ext uri="{FF2B5EF4-FFF2-40B4-BE49-F238E27FC236}">
                <a16:creationId xmlns:a16="http://schemas.microsoft.com/office/drawing/2014/main" id="{0367C42D-292D-B77C-7281-A2E1772E2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2354261"/>
            <a:ext cx="22860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800">
                <a:solidFill>
                  <a:srgbClr val="001932"/>
                </a:solidFill>
                <a:ea typeface="+mn-ea"/>
              </a:rPr>
              <a:t>subproblem 2 </a:t>
            </a:r>
          </a:p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800">
                <a:solidFill>
                  <a:srgbClr val="001932"/>
                </a:solidFill>
                <a:ea typeface="+mn-ea"/>
              </a:rPr>
              <a:t>of size </a:t>
            </a:r>
            <a:r>
              <a:rPr kumimoji="0" lang="en-US" altLang="en-US" sz="1800" i="1">
                <a:solidFill>
                  <a:srgbClr val="001932"/>
                </a:solidFill>
                <a:ea typeface="+mn-ea"/>
              </a:rPr>
              <a:t>n</a:t>
            </a:r>
            <a:r>
              <a:rPr kumimoji="0" lang="en-US" altLang="en-US" sz="1800">
                <a:solidFill>
                  <a:srgbClr val="001932"/>
                </a:solidFill>
                <a:ea typeface="+mn-ea"/>
              </a:rPr>
              <a:t>/2</a:t>
            </a: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75AA7F45-6356-600A-860A-2953F1D4C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54261"/>
            <a:ext cx="22860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800">
                <a:solidFill>
                  <a:srgbClr val="001932"/>
                </a:solidFill>
                <a:ea typeface="+mn-ea"/>
              </a:rPr>
              <a:t>subproblem 1 </a:t>
            </a:r>
          </a:p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800">
                <a:solidFill>
                  <a:srgbClr val="001932"/>
                </a:solidFill>
                <a:ea typeface="+mn-ea"/>
              </a:rPr>
              <a:t>of size </a:t>
            </a:r>
            <a:r>
              <a:rPr kumimoji="0" lang="en-US" altLang="en-US" sz="1800" i="1">
                <a:solidFill>
                  <a:srgbClr val="001932"/>
                </a:solidFill>
                <a:ea typeface="+mn-ea"/>
              </a:rPr>
              <a:t>n</a:t>
            </a:r>
            <a:r>
              <a:rPr kumimoji="0" lang="en-US" altLang="en-US" sz="1800">
                <a:solidFill>
                  <a:srgbClr val="001932"/>
                </a:solidFill>
                <a:ea typeface="+mn-ea"/>
              </a:rPr>
              <a:t>/2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892C4CE-FD82-C329-5282-D9D7EAE8E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649661"/>
            <a:ext cx="22860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600">
                <a:solidFill>
                  <a:srgbClr val="001932"/>
                </a:solidFill>
                <a:ea typeface="+mn-ea"/>
              </a:rPr>
              <a:t>a solution to </a:t>
            </a:r>
          </a:p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600">
                <a:solidFill>
                  <a:srgbClr val="001932"/>
                </a:solidFill>
                <a:ea typeface="+mn-ea"/>
              </a:rPr>
              <a:t>subproblem 1</a:t>
            </a:r>
            <a:endParaRPr kumimoji="0" lang="en-US" altLang="en-US" b="0">
              <a:solidFill>
                <a:srgbClr val="FFFFFF"/>
              </a:solidFill>
              <a:ea typeface="+mn-ea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7D2C862-B16E-B65C-01D4-9D58DA46E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5402261"/>
            <a:ext cx="22860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600">
                <a:solidFill>
                  <a:srgbClr val="001932"/>
                </a:solidFill>
                <a:ea typeface="+mn-ea"/>
              </a:rPr>
              <a:t>a solution to</a:t>
            </a:r>
          </a:p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600">
                <a:solidFill>
                  <a:srgbClr val="001932"/>
                </a:solidFill>
                <a:ea typeface="+mn-ea"/>
              </a:rPr>
              <a:t>the original problem</a:t>
            </a:r>
            <a:endParaRPr kumimoji="0" lang="en-US" altLang="en-US" b="0">
              <a:solidFill>
                <a:srgbClr val="FFFFFF"/>
              </a:solidFill>
              <a:ea typeface="+mn-ea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7EFC65AF-72FA-2F52-BA39-E3C5D26B4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0" y="3649661"/>
            <a:ext cx="2286000" cy="6858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600">
                <a:solidFill>
                  <a:srgbClr val="001932"/>
                </a:solidFill>
                <a:ea typeface="+mn-ea"/>
              </a:rPr>
              <a:t>a solution to </a:t>
            </a:r>
          </a:p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600">
                <a:solidFill>
                  <a:srgbClr val="001932"/>
                </a:solidFill>
                <a:ea typeface="+mn-ea"/>
              </a:rPr>
              <a:t>subproblem 2</a:t>
            </a:r>
            <a:endParaRPr kumimoji="0" lang="en-US" altLang="en-US" b="0">
              <a:solidFill>
                <a:srgbClr val="FFFFFF"/>
              </a:solidFill>
              <a:ea typeface="+mn-ea"/>
            </a:endParaRPr>
          </a:p>
        </p:txBody>
      </p:sp>
      <p:sp>
        <p:nvSpPr>
          <p:cNvPr id="10" name="Line 11">
            <a:extLst>
              <a:ext uri="{FF2B5EF4-FFF2-40B4-BE49-F238E27FC236}">
                <a16:creationId xmlns:a16="http://schemas.microsoft.com/office/drawing/2014/main" id="{00727C89-1CBD-E14D-7735-918BD67374C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2049461"/>
            <a:ext cx="1447800" cy="304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E4E980B0-0D43-F9D8-E002-8B5B7D16F5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2049461"/>
            <a:ext cx="1524000" cy="304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2" name="Oval 4">
            <a:extLst>
              <a:ext uri="{FF2B5EF4-FFF2-40B4-BE49-F238E27FC236}">
                <a16:creationId xmlns:a16="http://schemas.microsoft.com/office/drawing/2014/main" id="{76A88A97-F877-8B32-A8E2-507FD9BEB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287461"/>
            <a:ext cx="2286000" cy="8382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None/>
            </a:pPr>
            <a:r>
              <a:rPr kumimoji="0" lang="en-US" altLang="en-US" sz="1800">
                <a:solidFill>
                  <a:srgbClr val="001932"/>
                </a:solidFill>
                <a:ea typeface="+mn-ea"/>
              </a:rPr>
              <a:t>a problem of size </a:t>
            </a:r>
            <a:r>
              <a:rPr kumimoji="0" lang="en-US" altLang="en-US" sz="1800" i="1">
                <a:solidFill>
                  <a:srgbClr val="001932"/>
                </a:solidFill>
                <a:ea typeface="+mn-ea"/>
              </a:rPr>
              <a:t>n</a:t>
            </a:r>
            <a:endParaRPr kumimoji="0" lang="en-US" altLang="en-US" sz="1800">
              <a:solidFill>
                <a:srgbClr val="001932"/>
              </a:solidFill>
              <a:ea typeface="+mn-ea"/>
            </a:endParaRPr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887CC962-248D-5A05-940A-2C8D322E5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3192461"/>
            <a:ext cx="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630C0AB7-D4BE-FE9C-66B6-22F211731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0" y="3192461"/>
            <a:ext cx="0" cy="4572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27ED50D2-2E5F-9C22-7723-BAFDCE781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335461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B1A6BEA4-BCC2-47DD-4B44-1625FCA59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63200" y="4335461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25C124C8-8E26-31AE-6BD1-D95EC02B2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868861"/>
            <a:ext cx="44196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7586D8C1-82DB-5C38-B627-4BE35845B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4868861"/>
            <a:ext cx="0" cy="5334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endParaRPr lang="en-US" sz="2400">
              <a:solidFill>
                <a:srgbClr val="FFFFFF"/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96506897-8EDF-486B-37D0-8E360899D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766887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en-US" sz="1800" dirty="0">
                <a:solidFill>
                  <a:srgbClr val="FF9933"/>
                </a:solidFill>
                <a:ea typeface="+mn-ea"/>
              </a:rPr>
              <a:t>(instance)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E4F30B72-89D5-52C0-C8D9-F505AF711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3361" y="5277359"/>
            <a:ext cx="27432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en-US" b="0" dirty="0">
                <a:solidFill>
                  <a:srgbClr val="FF6600"/>
                </a:solidFill>
                <a:ea typeface="+mn-ea"/>
              </a:rPr>
              <a:t>It typically leads to a recursive algorithm!</a:t>
            </a: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6378C776-3001-4968-0486-4253F4EFB833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FF6600"/>
              </a:buClr>
              <a:tabLst>
                <a:tab pos="465671" algn="l"/>
              </a:tabLst>
            </a:pPr>
            <a:r>
              <a:rPr lang="en-US" sz="2800" dirty="0">
                <a:cs typeface="Arial" charset="0"/>
              </a:rPr>
              <a:t>Typical divide and Conquer technique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60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81256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0070C0"/>
                </a:solidFill>
              </a:rPr>
              <a:t>Divide and Conquer, Contd.</a:t>
            </a:r>
            <a:endParaRPr sz="4000" b="1" spc="-18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4</a:t>
            </a:fld>
            <a:endParaRPr lang="en-U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998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Assuming a problem instance of size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 is divided into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 smaller instances of the same size </a:t>
            </a:r>
            <a:r>
              <a:rPr lang="en-US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n/b</a:t>
            </a:r>
            <a:r>
              <a:rPr lang="en-US" sz="2800" dirty="0">
                <a:solidFill>
                  <a:srgbClr val="000000"/>
                </a:solidFill>
                <a:latin typeface="Arial"/>
              </a:rPr>
              <a:t>, with </a:t>
            </a:r>
          </a:p>
          <a:p>
            <a:pPr lvl="1">
              <a:defRPr/>
            </a:pP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 of them needing to be solved</a:t>
            </a:r>
          </a:p>
          <a:p>
            <a:pPr lvl="1">
              <a:defRPr/>
            </a:pP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=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2400" i="1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 = 1, 2, . . .    </a:t>
            </a:r>
            <a:r>
              <a:rPr lang="en-US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(k</a:t>
            </a:r>
            <a:r>
              <a:rPr lang="en-US" sz="1400" dirty="0">
                <a:solidFill>
                  <a:srgbClr val="000000"/>
                </a:solidFill>
                <a:latin typeface="Arial"/>
              </a:rPr>
              <a:t> indicates how many levels of recursion needed to reduce the problem from size n to size 1</a:t>
            </a:r>
            <a:r>
              <a:rPr lang="en-US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defRPr/>
            </a:pPr>
            <a:r>
              <a:rPr lang="en-US" sz="2400" i="1" dirty="0">
                <a:solidFill>
                  <a:srgbClr val="000000"/>
                </a:solidFill>
                <a:latin typeface="Arial"/>
              </a:rPr>
              <a:t>f(n)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 a function that accounts for the time spent on dividing an instance of size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 into instances of size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n/b</a:t>
            </a:r>
            <a:r>
              <a:rPr lang="en-US" sz="2400" dirty="0">
                <a:solidFill>
                  <a:srgbClr val="000000"/>
                </a:solidFill>
                <a:latin typeface="Arial"/>
              </a:rPr>
              <a:t> and combining their solutions</a:t>
            </a:r>
          </a:p>
          <a:p>
            <a:pPr marL="342900" lvl="1" indent="-342900">
              <a:buSzPct val="75000"/>
              <a:buBlip>
                <a:blip r:embed="rId3"/>
              </a:buBlip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we get the following </a:t>
            </a:r>
            <a:r>
              <a:rPr lang="en-US" b="1" dirty="0">
                <a:solidFill>
                  <a:srgbClr val="7030A0"/>
                </a:solidFill>
                <a:latin typeface="Arial"/>
              </a:rPr>
              <a:t>general divide-and-conquer recurrence </a:t>
            </a:r>
          </a:p>
          <a:p>
            <a:pPr marL="342900" lvl="1" indent="-342900">
              <a:buSzPct val="75000"/>
              <a:buBlip>
                <a:blip r:embed="rId3"/>
              </a:buBlip>
              <a:defRPr/>
            </a:pPr>
            <a:endParaRPr lang="en-US" b="1" dirty="0">
              <a:solidFill>
                <a:srgbClr val="7030A0"/>
              </a:solidFill>
              <a:latin typeface="Arial"/>
            </a:endParaRPr>
          </a:p>
          <a:p>
            <a:pPr marL="342900" lvl="1" indent="-342900">
              <a:buSzPct val="75000"/>
              <a:buBlip>
                <a:blip r:embed="rId3"/>
              </a:buBlip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We can show that the order of growth of 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T(n)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depends on </a:t>
            </a:r>
          </a:p>
          <a:p>
            <a:pPr lvl="1">
              <a:defRPr/>
            </a:pPr>
            <a:r>
              <a:rPr lang="en-US" sz="2400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 values of the constants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and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 and</a:t>
            </a:r>
          </a:p>
          <a:p>
            <a:pPr lvl="1">
              <a:defRPr/>
            </a:pPr>
            <a:r>
              <a:rPr lang="en-US" sz="2400" dirty="0">
                <a:solidFill>
                  <a:srgbClr val="000000"/>
                </a:solidFill>
                <a:latin typeface="+mj-lt"/>
                <a:cs typeface="Calibri" panose="020F0502020204030204" pitchFamily="34" charset="0"/>
              </a:rPr>
              <a:t>the order of growth of the function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f(n)</a:t>
            </a: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9A1A7424-D8B3-09B3-3ECC-8B5063CD66CA}"/>
              </a:ext>
            </a:extLst>
          </p:cNvPr>
          <p:cNvSpPr txBox="1">
            <a:spLocks/>
          </p:cNvSpPr>
          <p:nvPr/>
        </p:nvSpPr>
        <p:spPr bwMode="auto">
          <a:xfrm>
            <a:off x="2786805" y="4343400"/>
            <a:ext cx="661838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0" hangingPunct="0">
              <a:buNone/>
              <a:defRPr/>
            </a:pP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= </a:t>
            </a:r>
            <a:r>
              <a:rPr lang="en-US" altLang="en-US" sz="2800" b="1" i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aT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n/b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 + 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en-US" sz="2800" b="1" i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where a≥1 and b≥2</a:t>
            </a:r>
            <a:endParaRPr lang="en-US" altLang="en-US" sz="2800" b="1" i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2501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600" b="1" dirty="0">
                <a:solidFill>
                  <a:srgbClr val="0070C0"/>
                </a:solidFill>
              </a:rPr>
              <a:t>Divide and Conquer, Contd.</a:t>
            </a:r>
            <a:endParaRPr lang="en-US" sz="3800" b="1" spc="-18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5</a:t>
            </a:fld>
            <a:endParaRPr lang="en-US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5CCA2728-CDCB-8D02-2C9F-C9CDAE21E818}"/>
              </a:ext>
            </a:extLst>
          </p:cNvPr>
          <p:cNvSpPr txBox="1">
            <a:spLocks/>
          </p:cNvSpPr>
          <p:nvPr/>
        </p:nvSpPr>
        <p:spPr bwMode="auto">
          <a:xfrm>
            <a:off x="457200" y="1295400"/>
            <a:ext cx="11430000" cy="5156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-US" altLang="en-US" sz="2800" dirty="0"/>
              <a:t>The</a:t>
            </a:r>
            <a:r>
              <a:rPr lang="en-US" altLang="en-US" sz="2800" b="1" dirty="0"/>
              <a:t> </a:t>
            </a:r>
            <a:r>
              <a:rPr lang="en-US" altLang="en-US" sz="2800" b="1" dirty="0">
                <a:solidFill>
                  <a:srgbClr val="7030A0"/>
                </a:solidFill>
              </a:rPr>
              <a:t>Master Theorem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If 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T(n) </a:t>
            </a:r>
            <a:r>
              <a:rPr lang="en-US" altLang="en-US" sz="2400" dirty="0"/>
              <a:t>is </a:t>
            </a:r>
            <a:r>
              <a:rPr lang="en-US" altLang="en-US" sz="2400" u="sng" dirty="0"/>
              <a:t>eventually nondecreasing </a:t>
            </a:r>
            <a:r>
              <a:rPr lang="en-US" altLang="en-US" sz="1800" dirty="0"/>
              <a:t>(such as the vast majority of functions that we encounter in the analysis of algorithms</a:t>
            </a:r>
            <a:r>
              <a:rPr lang="en-US" altLang="en-US" sz="1800" dirty="0">
                <a:solidFill>
                  <a:schemeClr val="tx1"/>
                </a:solidFill>
              </a:rPr>
              <a:t>)</a:t>
            </a:r>
            <a:endParaRPr lang="en-US" altLang="en-US" sz="3200" dirty="0">
              <a:solidFill>
                <a:schemeClr val="tx1"/>
              </a:solidFill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/>
              <a:t>and 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r>
              <a:rPr lang="en-US" alt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		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endParaRPr lang="en-US" altLang="en-US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then 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r>
              <a:rPr lang="en-US" altLang="en-US" sz="2800" dirty="0"/>
              <a:t>		</a:t>
            </a:r>
          </a:p>
          <a:p>
            <a:pPr marL="457200" lvl="1" indent="0">
              <a:lnSpc>
                <a:spcPct val="90000"/>
              </a:lnSpc>
              <a:buNone/>
              <a:defRPr/>
            </a:pPr>
            <a:endParaRPr lang="en-US" altLang="en-US" sz="2800" i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  <a:defRPr/>
            </a:pPr>
            <a:endParaRPr lang="en-US" altLang="en-US" sz="2400" dirty="0"/>
          </a:p>
          <a:p>
            <a:pPr marL="0" indent="0">
              <a:lnSpc>
                <a:spcPct val="90000"/>
              </a:lnSpc>
              <a:buNone/>
              <a:defRPr/>
            </a:pPr>
            <a:endParaRPr lang="en-US" altLang="en-US" sz="2400" dirty="0"/>
          </a:p>
          <a:p>
            <a:pPr marL="0" indent="0">
              <a:lnSpc>
                <a:spcPct val="90000"/>
              </a:lnSpc>
              <a:buNone/>
              <a:defRPr/>
            </a:pPr>
            <a:endParaRPr lang="en-US" altLang="en-US" sz="1000" dirty="0"/>
          </a:p>
          <a:p>
            <a:pPr>
              <a:lnSpc>
                <a:spcPct val="90000"/>
              </a:lnSpc>
              <a:defRPr/>
            </a:pPr>
            <a:r>
              <a:rPr lang="en-US" altLang="en-US" sz="2800" dirty="0"/>
              <a:t>Similar results hold for the O and Ω notations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D5FB8-76E4-5684-5129-CD46F32E23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9800" y="2667000"/>
            <a:ext cx="6695123" cy="942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A13C95-8592-EBC6-1E77-B6AD48E47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0397" y="3998593"/>
            <a:ext cx="4322803" cy="17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63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0070C0"/>
                </a:solidFill>
              </a:rPr>
              <a:t>Divide and Conquer, Contd.</a:t>
            </a:r>
            <a:endParaRPr sz="4000" b="1" spc="-18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algn="r"/>
            <a:fld id="{C65781BD-3F4D-4CA7-A858-CE94DEA3B426}" type="slidenum">
              <a:rPr lang="en-US" smtClean="0"/>
              <a:pPr algn="r"/>
              <a:t>6</a:t>
            </a:fld>
            <a:endParaRPr lang="en-US" dirty="0"/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57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sz="2800" dirty="0">
                <a:solidFill>
                  <a:srgbClr val="000000"/>
                </a:solidFill>
                <a:latin typeface="Arial"/>
              </a:rPr>
              <a:t>Examples</a:t>
            </a:r>
          </a:p>
          <a:p>
            <a:pPr lvl="1">
              <a:defRPr/>
            </a:pP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 = 4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/2) + 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  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 ?                 </a:t>
            </a: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Answer: (n</a:t>
            </a:r>
            <a:r>
              <a:rPr lang="en-US" altLang="en-US" sz="2400" baseline="300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log</a:t>
            </a:r>
            <a:r>
              <a:rPr lang="en-US" altLang="en-US" sz="1800" baseline="300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baseline="300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>
              <a:defRPr/>
            </a:pP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 = 4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/2) + 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  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 ?                 </a:t>
            </a: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Answer: </a:t>
            </a: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(n</a:t>
            </a:r>
            <a:r>
              <a:rPr lang="en-US" altLang="en-US" sz="2400" baseline="300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log n)</a:t>
            </a:r>
          </a:p>
          <a:p>
            <a:pPr lvl="1">
              <a:defRPr/>
            </a:pP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 = 4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/2) + 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baseline="30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  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 ?                 </a:t>
            </a: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Answer: (n</a:t>
            </a:r>
            <a:r>
              <a:rPr lang="en-US" altLang="en-US" sz="2400" baseline="300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457200" lvl="1" indent="0">
              <a:buNone/>
              <a:defRPr/>
            </a:pPr>
            <a:endParaRPr lang="en-US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>
              <a:defRPr/>
            </a:pPr>
            <a:endParaRPr lang="en-US" sz="20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CFD74-1591-BFDB-8B83-ED587A087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405" y="4476617"/>
            <a:ext cx="4322803" cy="1716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321055-5130-DEBA-2D0D-1E2583C750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9814" y="3379220"/>
            <a:ext cx="6491317" cy="91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41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4000" b="1" dirty="0">
                <a:solidFill>
                  <a:srgbClr val="0070C0"/>
                </a:solidFill>
              </a:rPr>
              <a:t>Divide and Conquer, Contd.</a:t>
            </a:r>
            <a:endParaRPr sz="4000" b="1" spc="-18" dirty="0">
              <a:solidFill>
                <a:srgbClr val="FFC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12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Examples</a:t>
            </a:r>
          </a:p>
          <a:p>
            <a:pPr lvl="1" indent="-342900">
              <a:lnSpc>
                <a:spcPct val="150000"/>
              </a:lnSpc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Sorting: </a:t>
            </a:r>
            <a:r>
              <a:rPr lang="en-US" sz="2400" b="1" dirty="0" err="1">
                <a:solidFill>
                  <a:srgbClr val="7030A0"/>
                </a:solidFill>
                <a:cs typeface="Arial" charset="0"/>
              </a:rPr>
              <a:t>Mergesort</a:t>
            </a: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 and quicksort</a:t>
            </a:r>
          </a:p>
          <a:p>
            <a:pPr lvl="1" indent="-342900">
              <a:lnSpc>
                <a:spcPct val="150000"/>
              </a:lnSpc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Binary search</a:t>
            </a:r>
            <a:endParaRPr lang="en-US" sz="2400" dirty="0">
              <a:solidFill>
                <a:srgbClr val="000000"/>
              </a:solidFill>
              <a:cs typeface="Arial" charset="0"/>
            </a:endParaRPr>
          </a:p>
          <a:p>
            <a:pPr lvl="1" indent="-342900">
              <a:lnSpc>
                <a:spcPct val="150000"/>
              </a:lnSpc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lang="en-US" sz="2400" b="1" dirty="0">
                <a:solidFill>
                  <a:srgbClr val="7030A0"/>
                </a:solidFill>
                <a:cs typeface="Arial" charset="0"/>
              </a:rPr>
              <a:t>Binary tree algorithms</a:t>
            </a:r>
          </a:p>
          <a:p>
            <a:pPr lvl="1" indent="-342900">
              <a:lnSpc>
                <a:spcPct val="150000"/>
              </a:lnSpc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Multiplication of large integers</a:t>
            </a:r>
          </a:p>
          <a:p>
            <a:pPr lvl="1" indent="-342900">
              <a:lnSpc>
                <a:spcPct val="150000"/>
              </a:lnSpc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Matrix multiplication: Strassen’s algorithm</a:t>
            </a:r>
          </a:p>
          <a:p>
            <a:pPr lvl="1" indent="-342900">
              <a:lnSpc>
                <a:spcPct val="150000"/>
              </a:lnSpc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Closest-pair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 and convex-hull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problem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37335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C598-142B-AA16-2550-57C2D6147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5DE8BAF-A40A-F9FD-AF28-EA0AC7E0C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1: Quicksort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44FC43-4D98-8353-2C14-F71E1492FC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CBFE0200-9A9D-EA51-8274-ADFEABB6E97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93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b="1" dirty="0">
                <a:cs typeface="Arial" charset="0"/>
              </a:rPr>
              <a:t>Quicksort: is </a:t>
            </a:r>
            <a:r>
              <a:rPr lang="en-AU" sz="2800" b="1" dirty="0">
                <a:solidFill>
                  <a:srgbClr val="7030A0"/>
                </a:solidFill>
                <a:cs typeface="Arial" charset="0"/>
              </a:rPr>
              <a:t>a divide and conquer </a:t>
            </a:r>
            <a:r>
              <a:rPr lang="en-AU" sz="2800" dirty="0">
                <a:cs typeface="Arial" charset="0"/>
              </a:rPr>
              <a:t>sorting algorithm that works by selecting a pivot element from the array and partitioning the other elements into two sub-arrays, according to whether they are smaller or larger than the pivot.</a:t>
            </a:r>
            <a:endParaRPr lang="en-US" altLang="en-US" sz="2800" dirty="0">
              <a:cs typeface="Arial" charset="0"/>
            </a:endParaRPr>
          </a:p>
          <a:p>
            <a:pPr marL="0" marR="0" lvl="0" indent="0" defTabSz="914400" latinLnBrk="0">
              <a:lnSpc>
                <a:spcPct val="100000"/>
              </a:lnSpc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1050" b="1" dirty="0">
              <a:solidFill>
                <a:srgbClr val="7030A0"/>
              </a:solidFill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b="1" dirty="0"/>
              <a:t>Choose Pivot</a:t>
            </a:r>
            <a:r>
              <a:rPr lang="en-AU" sz="2400" dirty="0"/>
              <a:t>: Select an element as the </a:t>
            </a:r>
            <a:r>
              <a:rPr lang="en-AU" sz="2400" b="1" dirty="0"/>
              <a:t>pivot</a:t>
            </a:r>
            <a:r>
              <a:rPr lang="en-AU" sz="2400" dirty="0"/>
              <a:t> 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b="1" dirty="0"/>
              <a:t>Partition</a:t>
            </a:r>
            <a:r>
              <a:rPr lang="en-AU" sz="2400" dirty="0"/>
              <a:t>: Rearrange the array such that elements smaller than the pivot are on the left, and elements larger are on the right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b="1" dirty="0"/>
              <a:t>Recursively Sort: </a:t>
            </a:r>
            <a:r>
              <a:rPr lang="en-AU" sz="2400" dirty="0"/>
              <a:t>Recursively apply </a:t>
            </a:r>
            <a:r>
              <a:rPr lang="en-AU" sz="2400" dirty="0" err="1"/>
              <a:t>QuickSort</a:t>
            </a:r>
            <a:r>
              <a:rPr lang="en-AU" sz="2400" dirty="0"/>
              <a:t> to the left sub-arrays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b="1" dirty="0"/>
              <a:t>Recursively Sort: </a:t>
            </a:r>
            <a:r>
              <a:rPr lang="en-AU" sz="2400" dirty="0"/>
              <a:t>Recursively apply </a:t>
            </a:r>
            <a:r>
              <a:rPr lang="en-AU" sz="2400" dirty="0" err="1"/>
              <a:t>QuickSort</a:t>
            </a:r>
            <a:r>
              <a:rPr lang="en-AU" sz="2400" dirty="0"/>
              <a:t> to the Right sub-arrays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b="1" dirty="0"/>
              <a:t>Base Case: </a:t>
            </a:r>
            <a:r>
              <a:rPr lang="en-AU" sz="2400" dirty="0"/>
              <a:t>Stop when the sub-array has 0 or 1 element</a:t>
            </a:r>
            <a:r>
              <a:rPr lang="en-AU" sz="2800" dirty="0"/>
              <a:t>.</a:t>
            </a:r>
            <a:endParaRPr lang="en-US" altLang="en-US" sz="2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0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BE419-862D-045E-85F0-BB222BDBF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3A1B638-C341-0D8D-1011-C664FFD22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Quicksort,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E4D962-0ED6-5F91-84BF-C2C8E059AE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88FF82-1ED7-1CAE-2224-06859B11D54E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1114485"/>
          <a:ext cx="4749800" cy="4796032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749800">
                  <a:extLst>
                    <a:ext uri="{9D8B030D-6E8A-4147-A177-3AD203B41FA5}">
                      <a16:colId xmlns:a16="http://schemas.microsoft.com/office/drawing/2014/main" val="1015391966"/>
                    </a:ext>
                  </a:extLst>
                </a:gridCol>
              </a:tblGrid>
              <a:tr h="6328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9568016"/>
                  </a:ext>
                </a:extLst>
              </a:tr>
              <a:tr h="6328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849264"/>
                  </a:ext>
                </a:extLst>
              </a:tr>
              <a:tr h="6328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4046891"/>
                  </a:ext>
                </a:extLst>
              </a:tr>
              <a:tr h="6328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949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284518"/>
                  </a:ext>
                </a:extLst>
              </a:tr>
              <a:tr h="6328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436110"/>
                  </a:ext>
                </a:extLst>
              </a:tr>
              <a:tr h="63289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38329"/>
                  </a:ext>
                </a:extLst>
              </a:tr>
              <a:tr h="6328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784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C6173A5-4D60-5E88-A246-5F9EA390F5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009570"/>
              </p:ext>
            </p:extLst>
          </p:nvPr>
        </p:nvGraphicFramePr>
        <p:xfrm>
          <a:off x="304800" y="838202"/>
          <a:ext cx="11277600" cy="47044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53400">
                  <a:extLst>
                    <a:ext uri="{9D8B030D-6E8A-4147-A177-3AD203B41FA5}">
                      <a16:colId xmlns:a16="http://schemas.microsoft.com/office/drawing/2014/main" val="2670668009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243927413"/>
                    </a:ext>
                  </a:extLst>
                </a:gridCol>
              </a:tblGrid>
              <a:tr h="322384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Example: Sort the following list </a:t>
                      </a:r>
                      <a:r>
                        <a:rPr lang="en-AU" sz="1600" b="1" dirty="0">
                          <a:solidFill>
                            <a:srgbClr val="0070C0"/>
                          </a:solidFill>
                        </a:rPr>
                        <a:t>[45, 68, 90, 29, 34, 89,17]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5854495"/>
                  </a:ext>
                </a:extLst>
              </a:tr>
              <a:tr h="1082369">
                <a:tc>
                  <a:txBody>
                    <a:bodyPr/>
                    <a:lstStyle/>
                    <a:p>
                      <a:r>
                        <a:rPr lang="en-AU" sz="1600" b="1" dirty="0"/>
                        <a:t>Step 1: First Partitioning:</a:t>
                      </a:r>
                    </a:p>
                    <a:p>
                      <a:r>
                        <a:rPr lang="en-AU" sz="1600" dirty="0"/>
                        <a:t>(Pivot = 17):</a:t>
                      </a:r>
                    </a:p>
                    <a:p>
                      <a:r>
                        <a:rPr lang="en-AU" sz="1600" b="1" dirty="0"/>
                        <a:t>Partition</a:t>
                      </a:r>
                      <a:r>
                        <a:rPr lang="en-AU" sz="1600" dirty="0"/>
                        <a:t> around </a:t>
                      </a:r>
                      <a:r>
                        <a:rPr lang="en-AU" sz="1600" b="1" dirty="0"/>
                        <a:t>17 </a:t>
                      </a:r>
                      <a:r>
                        <a:rPr lang="en-AU" sz="1600" dirty="0"/>
                        <a:t>[</a:t>
                      </a:r>
                      <a:r>
                        <a:rPr lang="en-AU" sz="1600" b="1" dirty="0"/>
                        <a:t>17</a:t>
                      </a:r>
                      <a:r>
                        <a:rPr lang="en-AU" sz="1600" dirty="0"/>
                        <a:t>,</a:t>
                      </a:r>
                      <a:r>
                        <a:rPr lang="en-AU" sz="1600" dirty="0">
                          <a:solidFill>
                            <a:srgbClr val="92D050"/>
                          </a:solidFill>
                        </a:rPr>
                        <a:t>45, 68, 90, 29, 34, 89</a:t>
                      </a:r>
                      <a:r>
                        <a:rPr lang="en-AU" sz="1600" dirty="0"/>
                        <a:t>]</a:t>
                      </a:r>
                    </a:p>
                    <a:p>
                      <a:r>
                        <a:rPr lang="en-AU" sz="1600" b="1" dirty="0">
                          <a:solidFill>
                            <a:srgbClr val="FF0000"/>
                          </a:solidFill>
                        </a:rPr>
                        <a:t>Left Sub-array</a:t>
                      </a:r>
                      <a:r>
                        <a:rPr lang="en-AU" sz="1600" dirty="0"/>
                        <a:t>: Empty (no elements &lt;17)      </a:t>
                      </a:r>
                      <a:r>
                        <a:rPr lang="en-AU" sz="1600" b="1" dirty="0">
                          <a:solidFill>
                            <a:srgbClr val="92D050"/>
                          </a:solidFill>
                        </a:rPr>
                        <a:t>Right Sub-array</a:t>
                      </a:r>
                      <a:r>
                        <a:rPr lang="en-AU" sz="1600" dirty="0"/>
                        <a:t>: [45, 68, 90, 29, 34, 89]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dirty="0"/>
                        <a:t>[</a:t>
                      </a:r>
                      <a:r>
                        <a:rPr lang="en-AU" sz="1600" b="1" u="sng" dirty="0"/>
                        <a:t>17</a:t>
                      </a:r>
                      <a:r>
                        <a:rPr lang="en-AU" sz="1600" dirty="0"/>
                        <a:t>, </a:t>
                      </a:r>
                      <a:r>
                        <a:rPr lang="en-AU" sz="1600" dirty="0">
                          <a:solidFill>
                            <a:srgbClr val="92D050"/>
                          </a:solidFill>
                        </a:rPr>
                        <a:t>45, 68, 90, 29, 34, 89</a:t>
                      </a:r>
                      <a:r>
                        <a:rPr lang="en-AU" sz="1600" dirty="0"/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      </a:t>
                      </a:r>
                      <a:r>
                        <a:rPr lang="en-AU" sz="1600" dirty="0"/>
                        <a:t>[</a:t>
                      </a:r>
                      <a:r>
                        <a:rPr lang="en-AU" sz="1600" dirty="0">
                          <a:solidFill>
                            <a:srgbClr val="FF0000"/>
                          </a:solidFill>
                        </a:rPr>
                        <a:t>45, 68, 29, 34</a:t>
                      </a:r>
                      <a:r>
                        <a:rPr lang="en-AU" sz="1600" dirty="0"/>
                        <a:t>, </a:t>
                      </a:r>
                      <a:r>
                        <a:rPr lang="en-AU" sz="1600" b="1" u="sng" dirty="0"/>
                        <a:t>89</a:t>
                      </a:r>
                      <a:r>
                        <a:rPr lang="en-AU" sz="1600" u="sng" dirty="0"/>
                        <a:t>, </a:t>
                      </a:r>
                      <a:r>
                        <a:rPr lang="en-AU" sz="1600" b="1" u="sng" dirty="0">
                          <a:solidFill>
                            <a:schemeClr val="tx1"/>
                          </a:solidFill>
                        </a:rPr>
                        <a:t>90</a:t>
                      </a:r>
                      <a:r>
                        <a:rPr lang="en-AU" sz="1600" dirty="0"/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      </a:t>
                      </a:r>
                      <a:r>
                        <a:rPr lang="en-AU" sz="1600" dirty="0"/>
                        <a:t>[</a:t>
                      </a:r>
                      <a:r>
                        <a:rPr lang="en-AU" sz="1600" b="1" u="sng" dirty="0">
                          <a:solidFill>
                            <a:schemeClr val="tx1"/>
                          </a:solidFill>
                        </a:rPr>
                        <a:t>29</a:t>
                      </a:r>
                      <a:r>
                        <a:rPr lang="en-AU" sz="1600" u="sng" dirty="0"/>
                        <a:t>, </a:t>
                      </a:r>
                      <a:r>
                        <a:rPr lang="en-AU" sz="1600" b="1" u="sng" dirty="0"/>
                        <a:t>34</a:t>
                      </a:r>
                      <a:r>
                        <a:rPr lang="en-AU" sz="1600" dirty="0"/>
                        <a:t>, </a:t>
                      </a:r>
                      <a:r>
                        <a:rPr lang="en-AU" sz="1600" dirty="0">
                          <a:solidFill>
                            <a:srgbClr val="92D050"/>
                          </a:solidFill>
                        </a:rPr>
                        <a:t>45, 68</a:t>
                      </a:r>
                      <a:r>
                        <a:rPr lang="en-AU" sz="1600" dirty="0"/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 </a:t>
                      </a:r>
                      <a:r>
                        <a:rPr lang="en-AU" sz="1600" dirty="0"/>
                        <a:t>                 [</a:t>
                      </a:r>
                      <a:r>
                        <a:rPr lang="en-AU" sz="1600" b="1" u="sng" dirty="0">
                          <a:solidFill>
                            <a:schemeClr val="tx1"/>
                          </a:solidFill>
                        </a:rPr>
                        <a:t>45</a:t>
                      </a:r>
                      <a:r>
                        <a:rPr lang="en-AU" sz="1600" u="sng" dirty="0"/>
                        <a:t>, </a:t>
                      </a:r>
                      <a:r>
                        <a:rPr lang="en-AU" sz="1600" b="1" u="sng" dirty="0"/>
                        <a:t>68</a:t>
                      </a:r>
                      <a:r>
                        <a:rPr lang="en-AU" sz="1600" dirty="0"/>
                        <a:t>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1" dirty="0"/>
                        <a:t>Final Sorted Array</a:t>
                      </a:r>
                      <a:r>
                        <a:rPr lang="en-AU" sz="1600" dirty="0"/>
                        <a:t>: </a:t>
                      </a:r>
                      <a:r>
                        <a:rPr lang="en-AU" sz="1600" b="1" dirty="0"/>
                        <a:t>[17, 29, 34, 45, 68, 89, 90]</a:t>
                      </a:r>
                    </a:p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54122650"/>
                  </a:ext>
                </a:extLst>
              </a:tr>
              <a:tr h="1115707">
                <a:tc>
                  <a:txBody>
                    <a:bodyPr/>
                    <a:lstStyle/>
                    <a:p>
                      <a:r>
                        <a:rPr lang="en-AU" sz="1600" b="1" dirty="0"/>
                        <a:t>Step 2: Recursively Apply </a:t>
                      </a:r>
                      <a:r>
                        <a:rPr lang="en-AU" sz="1600" b="1" dirty="0" err="1"/>
                        <a:t>QuickSort</a:t>
                      </a:r>
                      <a:r>
                        <a:rPr lang="en-AU" sz="1600" b="1" dirty="0"/>
                        <a:t> on Right Sub-array: </a:t>
                      </a:r>
                      <a:r>
                        <a:rPr lang="en-AU" sz="1600" dirty="0"/>
                        <a:t>[45, 68, 90, 29, 34, 89] (Pivot = 89):</a:t>
                      </a:r>
                    </a:p>
                    <a:p>
                      <a:r>
                        <a:rPr lang="en-AU" sz="1600" b="1" dirty="0"/>
                        <a:t>Partition</a:t>
                      </a:r>
                      <a:r>
                        <a:rPr lang="en-AU" sz="1600" dirty="0"/>
                        <a:t> around </a:t>
                      </a:r>
                      <a:r>
                        <a:rPr lang="en-AU" sz="1600" b="1" dirty="0"/>
                        <a:t>89 </a:t>
                      </a:r>
                      <a:r>
                        <a:rPr lang="en-AU" sz="1600" dirty="0"/>
                        <a:t>[</a:t>
                      </a:r>
                      <a:r>
                        <a:rPr lang="en-AU" sz="1600" dirty="0">
                          <a:solidFill>
                            <a:srgbClr val="FF0000"/>
                          </a:solidFill>
                        </a:rPr>
                        <a:t>45, 68, 29, 34</a:t>
                      </a:r>
                      <a:r>
                        <a:rPr lang="en-AU" sz="1600" dirty="0"/>
                        <a:t>, </a:t>
                      </a:r>
                      <a:r>
                        <a:rPr lang="en-AU" sz="1600" b="1" dirty="0"/>
                        <a:t>89</a:t>
                      </a:r>
                      <a:r>
                        <a:rPr lang="en-AU" sz="1600" dirty="0"/>
                        <a:t>, </a:t>
                      </a:r>
                      <a:r>
                        <a:rPr lang="en-AU" sz="1600" dirty="0">
                          <a:solidFill>
                            <a:srgbClr val="92D050"/>
                          </a:solidFill>
                        </a:rPr>
                        <a:t>90</a:t>
                      </a:r>
                      <a:r>
                        <a:rPr lang="en-AU" sz="1600" dirty="0"/>
                        <a:t>]</a:t>
                      </a:r>
                    </a:p>
                    <a:p>
                      <a:r>
                        <a:rPr lang="en-AU" sz="1600" b="1" dirty="0">
                          <a:solidFill>
                            <a:srgbClr val="FF0000"/>
                          </a:solidFill>
                        </a:rPr>
                        <a:t>Left Sub-array</a:t>
                      </a:r>
                      <a:r>
                        <a:rPr lang="en-AU" sz="1600" dirty="0"/>
                        <a:t>: [45, 68, 29, 34]                      </a:t>
                      </a:r>
                      <a:r>
                        <a:rPr lang="en-AU" sz="1600" b="1" dirty="0">
                          <a:solidFill>
                            <a:srgbClr val="92D050"/>
                          </a:solidFill>
                        </a:rPr>
                        <a:t>Right Sub-array</a:t>
                      </a:r>
                      <a:r>
                        <a:rPr lang="en-AU" sz="1600" dirty="0"/>
                        <a:t>: [90] (already sorted).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57709746"/>
                  </a:ext>
                </a:extLst>
              </a:tr>
              <a:tr h="791307">
                <a:tc>
                  <a:txBody>
                    <a:bodyPr/>
                    <a:lstStyle/>
                    <a:p>
                      <a:r>
                        <a:rPr lang="en-AU" sz="1600" b="1" dirty="0"/>
                        <a:t>Recursively Apply </a:t>
                      </a:r>
                      <a:r>
                        <a:rPr lang="en-AU" sz="1600" b="1" dirty="0" err="1"/>
                        <a:t>QuickSort</a:t>
                      </a:r>
                      <a:r>
                        <a:rPr lang="en-AU" sz="1600" b="1" dirty="0"/>
                        <a:t> on Left Sub-array</a:t>
                      </a:r>
                      <a:r>
                        <a:rPr lang="en-AU" sz="1600" dirty="0"/>
                        <a:t> [45, 68, 29, 34] (Pivot = 34):</a:t>
                      </a:r>
                    </a:p>
                    <a:p>
                      <a:r>
                        <a:rPr lang="en-AU" sz="1600" dirty="0"/>
                        <a:t>Partition around 34: [</a:t>
                      </a:r>
                      <a:r>
                        <a:rPr lang="en-AU" sz="1600" dirty="0">
                          <a:solidFill>
                            <a:srgbClr val="FF0000"/>
                          </a:solidFill>
                        </a:rPr>
                        <a:t>29</a:t>
                      </a:r>
                      <a:r>
                        <a:rPr lang="en-AU" sz="1600" dirty="0"/>
                        <a:t>, </a:t>
                      </a:r>
                      <a:r>
                        <a:rPr lang="en-AU" sz="1600" b="1" dirty="0"/>
                        <a:t>34</a:t>
                      </a:r>
                      <a:r>
                        <a:rPr lang="en-AU" sz="1600" dirty="0"/>
                        <a:t>, </a:t>
                      </a:r>
                      <a:r>
                        <a:rPr lang="en-AU" sz="1600" dirty="0">
                          <a:solidFill>
                            <a:srgbClr val="92D050"/>
                          </a:solidFill>
                        </a:rPr>
                        <a:t>45, 68</a:t>
                      </a:r>
                      <a:r>
                        <a:rPr lang="en-AU" sz="1600" dirty="0"/>
                        <a:t>]</a:t>
                      </a:r>
                    </a:p>
                    <a:p>
                      <a:r>
                        <a:rPr lang="en-AU" sz="1600" b="1" dirty="0">
                          <a:solidFill>
                            <a:srgbClr val="FF0000"/>
                          </a:solidFill>
                        </a:rPr>
                        <a:t>Left Sub-array</a:t>
                      </a:r>
                      <a:r>
                        <a:rPr lang="en-AU" sz="1600" dirty="0"/>
                        <a:t>: [29] (already sorted)              </a:t>
                      </a:r>
                      <a:r>
                        <a:rPr lang="en-AU" sz="1600" b="1" dirty="0">
                          <a:solidFill>
                            <a:srgbClr val="92D050"/>
                          </a:solidFill>
                        </a:rPr>
                        <a:t>Right Sub-array</a:t>
                      </a:r>
                      <a:r>
                        <a:rPr lang="en-AU" sz="1600" dirty="0"/>
                        <a:t>: [45, 68]</a:t>
                      </a:r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939341953"/>
                  </a:ext>
                </a:extLst>
              </a:tr>
              <a:tr h="1260230">
                <a:tc>
                  <a:txBody>
                    <a:bodyPr/>
                    <a:lstStyle/>
                    <a:p>
                      <a:r>
                        <a:rPr lang="en-AU" sz="1600" b="1" dirty="0"/>
                        <a:t>Recursively Apply </a:t>
                      </a:r>
                      <a:r>
                        <a:rPr lang="en-AU" sz="1600" b="1" dirty="0" err="1"/>
                        <a:t>QuickSort</a:t>
                      </a:r>
                      <a:r>
                        <a:rPr lang="en-AU" sz="1600" b="1" dirty="0"/>
                        <a:t> on [45, 68]</a:t>
                      </a:r>
                      <a:r>
                        <a:rPr lang="en-AU" sz="1600" dirty="0"/>
                        <a:t> (Pivot = 68):</a:t>
                      </a:r>
                    </a:p>
                    <a:p>
                      <a:r>
                        <a:rPr lang="en-AU" sz="1600" dirty="0"/>
                        <a:t>Partition around 68: [</a:t>
                      </a:r>
                      <a:r>
                        <a:rPr lang="en-AU" sz="1600" dirty="0">
                          <a:solidFill>
                            <a:srgbClr val="FF0000"/>
                          </a:solidFill>
                        </a:rPr>
                        <a:t>45</a:t>
                      </a:r>
                      <a:r>
                        <a:rPr lang="en-AU" sz="1600" dirty="0"/>
                        <a:t>, </a:t>
                      </a:r>
                      <a:r>
                        <a:rPr lang="en-AU" sz="1600" b="1" dirty="0"/>
                        <a:t>68</a:t>
                      </a:r>
                      <a:r>
                        <a:rPr lang="en-AU" sz="1600" dirty="0"/>
                        <a:t>]</a:t>
                      </a:r>
                    </a:p>
                    <a:p>
                      <a:r>
                        <a:rPr lang="en-AU" sz="1600" b="1" dirty="0">
                          <a:solidFill>
                            <a:srgbClr val="FF0000"/>
                          </a:solidFill>
                        </a:rPr>
                        <a:t>Left Sub-array</a:t>
                      </a:r>
                      <a:r>
                        <a:rPr lang="en-AU" sz="1600" dirty="0"/>
                        <a:t>: [45] (already sorted)               </a:t>
                      </a:r>
                      <a:r>
                        <a:rPr lang="en-AU" sz="1600" b="1" dirty="0">
                          <a:solidFill>
                            <a:srgbClr val="92D050"/>
                          </a:solidFill>
                        </a:rPr>
                        <a:t>Right Sub-array</a:t>
                      </a:r>
                      <a:r>
                        <a:rPr lang="en-AU" sz="1600" dirty="0"/>
                        <a:t>: Empty</a:t>
                      </a:r>
                    </a:p>
                    <a:p>
                      <a:endParaRPr lang="en-US" sz="160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64394104"/>
                  </a:ext>
                </a:extLst>
              </a:tr>
            </a:tbl>
          </a:graphicData>
        </a:graphic>
      </p:graphicFrame>
      <p:sp>
        <p:nvSpPr>
          <p:cNvPr id="2" name="Right Brace 1">
            <a:extLst>
              <a:ext uri="{FF2B5EF4-FFF2-40B4-BE49-F238E27FC236}">
                <a16:creationId xmlns:a16="http://schemas.microsoft.com/office/drawing/2014/main" id="{221BB42E-6E9E-370F-E5BE-C64CE4EF0DA6}"/>
              </a:ext>
            </a:extLst>
          </p:cNvPr>
          <p:cNvSpPr/>
          <p:nvPr/>
        </p:nvSpPr>
        <p:spPr>
          <a:xfrm rot="5400000">
            <a:off x="9601199" y="1143001"/>
            <a:ext cx="457199" cy="2590799"/>
          </a:xfrm>
          <a:prstGeom prst="rightBrace">
            <a:avLst>
              <a:gd name="adj1" fmla="val 8333"/>
              <a:gd name="adj2" fmla="val 50433"/>
            </a:avLst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88674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47F31-A30D-9CEE-176E-49B5602D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F8516690-4688-5A77-DF30-982B59463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Quicksort,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78C652-2332-52B9-F451-DF014BDE63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CEECDA-FE42-5D1F-795B-6AB876ED7F78}"/>
              </a:ext>
            </a:extLst>
          </p:cNvPr>
          <p:cNvSpPr txBox="1"/>
          <p:nvPr/>
        </p:nvSpPr>
        <p:spPr>
          <a:xfrm>
            <a:off x="238513" y="1219200"/>
            <a:ext cx="7914887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ALGORITHM </a:t>
            </a:r>
            <a:r>
              <a:rPr lang="en-US" sz="2200" dirty="0" err="1"/>
              <a:t>QuickSort</a:t>
            </a:r>
            <a:r>
              <a:rPr lang="en-US" sz="2200" dirty="0"/>
              <a:t>(A[0..n-1])</a:t>
            </a:r>
          </a:p>
          <a:p>
            <a:r>
              <a:rPr lang="en-US" sz="2200" dirty="0"/>
              <a:t>    if n &gt; 1 then</a:t>
            </a:r>
          </a:p>
          <a:p>
            <a:r>
              <a:rPr lang="en-US" sz="2200" dirty="0"/>
              <a:t>        pivot ← Partition(A, 0, n-1)</a:t>
            </a:r>
          </a:p>
          <a:p>
            <a:r>
              <a:rPr lang="en-US" sz="2200" dirty="0"/>
              <a:t>        </a:t>
            </a:r>
            <a:r>
              <a:rPr lang="en-US" sz="2200" dirty="0" err="1"/>
              <a:t>QuickSort</a:t>
            </a:r>
            <a:r>
              <a:rPr lang="en-US" sz="2200" dirty="0"/>
              <a:t>(A[0..pivot-1])  </a:t>
            </a:r>
            <a:r>
              <a:rPr lang="en-US" sz="2200" dirty="0">
                <a:solidFill>
                  <a:srgbClr val="7030A0"/>
                </a:solidFill>
              </a:rPr>
              <a:t>// Left sub-array</a:t>
            </a:r>
          </a:p>
          <a:p>
            <a:r>
              <a:rPr lang="en-US" sz="2200" dirty="0"/>
              <a:t>        </a:t>
            </a:r>
            <a:r>
              <a:rPr lang="en-US" sz="2200" dirty="0" err="1"/>
              <a:t>QuickSort</a:t>
            </a:r>
            <a:r>
              <a:rPr lang="en-US" sz="2200" dirty="0"/>
              <a:t>(A[pivot+1..n-1])  </a:t>
            </a:r>
            <a:r>
              <a:rPr lang="en-US" sz="2200" dirty="0">
                <a:solidFill>
                  <a:srgbClr val="7030A0"/>
                </a:solidFill>
              </a:rPr>
              <a:t>// Right sub-array</a:t>
            </a:r>
          </a:p>
          <a:p>
            <a:endParaRPr lang="en-US" sz="2200" dirty="0"/>
          </a:p>
          <a:p>
            <a:r>
              <a:rPr lang="en-US" sz="2200" b="1" dirty="0"/>
              <a:t>FUNCTION</a:t>
            </a:r>
            <a:r>
              <a:rPr lang="en-US" sz="2200" dirty="0"/>
              <a:t> Partition(A, low, high)</a:t>
            </a:r>
          </a:p>
          <a:p>
            <a:r>
              <a:rPr lang="en-US" sz="2200" dirty="0"/>
              <a:t>    pivot ← A[high]  // </a:t>
            </a:r>
            <a:r>
              <a:rPr lang="en-US" sz="2200" dirty="0">
                <a:solidFill>
                  <a:srgbClr val="7030A0"/>
                </a:solidFill>
              </a:rPr>
              <a:t>Select last element as pivot</a:t>
            </a:r>
          </a:p>
          <a:p>
            <a:r>
              <a:rPr lang="en-US" sz="2200" dirty="0"/>
              <a:t>    </a:t>
            </a:r>
            <a:r>
              <a:rPr lang="en-US" sz="2200" dirty="0" err="1"/>
              <a:t>i</a:t>
            </a:r>
            <a:r>
              <a:rPr lang="en-US" sz="2200" dirty="0"/>
              <a:t> ← low - 1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for</a:t>
            </a:r>
            <a:r>
              <a:rPr lang="en-US" sz="2200" dirty="0"/>
              <a:t> j ← low </a:t>
            </a:r>
            <a:r>
              <a:rPr lang="en-US" sz="2200" b="1" dirty="0"/>
              <a:t>to</a:t>
            </a:r>
            <a:r>
              <a:rPr lang="en-US" sz="2200" dirty="0"/>
              <a:t> high - 1 </a:t>
            </a:r>
            <a:r>
              <a:rPr lang="en-US" sz="2200" b="1" dirty="0"/>
              <a:t>do</a:t>
            </a:r>
          </a:p>
          <a:p>
            <a:r>
              <a:rPr lang="en-US" sz="2200" b="1" dirty="0"/>
              <a:t>        if </a:t>
            </a:r>
            <a:r>
              <a:rPr lang="en-US" sz="2200" dirty="0"/>
              <a:t>A[j] &lt; pivot then</a:t>
            </a:r>
          </a:p>
          <a:p>
            <a:r>
              <a:rPr lang="en-US" sz="2200" dirty="0"/>
              <a:t>            </a:t>
            </a:r>
            <a:r>
              <a:rPr lang="en-US" sz="2200" dirty="0" err="1"/>
              <a:t>i</a:t>
            </a:r>
            <a:r>
              <a:rPr lang="en-US" sz="2200" dirty="0"/>
              <a:t> ← </a:t>
            </a:r>
            <a:r>
              <a:rPr lang="en-US" sz="2200" dirty="0" err="1"/>
              <a:t>i</a:t>
            </a:r>
            <a:r>
              <a:rPr lang="en-US" sz="2200" dirty="0"/>
              <a:t> + 1</a:t>
            </a:r>
          </a:p>
          <a:p>
            <a:r>
              <a:rPr lang="en-US" sz="2200" dirty="0"/>
              <a:t>            swap A[</a:t>
            </a:r>
            <a:r>
              <a:rPr lang="en-US" sz="2200" dirty="0" err="1"/>
              <a:t>i</a:t>
            </a:r>
            <a:r>
              <a:rPr lang="en-US" sz="2200" dirty="0"/>
              <a:t>] and A[j]</a:t>
            </a:r>
          </a:p>
          <a:p>
            <a:r>
              <a:rPr lang="en-US" sz="2200" dirty="0"/>
              <a:t>    swap A[i+1] and A[high] </a:t>
            </a:r>
            <a:r>
              <a:rPr lang="en-US" sz="2200" dirty="0">
                <a:solidFill>
                  <a:srgbClr val="7030A0"/>
                </a:solidFill>
              </a:rPr>
              <a:t> // Move pivot to its correct position</a:t>
            </a:r>
          </a:p>
          <a:p>
            <a:r>
              <a:rPr lang="en-US" sz="2200" dirty="0"/>
              <a:t>    </a:t>
            </a:r>
            <a:r>
              <a:rPr lang="en-US" sz="2200" b="1" dirty="0"/>
              <a:t>return</a:t>
            </a:r>
            <a:r>
              <a:rPr lang="en-US" sz="2200" dirty="0"/>
              <a:t> </a:t>
            </a:r>
            <a:r>
              <a:rPr lang="en-US" sz="2200" dirty="0" err="1"/>
              <a:t>i</a:t>
            </a:r>
            <a:r>
              <a:rPr lang="en-US" sz="2200" dirty="0"/>
              <a:t> + 1  </a:t>
            </a:r>
            <a:r>
              <a:rPr lang="en-US" sz="2200" dirty="0">
                <a:solidFill>
                  <a:srgbClr val="7030A0"/>
                </a:solidFill>
              </a:rPr>
              <a:t>// Return pivot index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A2090-AD45-BFF7-34B1-155A26848234}"/>
              </a:ext>
            </a:extLst>
          </p:cNvPr>
          <p:cNvSpPr txBox="1"/>
          <p:nvPr/>
        </p:nvSpPr>
        <p:spPr>
          <a:xfrm>
            <a:off x="8610600" y="3276600"/>
            <a:ext cx="46519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/>
              <a:t>Example:</a:t>
            </a:r>
          </a:p>
          <a:p>
            <a:r>
              <a:rPr lang="en-AU" sz="1800" dirty="0"/>
              <a:t>[</a:t>
            </a:r>
            <a:r>
              <a:rPr lang="en-AU" sz="1800" u="sng" dirty="0">
                <a:solidFill>
                  <a:srgbClr val="FF0000"/>
                </a:solidFill>
              </a:rPr>
              <a:t>45</a:t>
            </a:r>
            <a:r>
              <a:rPr lang="en-AU" sz="1800" dirty="0"/>
              <a:t>, 68, 90, 29, 34, </a:t>
            </a:r>
            <a:r>
              <a:rPr lang="en-AU" sz="1800" b="1" dirty="0"/>
              <a:t>89</a:t>
            </a:r>
            <a:r>
              <a:rPr lang="en-AU" sz="1800" dirty="0"/>
              <a:t>]  89 is Pivot</a:t>
            </a:r>
          </a:p>
          <a:p>
            <a:r>
              <a:rPr lang="en-AU" sz="1800" dirty="0"/>
              <a:t>[</a:t>
            </a:r>
            <a:r>
              <a:rPr lang="en-AU" sz="1800" dirty="0">
                <a:solidFill>
                  <a:srgbClr val="FF0000"/>
                </a:solidFill>
              </a:rPr>
              <a:t>45, </a:t>
            </a:r>
            <a:r>
              <a:rPr lang="en-AU" sz="1800" u="sng" dirty="0">
                <a:solidFill>
                  <a:srgbClr val="FF0000"/>
                </a:solidFill>
              </a:rPr>
              <a:t>68</a:t>
            </a:r>
            <a:r>
              <a:rPr lang="en-AU" sz="1800" dirty="0"/>
              <a:t>, 90, 29, 34, </a:t>
            </a:r>
            <a:r>
              <a:rPr lang="en-AU" sz="1800" b="1" dirty="0"/>
              <a:t>89</a:t>
            </a:r>
            <a:r>
              <a:rPr lang="en-AU" sz="1800" dirty="0"/>
              <a:t>]</a:t>
            </a:r>
          </a:p>
          <a:p>
            <a:r>
              <a:rPr lang="en-AU" sz="1800" dirty="0"/>
              <a:t>[</a:t>
            </a:r>
            <a:r>
              <a:rPr lang="en-AU" sz="1800" dirty="0">
                <a:solidFill>
                  <a:srgbClr val="FF0000"/>
                </a:solidFill>
              </a:rPr>
              <a:t>45, 68</a:t>
            </a:r>
            <a:r>
              <a:rPr lang="en-AU" sz="1800" dirty="0"/>
              <a:t>, </a:t>
            </a:r>
            <a:r>
              <a:rPr lang="en-AU" sz="1800" u="sng" dirty="0">
                <a:solidFill>
                  <a:srgbClr val="00B050"/>
                </a:solidFill>
              </a:rPr>
              <a:t>90</a:t>
            </a:r>
            <a:r>
              <a:rPr lang="en-AU" sz="1800" dirty="0"/>
              <a:t>, 29, 34, </a:t>
            </a:r>
            <a:r>
              <a:rPr lang="en-AU" sz="1800" b="1" dirty="0"/>
              <a:t>89</a:t>
            </a:r>
            <a:r>
              <a:rPr lang="en-AU" sz="1800" dirty="0"/>
              <a:t>]</a:t>
            </a:r>
          </a:p>
          <a:p>
            <a:r>
              <a:rPr lang="en-AU" sz="1800" dirty="0"/>
              <a:t>[</a:t>
            </a:r>
            <a:r>
              <a:rPr lang="en-AU" sz="1800" dirty="0">
                <a:solidFill>
                  <a:srgbClr val="FF0000"/>
                </a:solidFill>
              </a:rPr>
              <a:t>45, 68</a:t>
            </a:r>
            <a:r>
              <a:rPr lang="en-AU" sz="1800" dirty="0"/>
              <a:t>, </a:t>
            </a:r>
            <a:r>
              <a:rPr lang="en-AU" sz="1800" dirty="0">
                <a:solidFill>
                  <a:srgbClr val="00B050"/>
                </a:solidFill>
              </a:rPr>
              <a:t>90</a:t>
            </a:r>
            <a:r>
              <a:rPr lang="en-AU" sz="1800" dirty="0"/>
              <a:t>, </a:t>
            </a:r>
            <a:r>
              <a:rPr lang="en-AU" sz="1800" u="sng" dirty="0">
                <a:solidFill>
                  <a:srgbClr val="FF0000"/>
                </a:solidFill>
              </a:rPr>
              <a:t>29</a:t>
            </a:r>
            <a:r>
              <a:rPr lang="en-AU" sz="1800" dirty="0"/>
              <a:t>, 34, </a:t>
            </a:r>
            <a:r>
              <a:rPr lang="en-AU" sz="1800" b="1" dirty="0"/>
              <a:t>89</a:t>
            </a:r>
            <a:r>
              <a:rPr lang="en-AU" sz="1800" dirty="0"/>
              <a:t>]</a:t>
            </a:r>
          </a:p>
          <a:p>
            <a:r>
              <a:rPr lang="en-AU" sz="1800" dirty="0"/>
              <a:t>[</a:t>
            </a:r>
            <a:r>
              <a:rPr lang="en-AU" sz="1800" dirty="0">
                <a:solidFill>
                  <a:srgbClr val="FF0000"/>
                </a:solidFill>
              </a:rPr>
              <a:t>45, 68, 29</a:t>
            </a:r>
            <a:r>
              <a:rPr lang="en-AU" sz="1800" dirty="0"/>
              <a:t>, </a:t>
            </a:r>
            <a:r>
              <a:rPr lang="en-AU" sz="1800" dirty="0">
                <a:solidFill>
                  <a:srgbClr val="00B050"/>
                </a:solidFill>
              </a:rPr>
              <a:t>90</a:t>
            </a:r>
            <a:r>
              <a:rPr lang="en-AU" sz="1800" dirty="0"/>
              <a:t>, </a:t>
            </a:r>
            <a:r>
              <a:rPr lang="en-AU" sz="1800" u="sng" dirty="0">
                <a:solidFill>
                  <a:srgbClr val="FF0000"/>
                </a:solidFill>
              </a:rPr>
              <a:t>34</a:t>
            </a:r>
            <a:r>
              <a:rPr lang="en-AU" sz="1800" dirty="0"/>
              <a:t>, </a:t>
            </a:r>
            <a:r>
              <a:rPr lang="en-AU" sz="1800" b="1" dirty="0"/>
              <a:t>89</a:t>
            </a:r>
            <a:r>
              <a:rPr lang="en-AU" sz="1800" dirty="0"/>
              <a:t>]</a:t>
            </a:r>
          </a:p>
          <a:p>
            <a:r>
              <a:rPr lang="en-AU" sz="1800" dirty="0"/>
              <a:t>[</a:t>
            </a:r>
            <a:r>
              <a:rPr lang="en-AU" sz="1800" dirty="0">
                <a:solidFill>
                  <a:srgbClr val="FF0000"/>
                </a:solidFill>
              </a:rPr>
              <a:t>45, 68, 29, 34, </a:t>
            </a:r>
            <a:r>
              <a:rPr lang="en-AU" sz="1800" dirty="0">
                <a:solidFill>
                  <a:srgbClr val="00B050"/>
                </a:solidFill>
              </a:rPr>
              <a:t>90</a:t>
            </a:r>
            <a:r>
              <a:rPr lang="en-AU" sz="1800" dirty="0"/>
              <a:t>, </a:t>
            </a:r>
            <a:r>
              <a:rPr lang="en-AU" sz="1800" b="1" u="sng" dirty="0"/>
              <a:t>89</a:t>
            </a:r>
            <a:r>
              <a:rPr lang="en-AU" sz="1800" dirty="0"/>
              <a:t>]</a:t>
            </a:r>
          </a:p>
          <a:p>
            <a:r>
              <a:rPr lang="en-AU" sz="1800" dirty="0"/>
              <a:t>[</a:t>
            </a:r>
            <a:r>
              <a:rPr lang="en-AU" sz="1800" dirty="0">
                <a:solidFill>
                  <a:srgbClr val="FF0000"/>
                </a:solidFill>
              </a:rPr>
              <a:t>45, 68, 29, 34</a:t>
            </a:r>
            <a:r>
              <a:rPr lang="en-AU" sz="1800" dirty="0"/>
              <a:t>, </a:t>
            </a:r>
            <a:r>
              <a:rPr lang="en-AU" sz="1800" b="1" dirty="0"/>
              <a:t>89</a:t>
            </a:r>
            <a:r>
              <a:rPr lang="en-AU" sz="1800" dirty="0"/>
              <a:t>, </a:t>
            </a:r>
            <a:r>
              <a:rPr lang="en-AU" sz="1800" dirty="0">
                <a:solidFill>
                  <a:srgbClr val="00B050"/>
                </a:solidFill>
              </a:rPr>
              <a:t>90</a:t>
            </a:r>
            <a:r>
              <a:rPr lang="en-AU" sz="1800" dirty="0"/>
              <a:t>]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US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2D10AA6-0CAB-249D-6020-B8FA60E459E1}"/>
              </a:ext>
            </a:extLst>
          </p:cNvPr>
          <p:cNvSpPr/>
          <p:nvPr/>
        </p:nvSpPr>
        <p:spPr>
          <a:xfrm>
            <a:off x="8145966" y="3429000"/>
            <a:ext cx="457200" cy="2819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89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1C59-6323-337B-C57B-A9F30F89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0061C304-390C-370F-8CDE-3AFFB9284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Quicksort,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E5CA8B-F99D-4BC4-330A-ADACB12CA3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979B6704-851D-A2E2-C7E3-29153A57126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9736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Analysis of the algorithm (</a:t>
            </a:r>
            <a:r>
              <a:rPr lang="en-AU" sz="2800" dirty="0">
                <a:latin typeface="Arial"/>
                <a:cs typeface="Arial"/>
              </a:rPr>
              <a:t>Best</a:t>
            </a:r>
            <a:r>
              <a:rPr lang="en-AU" sz="2800" spc="-30" dirty="0">
                <a:latin typeface="Arial"/>
                <a:cs typeface="Arial"/>
              </a:rPr>
              <a:t> </a:t>
            </a:r>
            <a:r>
              <a:rPr lang="en-AU" sz="2800" dirty="0">
                <a:latin typeface="Arial"/>
                <a:cs typeface="Arial"/>
              </a:rPr>
              <a:t>Case)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  <a:p>
            <a:pPr marR="0" lvl="1" defTabSz="914400" latinLnBrk="0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dirty="0">
                <a:cs typeface="Arial" charset="0"/>
              </a:rPr>
              <a:t>Divide the array into two sub-arrays (each of size n/2) in the </a:t>
            </a:r>
            <a:r>
              <a:rPr lang="en-AU" sz="2400" u="sng" dirty="0">
                <a:cs typeface="Arial" charset="0"/>
              </a:rPr>
              <a:t>best case</a:t>
            </a:r>
            <a:r>
              <a:rPr lang="en-AU" sz="2400" dirty="0">
                <a:cs typeface="Arial" charset="0"/>
              </a:rPr>
              <a:t>.</a:t>
            </a:r>
          </a:p>
          <a:p>
            <a:pPr marR="0" lvl="1" defTabSz="914400" latinLnBrk="0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dirty="0">
                <a:cs typeface="Arial" charset="0"/>
              </a:rPr>
              <a:t>Perform O(n) work to partition the array (comparing elements around the pivot)</a:t>
            </a:r>
            <a:endParaRPr lang="en-US" altLang="en-US" sz="2400" dirty="0"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Monotype Sorts" pitchFamily="2" charset="2"/>
              <a:buNone/>
              <a:tabLst/>
              <a:defRPr/>
            </a:pPr>
            <a:endParaRPr lang="en-US" altLang="en-US" sz="2400" dirty="0">
              <a:solidFill>
                <a:srgbClr val="000050"/>
              </a:solidFill>
              <a:cs typeface="Arial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                    T(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 = 2T(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/2) + 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f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),  where 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f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1" lang="el-GR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Θ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 </a:t>
            </a:r>
            <a:b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</a:b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uLnTx/>
              <a:uFillTx/>
              <a:latin typeface="Times New Roman"/>
              <a:ea typeface="+mn-ea"/>
              <a:cs typeface="+mn-cs"/>
            </a:endParaRPr>
          </a:p>
          <a:p>
            <a:pPr lvl="1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Applying the Master theorem 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(with 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a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 = 2, 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b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 = 2, 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d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 = 1)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1" lang="en-US" altLang="en-US" sz="16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                   </a:t>
            </a:r>
            <a:endParaRPr kumimoji="1" lang="en-US" altLang="en-US" sz="1200" b="1" i="0" u="none" strike="noStrike" kern="1200" cap="none" spc="0" normalizeH="0" baseline="0" noProof="0" dirty="0">
              <a:ln>
                <a:noFill/>
              </a:ln>
              <a:uLnTx/>
              <a:uFillTx/>
              <a:latin typeface="Times New Roman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Monotype Sorts" pitchFamily="2" charset="2"/>
              <a:buNone/>
              <a:tabLst/>
              <a:defRPr/>
            </a:pPr>
            <a:r>
              <a:rPr kumimoji="1" lang="en-US" altLang="en-US" sz="2400" b="1" dirty="0">
                <a:latin typeface="Times New Roman"/>
                <a:ea typeface="+mn-ea"/>
              </a:rPr>
              <a:t>		         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T(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1" lang="el-GR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Θ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 log 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  <a:p>
            <a:pPr lvl="1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So, the time efficiency is in </a:t>
            </a:r>
            <a:r>
              <a:rPr kumimoji="1" lang="el-GR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Θ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 log 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7FCAC0-6693-E31D-D4E0-96A581F78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9405" y="4343400"/>
            <a:ext cx="4322803" cy="171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87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1E8DF-6F39-8544-196D-473D91C6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BC4282F9-FBEC-1D56-A22D-8E14E1ABC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Quicksort,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1B9450-40FE-6983-BEA7-C5A5285AD1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651651CE-F9B7-B191-EEC9-1A60859F18DC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59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  <a:cs typeface="Arial" charset="0"/>
              </a:rPr>
              <a:t>Analysis of the algorithm (</a:t>
            </a:r>
            <a:r>
              <a:rPr lang="en-AU" sz="2800" dirty="0">
                <a:latin typeface="Arial"/>
                <a:cs typeface="Arial"/>
              </a:rPr>
              <a:t>Worst</a:t>
            </a:r>
            <a:r>
              <a:rPr lang="en-AU" sz="2800" spc="-30" dirty="0">
                <a:latin typeface="Arial"/>
                <a:cs typeface="Arial"/>
              </a:rPr>
              <a:t> </a:t>
            </a:r>
            <a:r>
              <a:rPr lang="en-AU" sz="2800" dirty="0">
                <a:latin typeface="Arial"/>
                <a:cs typeface="Arial"/>
              </a:rPr>
              <a:t>Case)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  <a:p>
            <a:pPr marR="0" lvl="1" defTabSz="914400" latinLnBrk="0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dirty="0">
                <a:cs typeface="Arial" charset="0"/>
              </a:rPr>
              <a:t>If we always select the first element, last element, or a bad pivot (e.g., the smallest or largest element) as the pivot, the algorithm may partition the array poorly leading to unbalanced partitions, such that one sub-array contains all elements except the pivot, and the other sub-array is empty or nearly empty.</a:t>
            </a:r>
          </a:p>
          <a:p>
            <a:pPr lvl="1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400" dirty="0">
                <a:cs typeface="Arial" charset="0"/>
              </a:rPr>
              <a:t>The recurrence for </a:t>
            </a:r>
            <a:r>
              <a:rPr lang="en-AU" sz="2400" dirty="0" err="1">
                <a:cs typeface="Arial" charset="0"/>
              </a:rPr>
              <a:t>QuickSort</a:t>
            </a:r>
            <a:r>
              <a:rPr lang="en-AU" sz="2400" dirty="0">
                <a:cs typeface="Arial" charset="0"/>
              </a:rPr>
              <a:t> in the worst case is</a:t>
            </a:r>
            <a:r>
              <a:rPr lang="en-AU" sz="1600" dirty="0"/>
              <a:t>: 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T(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 = T(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dirty="0">
                <a:latin typeface="Times New Roman"/>
                <a:ea typeface="+mn-ea"/>
              </a:rPr>
              <a:t>-1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 + </a:t>
            </a:r>
            <a:r>
              <a:rPr kumimoji="1" lang="en-AU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n, </a:t>
            </a:r>
            <a:r>
              <a:rPr kumimoji="1" lang="en-AU" altLang="en-US" sz="2400" b="1" dirty="0">
                <a:latin typeface="Times New Roman"/>
                <a:ea typeface="+mn-ea"/>
              </a:rPr>
              <a:t>T(1)=0 </a:t>
            </a:r>
          </a:p>
          <a:p>
            <a:pPr marL="457200" marR="0" lvl="1" indent="0" defTabSz="914400" latinLnBrk="0">
              <a:lnSpc>
                <a:spcPct val="90000"/>
              </a:lnSpc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AU" sz="2400" dirty="0">
                <a:cs typeface="Arial" charset="0"/>
              </a:rPr>
              <a:t>    </a:t>
            </a:r>
            <a:r>
              <a:rPr lang="en-AU" sz="2000" dirty="0">
                <a:cs typeface="Arial" charset="0"/>
              </a:rPr>
              <a:t>Where:</a:t>
            </a:r>
            <a:endParaRPr lang="en-AU" sz="2400" dirty="0">
              <a:cs typeface="Arial" charset="0"/>
            </a:endParaRPr>
          </a:p>
          <a:p>
            <a:pPr lvl="2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000" dirty="0">
                <a:cs typeface="Arial" charset="0"/>
              </a:rPr>
              <a:t>T(n−1) is the time taken to sort the sub-array of size n−1</a:t>
            </a:r>
          </a:p>
          <a:p>
            <a:pPr lvl="2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AU" sz="2000" dirty="0">
                <a:cs typeface="Arial" charset="0"/>
              </a:rPr>
              <a:t>n is the time spent on partitioning the array around the pivot</a:t>
            </a:r>
          </a:p>
          <a:p>
            <a:pPr marR="0" lvl="1" defTabSz="914400" latinLnBrk="0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/>
          </a:p>
          <a:p>
            <a:pPr marR="0" lvl="1" defTabSz="914400" latinLnBrk="0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/>
              <a:t>Solving the recurrence for T(n) by using </a:t>
            </a:r>
            <a:r>
              <a:rPr lang="pt-BR" altLang="en-US" sz="2400" b="1" dirty="0" err="1">
                <a:solidFill>
                  <a:srgbClr val="7030A0"/>
                </a:solidFill>
              </a:rPr>
              <a:t>backward</a:t>
            </a:r>
            <a:r>
              <a:rPr lang="pt-BR" altLang="en-US" sz="2400" b="1" dirty="0">
                <a:solidFill>
                  <a:srgbClr val="7030A0"/>
                </a:solidFill>
              </a:rPr>
              <a:t> </a:t>
            </a:r>
            <a:r>
              <a:rPr lang="pt-BR" altLang="en-US" sz="2400" b="1" dirty="0" err="1">
                <a:solidFill>
                  <a:srgbClr val="7030A0"/>
                </a:solidFill>
              </a:rPr>
              <a:t>substitution</a:t>
            </a:r>
            <a:endParaRPr lang="en-US" altLang="en-US" sz="2400" dirty="0">
              <a:cs typeface="Arial" charset="0"/>
            </a:endParaRPr>
          </a:p>
          <a:p>
            <a:pPr lvl="1">
              <a:lnSpc>
                <a:spcPct val="9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So, the time efficiency is in </a:t>
            </a:r>
            <a:r>
              <a:rPr kumimoji="1" lang="el-GR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Θ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Times New Roman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Tx/>
              <a:buBlip>
                <a:blip r:embed="rId3"/>
              </a:buBlip>
              <a:tabLst>
                <a:tab pos="465671" algn="l"/>
              </a:tabLst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53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1: Binary Search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0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b="1" dirty="0">
                <a:cs typeface="Arial" charset="0"/>
              </a:rPr>
              <a:t>Binary search </a:t>
            </a:r>
            <a:r>
              <a:rPr lang="en-US" altLang="en-US" sz="2800" dirty="0">
                <a:cs typeface="Arial" charset="0"/>
              </a:rPr>
              <a:t>is a remarkably efficient algorithm for searching in a </a:t>
            </a:r>
            <a:r>
              <a:rPr lang="en-US" altLang="en-US" sz="2800" b="1" dirty="0">
                <a:solidFill>
                  <a:srgbClr val="7030A0"/>
                </a:solidFill>
                <a:cs typeface="Arial" charset="0"/>
              </a:rPr>
              <a:t>sorted array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b="1" dirty="0">
              <a:solidFill>
                <a:srgbClr val="7030A0"/>
              </a:solidFill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1050" b="1" dirty="0">
              <a:solidFill>
                <a:srgbClr val="7030A0"/>
              </a:solidFill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Explanation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Start with a left pointer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dirty="0">
                <a:cs typeface="Arial" charset="0"/>
              </a:rPr>
              <a:t> and a right pointer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Arial" charset="0"/>
              </a:rPr>
              <a:t> </a:t>
            </a:r>
            <a:r>
              <a:rPr lang="en-US" altLang="en-US" sz="1800" dirty="0">
                <a:cs typeface="Arial" charset="0"/>
              </a:rPr>
              <a:t>at the beginning and end of the array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As long as the left pointer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dirty="0">
                <a:cs typeface="Arial" charset="0"/>
              </a:rPr>
              <a:t> does not cross the right pointer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Arial" charset="0"/>
              </a:rPr>
              <a:t>, check the middle element between the two pointers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200" dirty="0">
                <a:cs typeface="Arial" charset="0"/>
              </a:rPr>
              <a:t>If it is the key, return its index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200" dirty="0">
                <a:cs typeface="Arial" charset="0"/>
              </a:rPr>
              <a:t>else, if the key is smaller, move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</a:t>
            </a:r>
            <a:r>
              <a:rPr lang="en-US" altLang="en-US" sz="2200" dirty="0">
                <a:cs typeface="Arial" charset="0"/>
              </a:rPr>
              <a:t>to the end of the LHS array portion</a:t>
            </a:r>
          </a:p>
          <a:p>
            <a:pPr lvl="2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200" dirty="0">
                <a:cs typeface="Arial" charset="0"/>
              </a:rPr>
              <a:t>else, if the key is larger, move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US" altLang="en-US" sz="2200" dirty="0">
                <a:cs typeface="Arial" charset="0"/>
              </a:rPr>
              <a:t>to the beginning of the RHS array portion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If no key is found when the left pointer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400" dirty="0">
                <a:cs typeface="Arial" charset="0"/>
              </a:rPr>
              <a:t> crosses the right pointer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400" dirty="0">
                <a:cs typeface="Arial" charset="0"/>
              </a:rPr>
              <a:t>, return 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E8A389-F688-1AD7-78F1-6E2A0D56EC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1752600"/>
            <a:ext cx="5048250" cy="144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71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Binary Search,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8C8530-0C51-FA44-79F4-533341117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9220200" cy="454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81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Binary Search,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The algorithm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807781E-42BD-DF1F-31BA-010878B418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54617"/>
            <a:ext cx="8382000" cy="5174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9419E3-9104-EDEE-616E-B0B92E936F7C}"/>
              </a:ext>
            </a:extLst>
          </p:cNvPr>
          <p:cNvSpPr txBox="1"/>
          <p:nvPr/>
        </p:nvSpPr>
        <p:spPr>
          <a:xfrm>
            <a:off x="4724400" y="3733800"/>
            <a:ext cx="655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two pointers at the leftmost and rightmost elements of the array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91B36-EEBF-2E35-F2E6-12DEE3EFC4A2}"/>
              </a:ext>
            </a:extLst>
          </p:cNvPr>
          <p:cNvSpPr txBox="1"/>
          <p:nvPr/>
        </p:nvSpPr>
        <p:spPr>
          <a:xfrm>
            <a:off x="4114800" y="4114800"/>
            <a:ext cx="655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as long as the left pointer does not cross the right pointer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BA8903-0F6D-C943-86FB-237DC4EBC788}"/>
              </a:ext>
            </a:extLst>
          </p:cNvPr>
          <p:cNvSpPr txBox="1"/>
          <p:nvPr/>
        </p:nvSpPr>
        <p:spPr>
          <a:xfrm>
            <a:off x="5410200" y="4919246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If the middle element is the key, return its index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982C1E-7E26-64CD-113D-2B1B64480517}"/>
              </a:ext>
            </a:extLst>
          </p:cNvPr>
          <p:cNvSpPr txBox="1"/>
          <p:nvPr/>
        </p:nvSpPr>
        <p:spPr>
          <a:xfrm>
            <a:off x="6324600" y="5300246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If the key is smaller, consider the left array portion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DBCFD3-FEEC-9889-1B2E-40AFAA812412}"/>
              </a:ext>
            </a:extLst>
          </p:cNvPr>
          <p:cNvSpPr txBox="1"/>
          <p:nvPr/>
        </p:nvSpPr>
        <p:spPr>
          <a:xfrm>
            <a:off x="4624466" y="5695252"/>
            <a:ext cx="5257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If the key is larger, consider the right array portion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F0DE46-1539-9A1D-7D68-4A22E9C9F8FF}"/>
              </a:ext>
            </a:extLst>
          </p:cNvPr>
          <p:cNvSpPr txBox="1"/>
          <p:nvPr/>
        </p:nvSpPr>
        <p:spPr>
          <a:xfrm>
            <a:off x="3505200" y="6062246"/>
            <a:ext cx="807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when no key if found when the left pointer crosses the right pointer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1F1AE7-EA76-722D-5934-304F0A559AF7}"/>
              </a:ext>
            </a:extLst>
          </p:cNvPr>
          <p:cNvSpPr/>
          <p:nvPr/>
        </p:nvSpPr>
        <p:spPr>
          <a:xfrm>
            <a:off x="3810000" y="1659271"/>
            <a:ext cx="1828800" cy="46563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E2642-3905-D921-D55F-F82FF2A96E9E}"/>
              </a:ext>
            </a:extLst>
          </p:cNvPr>
          <p:cNvSpPr/>
          <p:nvPr/>
        </p:nvSpPr>
        <p:spPr>
          <a:xfrm>
            <a:off x="3124200" y="4411163"/>
            <a:ext cx="1828800" cy="46563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2EFA91-2311-28A3-8709-2600733CF273}"/>
              </a:ext>
            </a:extLst>
          </p:cNvPr>
          <p:cNvSpPr txBox="1"/>
          <p:nvPr/>
        </p:nvSpPr>
        <p:spPr>
          <a:xfrm>
            <a:off x="7467600" y="1752599"/>
            <a:ext cx="4054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a recursive algorithm is possible</a:t>
            </a:r>
          </a:p>
        </p:txBody>
      </p:sp>
    </p:spTree>
    <p:extLst>
      <p:ext uri="{BB962C8B-B14F-4D97-AF65-F5344CB8AC3E}">
        <p14:creationId xmlns:p14="http://schemas.microsoft.com/office/powerpoint/2010/main" val="3946687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Binary Search,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15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worst-case include all input arrays that do not contain a given search key, as well as some successful searches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The number of key comparisons in the worst-case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For </a:t>
            </a:r>
            <a:r>
              <a:rPr lang="en-US" alt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n=2^k</a:t>
            </a:r>
            <a:r>
              <a:rPr lang="en-US" altLang="en-US" sz="2400" dirty="0">
                <a:cs typeface="Arial" charset="0"/>
              </a:rPr>
              <a:t>, and </a:t>
            </a:r>
            <a:r>
              <a:rPr lang="en-US" altLang="en-US" sz="2400" dirty="0" err="1">
                <a:cs typeface="Arial" charset="0"/>
              </a:rPr>
              <a:t>Cworst</a:t>
            </a:r>
            <a:r>
              <a:rPr lang="en-US" altLang="en-US" sz="2400" dirty="0">
                <a:cs typeface="Arial" charset="0"/>
              </a:rPr>
              <a:t>(1)=1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It can be tweaked to get solution valid for arbitrary integer n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It implies that the </a:t>
            </a:r>
            <a:r>
              <a:rPr lang="en-US" altLang="en-US" sz="2400" u="sng" dirty="0">
                <a:cs typeface="Arial" charset="0"/>
              </a:rPr>
              <a:t>worst-case</a:t>
            </a:r>
            <a:r>
              <a:rPr lang="en-US" altLang="en-US" sz="2400" dirty="0">
                <a:cs typeface="Arial" charset="0"/>
              </a:rPr>
              <a:t> time efficiency is in Θ(log n)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It will take no more than                              comparisons to do it for any sorted array of size one million!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709B46D-3EFA-D781-96AC-D239328C0F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925865"/>
            <a:ext cx="7010400" cy="37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5914B36D-562F-B26E-4C18-ECC58E9EC4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8467"/>
            <a:ext cx="4038600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416A0DB9-5C56-C592-0753-CF18573BAF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889" y="4712109"/>
            <a:ext cx="5166840" cy="448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03052D68-0E92-3B89-02E2-DA5BB0D55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1155095"/>
              </p:ext>
            </p:extLst>
          </p:nvPr>
        </p:nvGraphicFramePr>
        <p:xfrm>
          <a:off x="4572000" y="5562600"/>
          <a:ext cx="21780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600" imgH="304800" progId="Equation.DSMT4">
                  <p:embed/>
                </p:oleObj>
              </mc:Choice>
              <mc:Fallback>
                <p:oleObj name="Equation" r:id="rId9" imgW="1244600" imgH="304800" progId="Equation.DSMT4">
                  <p:embed/>
                  <p:pic>
                    <p:nvPicPr>
                      <p:cNvPr id="16391" name="Object 9">
                        <a:extLst>
                          <a:ext uri="{FF2B5EF4-FFF2-40B4-BE49-F238E27FC236}">
                            <a16:creationId xmlns:a16="http://schemas.microsoft.com/office/drawing/2014/main" id="{39B39432-0B96-B869-5213-07AE1CE80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562600"/>
                        <a:ext cx="21780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F9F5519-2229-6DD1-2025-26FD46C1F7F4}"/>
              </a:ext>
            </a:extLst>
          </p:cNvPr>
          <p:cNvSpPr txBox="1"/>
          <p:nvPr/>
        </p:nvSpPr>
        <p:spPr>
          <a:xfrm>
            <a:off x="9207708" y="2947143"/>
            <a:ext cx="18537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one comparison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23A216-2252-6062-12BF-5D66D5CFB570}"/>
              </a:ext>
            </a:extLst>
          </p:cNvPr>
          <p:cNvSpPr txBox="1"/>
          <p:nvPr/>
        </p:nvSpPr>
        <p:spPr>
          <a:xfrm>
            <a:off x="5342574" y="3299462"/>
            <a:ext cx="61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Refer to solution of recurrence of counting binary digits in Chapter one by </a:t>
            </a:r>
            <a:r>
              <a:rPr lang="pt-BR" altLang="en-US" sz="1200" b="1" dirty="0" err="1">
                <a:solidFill>
                  <a:srgbClr val="7030A0"/>
                </a:solidFill>
              </a:rPr>
              <a:t>backward</a:t>
            </a:r>
            <a:r>
              <a:rPr lang="pt-BR" altLang="en-US" sz="1200" b="1" dirty="0">
                <a:solidFill>
                  <a:srgbClr val="7030A0"/>
                </a:solidFill>
              </a:rPr>
              <a:t> </a:t>
            </a:r>
            <a:r>
              <a:rPr lang="pt-BR" altLang="en-US" sz="1200" b="1" dirty="0" err="1">
                <a:solidFill>
                  <a:srgbClr val="7030A0"/>
                </a:solidFill>
              </a:rPr>
              <a:t>substitution</a:t>
            </a:r>
            <a:r>
              <a:rPr lang="en-US" sz="1200" b="1" dirty="0">
                <a:solidFill>
                  <a:srgbClr val="7030A0"/>
                </a:solidFill>
              </a:rPr>
              <a:t>, but using this different initial condition in the last step (slide#41)</a:t>
            </a:r>
          </a:p>
        </p:txBody>
      </p:sp>
    </p:spTree>
    <p:extLst>
      <p:ext uri="{BB962C8B-B14F-4D97-AF65-F5344CB8AC3E}">
        <p14:creationId xmlns:p14="http://schemas.microsoft.com/office/powerpoint/2010/main" val="3111489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1: Binary Search,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ACB0B48A-560D-4839-8006-6097D80F76DB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201400" cy="3681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Notes on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cs typeface="Arial" charset="0"/>
              </a:rPr>
              <a:t>Pros: </a:t>
            </a:r>
            <a:r>
              <a:rPr lang="en-US" altLang="en-US" sz="2400" dirty="0">
                <a:cs typeface="Arial" charset="0"/>
              </a:rPr>
              <a:t>Optimal for searching a sorted array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cs typeface="Arial" charset="0"/>
              </a:rPr>
              <a:t>Cons (limitation):</a:t>
            </a:r>
            <a:r>
              <a:rPr lang="en-US" altLang="en-US" sz="2400" dirty="0">
                <a:cs typeface="Arial" charset="0"/>
              </a:rPr>
              <a:t> must be a sorted array (not linked list)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8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Bad (degenerate) example of divide-and-conquer because only one of the sub-instances is solved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8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Has a continuous counterpart called bisection method for solving equations in one unknown </a:t>
            </a:r>
            <a:r>
              <a:rPr lang="en-US" altLang="en-US" sz="2400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f(x) = 0 </a:t>
            </a:r>
            <a:r>
              <a:rPr lang="en-US" altLang="en-US" sz="2400" dirty="0">
                <a:cs typeface="Arial" charset="0"/>
              </a:rPr>
              <a:t>(see Sec. 12.4)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4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158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B050"/>
                </a:solidFill>
              </a:rPr>
              <a:t>Example 2: Binary Tree Algorithms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CF9514B0-19EF-A209-8298-C779CF1969CE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Binary tree can be traversed in different ways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BAEB7E-F879-CF45-8A84-66FEB5BC10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014728"/>
            <a:ext cx="9448800" cy="35478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608BF8-BB84-CF36-6AA7-264A45EAEA1D}"/>
              </a:ext>
            </a:extLst>
          </p:cNvPr>
          <p:cNvSpPr txBox="1"/>
          <p:nvPr/>
        </p:nvSpPr>
        <p:spPr>
          <a:xfrm>
            <a:off x="1524000" y="5748780"/>
            <a:ext cx="1036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          start from the leaves                                                     start from the root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C5717C-75C1-2F22-5BB2-F3E10AB66962}"/>
              </a:ext>
            </a:extLst>
          </p:cNvPr>
          <p:cNvSpPr txBox="1"/>
          <p:nvPr/>
        </p:nvSpPr>
        <p:spPr>
          <a:xfrm>
            <a:off x="2819400" y="6553200"/>
            <a:ext cx="7924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7"/>
              </a:rPr>
              <a:t>https://zhang-xiao-mu.blog/2019/01/20/tree-traversal-preorder-postorder/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47405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Binary Tree Algorithms,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6FCE8-4AA3-0F29-9AB1-82652D8C5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276600"/>
            <a:ext cx="2383202" cy="1715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792A51-D00F-0571-A3F6-5D924F40969D}"/>
              </a:ext>
            </a:extLst>
          </p:cNvPr>
          <p:cNvSpPr txBox="1"/>
          <p:nvPr/>
        </p:nvSpPr>
        <p:spPr>
          <a:xfrm>
            <a:off x="1371600" y="5081951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b,a,d,c,e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8FD7BE-B80F-5901-BCFD-2F91D0F43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1" y="2819400"/>
            <a:ext cx="5933076" cy="3731758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FFE16233-A7DB-0E6C-473A-F190B0525420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06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5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6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Binary tree is a divide-and-conquer ready structure </a:t>
            </a:r>
            <a:r>
              <a:rPr lang="en-US" altLang="en-US" sz="2000" dirty="0">
                <a:cs typeface="Arial" charset="0"/>
              </a:rPr>
              <a:t>(many binary tree problems can be solved by applying the divide-and-conquer technique)</a:t>
            </a:r>
            <a:endParaRPr lang="en-US" altLang="en-US" sz="28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In the </a:t>
            </a:r>
            <a:r>
              <a:rPr lang="en-US" altLang="en-US" sz="2400" b="1" dirty="0">
                <a:cs typeface="Arial" charset="0"/>
              </a:rPr>
              <a:t>inorder traversal</a:t>
            </a:r>
            <a:r>
              <a:rPr lang="en-US" altLang="en-US" sz="2400" dirty="0">
                <a:cs typeface="Arial" charset="0"/>
              </a:rPr>
              <a:t>, the root is visited after visiting its left subtree but before visiting the right subtree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left subtree, root, right subtree</a:t>
            </a:r>
            <a:r>
              <a:rPr lang="en-US" altLang="en-US" sz="2400" dirty="0">
                <a:cs typeface="Arial" charset="0"/>
              </a:rPr>
              <a:t>)</a:t>
            </a: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8579DE-C4C7-7918-C3AB-A2D83CA50FF2}"/>
              </a:ext>
            </a:extLst>
          </p:cNvPr>
          <p:cNvSpPr txBox="1"/>
          <p:nvPr/>
        </p:nvSpPr>
        <p:spPr>
          <a:xfrm>
            <a:off x="2819400" y="6553200"/>
            <a:ext cx="7924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8"/>
              </a:rPr>
              <a:t>https://takeuforward.org/data-structure/inorder-traversal-of-binary-tree/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84056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Binary Tree Algorithms,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B38C1B-83FD-DC02-9F96-DBB0AFE24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276600"/>
            <a:ext cx="2383202" cy="1715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ADDF2E-2BE6-6CCB-83AC-447A78D6BD5A}"/>
              </a:ext>
            </a:extLst>
          </p:cNvPr>
          <p:cNvSpPr txBox="1"/>
          <p:nvPr/>
        </p:nvSpPr>
        <p:spPr>
          <a:xfrm>
            <a:off x="1371600" y="5081951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b,d,e,c,a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9C1C9D-D9BE-6BDE-C8AB-439A130D6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2111635"/>
            <a:ext cx="6781800" cy="4357219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6A0B1CE4-7323-6CF2-C1DF-0DA13610B9C2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289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5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6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7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In the </a:t>
            </a:r>
            <a:r>
              <a:rPr lang="en-US" altLang="en-US" sz="2400" b="1" dirty="0" err="1">
                <a:cs typeface="Arial" charset="0"/>
              </a:rPr>
              <a:t>postorder</a:t>
            </a:r>
            <a:r>
              <a:rPr lang="en-US" altLang="en-US" sz="2400" b="1" dirty="0">
                <a:cs typeface="Arial" charset="0"/>
              </a:rPr>
              <a:t> traversal</a:t>
            </a:r>
            <a:r>
              <a:rPr lang="en-US" altLang="en-US" sz="2400" dirty="0">
                <a:cs typeface="Arial" charset="0"/>
              </a:rPr>
              <a:t>, the root is visited after visiting the left and then right subtrees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left subtree, right subtree, root</a:t>
            </a:r>
            <a:r>
              <a:rPr lang="en-US" altLang="en-US" sz="2400" dirty="0">
                <a:cs typeface="Arial" charset="0"/>
              </a:rPr>
              <a:t>)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49E2E-039C-6F63-1C5D-94105D66400D}"/>
              </a:ext>
            </a:extLst>
          </p:cNvPr>
          <p:cNvSpPr txBox="1"/>
          <p:nvPr/>
        </p:nvSpPr>
        <p:spPr>
          <a:xfrm>
            <a:off x="2819400" y="6553200"/>
            <a:ext cx="7924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8"/>
              </a:rPr>
              <a:t>https://takeuforward.org/data-structure/post-order-traversal-of-binary-tree/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87258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Binary Tree Algorithms, Contd.</a:t>
            </a:r>
            <a:endParaRPr sz="3800"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3BE0D2-4FEB-BF05-8B60-903608AFA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276600"/>
            <a:ext cx="2383202" cy="17159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1F89ED-F0BF-055E-AB11-CDC147B89921}"/>
              </a:ext>
            </a:extLst>
          </p:cNvPr>
          <p:cNvSpPr txBox="1"/>
          <p:nvPr/>
        </p:nvSpPr>
        <p:spPr>
          <a:xfrm>
            <a:off x="1371600" y="5081951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a,b,c,d,e</a:t>
            </a:r>
            <a:endParaRPr lang="en-US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3491C8-49CB-1DAB-F2A1-57BD7FBD23B5}"/>
              </a:ext>
            </a:extLst>
          </p:cNvPr>
          <p:cNvSpPr txBox="1"/>
          <p:nvPr/>
        </p:nvSpPr>
        <p:spPr>
          <a:xfrm>
            <a:off x="2819400" y="6553200"/>
            <a:ext cx="79248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4"/>
              </a:rPr>
              <a:t>https://takeuforward.org/data-structure/preorder-traversal-of-binary-tree/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75AB7B-6C2E-3CE7-0B97-7025FAA1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081" y="2057399"/>
            <a:ext cx="6763260" cy="4258845"/>
          </a:xfrm>
          <a:prstGeom prst="rect">
            <a:avLst/>
          </a:prstGeom>
        </p:spPr>
      </p:pic>
      <p:sp>
        <p:nvSpPr>
          <p:cNvPr id="11" name="object 7">
            <a:extLst>
              <a:ext uri="{FF2B5EF4-FFF2-40B4-BE49-F238E27FC236}">
                <a16:creationId xmlns:a16="http://schemas.microsoft.com/office/drawing/2014/main" id="{D7C66E66-B5B3-9CA2-5F9A-EF6BFCCE7D25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289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6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7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8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In the </a:t>
            </a:r>
            <a:r>
              <a:rPr lang="en-US" altLang="en-US" sz="2400" b="1" dirty="0">
                <a:cs typeface="Arial" charset="0"/>
              </a:rPr>
              <a:t>preorder traversal</a:t>
            </a:r>
            <a:r>
              <a:rPr lang="en-US" altLang="en-US" sz="2400" dirty="0">
                <a:cs typeface="Arial" charset="0"/>
              </a:rPr>
              <a:t>, the root is visited before visiting the left and then right subtrees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root, left subtree, right subtree</a:t>
            </a:r>
            <a:r>
              <a:rPr lang="en-US" altLang="en-US" sz="2400" dirty="0">
                <a:cs typeface="Arial" charset="0"/>
              </a:rPr>
              <a:t>)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857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800" b="1" dirty="0">
                <a:solidFill>
                  <a:srgbClr val="0070C0"/>
                </a:solidFill>
              </a:rPr>
              <a:t>Example 2: Binary Tree Algorithms, Contd.</a:t>
            </a:r>
            <a:endParaRPr sz="3800"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CF9514B0-19EF-A209-8298-C779CF1969CE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49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The</a:t>
            </a: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5F6AD7-7F7D-D902-716A-5882FF125B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1295400"/>
            <a:ext cx="3660388" cy="2971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236C73-4ED2-A57A-14D9-DCFA62B20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4194" y="5334000"/>
            <a:ext cx="1905000" cy="413254"/>
          </a:xfrm>
          <a:prstGeom prst="rect">
            <a:avLst/>
          </a:prstGeom>
        </p:spPr>
      </p:pic>
      <p:sp>
        <p:nvSpPr>
          <p:cNvPr id="4" name="Text Box 18">
            <a:extLst>
              <a:ext uri="{FF2B5EF4-FFF2-40B4-BE49-F238E27FC236}">
                <a16:creationId xmlns:a16="http://schemas.microsoft.com/office/drawing/2014/main" id="{C2B2E849-70A8-A8FF-5D1B-908FB6510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4525" y="6488668"/>
            <a:ext cx="45878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solidFill>
                  <a:srgbClr val="7030A0"/>
                </a:solidFill>
                <a:latin typeface="+mj-lt"/>
              </a:rPr>
              <a:t>Each node is visited/printed once</a:t>
            </a:r>
          </a:p>
        </p:txBody>
      </p:sp>
    </p:spTree>
    <p:extLst>
      <p:ext uri="{BB962C8B-B14F-4D97-AF65-F5344CB8AC3E}">
        <p14:creationId xmlns:p14="http://schemas.microsoft.com/office/powerpoint/2010/main" val="250100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sz="3600" b="1" dirty="0">
                <a:solidFill>
                  <a:srgbClr val="00B050"/>
                </a:solidFill>
              </a:rPr>
              <a:t>Example 3: Multiplication of Large Integers</a:t>
            </a:r>
            <a:endParaRPr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5B618-7B85-D41D-0221-371ED7435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3510491"/>
            <a:ext cx="3490472" cy="2204509"/>
          </a:xfrm>
          <a:prstGeom prst="rect">
            <a:avLst/>
          </a:prstGeom>
        </p:spPr>
      </p:pic>
      <p:sp>
        <p:nvSpPr>
          <p:cNvPr id="5" name="object 7">
            <a:extLst>
              <a:ext uri="{FF2B5EF4-FFF2-40B4-BE49-F238E27FC236}">
                <a16:creationId xmlns:a16="http://schemas.microsoft.com/office/drawing/2014/main" id="{A4E440CD-5071-0381-2D9B-74D1AC98E117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125200" cy="515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4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6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Consider the problem of multiplying two (large) n-digit integers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= 12345678901357986429   B = 87654321284820912836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1600" dirty="0">
              <a:cs typeface="Arial" charset="0"/>
            </a:endParaRPr>
          </a:p>
          <a:p>
            <a:pPr marL="342900" lvl="1" indent="-342900">
              <a:buClr>
                <a:srgbClr val="FF6600"/>
              </a:buClr>
              <a:buSzPct val="75000"/>
              <a:buBlip>
                <a:blip r:embed="rId4"/>
              </a:buBlip>
              <a:tabLst>
                <a:tab pos="465671" algn="l"/>
              </a:tabLst>
              <a:defRPr/>
            </a:pPr>
            <a:r>
              <a:rPr lang="en-US" altLang="en-US" b="1" dirty="0">
                <a:solidFill>
                  <a:schemeClr val="tx1"/>
                </a:solidFill>
                <a:cs typeface="Arial" charset="0"/>
              </a:rPr>
              <a:t>In the </a:t>
            </a:r>
            <a:r>
              <a:rPr lang="en-US" altLang="en-US" sz="1800" dirty="0">
                <a:solidFill>
                  <a:schemeClr val="tx1"/>
                </a:solidFill>
                <a:cs typeface="Arial" charset="0"/>
              </a:rPr>
              <a:t>conventional</a:t>
            </a:r>
            <a:r>
              <a:rPr lang="en-US" altLang="en-US" b="1" dirty="0">
                <a:solidFill>
                  <a:schemeClr val="tx1"/>
                </a:solidFill>
                <a:cs typeface="Arial" charset="0"/>
              </a:rPr>
              <a:t> grade-school algorithm, ..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sz="2400" dirty="0">
                <a:cs typeface="Arial" charset="0"/>
              </a:rPr>
              <a:t>each of the n digits of the first number is multiplied by each of the n digits of the second number for the total of n</a:t>
            </a:r>
            <a:r>
              <a:rPr lang="en-US" sz="2400" baseline="30000" dirty="0">
                <a:cs typeface="Arial" charset="0"/>
              </a:rPr>
              <a:t>2</a:t>
            </a:r>
            <a:r>
              <a:rPr lang="en-US" sz="2400" dirty="0">
                <a:cs typeface="Arial" charset="0"/>
              </a:rPr>
              <a:t> digit multiplications</a:t>
            </a:r>
            <a:br>
              <a:rPr lang="en-US" altLang="en-US" sz="2400" dirty="0">
                <a:cs typeface="Arial" charset="0"/>
              </a:rPr>
            </a:br>
            <a:endParaRPr lang="en-US" altLang="en-US" sz="24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4800" dirty="0">
              <a:cs typeface="Arial" charset="0"/>
            </a:endParaRP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lang="en-US" altLang="en-US" sz="20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Time efficiency is in </a:t>
            </a:r>
            <a:r>
              <a:rPr lang="el-GR" altLang="en-US" sz="2400" dirty="0">
                <a:cs typeface="Arial" charset="0"/>
              </a:rPr>
              <a:t>Θ(</a:t>
            </a:r>
            <a:r>
              <a:rPr lang="en-US" altLang="en-US" sz="2400" dirty="0">
                <a:cs typeface="Arial" charset="0"/>
              </a:rPr>
              <a:t>n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)</a:t>
            </a:r>
            <a:r>
              <a:rPr lang="en-US" altLang="en-US" sz="1800" dirty="0">
                <a:cs typeface="Arial" charset="0"/>
              </a:rPr>
              <a:t> single digit </a:t>
            </a:r>
            <a:r>
              <a:rPr lang="en-US" altLang="en-US" sz="2400" dirty="0">
                <a:cs typeface="Arial" charset="0"/>
              </a:rPr>
              <a:t>multiplications</a:t>
            </a:r>
          </a:p>
        </p:txBody>
      </p:sp>
    </p:spTree>
    <p:extLst>
      <p:ext uri="{BB962C8B-B14F-4D97-AF65-F5344CB8AC3E}">
        <p14:creationId xmlns:p14="http://schemas.microsoft.com/office/powerpoint/2010/main" val="26104662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582400" cy="4096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b="1" dirty="0">
                <a:cs typeface="Arial" charset="0"/>
              </a:rPr>
              <a:t>In a better algorithm, </a:t>
            </a:r>
            <a:r>
              <a:rPr lang="en-US" altLang="en-US" sz="2800" dirty="0">
                <a:cs typeface="Arial" charset="0"/>
              </a:rPr>
              <a:t>consider the problem of multiplying two n-digit integers </a:t>
            </a:r>
            <a:r>
              <a:rPr lang="en-US" altLang="en-US" sz="1800" dirty="0">
                <a:cs typeface="Arial" charset="0"/>
              </a:rPr>
              <a:t>represented by arrays of their digits</a:t>
            </a:r>
            <a:r>
              <a:rPr lang="en-US" altLang="en-US" sz="2800" dirty="0">
                <a:cs typeface="Arial" charset="0"/>
              </a:rPr>
              <a:t>, e.g., A = 2135 and B = 4014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= 21·10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+ 35,  B = 40·10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+ 14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* B = (21·10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+ 35) * (40·10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+ 14) 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</a:t>
            </a:r>
            <a:r>
              <a:rPr lang="en-US" altLang="en-US" sz="1400" dirty="0"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= (21 * 40)·10</a:t>
            </a:r>
            <a:r>
              <a:rPr lang="en-US" altLang="en-US" sz="2400" baseline="30000" dirty="0"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  + (21 * 14 + 35 * 40)·10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+ 35 * 14</a:t>
            </a:r>
            <a:br>
              <a:rPr lang="en-US" altLang="en-US" sz="2400" dirty="0">
                <a:cs typeface="Arial" charset="0"/>
              </a:rPr>
            </a:br>
            <a:endParaRPr lang="en-US" altLang="en-US" sz="10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12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In general, if A = A</a:t>
            </a:r>
            <a:r>
              <a:rPr lang="en-US" altLang="en-US" sz="2800" baseline="-25000" dirty="0">
                <a:cs typeface="Arial" charset="0"/>
              </a:rPr>
              <a:t>1</a:t>
            </a:r>
            <a:r>
              <a:rPr lang="en-US" altLang="en-US" sz="2800" dirty="0">
                <a:cs typeface="Arial" charset="0"/>
              </a:rPr>
              <a:t>A</a:t>
            </a:r>
            <a:r>
              <a:rPr lang="en-US" altLang="en-US" sz="2800" baseline="-25000" dirty="0">
                <a:cs typeface="Arial" charset="0"/>
              </a:rPr>
              <a:t>2</a:t>
            </a:r>
            <a:r>
              <a:rPr lang="en-US" altLang="en-US" sz="2800" dirty="0">
                <a:cs typeface="Arial" charset="0"/>
              </a:rPr>
              <a:t> and B = B</a:t>
            </a:r>
            <a:r>
              <a:rPr lang="en-US" altLang="en-US" sz="2800" baseline="-25000" dirty="0">
                <a:cs typeface="Arial" charset="0"/>
              </a:rPr>
              <a:t>1</a:t>
            </a:r>
            <a:r>
              <a:rPr lang="en-US" altLang="en-US" sz="2800" dirty="0">
                <a:cs typeface="Arial" charset="0"/>
              </a:rPr>
              <a:t>B</a:t>
            </a:r>
            <a:r>
              <a:rPr lang="en-US" altLang="en-US" sz="2800" baseline="-25000" dirty="0">
                <a:cs typeface="Arial" charset="0"/>
              </a:rPr>
              <a:t>2</a:t>
            </a:r>
            <a:r>
              <a:rPr lang="en-US" altLang="en-US" sz="2800" dirty="0">
                <a:cs typeface="Arial" charset="0"/>
              </a:rPr>
              <a:t> (where A and B are n-digit numbers and A</a:t>
            </a:r>
            <a:r>
              <a:rPr lang="en-US" altLang="en-US" sz="2800" baseline="-25000" dirty="0">
                <a:cs typeface="Arial" charset="0"/>
              </a:rPr>
              <a:t>1</a:t>
            </a:r>
            <a:r>
              <a:rPr lang="en-US" altLang="en-US" sz="2800" dirty="0">
                <a:cs typeface="Arial" charset="0"/>
              </a:rPr>
              <a:t>, A</a:t>
            </a:r>
            <a:r>
              <a:rPr lang="en-US" altLang="en-US" sz="2800" baseline="-25000" dirty="0">
                <a:cs typeface="Arial" charset="0"/>
              </a:rPr>
              <a:t>2</a:t>
            </a:r>
            <a:r>
              <a:rPr lang="en-US" altLang="en-US" sz="2800" dirty="0">
                <a:cs typeface="Arial" charset="0"/>
              </a:rPr>
              <a:t>, B</a:t>
            </a:r>
            <a:r>
              <a:rPr lang="en-US" altLang="en-US" sz="2800" baseline="-25000" dirty="0">
                <a:cs typeface="Arial" charset="0"/>
              </a:rPr>
              <a:t>1</a:t>
            </a:r>
            <a:r>
              <a:rPr lang="en-US" altLang="en-US" sz="2800" dirty="0">
                <a:cs typeface="Arial" charset="0"/>
              </a:rPr>
              <a:t>, B</a:t>
            </a:r>
            <a:r>
              <a:rPr lang="en-US" altLang="en-US" sz="2800" baseline="-25000" dirty="0">
                <a:cs typeface="Arial" charset="0"/>
              </a:rPr>
              <a:t>2</a:t>
            </a:r>
            <a:r>
              <a:rPr lang="en-US" altLang="en-US" sz="2800" dirty="0">
                <a:cs typeface="Arial" charset="0"/>
              </a:rPr>
              <a:t> are n/2-digit numbers),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* B = A</a:t>
            </a:r>
            <a:r>
              <a:rPr lang="en-US" altLang="en-US" sz="2400" baseline="-25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* B</a:t>
            </a:r>
            <a:r>
              <a:rPr lang="en-US" altLang="en-US" sz="2400" baseline="-25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·10</a:t>
            </a:r>
            <a:r>
              <a:rPr lang="en-US" altLang="en-US" sz="2400" baseline="30000" dirty="0">
                <a:cs typeface="Arial" charset="0"/>
              </a:rPr>
              <a:t>n</a:t>
            </a:r>
            <a:r>
              <a:rPr lang="en-US" altLang="en-US" sz="2400" dirty="0">
                <a:cs typeface="Arial" charset="0"/>
              </a:rPr>
              <a:t>  + (A</a:t>
            </a:r>
            <a:r>
              <a:rPr lang="en-US" altLang="en-US" sz="2400" baseline="-25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* B</a:t>
            </a:r>
            <a:r>
              <a:rPr lang="en-US" altLang="en-US" sz="2400" baseline="-25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A</a:t>
            </a:r>
            <a:r>
              <a:rPr lang="en-US" altLang="en-US" sz="2400" baseline="-25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* B</a:t>
            </a:r>
            <a:r>
              <a:rPr lang="en-US" altLang="en-US" sz="2400" baseline="-25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n/2</a:t>
            </a:r>
            <a:r>
              <a:rPr lang="en-US" altLang="en-US" sz="2400" dirty="0">
                <a:cs typeface="Arial" charset="0"/>
              </a:rPr>
              <a:t> + A</a:t>
            </a:r>
            <a:r>
              <a:rPr lang="en-US" altLang="en-US" sz="2400" baseline="-25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* B</a:t>
            </a:r>
            <a:r>
              <a:rPr lang="en-US" altLang="en-US" sz="2400" baseline="-25000" dirty="0">
                <a:cs typeface="Arial" charset="0"/>
              </a:rPr>
              <a:t>2</a:t>
            </a:r>
            <a:br>
              <a:rPr lang="en-US" altLang="en-US" sz="2400" dirty="0">
                <a:cs typeface="Arial" charset="0"/>
              </a:rPr>
            </a:br>
            <a:endParaRPr lang="en-US" altLang="en-US" sz="900" dirty="0">
              <a:cs typeface="Arial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6F76A7-97D3-92D0-EC3A-7E856A253524}"/>
              </a:ext>
            </a:extLst>
          </p:cNvPr>
          <p:cNvSpPr txBox="1"/>
          <p:nvPr/>
        </p:nvSpPr>
        <p:spPr>
          <a:xfrm>
            <a:off x="5989704" y="2557046"/>
            <a:ext cx="3429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</a:rPr>
              <a:t>divide each into two</a:t>
            </a:r>
          </a:p>
        </p:txBody>
      </p:sp>
    </p:spTree>
    <p:extLst>
      <p:ext uri="{BB962C8B-B14F-4D97-AF65-F5344CB8AC3E}">
        <p14:creationId xmlns:p14="http://schemas.microsoft.com/office/powerpoint/2010/main" val="2530491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5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Since multiplication of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-digit numbers requires four multiplications of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/2-digit numbers, recurrence for the number of multiplications M(n)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kumimoji="1" lang="en-US" altLang="en-US" sz="2400" b="1" i="1" dirty="0">
                <a:solidFill>
                  <a:srgbClr val="001932"/>
                </a:solidFill>
                <a:latin typeface="Times New Roman"/>
                <a:ea typeface="+mn-ea"/>
              </a:rPr>
              <a:t>                       </a:t>
            </a:r>
            <a:r>
              <a:rPr kumimoji="1" lang="en-US" altLang="en-US" sz="2400" b="1" dirty="0">
                <a:solidFill>
                  <a:srgbClr val="001932"/>
                </a:solidFill>
                <a:latin typeface="Times New Roman"/>
                <a:ea typeface="+mn-ea"/>
              </a:rPr>
              <a:t>M(</a:t>
            </a:r>
            <a:r>
              <a:rPr kumimoji="1" lang="en-US" altLang="en-US" sz="2400" b="1" i="1" dirty="0">
                <a:solidFill>
                  <a:srgbClr val="001932"/>
                </a:solidFill>
                <a:latin typeface="Times New Roman"/>
                <a:ea typeface="+mn-ea"/>
              </a:rPr>
              <a:t>n</a:t>
            </a:r>
            <a:r>
              <a:rPr kumimoji="1" lang="en-US" altLang="en-US" sz="2400" b="1" dirty="0">
                <a:solidFill>
                  <a:srgbClr val="001932"/>
                </a:solidFill>
                <a:latin typeface="Times New Roman"/>
                <a:ea typeface="+mn-ea"/>
              </a:rPr>
              <a:t>) = 4M(</a:t>
            </a:r>
            <a:r>
              <a:rPr kumimoji="1" lang="en-US" altLang="en-US" sz="2400" b="1" i="1" dirty="0">
                <a:solidFill>
                  <a:srgbClr val="001932"/>
                </a:solidFill>
                <a:latin typeface="Times New Roman"/>
                <a:ea typeface="+mn-ea"/>
              </a:rPr>
              <a:t>n/2</a:t>
            </a:r>
            <a:r>
              <a:rPr kumimoji="1" lang="en-US" altLang="en-US" sz="2400" b="1" dirty="0">
                <a:solidFill>
                  <a:srgbClr val="001932"/>
                </a:solidFill>
                <a:latin typeface="Times New Roman"/>
                <a:ea typeface="+mn-ea"/>
              </a:rPr>
              <a:t>),   M(1) = 1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endParaRPr kumimoji="1" lang="en-US" altLang="en-US" sz="1050" b="1" dirty="0">
              <a:solidFill>
                <a:srgbClr val="001932"/>
              </a:solidFill>
              <a:latin typeface="Times New Roman"/>
              <a:ea typeface="+mn-ea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Solution:</a:t>
            </a:r>
            <a:endParaRPr lang="en-US" altLang="en-US" sz="2400" dirty="0">
              <a:solidFill>
                <a:srgbClr val="000050"/>
              </a:solidFill>
              <a:cs typeface="Arial" charset="0"/>
            </a:endParaRPr>
          </a:p>
          <a:p>
            <a:pPr marL="400050" lvl="1" indent="0">
              <a:buNone/>
              <a:defRPr/>
            </a:pP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It can be solved using the </a:t>
            </a:r>
            <a:r>
              <a:rPr lang="en-US" altLang="en-US" sz="2000" u="sng" dirty="0">
                <a:solidFill>
                  <a:srgbClr val="000050"/>
                </a:solidFill>
                <a:cs typeface="Arial" charset="0"/>
              </a:rPr>
              <a:t>backward substitution method 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studied in Chapter 1 (Homework)</a:t>
            </a:r>
          </a:p>
          <a:p>
            <a:pPr marL="400050" lvl="1" indent="0">
              <a:buNone/>
              <a:defRPr/>
            </a:pPr>
            <a:endParaRPr lang="en-US" altLang="en-US" sz="2000" dirty="0">
              <a:solidFill>
                <a:srgbClr val="000050"/>
              </a:solidFill>
              <a:cs typeface="Arial" charset="0"/>
            </a:endParaRPr>
          </a:p>
          <a:p>
            <a:pPr marL="400050" lvl="1" indent="0">
              <a:buNone/>
              <a:defRPr/>
            </a:pPr>
            <a:r>
              <a:rPr lang="en-US" altLang="en-US" sz="2000" b="1" dirty="0">
                <a:solidFill>
                  <a:srgbClr val="000050"/>
                </a:solidFill>
                <a:cs typeface="Arial" charset="0"/>
              </a:rPr>
              <a:t>Or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 by using the </a:t>
            </a:r>
            <a:r>
              <a:rPr lang="en-US" altLang="en-US" sz="2000" u="sng" dirty="0">
                <a:solidFill>
                  <a:srgbClr val="000050"/>
                </a:solidFill>
                <a:cs typeface="Arial" charset="0"/>
              </a:rPr>
              <a:t>Master Theorem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: </a:t>
            </a:r>
          </a:p>
          <a:p>
            <a:pPr marL="400050" lvl="1" indent="0">
              <a:buNone/>
              <a:defRPr/>
            </a:pPr>
            <a:endParaRPr lang="en-US" altLang="en-US" sz="2000" dirty="0">
              <a:solidFill>
                <a:srgbClr val="000050"/>
              </a:solidFill>
              <a:cs typeface="Arial" charset="0"/>
            </a:endParaRPr>
          </a:p>
          <a:p>
            <a:pPr marL="400050" lvl="1" indent="0">
              <a:buNone/>
              <a:defRPr/>
            </a:pP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a = 4, b = 2, d = 0</a:t>
            </a:r>
          </a:p>
          <a:p>
            <a:pPr marL="400050" lvl="1" indent="0">
              <a:buNone/>
              <a:defRPr/>
            </a:pP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a &gt; b</a:t>
            </a:r>
            <a:r>
              <a:rPr lang="en-US" altLang="en-US" sz="2000" baseline="30000" dirty="0">
                <a:solidFill>
                  <a:srgbClr val="000050"/>
                </a:solidFill>
                <a:cs typeface="Arial" charset="0"/>
              </a:rPr>
              <a:t>d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, Therefore, M(n) 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  <a:sym typeface="Symbol" panose="05050102010706020507" pitchFamily="18" charset="2"/>
              </a:rPr>
              <a:t>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 </a:t>
            </a:r>
            <a:r>
              <a:rPr lang="el-GR" altLang="en-US" sz="2000" dirty="0">
                <a:solidFill>
                  <a:srgbClr val="000050"/>
                </a:solidFill>
                <a:cs typeface="Arial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(</a:t>
            </a:r>
            <a:r>
              <a:rPr lang="en-US" altLang="en-US" sz="2000" dirty="0" err="1">
                <a:solidFill>
                  <a:srgbClr val="000050"/>
                </a:solidFill>
                <a:cs typeface="Arial" charset="0"/>
              </a:rPr>
              <a:t>n</a:t>
            </a:r>
            <a:r>
              <a:rPr lang="en-US" altLang="en-US" sz="2000" baseline="30000" dirty="0" err="1">
                <a:solidFill>
                  <a:srgbClr val="000050"/>
                </a:solidFill>
                <a:cs typeface="Arial" charset="0"/>
              </a:rPr>
              <a:t>log</a:t>
            </a:r>
            <a:r>
              <a:rPr lang="en-US" altLang="en-US" sz="2000" baseline="30000" dirty="0">
                <a:solidFill>
                  <a:srgbClr val="000050"/>
                </a:solidFill>
                <a:cs typeface="Arial" charset="0"/>
              </a:rPr>
              <a:t> </a:t>
            </a:r>
            <a:r>
              <a:rPr lang="en-US" altLang="en-US" sz="2000" baseline="-25000" dirty="0">
                <a:solidFill>
                  <a:srgbClr val="000050"/>
                </a:solidFill>
                <a:cs typeface="Arial" charset="0"/>
              </a:rPr>
              <a:t>b</a:t>
            </a:r>
            <a:r>
              <a:rPr lang="en-US" altLang="en-US" sz="2000" baseline="30000" dirty="0">
                <a:solidFill>
                  <a:srgbClr val="000050"/>
                </a:solidFill>
                <a:cs typeface="Arial" charset="0"/>
              </a:rPr>
              <a:t> 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a</a:t>
            </a:r>
            <a:r>
              <a:rPr lang="en-US" altLang="en-US" sz="2000" baseline="30000" dirty="0">
                <a:solidFill>
                  <a:srgbClr val="000050"/>
                </a:solidFill>
                <a:cs typeface="Arial" charset="0"/>
              </a:rPr>
              <a:t> 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) = </a:t>
            </a:r>
            <a:r>
              <a:rPr lang="el-GR" altLang="en-US" sz="2000" dirty="0">
                <a:solidFill>
                  <a:srgbClr val="000050"/>
                </a:solidFill>
                <a:cs typeface="Arial" charset="0"/>
                <a:sym typeface="Symbol" panose="05050102010706020507" pitchFamily="18" charset="2"/>
              </a:rPr>
              <a:t> 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  <a:sym typeface="Symbol" panose="05050102010706020507" pitchFamily="18" charset="2"/>
              </a:rPr>
              <a:t>(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n</a:t>
            </a:r>
            <a:r>
              <a:rPr lang="en-US" altLang="en-US" sz="2000" baseline="30000" dirty="0">
                <a:solidFill>
                  <a:srgbClr val="000050"/>
                </a:solidFill>
                <a:cs typeface="Arial" charset="0"/>
              </a:rPr>
              <a:t>log</a:t>
            </a:r>
            <a:r>
              <a:rPr lang="en-US" altLang="en-US" sz="2000" baseline="-25000" dirty="0">
                <a:solidFill>
                  <a:srgbClr val="000050"/>
                </a:solidFill>
                <a:cs typeface="Arial" charset="0"/>
              </a:rPr>
              <a:t>2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 4) ≈ </a:t>
            </a:r>
            <a:r>
              <a:rPr lang="el-GR" altLang="en-US" sz="2000" dirty="0">
                <a:solidFill>
                  <a:srgbClr val="000050"/>
                </a:solidFill>
                <a:cs typeface="Arial" charset="0"/>
                <a:sym typeface="Symbol" panose="05050102010706020507" pitchFamily="18" charset="2"/>
              </a:rPr>
              <a:t> 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  <a:sym typeface="Symbol" panose="05050102010706020507" pitchFamily="18" charset="2"/>
              </a:rPr>
              <a:t>( 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n</a:t>
            </a:r>
            <a:r>
              <a:rPr lang="en-US" altLang="en-US" sz="2000" baseline="30000" dirty="0">
                <a:solidFill>
                  <a:srgbClr val="000050"/>
                </a:solidFill>
                <a:cs typeface="Arial" charset="0"/>
              </a:rPr>
              <a:t>2</a:t>
            </a:r>
            <a:r>
              <a:rPr lang="en-US" altLang="en-US" sz="2000" dirty="0">
                <a:solidFill>
                  <a:srgbClr val="000050"/>
                </a:solidFill>
                <a:cs typeface="Arial" charset="0"/>
              </a:rPr>
              <a:t> 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091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30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b="1" dirty="0">
                <a:cs typeface="Arial" charset="0"/>
              </a:rPr>
              <a:t>In an even better algorithm</a:t>
            </a:r>
            <a:r>
              <a:rPr lang="en-US" altLang="en-US" sz="2800" dirty="0">
                <a:cs typeface="Arial" charset="0"/>
              </a:rPr>
              <a:t>,</a:t>
            </a:r>
            <a:r>
              <a:rPr lang="en-US" altLang="en-US" sz="2800" b="1" dirty="0">
                <a:cs typeface="Arial" charset="0"/>
              </a:rPr>
              <a:t> </a:t>
            </a:r>
            <a:r>
              <a:rPr lang="en-US" altLang="en-US" sz="2800" dirty="0">
                <a:cs typeface="Arial" charset="0"/>
              </a:rPr>
              <a:t>consider the problem of multiplying two 2-digit integers </a:t>
            </a:r>
            <a:r>
              <a:rPr lang="en-US" altLang="en-US" sz="2000" dirty="0">
                <a:cs typeface="Arial" charset="0"/>
              </a:rPr>
              <a:t>represented by arrays of their digits</a:t>
            </a:r>
            <a:r>
              <a:rPr lang="en-US" altLang="en-US" sz="2800" dirty="0">
                <a:cs typeface="Arial" charset="0"/>
              </a:rPr>
              <a:t>, e.g., a = 23 and b = 14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= 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dirty="0">
                <a:cs typeface="Arial" charset="0"/>
              </a:rPr>
              <a:t>,  b =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* b = (2·10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+ 3) * (1·10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+ 4) 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 +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 * 4 + 3 * 1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(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2 * 4 + 3 * 1 = (2 + 3) * (1 + 4) - 2 * 1 - 3 * 4 </a:t>
            </a:r>
            <a:r>
              <a:rPr lang="en-US" altLang="en-US" sz="1800" dirty="0">
                <a:cs typeface="Arial" charset="0"/>
              </a:rPr>
              <a:t>(subtract extra terms when attempting to convert summation of products to product of summations)</a:t>
            </a: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 * 4 + 3 * 1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dirty="0">
                <a:cs typeface="Arial" charset="0"/>
              </a:rPr>
              <a:t>) * (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 –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decrease of the number of multiplications from 4 to 3 </a:t>
            </a:r>
            <a:r>
              <a:rPr lang="en-US" altLang="en-US" sz="1800" dirty="0">
                <a:cs typeface="Arial" charset="0"/>
              </a:rPr>
              <a:t>(at the expense of 3 extra add/sub)</a:t>
            </a:r>
            <a:br>
              <a:rPr lang="en-US" altLang="en-US" sz="2400" dirty="0">
                <a:cs typeface="Arial" charset="0"/>
              </a:rPr>
            </a:br>
            <a:endParaRPr lang="en-US" altLang="en-US" sz="9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365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06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dirty="0">
                <a:cs typeface="Arial" charset="0"/>
              </a:rPr>
              <a:t> *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 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 +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 * 4 + 3 * 1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(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where 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 * 4 + 3 * 1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dirty="0">
                <a:cs typeface="Arial" charset="0"/>
              </a:rPr>
              <a:t>) * (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 –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</a:t>
            </a:r>
            <a:br>
              <a:rPr lang="en-US" altLang="en-US" sz="2400" dirty="0">
                <a:cs typeface="Arial" charset="0"/>
              </a:rPr>
            </a:br>
            <a:endParaRPr lang="en-US" altLang="en-US" sz="8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10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In general, for any pair of two-digit integers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a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Arial" charset="0"/>
              </a:rPr>
              <a:t>and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b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cs typeface="Arial" charset="0"/>
              </a:rPr>
              <a:t>, their product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cs typeface="Arial" charset="0"/>
              </a:rPr>
              <a:t> can be computed as follows</a:t>
            </a:r>
            <a:endParaRPr lang="en-US" altLang="en-US" sz="900" dirty="0">
              <a:cs typeface="Arial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9EF644-C341-D711-7AE0-3EBEA26A15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3561357"/>
            <a:ext cx="6629400" cy="225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3745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421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Consider the problem of multiplying two (large) n-digit integers </a:t>
            </a:r>
            <a:r>
              <a:rPr lang="en-US" altLang="en-US" sz="2000" dirty="0">
                <a:cs typeface="Arial" charset="0"/>
              </a:rPr>
              <a:t>represented by arrays of their digits</a:t>
            </a:r>
            <a:r>
              <a:rPr lang="en-US" altLang="en-US" sz="2800" dirty="0">
                <a:cs typeface="Arial" charset="0"/>
              </a:rPr>
              <a:t>, e.g., A = 2135 and B = 4014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= 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</a:t>
            </a:r>
            <a:r>
              <a:rPr lang="en-US" altLang="en-US" sz="2400" dirty="0">
                <a:cs typeface="Arial" charset="0"/>
              </a:rPr>
              <a:t>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dirty="0">
                <a:cs typeface="Arial" charset="0"/>
              </a:rPr>
              <a:t>,  B =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dirty="0">
                <a:cs typeface="Arial" charset="0"/>
              </a:rPr>
              <a:t>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 * B = (21·10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+ 35) * (40·10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+ 14) 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</a:t>
            </a:r>
            <a:r>
              <a:rPr lang="en-US" altLang="en-US" sz="1400" dirty="0"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  +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21 * 14 + 35 * 40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(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21 * 14 + 35 * 40 = (21 + 35) * (40 + 14) - 21 * 40 - 35 * 14 </a:t>
            </a:r>
            <a:r>
              <a:rPr lang="en-US" altLang="en-US" sz="1800" dirty="0">
                <a:cs typeface="Arial" charset="0"/>
              </a:rPr>
              <a:t>(subtract extra terms when attempting to convert summation of products to product of summations)</a:t>
            </a:r>
            <a:endParaRPr lang="en-US" altLang="en-US" sz="24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21 * 14 + 35 * 40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dirty="0">
                <a:cs typeface="Arial" charset="0"/>
              </a:rPr>
              <a:t>) * (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 –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decrease of the number of multiplications from 4 to 3 </a:t>
            </a:r>
            <a:r>
              <a:rPr lang="en-US" altLang="en-US" sz="1800" dirty="0">
                <a:cs typeface="Arial" charset="0"/>
              </a:rPr>
              <a:t>(at the expense of 3 extra add/sub)</a:t>
            </a:r>
            <a:br>
              <a:rPr lang="en-US" altLang="en-US" sz="2400" dirty="0">
                <a:cs typeface="Arial" charset="0"/>
              </a:rPr>
            </a:br>
            <a:endParaRPr lang="en-US" altLang="en-US" sz="9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298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251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dirty="0">
                <a:cs typeface="Arial" charset="0"/>
              </a:rPr>
              <a:t> *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 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  +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21 * 14 + 35 * 40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(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where 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21 * 14 + 35 * 40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dirty="0">
                <a:cs typeface="Arial" charset="0"/>
              </a:rPr>
              <a:t>) * (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 –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</a:t>
            </a:r>
            <a:br>
              <a:rPr lang="en-US" altLang="en-US" sz="2400" dirty="0">
                <a:cs typeface="Arial" charset="0"/>
              </a:rPr>
            </a:br>
            <a:endParaRPr lang="en-US" altLang="en-US" sz="9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1000" dirty="0">
              <a:cs typeface="Arial" charset="0"/>
            </a:endParaRPr>
          </a:p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dirty="0">
                <a:cs typeface="Arial" charset="0"/>
              </a:rPr>
              <a:t>In general, for any pair of n-digit integers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a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cs typeface="Arial" charset="0"/>
              </a:rPr>
              <a:t>and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b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en-US" sz="2800" dirty="0">
                <a:cs typeface="Arial" charset="0"/>
              </a:rPr>
              <a:t>where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800" dirty="0">
                <a:cs typeface="Arial" charset="0"/>
              </a:rPr>
              <a:t> is a positive integer,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a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n/2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a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cs typeface="Arial" charset="0"/>
              </a:rPr>
              <a:t>, and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=b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en-US" sz="28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n/2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</a:t>
            </a:r>
            <a:r>
              <a:rPr lang="en-US" altLang="en-US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sz="2800" dirty="0">
                <a:cs typeface="Arial" charset="0"/>
              </a:rPr>
              <a:t>, their product </a:t>
            </a:r>
            <a:r>
              <a:rPr lang="en-US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2800" dirty="0">
                <a:cs typeface="Arial" charset="0"/>
              </a:rPr>
              <a:t> can be computed as follows</a:t>
            </a:r>
            <a:endParaRPr lang="en-US" altLang="en-US" sz="900" dirty="0">
              <a:cs typeface="Arial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D12E7-B578-DF01-D431-E686157D03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442467"/>
            <a:ext cx="5486400" cy="218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45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430000" cy="507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R="0" lvl="0" defTabSz="914400" latinLnBrk="0">
              <a:lnSpc>
                <a:spcPct val="100000"/>
              </a:lnSpc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800" b="1" dirty="0">
                <a:cs typeface="Arial" charset="0"/>
              </a:rPr>
              <a:t>In an even better algorithm</a:t>
            </a:r>
            <a:r>
              <a:rPr lang="en-US" altLang="en-US" sz="2800" dirty="0">
                <a:cs typeface="Arial" charset="0"/>
              </a:rPr>
              <a:t>,</a:t>
            </a:r>
            <a:r>
              <a:rPr lang="en-US" altLang="en-US" sz="2800" b="1" dirty="0">
                <a:cs typeface="Arial" charset="0"/>
              </a:rPr>
              <a:t> </a:t>
            </a:r>
            <a:r>
              <a:rPr lang="en-US" altLang="en-US" sz="2800" dirty="0">
                <a:cs typeface="Arial" charset="0"/>
              </a:rPr>
              <a:t>consider the same problem of multiplying A = 2135 and B = 4014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dirty="0">
                <a:cs typeface="Arial" charset="0"/>
              </a:rPr>
              <a:t> *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 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  +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21 * 14 + 35 * 40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(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where 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21 * 14 + 35 * 40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dirty="0">
                <a:cs typeface="Arial" charset="0"/>
              </a:rPr>
              <a:t>) * (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 –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21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40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35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14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and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*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0</a:t>
            </a:r>
            <a:r>
              <a:rPr lang="en-US" altLang="en-US" sz="2400" dirty="0">
                <a:cs typeface="Arial" charset="0"/>
              </a:rPr>
              <a:t> 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 +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 * 0 + 1 * 4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(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0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where 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2 * 0 + 1 * 4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) * (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0</a:t>
            </a:r>
            <a:r>
              <a:rPr lang="en-US" altLang="en-US" sz="2400" dirty="0">
                <a:cs typeface="Arial" charset="0"/>
              </a:rPr>
              <a:t>) –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2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4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0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and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3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5</a:t>
            </a:r>
            <a:r>
              <a:rPr lang="en-US" altLang="en-US" sz="2400" dirty="0">
                <a:cs typeface="Arial" charset="0"/>
              </a:rPr>
              <a:t> *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 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3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2</a:t>
            </a:r>
            <a:r>
              <a:rPr lang="en-US" altLang="en-US" sz="2400" dirty="0">
                <a:cs typeface="Arial" charset="0"/>
              </a:rPr>
              <a:t>  + (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3 * 4 + 5 * 1</a:t>
            </a:r>
            <a:r>
              <a:rPr lang="en-US" altLang="en-US" sz="2400" dirty="0">
                <a:cs typeface="Arial" charset="0"/>
              </a:rPr>
              <a:t>)·10</a:t>
            </a:r>
            <a:r>
              <a:rPr lang="en-US" altLang="en-US" sz="2400" baseline="30000" dirty="0"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(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marL="457200" lvl="1" indent="0">
              <a:buClr>
                <a:srgbClr val="FF6600"/>
              </a:buClr>
              <a:buNone/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            where </a:t>
            </a:r>
            <a:r>
              <a:rPr lang="en-US" altLang="en-US" sz="2400" b="1" dirty="0">
                <a:solidFill>
                  <a:srgbClr val="7030A0"/>
                </a:solidFill>
                <a:cs typeface="Arial" charset="0"/>
              </a:rPr>
              <a:t>3 * 4 + 5 * 1 </a:t>
            </a:r>
            <a:r>
              <a:rPr lang="en-US" altLang="en-US" sz="2400" dirty="0">
                <a:cs typeface="Arial" charset="0"/>
              </a:rPr>
              <a:t>=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3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5</a:t>
            </a:r>
            <a:r>
              <a:rPr lang="en-US" altLang="en-US" sz="2400" dirty="0">
                <a:cs typeface="Arial" charset="0"/>
              </a:rPr>
              <a:t>) * (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dirty="0"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 – (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3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cs typeface="Arial" charset="0"/>
              </a:rPr>
              <a:t>1</a:t>
            </a:r>
            <a:r>
              <a:rPr lang="en-US" altLang="en-US" sz="2400" b="1" dirty="0">
                <a:solidFill>
                  <a:srgbClr val="00B05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+ </a:t>
            </a:r>
            <a:r>
              <a:rPr lang="en-US" altLang="en-US" sz="2400" b="1" dirty="0">
                <a:solidFill>
                  <a:srgbClr val="92D050"/>
                </a:solidFill>
                <a:cs typeface="Arial" charset="0"/>
              </a:rPr>
              <a:t>5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dirty="0">
                <a:cs typeface="Arial" charset="0"/>
              </a:rPr>
              <a:t>*</a:t>
            </a:r>
            <a:r>
              <a:rPr lang="en-US" altLang="en-US" sz="2400" b="1" dirty="0">
                <a:solidFill>
                  <a:srgbClr val="FFC000"/>
                </a:solidFill>
                <a:cs typeface="Arial" charset="0"/>
              </a:rPr>
              <a:t> </a:t>
            </a:r>
            <a:r>
              <a:rPr lang="en-US" altLang="en-US" sz="2400" b="1" dirty="0">
                <a:solidFill>
                  <a:srgbClr val="FF3300"/>
                </a:solidFill>
                <a:cs typeface="Arial" charset="0"/>
              </a:rPr>
              <a:t>4</a:t>
            </a:r>
            <a:r>
              <a:rPr lang="en-US" altLang="en-US" sz="2400" dirty="0">
                <a:cs typeface="Arial" charset="0"/>
              </a:rPr>
              <a:t>)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1200" dirty="0">
              <a:cs typeface="Arial" charset="0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decrease of the number of multiplications from 16 (grade school algorithm) to 9 </a:t>
            </a:r>
          </a:p>
        </p:txBody>
      </p:sp>
    </p:spTree>
    <p:extLst>
      <p:ext uri="{BB962C8B-B14F-4D97-AF65-F5344CB8AC3E}">
        <p14:creationId xmlns:p14="http://schemas.microsoft.com/office/powerpoint/2010/main" val="1731345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57200" y="338065"/>
            <a:ext cx="11065008" cy="50013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527">
              <a:lnSpc>
                <a:spcPts val="3916"/>
              </a:lnSpc>
            </a:pPr>
            <a:r>
              <a:rPr lang="en-US" b="1" dirty="0">
                <a:solidFill>
                  <a:srgbClr val="0070C0"/>
                </a:solidFill>
              </a:rPr>
              <a:t>Example 3: Multiplication of Large Integers, Contd.</a:t>
            </a:r>
            <a:endParaRPr b="1" spc="-18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5781BD-3F4D-4CA7-A858-CE94DEA3B426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+mn-cs"/>
            </a:endParaRPr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180096EC-8C60-C9A6-CAA0-04B3B05E7BFA}"/>
              </a:ext>
            </a:extLst>
          </p:cNvPr>
          <p:cNvSpPr txBox="1">
            <a:spLocks/>
          </p:cNvSpPr>
          <p:nvPr/>
        </p:nvSpPr>
        <p:spPr bwMode="auto">
          <a:xfrm>
            <a:off x="457200" y="1228384"/>
            <a:ext cx="11658600" cy="456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4"/>
              </a:buBlip>
              <a:defRPr sz="2800">
                <a:solidFill>
                  <a:srgbClr val="000050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65000"/>
              <a:buBlip>
                <a:blip r:embed="rId5"/>
              </a:buBlip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buClr>
                <a:srgbClr val="FF6600"/>
              </a:buClr>
              <a:buSzPct val="75000"/>
              <a:buBlip>
                <a:blip r:embed="rId3"/>
              </a:buBlip>
              <a:tabLst>
                <a:tab pos="465671" algn="l"/>
              </a:tabLst>
              <a:defRPr/>
            </a:pPr>
            <a:r>
              <a:rPr lang="en-US" altLang="en-US" dirty="0">
                <a:solidFill>
                  <a:schemeClr val="tx1"/>
                </a:solidFill>
                <a:cs typeface="Arial" charset="0"/>
              </a:rPr>
              <a:t>Analysis of the algorithm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Since multiplication of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-digit numbers requires three multiplications of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/2-digit numbers, recurrence for the  number of multiplications M(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400" dirty="0">
                <a:cs typeface="Arial" charset="0"/>
              </a:rPr>
              <a:t>)					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19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              M(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19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19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) = 3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19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M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19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(</a:t>
            </a:r>
            <a:r>
              <a:rPr kumimoji="1" lang="en-US" alt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0019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n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1932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/2),   M(1) = 1</a:t>
            </a: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endParaRPr kumimoji="1" lang="en-US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1932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lvl="1">
              <a:buClr>
                <a:srgbClr val="FF6600"/>
              </a:buClr>
              <a:tabLst>
                <a:tab pos="465671" algn="l"/>
              </a:tabLst>
              <a:defRPr/>
            </a:pPr>
            <a:r>
              <a:rPr lang="en-US" altLang="en-US" sz="2400" dirty="0">
                <a:cs typeface="Arial" charset="0"/>
              </a:rPr>
              <a:t>Solution: </a:t>
            </a:r>
            <a:r>
              <a:rPr lang="en-US" altLang="en-US" sz="2400" dirty="0">
                <a:solidFill>
                  <a:schemeClr val="tx1"/>
                </a:solidFill>
              </a:rPr>
              <a:t>It can be solved using the </a:t>
            </a:r>
            <a:r>
              <a:rPr lang="en-US" altLang="en-US" sz="2400" u="sng" dirty="0">
                <a:solidFill>
                  <a:schemeClr val="tx1"/>
                </a:solidFill>
              </a:rPr>
              <a:t>backward substitution method </a:t>
            </a:r>
            <a:r>
              <a:rPr lang="en-US" altLang="en-US" sz="2400" dirty="0">
                <a:solidFill>
                  <a:schemeClr val="tx1"/>
                </a:solidFill>
              </a:rPr>
              <a:t>studied in Chapter 1(</a:t>
            </a:r>
            <a:r>
              <a:rPr lang="en-US" altLang="en-US" sz="2400" b="1" dirty="0">
                <a:cs typeface="Arial" charset="0"/>
              </a:rPr>
              <a:t>Homework</a:t>
            </a:r>
            <a:r>
              <a:rPr lang="en-US" altLang="en-US" sz="2400" dirty="0">
                <a:cs typeface="Arial" charset="0"/>
              </a:rPr>
              <a:t>)</a:t>
            </a:r>
            <a:endParaRPr lang="en-US" altLang="en-US" sz="2400" dirty="0"/>
          </a:p>
          <a:p>
            <a:pPr marL="800100" lvl="2" indent="0">
              <a:buNone/>
              <a:defRPr/>
            </a:pPr>
            <a:r>
              <a:rPr lang="en-US" altLang="en-US" sz="2000" b="1" dirty="0"/>
              <a:t>Or</a:t>
            </a:r>
            <a:r>
              <a:rPr lang="en-US" altLang="en-US" sz="2000" dirty="0">
                <a:solidFill>
                  <a:schemeClr val="tx1"/>
                </a:solidFill>
              </a:rPr>
              <a:t> by using the </a:t>
            </a:r>
            <a:r>
              <a:rPr lang="en-US" altLang="en-US" sz="2000" u="sng" dirty="0">
                <a:solidFill>
                  <a:schemeClr val="tx1"/>
                </a:solidFill>
              </a:rPr>
              <a:t>Master Theorem</a:t>
            </a:r>
            <a:r>
              <a:rPr lang="en-US" altLang="en-US" sz="2000" dirty="0">
                <a:solidFill>
                  <a:schemeClr val="tx1"/>
                </a:solidFill>
              </a:rPr>
              <a:t>: </a:t>
            </a:r>
          </a:p>
          <a:p>
            <a:pPr marL="800100" lvl="2" indent="0">
              <a:buNone/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a = 3, b = 2, d = 0</a:t>
            </a:r>
          </a:p>
          <a:p>
            <a:pPr marL="800100" lvl="2" indent="0">
              <a:buNone/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a &gt; b</a:t>
            </a:r>
            <a:r>
              <a:rPr lang="en-US" altLang="en-US" sz="2000" baseline="30000" dirty="0">
                <a:solidFill>
                  <a:schemeClr val="tx1"/>
                </a:solidFill>
              </a:rPr>
              <a:t>d</a:t>
            </a:r>
            <a:r>
              <a:rPr lang="en-US" altLang="en-US" sz="2000" dirty="0">
                <a:solidFill>
                  <a:schemeClr val="tx1"/>
                </a:solidFill>
              </a:rPr>
              <a:t>, Therefore,</a:t>
            </a:r>
          </a:p>
          <a:p>
            <a:pPr marL="800100" lvl="2" indent="0">
              <a:buNone/>
              <a:defRPr/>
            </a:pPr>
            <a:r>
              <a:rPr lang="en-US" altLang="en-US" sz="2000" i="1" dirty="0">
                <a:solidFill>
                  <a:schemeClr val="tx1"/>
                </a:solidFill>
              </a:rPr>
              <a:t>M</a:t>
            </a:r>
            <a:r>
              <a:rPr lang="en-US" altLang="en-US" sz="2000" dirty="0">
                <a:solidFill>
                  <a:schemeClr val="tx1"/>
                </a:solidFill>
              </a:rPr>
              <a:t>(</a:t>
            </a:r>
            <a:r>
              <a:rPr lang="en-US" altLang="en-US" sz="2000" i="1" dirty="0">
                <a:solidFill>
                  <a:schemeClr val="tx1"/>
                </a:solidFill>
              </a:rPr>
              <a:t>n</a:t>
            </a:r>
            <a:r>
              <a:rPr lang="en-US" altLang="en-US" sz="2000" dirty="0">
                <a:solidFill>
                  <a:schemeClr val="tx1"/>
                </a:solidFill>
              </a:rPr>
              <a:t>) </a:t>
            </a: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l-GR" altLang="en-US" sz="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en-US" sz="2000" i="1" dirty="0" err="1">
                <a:solidFill>
                  <a:schemeClr val="tx1"/>
                </a:solidFill>
              </a:rPr>
              <a:t>n</a:t>
            </a:r>
            <a:r>
              <a:rPr lang="en-US" altLang="en-US" sz="2000" baseline="30000" dirty="0" err="1">
                <a:solidFill>
                  <a:schemeClr val="tx1"/>
                </a:solidFill>
              </a:rPr>
              <a:t>log</a:t>
            </a:r>
            <a:r>
              <a:rPr lang="en-US" altLang="en-US" sz="2000" baseline="30000" dirty="0">
                <a:solidFill>
                  <a:schemeClr val="tx1"/>
                </a:solidFill>
              </a:rPr>
              <a:t> </a:t>
            </a:r>
            <a:r>
              <a:rPr lang="en-US" altLang="en-US" sz="2000" i="1" baseline="14000" dirty="0">
                <a:solidFill>
                  <a:schemeClr val="tx1"/>
                </a:solidFill>
              </a:rPr>
              <a:t>b </a:t>
            </a:r>
            <a:r>
              <a:rPr lang="en-US" altLang="en-US" sz="2000" i="1" baseline="30000" dirty="0">
                <a:solidFill>
                  <a:schemeClr val="tx1"/>
                </a:solidFill>
              </a:rPr>
              <a:t>a </a:t>
            </a:r>
            <a:r>
              <a:rPr lang="en-US" altLang="en-US" sz="2000" dirty="0">
                <a:solidFill>
                  <a:schemeClr val="tx1"/>
                </a:solidFill>
              </a:rPr>
              <a:t>) = </a:t>
            </a:r>
            <a:r>
              <a:rPr lang="el-GR" altLang="en-US" sz="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 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solidFill>
                  <a:schemeClr val="tx1"/>
                </a:solidFill>
              </a:rPr>
              <a:t>n</a:t>
            </a:r>
            <a:r>
              <a:rPr lang="en-US" altLang="en-US" sz="2000" baseline="30000" dirty="0">
                <a:solidFill>
                  <a:schemeClr val="tx1"/>
                </a:solidFill>
              </a:rPr>
              <a:t>log</a:t>
            </a:r>
            <a:r>
              <a:rPr lang="en-US" altLang="en-US" sz="2000" baseline="14000" dirty="0">
                <a:solidFill>
                  <a:schemeClr val="tx1"/>
                </a:solidFill>
              </a:rPr>
              <a:t>2 </a:t>
            </a:r>
            <a:r>
              <a:rPr lang="en-US" altLang="en-US" sz="2000" baseline="30000" dirty="0">
                <a:solidFill>
                  <a:schemeClr val="tx1"/>
                </a:solidFill>
              </a:rPr>
              <a:t>3</a:t>
            </a:r>
            <a:r>
              <a:rPr lang="en-US" altLang="en-US" sz="2000" dirty="0">
                <a:solidFill>
                  <a:schemeClr val="tx1"/>
                </a:solidFill>
                <a:latin typeface="Lucida Grande" pitchFamily="84" charset="0"/>
                <a:cs typeface="Times New Roman" panose="02020603050405020304" pitchFamily="18" charset="0"/>
              </a:rPr>
              <a:t>)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solidFill>
                  <a:schemeClr val="tx1"/>
                </a:solidFill>
                <a:latin typeface="Lucida Grande" pitchFamily="84" charset="0"/>
                <a:cs typeface="Times New Roman" panose="02020603050405020304" pitchFamily="18" charset="0"/>
              </a:rPr>
              <a:t>≈ </a:t>
            </a:r>
            <a:r>
              <a:rPr lang="el-GR" altLang="en-US" sz="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 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en-US" sz="2000" i="1" dirty="0">
                <a:solidFill>
                  <a:schemeClr val="tx1"/>
                </a:solidFill>
              </a:rPr>
              <a:t>n</a:t>
            </a:r>
            <a:r>
              <a:rPr lang="en-US" altLang="en-US" sz="2000" baseline="30000" dirty="0">
                <a:solidFill>
                  <a:schemeClr val="tx1"/>
                </a:solidFill>
              </a:rPr>
              <a:t>1.585 </a:t>
            </a:r>
            <a:r>
              <a:rPr lang="en-US" altLang="en-US" sz="2000" dirty="0">
                <a:solidFill>
                  <a:schemeClr val="tx1"/>
                </a:solidFill>
                <a:latin typeface="Lucida Grande" pitchFamily="84" charset="0"/>
                <a:cs typeface="Times New Roman" panose="02020603050405020304" pitchFamily="18" charset="0"/>
              </a:rPr>
              <a:t>)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en-US" altLang="en-US" sz="2000" baseline="30000" dirty="0">
              <a:solidFill>
                <a:schemeClr val="tx1"/>
              </a:solidFill>
            </a:endParaRPr>
          </a:p>
          <a:p>
            <a:pPr>
              <a:buClr>
                <a:srgbClr val="FF6600"/>
              </a:buClr>
              <a:tabLst>
                <a:tab pos="465671" algn="l"/>
              </a:tabLst>
              <a:defRPr/>
            </a:pPr>
            <a:endParaRPr lang="en-US" altLang="en-US" sz="2800" dirty="0">
              <a:cs typeface="Arial" charset="0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C4FBE8-3496-5A2D-FF6A-126C55173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207" y="5395368"/>
            <a:ext cx="22860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A50021"/>
              </a:buClr>
              <a:buSzPct val="75000"/>
              <a:buFont typeface="Monotype Sorts" pitchFamily="2" charset="2"/>
              <a:buChar char="b"/>
              <a:defRPr kumimoji="1" sz="2400" b="1">
                <a:solidFill>
                  <a:srgbClr val="FFFF99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rgbClr val="A50021"/>
              </a:buClr>
              <a:buChar char="•"/>
              <a:defRPr kumimoji="1" sz="2000" b="1">
                <a:solidFill>
                  <a:srgbClr val="FFFF99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A50021"/>
              </a:buClr>
              <a:buChar char="–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Char char="»"/>
              <a:defRPr kumimoji="1" b="1">
                <a:solidFill>
                  <a:srgbClr val="FFFF99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ct val="50000"/>
              </a:spcBef>
              <a:buClrTx/>
              <a:buSzTx/>
              <a:buNone/>
            </a:pPr>
            <a:r>
              <a:rPr kumimoji="0" lang="en-US" altLang="en-US" sz="2000" b="0" dirty="0">
                <a:solidFill>
                  <a:srgbClr val="FF9933"/>
                </a:solidFill>
                <a:ea typeface="+mn-ea"/>
              </a:rPr>
              <a:t>What if we count both multiplications and additions?</a:t>
            </a:r>
          </a:p>
        </p:txBody>
      </p:sp>
    </p:spTree>
    <p:extLst>
      <p:ext uri="{BB962C8B-B14F-4D97-AF65-F5344CB8AC3E}">
        <p14:creationId xmlns:p14="http://schemas.microsoft.com/office/powerpoint/2010/main" val="157636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DataScienc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DataScience</Template>
  <TotalTime>19342</TotalTime>
  <Words>3572</Words>
  <Application>Microsoft Office PowerPoint</Application>
  <PresentationFormat>Widescreen</PresentationFormat>
  <Paragraphs>334</Paragraphs>
  <Slides>31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Agency FB</vt:lpstr>
      <vt:lpstr>Arial</vt:lpstr>
      <vt:lpstr>Calibri</vt:lpstr>
      <vt:lpstr>Lucida Grande</vt:lpstr>
      <vt:lpstr>Monotype Sorts</vt:lpstr>
      <vt:lpstr>MTMI</vt:lpstr>
      <vt:lpstr>Symbol</vt:lpstr>
      <vt:lpstr>Times New Roman</vt:lpstr>
      <vt:lpstr>TimesTen-Roman</vt:lpstr>
      <vt:lpstr>DataScience</vt:lpstr>
      <vt:lpstr>Custom Design</vt:lpstr>
      <vt:lpstr>Equation</vt:lpstr>
      <vt:lpstr>Topic 3</vt:lpstr>
      <vt:lpstr>Divide and Conquer</vt:lpstr>
      <vt:lpstr>Divide and Conquer, Contd.</vt:lpstr>
      <vt:lpstr>Divide and Conquer, Contd.</vt:lpstr>
      <vt:lpstr>Divide and Conquer, Contd.</vt:lpstr>
      <vt:lpstr>Divide and Conquer, Contd.</vt:lpstr>
      <vt:lpstr>Divide and Conquer, Contd.</vt:lpstr>
      <vt:lpstr>Example 1: Quicksort</vt:lpstr>
      <vt:lpstr>Example 1: Quicksort, Contd.</vt:lpstr>
      <vt:lpstr>Example 1: Quicksort, Contd.</vt:lpstr>
      <vt:lpstr>Example 1: Quicksort, Contd.</vt:lpstr>
      <vt:lpstr>Example 1: Quicksort, Contd.</vt:lpstr>
      <vt:lpstr>Example 1: Binary Search</vt:lpstr>
      <vt:lpstr>Example 1: Binary Search, Contd.</vt:lpstr>
      <vt:lpstr>Example 1: Binary Search, Contd.</vt:lpstr>
      <vt:lpstr>Example 1: Binary Search, Contd.</vt:lpstr>
      <vt:lpstr>Example 1: Binary Search, Contd.</vt:lpstr>
      <vt:lpstr>Example 2: Binary Tree Algorithms</vt:lpstr>
      <vt:lpstr>Example 2: Binary Tree Algorithms, Contd.</vt:lpstr>
      <vt:lpstr>Example 2: Binary Tree Algorithms, Contd.</vt:lpstr>
      <vt:lpstr>Example 2: Binary Tree Algorithms, Contd.</vt:lpstr>
      <vt:lpstr>Example 2: Binary Tree Algorithms, Contd.</vt:lpstr>
      <vt:lpstr>Example 3: Multiplication of Large Integers</vt:lpstr>
      <vt:lpstr>Example 3: Multiplication of Large Integers, Contd.</vt:lpstr>
      <vt:lpstr>Example 3: Multiplication of Large Integers, Contd.</vt:lpstr>
      <vt:lpstr>Example 3: Multiplication of Large Integers, Contd.</vt:lpstr>
      <vt:lpstr>Example 3: Multiplication of Large Integers, Contd.</vt:lpstr>
      <vt:lpstr>Example 3: Multiplication of Large Integers, Contd.</vt:lpstr>
      <vt:lpstr>Example 3: Multiplication of Large Integers, Contd.</vt:lpstr>
      <vt:lpstr>Example 3: Multiplication of Large Integers, Contd.</vt:lpstr>
      <vt:lpstr>Example 3: Multiplication of Large Integers, Contd.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Science</dc:title>
  <dc:creator>Jf</dc:creator>
  <cp:lastModifiedBy>ريان خالد علي عذيب</cp:lastModifiedBy>
  <cp:revision>301</cp:revision>
  <cp:lastPrinted>2019-09-01T09:07:45Z</cp:lastPrinted>
  <dcterms:created xsi:type="dcterms:W3CDTF">2015-03-22T23:49:48Z</dcterms:created>
  <dcterms:modified xsi:type="dcterms:W3CDTF">2026-03-30T04:35:31Z</dcterms:modified>
</cp:coreProperties>
</file>