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78" r:id="rId2"/>
  </p:sldMasterIdLst>
  <p:notesMasterIdLst>
    <p:notesMasterId r:id="rId39"/>
  </p:notesMasterIdLst>
  <p:handoutMasterIdLst>
    <p:handoutMasterId r:id="rId40"/>
  </p:handoutMasterIdLst>
  <p:sldIdLst>
    <p:sldId id="479" r:id="rId3"/>
    <p:sldId id="481" r:id="rId4"/>
    <p:sldId id="498" r:id="rId5"/>
    <p:sldId id="524" r:id="rId6"/>
    <p:sldId id="526" r:id="rId7"/>
    <p:sldId id="525" r:id="rId8"/>
    <p:sldId id="552" r:id="rId9"/>
    <p:sldId id="553" r:id="rId10"/>
    <p:sldId id="556" r:id="rId11"/>
    <p:sldId id="555" r:id="rId12"/>
    <p:sldId id="554" r:id="rId13"/>
    <p:sldId id="530" r:id="rId14"/>
    <p:sldId id="527" r:id="rId15"/>
    <p:sldId id="537" r:id="rId16"/>
    <p:sldId id="538" r:id="rId17"/>
    <p:sldId id="539" r:id="rId18"/>
    <p:sldId id="540" r:id="rId19"/>
    <p:sldId id="541" r:id="rId20"/>
    <p:sldId id="542" r:id="rId21"/>
    <p:sldId id="543" r:id="rId22"/>
    <p:sldId id="544" r:id="rId23"/>
    <p:sldId id="545" r:id="rId24"/>
    <p:sldId id="546" r:id="rId25"/>
    <p:sldId id="547" r:id="rId26"/>
    <p:sldId id="548" r:id="rId27"/>
    <p:sldId id="549" r:id="rId28"/>
    <p:sldId id="550" r:id="rId29"/>
    <p:sldId id="551" r:id="rId30"/>
    <p:sldId id="531" r:id="rId31"/>
    <p:sldId id="532" r:id="rId32"/>
    <p:sldId id="533" r:id="rId33"/>
    <p:sldId id="528" r:id="rId34"/>
    <p:sldId id="534" r:id="rId35"/>
    <p:sldId id="535" r:id="rId36"/>
    <p:sldId id="536" r:id="rId37"/>
    <p:sldId id="480" r:id="rId38"/>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tthew Hayes" initials="" lastIdx="2" clrIdx="0"/>
  <p:cmAuthor id="1" name="Graeme Malcolm" initials="GM" lastIdx="9" clrIdx="1">
    <p:extLst>
      <p:ext uri="{19B8F6BF-5375-455C-9EA6-DF929625EA0E}">
        <p15:presenceInfo xmlns:p15="http://schemas.microsoft.com/office/powerpoint/2012/main" userId="S-1-5-21-2127521184-1604012920-1887927527-565654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5A8DE6"/>
    <a:srgbClr val="0000CC"/>
    <a:srgbClr val="FFFFCC"/>
    <a:srgbClr val="FFFFFF"/>
    <a:srgbClr val="000066"/>
    <a:srgbClr val="BBAE54"/>
    <a:srgbClr val="000050"/>
    <a:srgbClr val="2C0000"/>
    <a:srgbClr val="3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89" autoAdjust="0"/>
    <p:restoredTop sz="70890" autoAdjust="0"/>
  </p:normalViewPr>
  <p:slideViewPr>
    <p:cSldViewPr>
      <p:cViewPr varScale="1">
        <p:scale>
          <a:sx n="88" d="100"/>
          <a:sy n="88" d="100"/>
        </p:scale>
        <p:origin x="1968" y="176"/>
      </p:cViewPr>
      <p:guideLst>
        <p:guide orient="horz" pos="2160"/>
        <p:guide pos="3840"/>
      </p:guideLst>
    </p:cSldViewPr>
  </p:slideViewPr>
  <p:outlineViewPr>
    <p:cViewPr>
      <p:scale>
        <a:sx n="33" d="100"/>
        <a:sy n="33" d="100"/>
      </p:scale>
      <p:origin x="0" y="-8947"/>
    </p:cViewPr>
  </p:outlineViewPr>
  <p:notesTextViewPr>
    <p:cViewPr>
      <p:scale>
        <a:sx n="100" d="100"/>
        <a:sy n="100" d="100"/>
      </p:scale>
      <p:origin x="0" y="0"/>
    </p:cViewPr>
  </p:notesTextViewPr>
  <p:sorterViewPr>
    <p:cViewPr>
      <p:scale>
        <a:sx n="100" d="100"/>
        <a:sy n="100" d="100"/>
      </p:scale>
      <p:origin x="0" y="-3974"/>
    </p:cViewPr>
  </p:sorterViewPr>
  <p:notesViewPr>
    <p:cSldViewPr>
      <p:cViewPr varScale="1">
        <p:scale>
          <a:sx n="61" d="100"/>
          <a:sy n="61" d="100"/>
        </p:scale>
        <p:origin x="1632" y="3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atin typeface="Arial" charset="0"/>
                <a:ea typeface="+mn-ea"/>
              </a:defRPr>
            </a:lvl1pPr>
          </a:lstStyle>
          <a:p>
            <a:pPr>
              <a:defRPr/>
            </a:pPr>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wrap="square" lIns="93177" tIns="46589" rIns="93177" bIns="46589" numCol="1" anchor="t" anchorCtr="0" compatLnSpc="1">
            <a:prstTxWarp prst="textNoShape">
              <a:avLst/>
            </a:prstTxWarp>
          </a:bodyPr>
          <a:lstStyle>
            <a:lvl1pPr algn="r">
              <a:defRPr sz="1200">
                <a:latin typeface="Arial" pitchFamily="34" charset="0"/>
              </a:defRPr>
            </a:lvl1pPr>
          </a:lstStyle>
          <a:p>
            <a:pPr>
              <a:defRPr/>
            </a:pPr>
            <a:fld id="{260F0ECF-F84D-43BE-A58E-0DB2F99E2671}" type="datetimeFigureOut">
              <a:rPr lang="en-US" altLang="en-US"/>
              <a:pPr>
                <a:defRPr/>
              </a:pPr>
              <a:t>4/5/25</a:t>
            </a:fld>
            <a:endParaRPr lang="en-US" alt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atin typeface="Arial" charset="0"/>
                <a:ea typeface="+mn-ea"/>
              </a:defRPr>
            </a:lvl1pPr>
          </a:lstStyle>
          <a:p>
            <a:pPr>
              <a:defRPr/>
            </a:pPr>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wrap="square" lIns="93177" tIns="46589" rIns="93177" bIns="46589" numCol="1" anchor="b" anchorCtr="0" compatLnSpc="1">
            <a:prstTxWarp prst="textNoShape">
              <a:avLst/>
            </a:prstTxWarp>
          </a:bodyPr>
          <a:lstStyle>
            <a:lvl1pPr algn="r">
              <a:defRPr sz="1200">
                <a:latin typeface="Arial" pitchFamily="34" charset="0"/>
              </a:defRPr>
            </a:lvl1pPr>
          </a:lstStyle>
          <a:p>
            <a:pPr>
              <a:defRPr/>
            </a:pPr>
            <a:fld id="{A312E49B-09D1-47A2-B871-8DE206184B02}" type="slidenum">
              <a:rPr lang="en-US" altLang="en-US"/>
              <a:pPr>
                <a:defRPr/>
              </a:pPr>
              <a:t>‹#›</a:t>
            </a:fld>
            <a:endParaRPr lang="en-US" altLang="en-US"/>
          </a:p>
        </p:txBody>
      </p:sp>
    </p:spTree>
    <p:extLst>
      <p:ext uri="{BB962C8B-B14F-4D97-AF65-F5344CB8AC3E}">
        <p14:creationId xmlns:p14="http://schemas.microsoft.com/office/powerpoint/2010/main" val="87130376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atin typeface="Arial" charset="0"/>
                <a:ea typeface="+mn-ea"/>
              </a:defRPr>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wrap="square" lIns="93177" tIns="46589" rIns="93177" bIns="46589" numCol="1" anchor="t" anchorCtr="0" compatLnSpc="1">
            <a:prstTxWarp prst="textNoShape">
              <a:avLst/>
            </a:prstTxWarp>
          </a:bodyPr>
          <a:lstStyle>
            <a:lvl1pPr algn="r">
              <a:defRPr sz="1200">
                <a:latin typeface="Arial" pitchFamily="34" charset="0"/>
              </a:defRPr>
            </a:lvl1pPr>
          </a:lstStyle>
          <a:p>
            <a:pPr>
              <a:defRPr/>
            </a:pPr>
            <a:fld id="{FCC8B620-7FB1-4D4A-893E-5909C901B9B8}" type="datetimeFigureOut">
              <a:rPr lang="en-US" altLang="en-US"/>
              <a:pPr>
                <a:defRPr/>
              </a:pPr>
              <a:t>4/5/25</a:t>
            </a:fld>
            <a:endParaRPr lang="en-US" alt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atin typeface="Arial" charset="0"/>
                <a:ea typeface="+mn-ea"/>
              </a:defRPr>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wrap="square" lIns="93177" tIns="46589" rIns="93177" bIns="46589" numCol="1" anchor="b" anchorCtr="0" compatLnSpc="1">
            <a:prstTxWarp prst="textNoShape">
              <a:avLst/>
            </a:prstTxWarp>
          </a:bodyPr>
          <a:lstStyle>
            <a:lvl1pPr algn="r">
              <a:defRPr sz="1200">
                <a:latin typeface="Arial" pitchFamily="34" charset="0"/>
              </a:defRPr>
            </a:lvl1pPr>
          </a:lstStyle>
          <a:p>
            <a:pPr>
              <a:defRPr/>
            </a:pPr>
            <a:fld id="{5929A2E2-B731-4145-A8A4-FEBDEFC5FF59}" type="slidenum">
              <a:rPr lang="en-US" altLang="en-US"/>
              <a:pPr>
                <a:defRPr/>
              </a:pPr>
              <a:t>‹#›</a:t>
            </a:fld>
            <a:endParaRPr lang="en-US" altLang="en-US"/>
          </a:p>
        </p:txBody>
      </p:sp>
    </p:spTree>
    <p:extLst>
      <p:ext uri="{BB962C8B-B14F-4D97-AF65-F5344CB8AC3E}">
        <p14:creationId xmlns:p14="http://schemas.microsoft.com/office/powerpoint/2010/main" val="356179171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79433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670969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253009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85000" lnSpcReduction="20000"/>
          </a:bodyPr>
          <a:lstStyle/>
          <a:p>
            <a:pPr>
              <a:buFont typeface="Arial" panose="020B0604020202020204" pitchFamily="34" charset="0"/>
              <a:buChar char="•"/>
            </a:pPr>
            <a:r>
              <a:rPr lang="en-AU" b="1" dirty="0"/>
              <a:t>Objective Function</a:t>
            </a:r>
            <a:r>
              <a:rPr lang="en-AU" dirty="0"/>
              <a:t>: Minimize the number of coins used to make a specific amount.</a:t>
            </a:r>
          </a:p>
          <a:p>
            <a:pPr>
              <a:buFont typeface="Arial" panose="020B0604020202020204" pitchFamily="34" charset="0"/>
              <a:buChar char="•"/>
            </a:pPr>
            <a:r>
              <a:rPr lang="en-AU" b="1" dirty="0"/>
              <a:t>Constraints</a:t>
            </a:r>
            <a:r>
              <a:rPr lang="en-AU" dirty="0"/>
              <a:t>:</a:t>
            </a:r>
          </a:p>
          <a:p>
            <a:pPr lvl="1">
              <a:buFont typeface="Arial" panose="020B0604020202020204" pitchFamily="34" charset="0"/>
              <a:buChar char="•"/>
            </a:pPr>
            <a:r>
              <a:rPr lang="en-AU" dirty="0"/>
              <a:t>The total value of the chosen coins must equal the target amount.</a:t>
            </a:r>
          </a:p>
          <a:p>
            <a:pPr lvl="1">
              <a:buFont typeface="Arial" panose="020B0604020202020204" pitchFamily="34" charset="0"/>
              <a:buChar char="•"/>
            </a:pPr>
            <a:r>
              <a:rPr lang="en-AU" dirty="0"/>
              <a:t>Only denominations available in the set (e.g., quarters, dimes, nickels, pennies) can be used.</a:t>
            </a:r>
          </a:p>
          <a:p>
            <a:pPr lvl="1">
              <a:buFont typeface="Arial" panose="020B0604020202020204" pitchFamily="34" charset="0"/>
              <a:buChar char="•"/>
            </a:pPr>
            <a:r>
              <a:rPr lang="en-AU" dirty="0"/>
              <a:t>For each denomination, the count of each coin is unlimited.</a:t>
            </a:r>
          </a:p>
          <a:p>
            <a:pPr lvl="1">
              <a:buFont typeface="Arial" panose="020B0604020202020204" pitchFamily="34" charset="0"/>
              <a:buChar char="•"/>
            </a:pPr>
            <a:endParaRPr lang="en-AU" dirty="0"/>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altLang="ko-KR" sz="1200" b="1" u="sng" dirty="0">
                <a:cs typeface="Arial" charset="0"/>
              </a:rPr>
              <a:t>For normal coin denominations</a:t>
            </a:r>
            <a:endParaRPr lang="en-AU" dirty="0"/>
          </a:p>
          <a:p>
            <a:pPr lvl="0">
              <a:buClr>
                <a:srgbClr val="FF6600"/>
              </a:buClr>
              <a:tabLst>
                <a:tab pos="465671" algn="l"/>
              </a:tabLst>
              <a:defRPr/>
            </a:pPr>
            <a:r>
              <a:rPr lang="en-US" altLang="en-US" sz="2400" dirty="0">
                <a:cs typeface="Arial" charset="0"/>
              </a:rPr>
              <a:t>For example, considering the widely used coin denominations in the US for 48 cents</a:t>
            </a:r>
          </a:p>
          <a:p>
            <a:pPr lvl="0">
              <a:buClr>
                <a:srgbClr val="FF6600"/>
              </a:buClr>
              <a:tabLst>
                <a:tab pos="465671" algn="l"/>
              </a:tabLst>
              <a:defRPr/>
            </a:pPr>
            <a:r>
              <a:rPr lang="en-US" altLang="en-US" sz="2000" i="1" dirty="0">
                <a:latin typeface="Times New Roman" panose="02020603050405020304" pitchFamily="18" charset="0"/>
                <a:cs typeface="Times New Roman" panose="02020603050405020304" pitchFamily="18" charset="0"/>
              </a:rPr>
              <a:t>d</a:t>
            </a:r>
            <a:r>
              <a:rPr lang="en-US" altLang="en-US" sz="2000" baseline="-25000" dirty="0">
                <a:cs typeface="Arial" charset="0"/>
              </a:rPr>
              <a:t>1</a:t>
            </a:r>
            <a:r>
              <a:rPr lang="en-US" altLang="en-US" sz="2000" dirty="0">
                <a:cs typeface="Arial" charset="0"/>
              </a:rPr>
              <a:t> = 25 (quarter), </a:t>
            </a:r>
            <a:r>
              <a:rPr lang="en-US" altLang="en-US" sz="2000" i="1" dirty="0">
                <a:latin typeface="Times New Roman" panose="02020603050405020304" pitchFamily="18" charset="0"/>
                <a:cs typeface="Times New Roman" panose="02020603050405020304" pitchFamily="18" charset="0"/>
              </a:rPr>
              <a:t>d</a:t>
            </a:r>
            <a:r>
              <a:rPr lang="en-US" altLang="en-US" sz="2000" baseline="-25000" dirty="0">
                <a:cs typeface="Arial" charset="0"/>
              </a:rPr>
              <a:t>2</a:t>
            </a:r>
            <a:r>
              <a:rPr lang="en-US" altLang="en-US" sz="2000" dirty="0">
                <a:cs typeface="Arial" charset="0"/>
              </a:rPr>
              <a:t> = 10 (dime), </a:t>
            </a:r>
            <a:r>
              <a:rPr lang="en-US" altLang="en-US" sz="2000" i="1" dirty="0">
                <a:latin typeface="Times New Roman" panose="02020603050405020304" pitchFamily="18" charset="0"/>
                <a:cs typeface="Times New Roman" panose="02020603050405020304" pitchFamily="18" charset="0"/>
              </a:rPr>
              <a:t>d</a:t>
            </a:r>
            <a:r>
              <a:rPr lang="en-US" altLang="en-US" sz="2000" baseline="-25000" dirty="0">
                <a:cs typeface="Arial" charset="0"/>
              </a:rPr>
              <a:t>3</a:t>
            </a:r>
            <a:r>
              <a:rPr lang="en-US" altLang="en-US" sz="2000" dirty="0">
                <a:cs typeface="Arial" charset="0"/>
              </a:rPr>
              <a:t> = 5 (nickel), and </a:t>
            </a:r>
            <a:r>
              <a:rPr lang="en-US" altLang="en-US" sz="2000" i="1" dirty="0">
                <a:latin typeface="Times New Roman" panose="02020603050405020304" pitchFamily="18" charset="0"/>
                <a:cs typeface="Times New Roman" panose="02020603050405020304" pitchFamily="18" charset="0"/>
              </a:rPr>
              <a:t>d</a:t>
            </a:r>
            <a:r>
              <a:rPr lang="en-US" altLang="en-US" sz="2000" baseline="-25000" dirty="0">
                <a:cs typeface="Arial" charset="0"/>
              </a:rPr>
              <a:t>4</a:t>
            </a:r>
            <a:r>
              <a:rPr lang="en-US" altLang="en-US" sz="2000" dirty="0">
                <a:cs typeface="Arial" charset="0"/>
              </a:rPr>
              <a:t> = 1 (penny)</a:t>
            </a:r>
          </a:p>
          <a:p>
            <a:pPr lvl="0">
              <a:buClr>
                <a:srgbClr val="FF6600"/>
              </a:buClr>
              <a:tabLst>
                <a:tab pos="465671" algn="l"/>
              </a:tabLst>
              <a:defRPr/>
            </a:pPr>
            <a:endParaRPr lang="en-US" altLang="en-US" sz="2000" dirty="0">
              <a:cs typeface="Arial" charset="0"/>
            </a:endParaRPr>
          </a:p>
          <a:p>
            <a:pPr marL="0" marR="0" lvl="0" indent="0" algn="l" defTabSz="914400" rtl="0" eaLnBrk="0" fontAlgn="base" latinLnBrk="0" hangingPunct="0">
              <a:lnSpc>
                <a:spcPct val="100000"/>
              </a:lnSpc>
              <a:spcBef>
                <a:spcPct val="30000"/>
              </a:spcBef>
              <a:spcAft>
                <a:spcPct val="0"/>
              </a:spcAft>
              <a:buClr>
                <a:srgbClr val="FF6600"/>
              </a:buClr>
              <a:buSzTx/>
              <a:buFontTx/>
              <a:buNone/>
              <a:tabLst>
                <a:tab pos="465671" algn="l"/>
              </a:tabLst>
              <a:defRPr/>
            </a:pPr>
            <a:r>
              <a:rPr lang="en-US" altLang="en-US" sz="2000" dirty="0">
                <a:cs typeface="Arial" charset="0"/>
              </a:rPr>
              <a:t>Greedy solution </a:t>
            </a:r>
            <a:r>
              <a:rPr lang="en-US" altLang="en-US" sz="2000" u="sng" dirty="0">
                <a:cs typeface="Arial" charset="0"/>
              </a:rPr>
              <a:t>starts with the largest</a:t>
            </a:r>
            <a:r>
              <a:rPr lang="en-US" altLang="en-US" sz="2000" dirty="0">
                <a:cs typeface="Arial" charset="0"/>
              </a:rPr>
              <a:t>: 1 quarter, 2 dimes, and 3 pennies  =6 coins are used (Optimal solution)</a:t>
            </a:r>
          </a:p>
          <a:p>
            <a:pPr marL="0" marR="0" lvl="0" indent="0" algn="l" defTabSz="914400" rtl="0" eaLnBrk="0" fontAlgn="base" latinLnBrk="0" hangingPunct="0">
              <a:lnSpc>
                <a:spcPct val="100000"/>
              </a:lnSpc>
              <a:spcBef>
                <a:spcPct val="30000"/>
              </a:spcBef>
              <a:spcAft>
                <a:spcPct val="0"/>
              </a:spcAft>
              <a:buClr>
                <a:srgbClr val="FF6600"/>
              </a:buClr>
              <a:buSzTx/>
              <a:buFontTx/>
              <a:buNone/>
              <a:tabLst>
                <a:tab pos="465671" algn="l"/>
              </a:tabLst>
              <a:defRPr/>
            </a:pPr>
            <a:endParaRPr lang="en-US" altLang="en-US" sz="2000" dirty="0">
              <a:cs typeface="Arial" charset="0"/>
            </a:endParaRPr>
          </a:p>
          <a:p>
            <a:pPr marL="0" marR="0" lvl="0" indent="0" algn="l" defTabSz="914400" rtl="0" eaLnBrk="0" fontAlgn="base" latinLnBrk="0" hangingPunct="0">
              <a:lnSpc>
                <a:spcPct val="100000"/>
              </a:lnSpc>
              <a:spcBef>
                <a:spcPct val="30000"/>
              </a:spcBef>
              <a:spcAft>
                <a:spcPct val="0"/>
              </a:spcAft>
              <a:buClr>
                <a:srgbClr val="FF6600"/>
              </a:buClr>
              <a:buSzTx/>
              <a:buFontTx/>
              <a:buNone/>
              <a:tabLst>
                <a:tab pos="465671" algn="l"/>
              </a:tabLst>
              <a:defRPr/>
            </a:pPr>
            <a:r>
              <a:rPr lang="en-US" altLang="ko-KR" sz="2000" b="1" u="sng" dirty="0">
                <a:cs typeface="Arial" charset="0"/>
              </a:rPr>
              <a:t>For not normal coin denominations</a:t>
            </a:r>
            <a:r>
              <a:rPr lang="en-AU" altLang="ko-KR" sz="2000" b="0" u="none" dirty="0">
                <a:cs typeface="+mn-cs"/>
              </a:rPr>
              <a:t> </a:t>
            </a:r>
            <a:r>
              <a:rPr lang="en-US" altLang="ko-KR" sz="2000" b="1" u="sng" dirty="0">
                <a:cs typeface="Arial" charset="0"/>
              </a:rPr>
              <a:t>(</a:t>
            </a:r>
            <a:r>
              <a:rPr lang="en-US" altLang="ko-KR" sz="2000" dirty="0">
                <a:cs typeface="Arial" charset="0"/>
              </a:rPr>
              <a:t>arbitrary coin denominations</a:t>
            </a:r>
            <a:r>
              <a:rPr lang="en-US" altLang="ko-KR" sz="2000" b="1" u="sng" dirty="0">
                <a:cs typeface="Arial" charset="0"/>
              </a:rPr>
              <a:t>)</a:t>
            </a:r>
            <a:endParaRPr lang="en-US" altLang="en-US" sz="2000" b="1" u="sng" dirty="0">
              <a:cs typeface="Arial" charset="0"/>
            </a:endParaRPr>
          </a:p>
          <a:p>
            <a:pPr lvl="0">
              <a:buClr>
                <a:srgbClr val="FF6600"/>
              </a:buClr>
              <a:tabLst>
                <a:tab pos="465671" algn="l"/>
              </a:tabLst>
              <a:defRPr/>
            </a:pPr>
            <a:r>
              <a:rPr lang="en-US" altLang="en-US" sz="2000" dirty="0">
                <a:cs typeface="Arial" charset="0"/>
              </a:rPr>
              <a:t>For example, considering the widely used coin denominations in the US for 30 cents</a:t>
            </a:r>
          </a:p>
          <a:p>
            <a:pPr lvl="0">
              <a:buClr>
                <a:srgbClr val="FF6600"/>
              </a:buClr>
              <a:tabLst>
                <a:tab pos="465671" algn="l"/>
              </a:tabLst>
              <a:defRPr/>
            </a:pPr>
            <a:r>
              <a:rPr lang="en-US" altLang="en-US" sz="1800" i="1" dirty="0">
                <a:latin typeface="Times New Roman" panose="02020603050405020304" pitchFamily="18" charset="0"/>
                <a:cs typeface="Times New Roman" panose="02020603050405020304" pitchFamily="18" charset="0"/>
              </a:rPr>
              <a:t>d</a:t>
            </a:r>
            <a:r>
              <a:rPr lang="en-US" altLang="en-US" sz="1800" baseline="-25000" dirty="0">
                <a:cs typeface="Arial" charset="0"/>
              </a:rPr>
              <a:t>1</a:t>
            </a:r>
            <a:r>
              <a:rPr lang="en-US" altLang="en-US" sz="1800" dirty="0">
                <a:cs typeface="Arial" charset="0"/>
              </a:rPr>
              <a:t> = 25 (quarter), </a:t>
            </a:r>
            <a:r>
              <a:rPr lang="en-US" altLang="en-US" sz="1800" i="1" dirty="0">
                <a:latin typeface="Times New Roman" panose="02020603050405020304" pitchFamily="18" charset="0"/>
                <a:cs typeface="Times New Roman" panose="02020603050405020304" pitchFamily="18" charset="0"/>
              </a:rPr>
              <a:t>d</a:t>
            </a:r>
            <a:r>
              <a:rPr lang="en-US" altLang="en-US" sz="1800" baseline="-25000" dirty="0">
                <a:cs typeface="Arial" charset="0"/>
              </a:rPr>
              <a:t>2</a:t>
            </a:r>
            <a:r>
              <a:rPr lang="en-US" altLang="en-US" sz="1800" dirty="0">
                <a:cs typeface="Arial" charset="0"/>
              </a:rPr>
              <a:t> = 10 (dime), </a:t>
            </a:r>
            <a:r>
              <a:rPr lang="en-US" altLang="en-US" sz="1800" i="1" dirty="0">
                <a:latin typeface="Times New Roman" panose="02020603050405020304" pitchFamily="18" charset="0"/>
                <a:cs typeface="Times New Roman" panose="02020603050405020304" pitchFamily="18" charset="0"/>
              </a:rPr>
              <a:t>d</a:t>
            </a:r>
            <a:r>
              <a:rPr lang="en-US" altLang="en-US" sz="1800" baseline="-25000" dirty="0">
                <a:cs typeface="Arial" charset="0"/>
              </a:rPr>
              <a:t>3</a:t>
            </a:r>
            <a:r>
              <a:rPr lang="en-US" altLang="en-US" sz="1800" dirty="0">
                <a:cs typeface="Arial" charset="0"/>
              </a:rPr>
              <a:t> = 1 (penny)</a:t>
            </a:r>
          </a:p>
          <a:p>
            <a:pPr marL="0" marR="0" lvl="0" indent="0" algn="l" defTabSz="914400" rtl="0" eaLnBrk="0" fontAlgn="base" latinLnBrk="0" hangingPunct="0">
              <a:lnSpc>
                <a:spcPct val="100000"/>
              </a:lnSpc>
              <a:spcBef>
                <a:spcPct val="30000"/>
              </a:spcBef>
              <a:spcAft>
                <a:spcPct val="0"/>
              </a:spcAft>
              <a:buClr>
                <a:srgbClr val="FF6600"/>
              </a:buClr>
              <a:buSzTx/>
              <a:buFontTx/>
              <a:buNone/>
              <a:tabLst>
                <a:tab pos="465671" algn="l"/>
              </a:tabLst>
              <a:defRPr/>
            </a:pPr>
            <a:r>
              <a:rPr lang="en-US" altLang="en-US" sz="2000" dirty="0">
                <a:cs typeface="Arial" charset="0"/>
              </a:rPr>
              <a:t>Greedy solution </a:t>
            </a:r>
            <a:r>
              <a:rPr lang="en-US" altLang="en-US" sz="2000" u="sng" dirty="0">
                <a:cs typeface="Arial" charset="0"/>
              </a:rPr>
              <a:t>starts with the largest</a:t>
            </a:r>
            <a:r>
              <a:rPr lang="en-US" altLang="en-US" sz="2000" dirty="0">
                <a:cs typeface="Arial" charset="0"/>
              </a:rPr>
              <a:t>: 1 quarter, and 5 pennies  =6 coins are used (not Optimal solution)</a:t>
            </a:r>
          </a:p>
          <a:p>
            <a:pPr marL="0" marR="0" lvl="0" indent="0" algn="l" defTabSz="914400" rtl="0" eaLnBrk="0" fontAlgn="base" latinLnBrk="0" hangingPunct="0">
              <a:lnSpc>
                <a:spcPct val="100000"/>
              </a:lnSpc>
              <a:spcBef>
                <a:spcPct val="30000"/>
              </a:spcBef>
              <a:spcAft>
                <a:spcPct val="0"/>
              </a:spcAft>
              <a:buClr>
                <a:srgbClr val="FF6600"/>
              </a:buClr>
              <a:buSzTx/>
              <a:buFontTx/>
              <a:buNone/>
              <a:tabLst>
                <a:tab pos="465671" algn="l"/>
              </a:tabLst>
              <a:defRPr/>
            </a:pPr>
            <a:r>
              <a:rPr lang="en-AU" sz="3200" dirty="0"/>
              <a:t>The optimal solution would be: 10+10+10=30 (using 3 dime)</a:t>
            </a:r>
          </a:p>
          <a:p>
            <a:pPr marL="0" marR="0" lvl="0" indent="0" algn="l" defTabSz="914400" rtl="0" eaLnBrk="0" fontAlgn="base" latinLnBrk="0" hangingPunct="0">
              <a:lnSpc>
                <a:spcPct val="100000"/>
              </a:lnSpc>
              <a:spcBef>
                <a:spcPct val="30000"/>
              </a:spcBef>
              <a:spcAft>
                <a:spcPct val="0"/>
              </a:spcAft>
              <a:buClr>
                <a:srgbClr val="FF6600"/>
              </a:buClr>
              <a:buSzTx/>
              <a:buFontTx/>
              <a:buNone/>
              <a:tabLst>
                <a:tab pos="465671" algn="l"/>
              </a:tabLst>
              <a:defRPr/>
            </a:pPr>
            <a:endParaRPr lang="en-US" altLang="en-US" sz="2000" dirty="0">
              <a:cs typeface="Arial" charset="0"/>
            </a:endParaRPr>
          </a:p>
          <a:p>
            <a:pPr marL="0" marR="0" lvl="0" indent="0" algn="l" defTabSz="914400" rtl="0" eaLnBrk="0" fontAlgn="base" latinLnBrk="0" hangingPunct="0">
              <a:lnSpc>
                <a:spcPct val="100000"/>
              </a:lnSpc>
              <a:spcBef>
                <a:spcPct val="30000"/>
              </a:spcBef>
              <a:spcAft>
                <a:spcPct val="0"/>
              </a:spcAft>
              <a:buClr>
                <a:srgbClr val="FF6600"/>
              </a:buClr>
              <a:buSzTx/>
              <a:buFontTx/>
              <a:buNone/>
              <a:tabLst>
                <a:tab pos="465671" algn="l"/>
              </a:tabLst>
              <a:defRPr/>
            </a:pPr>
            <a:r>
              <a:rPr lang="en-AU" sz="2000" dirty="0"/>
              <a:t>The greedy approach fails because it prioritizes the highest denomination without considering that using a lower denomination multiple times (3 dimes in this case)</a:t>
            </a:r>
            <a:endParaRPr lang="en-US" altLang="en-US" sz="1400" dirty="0">
              <a:cs typeface="Arial" charset="0"/>
            </a:endParaRPr>
          </a:p>
          <a:p>
            <a:pPr lvl="0">
              <a:buClr>
                <a:srgbClr val="FF6600"/>
              </a:buClr>
              <a:tabLst>
                <a:tab pos="465671" algn="l"/>
              </a:tabLst>
              <a:defRPr/>
            </a:pPr>
            <a:endParaRPr lang="en-US" altLang="en-US" sz="2000" dirty="0">
              <a:cs typeface="Arial" charset="0"/>
            </a:endParaRPr>
          </a:p>
          <a:p>
            <a:pPr lvl="1">
              <a:buFont typeface="Arial" panose="020B0604020202020204" pitchFamily="34" charset="0"/>
              <a:buChar char="•"/>
            </a:pPr>
            <a:endParaRPr lang="en-AU" dirty="0"/>
          </a:p>
          <a:p>
            <a:pPr lvl="1">
              <a:buFont typeface="Arial" panose="020B0604020202020204" pitchFamily="34" charset="0"/>
              <a:buChar char="•"/>
            </a:pPr>
            <a:endParaRPr lang="en-AU" dirty="0"/>
          </a:p>
          <a:p>
            <a:pPr lvl="1">
              <a:buFont typeface="Arial" panose="020B0604020202020204" pitchFamily="34" charset="0"/>
              <a:buChar char="•"/>
            </a:pPr>
            <a:endParaRPr lang="en-AU" dirty="0"/>
          </a:p>
        </p:txBody>
      </p:sp>
    </p:spTree>
    <p:extLst>
      <p:ext uri="{BB962C8B-B14F-4D97-AF65-F5344CB8AC3E}">
        <p14:creationId xmlns:p14="http://schemas.microsoft.com/office/powerpoint/2010/main" val="2317747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49358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282254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a:buFont typeface="Arial" panose="020B0604020202020204" pitchFamily="34" charset="0"/>
              <a:buChar char="•"/>
            </a:pPr>
            <a:r>
              <a:rPr lang="en-AU" b="1" dirty="0"/>
              <a:t>Objective Function</a:t>
            </a:r>
            <a:r>
              <a:rPr lang="en-AU" dirty="0"/>
              <a:t>: Minimize the total weight of the edges included in the spanning tree.</a:t>
            </a:r>
          </a:p>
          <a:p>
            <a:pPr>
              <a:buFont typeface="Arial" panose="020B0604020202020204" pitchFamily="34" charset="0"/>
              <a:buChar char="•"/>
            </a:pPr>
            <a:r>
              <a:rPr lang="en-AU" b="1" dirty="0"/>
              <a:t>Constraints</a:t>
            </a:r>
            <a:r>
              <a:rPr lang="en-AU" dirty="0"/>
              <a:t>:</a:t>
            </a:r>
          </a:p>
          <a:p>
            <a:pPr lvl="1">
              <a:buFont typeface="Arial" panose="020B0604020202020204" pitchFamily="34" charset="0"/>
              <a:buChar char="•"/>
            </a:pPr>
            <a:r>
              <a:rPr lang="en-AU" dirty="0"/>
              <a:t>The resulting graph must be a single connected tree that spans all vertices.</a:t>
            </a:r>
          </a:p>
          <a:p>
            <a:pPr lvl="1">
              <a:buFont typeface="Arial" panose="020B0604020202020204" pitchFamily="34" charset="0"/>
              <a:buChar char="•"/>
            </a:pPr>
            <a:r>
              <a:rPr lang="en-AU" dirty="0"/>
              <a:t>Only edges present in the original graph can be selected.</a:t>
            </a:r>
          </a:p>
          <a:p>
            <a:pPr lvl="1">
              <a:buFont typeface="Arial" panose="020B0604020202020204" pitchFamily="34" charset="0"/>
              <a:buChar char="•"/>
            </a:pPr>
            <a:r>
              <a:rPr lang="en-AU" dirty="0"/>
              <a:t>Cycles cannot be formed in the spanning tree (no loops).</a:t>
            </a:r>
          </a:p>
          <a:p>
            <a:endParaRPr lang="en-US" dirty="0"/>
          </a:p>
        </p:txBody>
      </p:sp>
    </p:spTree>
    <p:extLst>
      <p:ext uri="{BB962C8B-B14F-4D97-AF65-F5344CB8AC3E}">
        <p14:creationId xmlns:p14="http://schemas.microsoft.com/office/powerpoint/2010/main" val="1014594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56590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145823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ko-KR" dirty="0"/>
              <a:t>A cut of a connected graph is a minimal set of edges whose removal separate the graph into two components (pieces). The minimal cut property says that if one of the edges of the cut has weight smaller than any other edge in the cut then it is in the MST.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ko-KR" dirty="0"/>
              <a:t>To see this, assume that there is an MST not containing the edge. If we add the edge to the MST, we get a cycle that crosses the cut at least twice, so we can break the cycle by removing the other edge from the MST, thereby making a new tree with smaller weight, thereby contradicting the minimality of the MST.</a:t>
            </a:r>
            <a:endParaRPr lang="ko-KR" altLang="ko-KR" dirty="0"/>
          </a:p>
          <a:p>
            <a:endParaRPr lang="en-US" dirty="0"/>
          </a:p>
        </p:txBody>
      </p:sp>
    </p:spTree>
    <p:extLst>
      <p:ext uri="{BB962C8B-B14F-4D97-AF65-F5344CB8AC3E}">
        <p14:creationId xmlns:p14="http://schemas.microsoft.com/office/powerpoint/2010/main" val="6656482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654028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a:buFont typeface="Arial" panose="020B0604020202020204" pitchFamily="34" charset="0"/>
              <a:buChar char="•"/>
            </a:pPr>
            <a:r>
              <a:rPr lang="en-AU" b="1" dirty="0"/>
              <a:t>Objective Function</a:t>
            </a:r>
            <a:r>
              <a:rPr lang="en-AU" dirty="0"/>
              <a:t>: Minimize the total path distance from a single source vertex to all other vertices.</a:t>
            </a:r>
          </a:p>
          <a:p>
            <a:pPr>
              <a:buFont typeface="Arial" panose="020B0604020202020204" pitchFamily="34" charset="0"/>
              <a:buChar char="•"/>
            </a:pPr>
            <a:r>
              <a:rPr lang="en-AU" b="1" dirty="0"/>
              <a:t>Constraints</a:t>
            </a:r>
            <a:r>
              <a:rPr lang="en-AU" dirty="0"/>
              <a:t>:</a:t>
            </a:r>
          </a:p>
          <a:p>
            <a:pPr lvl="1">
              <a:buFont typeface="Arial" panose="020B0604020202020204" pitchFamily="34" charset="0"/>
              <a:buChar char="•"/>
            </a:pPr>
            <a:r>
              <a:rPr lang="en-AU" dirty="0"/>
              <a:t>The distance for each path is the sum of the edge weights.</a:t>
            </a:r>
          </a:p>
          <a:p>
            <a:pPr lvl="1">
              <a:buFont typeface="Arial" panose="020B0604020202020204" pitchFamily="34" charset="0"/>
              <a:buChar char="•"/>
            </a:pPr>
            <a:r>
              <a:rPr lang="en-AU" dirty="0"/>
              <a:t>Only existing edges in the graph can be traversed.</a:t>
            </a:r>
          </a:p>
          <a:p>
            <a:pPr lvl="1">
              <a:buFont typeface="Arial" panose="020B0604020202020204" pitchFamily="34" charset="0"/>
              <a:buChar char="•"/>
            </a:pPr>
            <a:r>
              <a:rPr lang="en-AU" dirty="0"/>
              <a:t>The path from the source to each destination should not exceed the shortest path distance</a:t>
            </a:r>
          </a:p>
          <a:p>
            <a:endParaRPr lang="en-US" dirty="0"/>
          </a:p>
        </p:txBody>
      </p:sp>
    </p:spTree>
    <p:extLst>
      <p:ext uri="{BB962C8B-B14F-4D97-AF65-F5344CB8AC3E}">
        <p14:creationId xmlns:p14="http://schemas.microsoft.com/office/powerpoint/2010/main" val="30511917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3261500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941776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5753437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9691879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9457192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72961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3825047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8956626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2663801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218752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8371046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5914567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6787188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2997509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en-AU" dirty="0"/>
              <a:t>In the </a:t>
            </a:r>
            <a:r>
              <a:rPr lang="en-AU" b="1" dirty="0"/>
              <a:t>single-source shortest paths problem</a:t>
            </a:r>
            <a:r>
              <a:rPr lang="en-AU" dirty="0"/>
              <a:t>, the goal is to find the shortest paths from a specified starting vertex (called the </a:t>
            </a:r>
            <a:r>
              <a:rPr lang="en-AU" b="1" dirty="0"/>
              <a:t>source</a:t>
            </a:r>
            <a:r>
              <a:rPr lang="en-AU" dirty="0"/>
              <a:t>) to </a:t>
            </a:r>
            <a:r>
              <a:rPr lang="en-AU" b="1" dirty="0"/>
              <a:t>all other vertices</a:t>
            </a:r>
            <a:r>
              <a:rPr lang="en-AU" dirty="0"/>
              <a:t> in a graph.</a:t>
            </a:r>
            <a:endParaRPr lang="en-US" dirty="0"/>
          </a:p>
        </p:txBody>
      </p:sp>
    </p:spTree>
    <p:extLst>
      <p:ext uri="{BB962C8B-B14F-4D97-AF65-F5344CB8AC3E}">
        <p14:creationId xmlns:p14="http://schemas.microsoft.com/office/powerpoint/2010/main" val="35803219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en-US" dirty="0"/>
              <a:t>No negative cycles; a negative cycle will always be a problem </a:t>
            </a:r>
          </a:p>
          <a:p>
            <a:r>
              <a:rPr lang="en-US" dirty="0"/>
              <a:t>● In fact, no negative edges; a negative edge will sometimes be a problem</a:t>
            </a:r>
          </a:p>
        </p:txBody>
      </p:sp>
    </p:spTree>
    <p:extLst>
      <p:ext uri="{BB962C8B-B14F-4D97-AF65-F5344CB8AC3E}">
        <p14:creationId xmlns:p14="http://schemas.microsoft.com/office/powerpoint/2010/main" val="32062588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en-AU" dirty="0"/>
              <a:t>P</a:t>
            </a:r>
            <a:r>
              <a:rPr lang="en-AU" dirty="0">
                <a:sym typeface="Wingdings" pitchFamily="2" charset="2"/>
              </a:rPr>
              <a:t>(); </a:t>
            </a:r>
            <a:r>
              <a:rPr lang="en-AU" dirty="0"/>
              <a:t>These probabilities indicate how frequently each character appears in the message.</a:t>
            </a:r>
          </a:p>
          <a:p>
            <a:endParaRPr kumimoji="0" lang="en-US" sz="1200" b="1" i="0" u="none" strike="noStrike" kern="1200" cap="none" spc="0" normalizeH="0" baseline="0" noProof="0" dirty="0">
              <a:ln>
                <a:noFill/>
              </a:ln>
              <a:solidFill>
                <a:srgbClr val="7030A0"/>
              </a:solidFill>
              <a:effectLst/>
              <a:uLnTx/>
              <a:uFillTx/>
              <a:latin typeface="Arial"/>
              <a:ea typeface="ＭＳ Ｐゴシック" charset="0"/>
              <a:cs typeface="Arial" charset="0"/>
            </a:endParaRPr>
          </a:p>
          <a:p>
            <a:r>
              <a:rPr kumimoji="0" lang="en-US" sz="1200" b="1" i="0" u="none" strike="noStrike" kern="1200" cap="none" spc="0" normalizeH="0" baseline="0" noProof="0" dirty="0">
                <a:ln>
                  <a:noFill/>
                </a:ln>
                <a:solidFill>
                  <a:srgbClr val="7030A0"/>
                </a:solidFill>
                <a:effectLst/>
                <a:uLnTx/>
                <a:uFillTx/>
                <a:latin typeface="Arial"/>
                <a:ea typeface="ＭＳ Ｐゴシック" charset="0"/>
                <a:cs typeface="Arial" charset="0"/>
              </a:rPr>
              <a:t>Prefix-free codes :</a:t>
            </a:r>
            <a:endParaRPr lang="en-AU" dirty="0"/>
          </a:p>
          <a:p>
            <a:r>
              <a:rPr lang="en-AU" dirty="0"/>
              <a:t>This means that if one codeword is 100, no other codeword in the set can start with 100 (i.e,10010) </a:t>
            </a:r>
          </a:p>
          <a:p>
            <a:r>
              <a:rPr lang="en-AU" dirty="0"/>
              <a:t>Since no codeword is a prefix of another, decoding can be done as soon as each codeword is encountered.</a:t>
            </a:r>
            <a:endParaRPr lang="en-US" dirty="0"/>
          </a:p>
        </p:txBody>
      </p:sp>
    </p:spTree>
    <p:extLst>
      <p:ext uri="{BB962C8B-B14F-4D97-AF65-F5344CB8AC3E}">
        <p14:creationId xmlns:p14="http://schemas.microsoft.com/office/powerpoint/2010/main" val="18236910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algn="l"/>
            <a:r>
              <a:rPr lang="en-US" b="0" i="0" dirty="0">
                <a:solidFill>
                  <a:srgbClr val="4D5156"/>
                </a:solidFill>
                <a:effectLst/>
                <a:latin typeface="Google Sans"/>
              </a:rPr>
              <a:t>Simple path (graph theory), a simple path is </a:t>
            </a:r>
            <a:r>
              <a:rPr lang="en-US" b="0" i="0" dirty="0">
                <a:solidFill>
                  <a:srgbClr val="040C28"/>
                </a:solidFill>
                <a:effectLst/>
                <a:latin typeface="Google Sans"/>
              </a:rPr>
              <a:t>a path in a graph which does not have repeating vertices</a:t>
            </a:r>
            <a:endParaRPr lang="en-US" b="0" i="0" dirty="0">
              <a:solidFill>
                <a:srgbClr val="202124"/>
              </a:solidFill>
              <a:effectLst/>
              <a:latin typeface="arial" panose="020B0604020202020204" pitchFamily="34" charset="0"/>
            </a:endParaRPr>
          </a:p>
          <a:p>
            <a:endParaRPr lang="en-US" dirty="0"/>
          </a:p>
        </p:txBody>
      </p:sp>
    </p:spTree>
    <p:extLst>
      <p:ext uri="{BB962C8B-B14F-4D97-AF65-F5344CB8AC3E}">
        <p14:creationId xmlns:p14="http://schemas.microsoft.com/office/powerpoint/2010/main" val="27309661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7236613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8994642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4234149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2535158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220725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914400" y="2130427"/>
            <a:ext cx="10363200" cy="1470025"/>
          </a:xfrm>
        </p:spPr>
        <p:txBody>
          <a:bodyPr/>
          <a:lstStyle>
            <a:lvl1pPr>
              <a:defRPr sz="4000" b="0">
                <a:effectLst/>
              </a:defRPr>
            </a:lvl1pPr>
          </a:lstStyle>
          <a:p>
            <a:r>
              <a:rPr lang="en-US"/>
              <a:t>Click to edit Master title style</a:t>
            </a:r>
            <a:endParaRPr lang="en-US" dirty="0"/>
          </a:p>
        </p:txBody>
      </p:sp>
      <p:sp>
        <p:nvSpPr>
          <p:cNvPr id="4099"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r>
              <a:rPr lang="en-US"/>
              <a:t>Click to edit Master subtitle style</a:t>
            </a:r>
          </a:p>
        </p:txBody>
      </p:sp>
    </p:spTree>
    <p:extLst>
      <p:ext uri="{BB962C8B-B14F-4D97-AF65-F5344CB8AC3E}">
        <p14:creationId xmlns:p14="http://schemas.microsoft.com/office/powerpoint/2010/main" val="3975513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19200"/>
          </a:xfrm>
        </p:spPr>
        <p:txBody>
          <a:bodyPr/>
          <a:lstStyle>
            <a:lvl1pPr>
              <a:defRPr sz="3600" b="0">
                <a:effectLst/>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5262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5"/>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3906348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8576"/>
            <a:ext cx="12192000" cy="1247775"/>
          </a:xfrm>
        </p:spPr>
        <p:txBody>
          <a:bodyPr/>
          <a:lstStyle/>
          <a:p>
            <a:r>
              <a:rPr lang="en-US"/>
              <a:t>Click to edit Master title style</a:t>
            </a:r>
          </a:p>
        </p:txBody>
      </p:sp>
      <p:sp>
        <p:nvSpPr>
          <p:cNvPr id="3" name="Content Placeholder 2"/>
          <p:cNvSpPr>
            <a:spLocks noGrp="1"/>
          </p:cNvSpPr>
          <p:nvPr>
            <p:ph sz="half" idx="1"/>
          </p:nvPr>
        </p:nvSpPr>
        <p:spPr>
          <a:xfrm>
            <a:off x="609600" y="1981202"/>
            <a:ext cx="5384800" cy="3916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2"/>
            <a:ext cx="5384800" cy="3916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192543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2"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2"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8265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28576"/>
            <a:ext cx="12192000" cy="1247775"/>
          </a:xfrm>
        </p:spPr>
        <p:txBody>
          <a:bodyPr/>
          <a:lstStyle/>
          <a:p>
            <a:r>
              <a:rPr lang="en-US"/>
              <a:t>Click to edit Master title style</a:t>
            </a:r>
          </a:p>
        </p:txBody>
      </p:sp>
    </p:spTree>
    <p:extLst>
      <p:ext uri="{BB962C8B-B14F-4D97-AF65-F5344CB8AC3E}">
        <p14:creationId xmlns:p14="http://schemas.microsoft.com/office/powerpoint/2010/main" val="4211999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960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4" y="273052"/>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57856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9"/>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78357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0" y="-28576"/>
            <a:ext cx="12192000" cy="1247775"/>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3679612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90602"/>
            <a:ext cx="2743200" cy="49069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990602"/>
            <a:ext cx="8026400" cy="49069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2341620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990600"/>
            <a:ext cx="10972800" cy="990600"/>
          </a:xfrm>
        </p:spPr>
        <p:txBody>
          <a:bodyPr/>
          <a:lstStyle/>
          <a:p>
            <a:r>
              <a:rPr lang="en-US"/>
              <a:t>Click to edit Master title style</a:t>
            </a:r>
          </a:p>
        </p:txBody>
      </p:sp>
      <p:sp>
        <p:nvSpPr>
          <p:cNvPr id="3" name="Content Placeholder 2"/>
          <p:cNvSpPr>
            <a:spLocks noGrp="1"/>
          </p:cNvSpPr>
          <p:nvPr>
            <p:ph sz="half" idx="1"/>
          </p:nvPr>
        </p:nvSpPr>
        <p:spPr>
          <a:xfrm>
            <a:off x="609600" y="1981202"/>
            <a:ext cx="5384800"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1"/>
            <a:ext cx="5384800" cy="188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4014790"/>
            <a:ext cx="5384800" cy="188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3049825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Media" preserve="1">
  <p:cSld name="Title, Text and Media Clip">
    <p:spTree>
      <p:nvGrpSpPr>
        <p:cNvPr id="1" name=""/>
        <p:cNvGrpSpPr/>
        <p:nvPr/>
      </p:nvGrpSpPr>
      <p:grpSpPr>
        <a:xfrm>
          <a:off x="0" y="0"/>
          <a:ext cx="0" cy="0"/>
          <a:chOff x="0" y="0"/>
          <a:chExt cx="0" cy="0"/>
        </a:xfrm>
      </p:grpSpPr>
      <p:sp>
        <p:nvSpPr>
          <p:cNvPr id="2" name="Title 1"/>
          <p:cNvSpPr>
            <a:spLocks noGrp="1"/>
          </p:cNvSpPr>
          <p:nvPr>
            <p:ph type="title"/>
          </p:nvPr>
        </p:nvSpPr>
        <p:spPr>
          <a:xfrm>
            <a:off x="609600" y="990600"/>
            <a:ext cx="10972800" cy="990600"/>
          </a:xfrm>
        </p:spPr>
        <p:txBody>
          <a:bodyPr/>
          <a:lstStyle/>
          <a:p>
            <a:r>
              <a:rPr lang="en-US"/>
              <a:t>Click to edit Master title style</a:t>
            </a:r>
          </a:p>
        </p:txBody>
      </p:sp>
      <p:sp>
        <p:nvSpPr>
          <p:cNvPr id="3" name="Text Placeholder 2"/>
          <p:cNvSpPr>
            <a:spLocks noGrp="1"/>
          </p:cNvSpPr>
          <p:nvPr>
            <p:ph type="body" sz="half" idx="1"/>
          </p:nvPr>
        </p:nvSpPr>
        <p:spPr>
          <a:xfrm>
            <a:off x="609600" y="1981202"/>
            <a:ext cx="5384800"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Media Placeholder 3"/>
          <p:cNvSpPr>
            <a:spLocks noGrp="1"/>
          </p:cNvSpPr>
          <p:nvPr>
            <p:ph type="media" sz="half" idx="2"/>
          </p:nvPr>
        </p:nvSpPr>
        <p:spPr>
          <a:xfrm>
            <a:off x="6197600" y="1981202"/>
            <a:ext cx="5384800" cy="3916363"/>
          </a:xfrm>
        </p:spPr>
        <p:txBody>
          <a:bodyPr/>
          <a:lstStyle/>
          <a:p>
            <a:pPr lvl="0"/>
            <a:r>
              <a:rPr lang="en-US" noProof="0"/>
              <a:t>Click icon to add media</a:t>
            </a:r>
          </a:p>
        </p:txBody>
      </p:sp>
      <p:sp>
        <p:nvSpPr>
          <p:cNvPr id="5"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15059619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990602"/>
            <a:ext cx="10972800" cy="4906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28866595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BA585E1-CF01-406D-858C-101913AACD92}" type="slidenum">
              <a:rPr lang="en-US" altLang="en-US"/>
              <a:pPr>
                <a:defRPr/>
              </a:pPr>
              <a:t>‹#›</a:t>
            </a:fld>
            <a:endParaRPr lang="en-US" altLang="en-US"/>
          </a:p>
        </p:txBody>
      </p:sp>
    </p:spTree>
    <p:extLst>
      <p:ext uri="{BB962C8B-B14F-4D97-AF65-F5344CB8AC3E}">
        <p14:creationId xmlns:p14="http://schemas.microsoft.com/office/powerpoint/2010/main" val="3182728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A7BED28-CF36-4AE1-B3BC-441DDA300B8C}" type="slidenum">
              <a:rPr lang="en-US" altLang="en-US"/>
              <a:pPr>
                <a:defRPr/>
              </a:pPr>
              <a:t>‹#›</a:t>
            </a:fld>
            <a:endParaRPr lang="en-US" altLang="en-US"/>
          </a:p>
        </p:txBody>
      </p:sp>
    </p:spTree>
    <p:extLst>
      <p:ext uri="{BB962C8B-B14F-4D97-AF65-F5344CB8AC3E}">
        <p14:creationId xmlns:p14="http://schemas.microsoft.com/office/powerpoint/2010/main" val="22983907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A7AB5C3-E46F-47EA-B2C7-0537058F2BAD}" type="slidenum">
              <a:rPr lang="en-US" altLang="en-US"/>
              <a:pPr>
                <a:defRPr/>
              </a:pPr>
              <a:t>‹#›</a:t>
            </a:fld>
            <a:endParaRPr lang="en-US" altLang="en-US"/>
          </a:p>
        </p:txBody>
      </p:sp>
    </p:spTree>
    <p:extLst>
      <p:ext uri="{BB962C8B-B14F-4D97-AF65-F5344CB8AC3E}">
        <p14:creationId xmlns:p14="http://schemas.microsoft.com/office/powerpoint/2010/main" val="31015900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2B11607-FEDE-4B3C-B093-8F69E31FE090}" type="slidenum">
              <a:rPr lang="en-US" altLang="en-US"/>
              <a:pPr>
                <a:defRPr/>
              </a:pPr>
              <a:t>‹#›</a:t>
            </a:fld>
            <a:endParaRPr lang="en-US" altLang="en-US"/>
          </a:p>
        </p:txBody>
      </p:sp>
    </p:spTree>
    <p:extLst>
      <p:ext uri="{BB962C8B-B14F-4D97-AF65-F5344CB8AC3E}">
        <p14:creationId xmlns:p14="http://schemas.microsoft.com/office/powerpoint/2010/main" val="2553591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lt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53A3879A-5510-441C-AF5A-BB7EDDA5696E}" type="slidenum">
              <a:rPr lang="en-US" altLang="en-US"/>
              <a:pPr>
                <a:defRPr/>
              </a:pPr>
              <a:t>‹#›</a:t>
            </a:fld>
            <a:endParaRPr lang="en-US" altLang="en-US"/>
          </a:p>
        </p:txBody>
      </p:sp>
    </p:spTree>
    <p:extLst>
      <p:ext uri="{BB962C8B-B14F-4D97-AF65-F5344CB8AC3E}">
        <p14:creationId xmlns:p14="http://schemas.microsoft.com/office/powerpoint/2010/main" val="40730370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lt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B40A0A3C-4E93-4AE8-9691-5880DE951956}" type="slidenum">
              <a:rPr lang="en-US" altLang="en-US"/>
              <a:pPr>
                <a:defRPr/>
              </a:pPr>
              <a:t>‹#›</a:t>
            </a:fld>
            <a:endParaRPr lang="en-US" altLang="en-US"/>
          </a:p>
        </p:txBody>
      </p:sp>
    </p:spTree>
    <p:extLst>
      <p:ext uri="{BB962C8B-B14F-4D97-AF65-F5344CB8AC3E}">
        <p14:creationId xmlns:p14="http://schemas.microsoft.com/office/powerpoint/2010/main" val="2266478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19190B27-A95E-4E85-A968-48FC38C18BEA}" type="slidenum">
              <a:rPr lang="en-US" altLang="en-US"/>
              <a:pPr>
                <a:defRPr/>
              </a:pPr>
              <a:t>‹#›</a:t>
            </a:fld>
            <a:endParaRPr lang="en-US" altLang="en-US"/>
          </a:p>
        </p:txBody>
      </p:sp>
    </p:spTree>
    <p:extLst>
      <p:ext uri="{BB962C8B-B14F-4D97-AF65-F5344CB8AC3E}">
        <p14:creationId xmlns:p14="http://schemas.microsoft.com/office/powerpoint/2010/main" val="40396243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65B2C8D-9373-4A5C-966D-3D5A3E53D1AD}" type="slidenum">
              <a:rPr lang="en-US" altLang="en-US"/>
              <a:pPr>
                <a:defRPr/>
              </a:pPr>
              <a:t>‹#›</a:t>
            </a:fld>
            <a:endParaRPr lang="en-US" altLang="en-US"/>
          </a:p>
        </p:txBody>
      </p:sp>
    </p:spTree>
    <p:extLst>
      <p:ext uri="{BB962C8B-B14F-4D97-AF65-F5344CB8AC3E}">
        <p14:creationId xmlns:p14="http://schemas.microsoft.com/office/powerpoint/2010/main" val="7759022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25217E3-9142-477F-B01F-5956A03AE788}" type="slidenum">
              <a:rPr lang="en-US" altLang="en-US"/>
              <a:pPr>
                <a:defRPr/>
              </a:pPr>
              <a:t>‹#›</a:t>
            </a:fld>
            <a:endParaRPr lang="en-US" altLang="en-US"/>
          </a:p>
        </p:txBody>
      </p:sp>
    </p:spTree>
    <p:extLst>
      <p:ext uri="{BB962C8B-B14F-4D97-AF65-F5344CB8AC3E}">
        <p14:creationId xmlns:p14="http://schemas.microsoft.com/office/powerpoint/2010/main" val="23985203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82FD06C-BD9A-4128-BB6C-2F9A3DB4FAFE}" type="slidenum">
              <a:rPr lang="en-US" altLang="en-US"/>
              <a:pPr>
                <a:defRPr/>
              </a:pPr>
              <a:t>‹#›</a:t>
            </a:fld>
            <a:endParaRPr lang="en-US" altLang="en-US"/>
          </a:p>
        </p:txBody>
      </p:sp>
    </p:spTree>
    <p:extLst>
      <p:ext uri="{BB962C8B-B14F-4D97-AF65-F5344CB8AC3E}">
        <p14:creationId xmlns:p14="http://schemas.microsoft.com/office/powerpoint/2010/main" val="21243557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FAFB62-30DA-4A3E-98AA-4C489BA2EE23}" type="slidenum">
              <a:rPr lang="en-US" altLang="en-US"/>
              <a:pPr>
                <a:defRPr/>
              </a:pPr>
              <a:t>‹#›</a:t>
            </a:fld>
            <a:endParaRPr lang="en-US" altLang="en-US"/>
          </a:p>
        </p:txBody>
      </p:sp>
    </p:spTree>
    <p:extLst>
      <p:ext uri="{BB962C8B-B14F-4D97-AF65-F5344CB8AC3E}">
        <p14:creationId xmlns:p14="http://schemas.microsoft.com/office/powerpoint/2010/main" val="4036583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1.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t="-1000" b="-1000"/>
          </a:stretch>
        </a:blip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609600" y="1295400"/>
            <a:ext cx="109728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2"/>
          <p:cNvSpPr>
            <a:spLocks noGrp="1" noChangeArrowheads="1"/>
          </p:cNvSpPr>
          <p:nvPr>
            <p:ph type="title"/>
          </p:nvPr>
        </p:nvSpPr>
        <p:spPr bwMode="auto">
          <a:xfrm>
            <a:off x="0" y="-28575"/>
            <a:ext cx="12192000" cy="9906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Tree>
  </p:cSld>
  <p:clrMap bg1="lt1" tx1="dk1" bg2="lt2" tx2="dk2" accent1="accent1" accent2="accent2" accent3="accent3" accent4="accent4" accent5="accent5" accent6="accent6" hlink="hlink" folHlink="folHlink"/>
  <p:sldLayoutIdLst>
    <p:sldLayoutId id="2147484392" r:id="rId1"/>
    <p:sldLayoutId id="2147484393" r:id="rId2"/>
    <p:sldLayoutId id="2147484373" r:id="rId3"/>
    <p:sldLayoutId id="2147484374" r:id="rId4"/>
    <p:sldLayoutId id="2147484394" r:id="rId5"/>
    <p:sldLayoutId id="2147484395" r:id="rId6"/>
    <p:sldLayoutId id="2147484396" r:id="rId7"/>
    <p:sldLayoutId id="2147484397" r:id="rId8"/>
    <p:sldLayoutId id="2147484375" r:id="rId9"/>
    <p:sldLayoutId id="2147484376" r:id="rId10"/>
    <p:sldLayoutId id="2147484377" r:id="rId11"/>
    <p:sldLayoutId id="2147484378" r:id="rId12"/>
    <p:sldLayoutId id="2147484379" r:id="rId13"/>
    <p:sldLayoutId id="2147484380" r:id="rId14"/>
  </p:sldLayoutIdLst>
  <p:hf hdr="0" ftr="0" dt="0"/>
  <p:txStyles>
    <p:titleStyle>
      <a:lvl1pPr algn="ctr" rtl="0" eaLnBrk="1" fontAlgn="base" hangingPunct="1">
        <a:spcBef>
          <a:spcPct val="0"/>
        </a:spcBef>
        <a:spcAft>
          <a:spcPct val="0"/>
        </a:spcAft>
        <a:defRPr sz="3600">
          <a:solidFill>
            <a:schemeClr val="tx1"/>
          </a:solidFill>
          <a:latin typeface="+mj-lt"/>
          <a:ea typeface="ＭＳ Ｐゴシック" charset="0"/>
          <a:cs typeface="+mj-cs"/>
        </a:defRPr>
      </a:lvl1pPr>
      <a:lvl2pPr algn="ctr" rtl="0" eaLnBrk="1" fontAlgn="base" hangingPunct="1">
        <a:spcBef>
          <a:spcPct val="0"/>
        </a:spcBef>
        <a:spcAft>
          <a:spcPct val="0"/>
        </a:spcAft>
        <a:defRPr sz="3600">
          <a:solidFill>
            <a:schemeClr val="tx1"/>
          </a:solidFill>
          <a:latin typeface="Arial" pitchFamily="34" charset="0"/>
          <a:ea typeface="ＭＳ Ｐゴシック" charset="0"/>
        </a:defRPr>
      </a:lvl2pPr>
      <a:lvl3pPr algn="ctr" rtl="0" eaLnBrk="1" fontAlgn="base" hangingPunct="1">
        <a:spcBef>
          <a:spcPct val="0"/>
        </a:spcBef>
        <a:spcAft>
          <a:spcPct val="0"/>
        </a:spcAft>
        <a:defRPr sz="3600">
          <a:solidFill>
            <a:schemeClr val="tx1"/>
          </a:solidFill>
          <a:latin typeface="Arial" pitchFamily="34" charset="0"/>
          <a:ea typeface="ＭＳ Ｐゴシック" charset="0"/>
        </a:defRPr>
      </a:lvl3pPr>
      <a:lvl4pPr algn="ctr" rtl="0" eaLnBrk="1" fontAlgn="base" hangingPunct="1">
        <a:spcBef>
          <a:spcPct val="0"/>
        </a:spcBef>
        <a:spcAft>
          <a:spcPct val="0"/>
        </a:spcAft>
        <a:defRPr sz="3600">
          <a:solidFill>
            <a:schemeClr val="tx1"/>
          </a:solidFill>
          <a:latin typeface="Arial" pitchFamily="34" charset="0"/>
          <a:ea typeface="ＭＳ Ｐゴシック" charset="0"/>
        </a:defRPr>
      </a:lvl4pPr>
      <a:lvl5pPr algn="ctr" rtl="0" eaLnBrk="1" fontAlgn="base" hangingPunct="1">
        <a:spcBef>
          <a:spcPct val="0"/>
        </a:spcBef>
        <a:spcAft>
          <a:spcPct val="0"/>
        </a:spcAft>
        <a:defRPr sz="3600">
          <a:solidFill>
            <a:schemeClr val="tx1"/>
          </a:solidFill>
          <a:latin typeface="Arial" pitchFamily="34" charset="0"/>
          <a:ea typeface="ＭＳ Ｐゴシック" charset="0"/>
        </a:defRPr>
      </a:lvl5pPr>
      <a:lvl6pPr marL="457200" algn="l" rtl="0" eaLnBrk="1" fontAlgn="base" hangingPunct="1">
        <a:spcBef>
          <a:spcPct val="0"/>
        </a:spcBef>
        <a:spcAft>
          <a:spcPct val="0"/>
        </a:spcAft>
        <a:defRPr sz="4400">
          <a:solidFill>
            <a:schemeClr val="tx2"/>
          </a:solidFill>
          <a:latin typeface="Arial" pitchFamily="34" charset="0"/>
        </a:defRPr>
      </a:lvl6pPr>
      <a:lvl7pPr marL="914400" algn="l" rtl="0" eaLnBrk="1" fontAlgn="base" hangingPunct="1">
        <a:spcBef>
          <a:spcPct val="0"/>
        </a:spcBef>
        <a:spcAft>
          <a:spcPct val="0"/>
        </a:spcAft>
        <a:defRPr sz="4400">
          <a:solidFill>
            <a:schemeClr val="tx2"/>
          </a:solidFill>
          <a:latin typeface="Arial" pitchFamily="34" charset="0"/>
        </a:defRPr>
      </a:lvl7pPr>
      <a:lvl8pPr marL="1371600" algn="l" rtl="0" eaLnBrk="1" fontAlgn="base" hangingPunct="1">
        <a:spcBef>
          <a:spcPct val="0"/>
        </a:spcBef>
        <a:spcAft>
          <a:spcPct val="0"/>
        </a:spcAft>
        <a:defRPr sz="4400">
          <a:solidFill>
            <a:schemeClr val="tx2"/>
          </a:solidFill>
          <a:latin typeface="Arial" pitchFamily="34" charset="0"/>
        </a:defRPr>
      </a:lvl8pPr>
      <a:lvl9pPr marL="1828800" algn="l" rtl="0" eaLnBrk="1" fontAlgn="base" hangingPunct="1">
        <a:spcBef>
          <a:spcPct val="0"/>
        </a:spcBef>
        <a:spcAft>
          <a:spcPct val="0"/>
        </a:spcAft>
        <a:defRPr sz="4400">
          <a:solidFill>
            <a:schemeClr val="tx2"/>
          </a:solidFill>
          <a:latin typeface="Arial" pitchFamily="34" charset="0"/>
        </a:defRPr>
      </a:lvl9pPr>
    </p:titleStyle>
    <p:bodyStyle>
      <a:lvl1pPr marL="342900" indent="-342900" algn="l" rtl="0" eaLnBrk="1" fontAlgn="base" hangingPunct="1">
        <a:spcBef>
          <a:spcPct val="20000"/>
        </a:spcBef>
        <a:spcAft>
          <a:spcPct val="0"/>
        </a:spcAft>
        <a:buSzPct val="75000"/>
        <a:buBlip>
          <a:blip r:embed="rId17"/>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18"/>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19"/>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t="-1000" b="-1000"/>
          </a:stretch>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Arial" pitchFamily="34" charset="0"/>
              </a:defRPr>
            </a:lvl1pPr>
          </a:lstStyle>
          <a:p>
            <a:pPr>
              <a:defRPr/>
            </a:pPr>
            <a:endParaRPr lang="en-US" alt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ea typeface="+mn-ea"/>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Arial" pitchFamily="34" charset="0"/>
              </a:defRPr>
            </a:lvl1pPr>
          </a:lstStyle>
          <a:p>
            <a:pPr>
              <a:defRPr/>
            </a:pPr>
            <a:fld id="{0BFDEB6E-1DDE-4718-956D-E92CB94A556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381" r:id="rId1"/>
    <p:sldLayoutId id="2147484382" r:id="rId2"/>
    <p:sldLayoutId id="2147484383" r:id="rId3"/>
    <p:sldLayoutId id="2147484384" r:id="rId4"/>
    <p:sldLayoutId id="2147484385" r:id="rId5"/>
    <p:sldLayoutId id="2147484386" r:id="rId6"/>
    <p:sldLayoutId id="2147484387" r:id="rId7"/>
    <p:sldLayoutId id="2147484388" r:id="rId8"/>
    <p:sldLayoutId id="2147484389" r:id="rId9"/>
    <p:sldLayoutId id="2147484390" r:id="rId10"/>
    <p:sldLayoutId id="2147484391" r:id="rId11"/>
  </p:sldLayoutIdLst>
  <p:hf hdr="0" ftr="0" dt="0"/>
  <p:txStyles>
    <p:titleStyle>
      <a:lvl1pPr algn="ctr" rtl="0" eaLnBrk="0" fontAlgn="base" hangingPunct="0">
        <a:spcBef>
          <a:spcPct val="0"/>
        </a:spcBef>
        <a:spcAft>
          <a:spcPct val="0"/>
        </a:spcAft>
        <a:defRPr sz="4400" kern="1200">
          <a:solidFill>
            <a:schemeClr val="tx1"/>
          </a:solidFill>
          <a:latin typeface="+mj-lt"/>
          <a:ea typeface="ＭＳ Ｐゴシック" charset="0"/>
          <a:cs typeface="+mj-cs"/>
        </a:defRPr>
      </a:lvl1pPr>
      <a:lvl2pPr algn="ctr" rtl="0" eaLnBrk="0" fontAlgn="base" hangingPunct="0">
        <a:spcBef>
          <a:spcPct val="0"/>
        </a:spcBef>
        <a:spcAft>
          <a:spcPct val="0"/>
        </a:spcAft>
        <a:defRPr sz="4400">
          <a:solidFill>
            <a:schemeClr val="tx1"/>
          </a:solidFill>
          <a:latin typeface="Calibri" pitchFamily="34" charset="0"/>
          <a:ea typeface="ＭＳ Ｐゴシック" charset="0"/>
        </a:defRPr>
      </a:lvl2pPr>
      <a:lvl3pPr algn="ctr" rtl="0" eaLnBrk="0" fontAlgn="base" hangingPunct="0">
        <a:spcBef>
          <a:spcPct val="0"/>
        </a:spcBef>
        <a:spcAft>
          <a:spcPct val="0"/>
        </a:spcAft>
        <a:defRPr sz="4400">
          <a:solidFill>
            <a:schemeClr val="tx1"/>
          </a:solidFill>
          <a:latin typeface="Calibri" pitchFamily="34" charset="0"/>
          <a:ea typeface="ＭＳ Ｐゴシック" charset="0"/>
        </a:defRPr>
      </a:lvl3pPr>
      <a:lvl4pPr algn="ctr" rtl="0" eaLnBrk="0" fontAlgn="base" hangingPunct="0">
        <a:spcBef>
          <a:spcPct val="0"/>
        </a:spcBef>
        <a:spcAft>
          <a:spcPct val="0"/>
        </a:spcAft>
        <a:defRPr sz="4400">
          <a:solidFill>
            <a:schemeClr val="tx1"/>
          </a:solidFill>
          <a:latin typeface="Calibri" pitchFamily="34" charset="0"/>
          <a:ea typeface="ＭＳ Ｐゴシック" charset="0"/>
        </a:defRPr>
      </a:lvl4pPr>
      <a:lvl5pPr algn="ctr" rtl="0" eaLnBrk="0" fontAlgn="base" hangingPunct="0">
        <a:spcBef>
          <a:spcPct val="0"/>
        </a:spcBef>
        <a:spcAft>
          <a:spcPct val="0"/>
        </a:spcAft>
        <a:defRPr sz="4400">
          <a:solidFill>
            <a:schemeClr val="tx1"/>
          </a:solidFill>
          <a:latin typeface="Calibri" pitchFamily="34" charset="0"/>
          <a:ea typeface="ＭＳ Ｐゴシック"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math.stackexchange.com/questions/2433735/proving-that-greedy-coin-change-algorithm-gives-optimal-solution-under-certain-c"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gtl.csa.iisc.ac.in/dsa/node183.html"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avivt.github.io/avivt/downloads/tutorials/Class3.pdf"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hyperlink" Target="https://kgardner.people.amherst.edu/courses/s19/cosc211/handouts/dijkstra_slides.pdf"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9.png"/><Relationship Id="rId7"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FF0000"/>
                </a:solidFill>
              </a:rPr>
              <a:t>Topic 7</a:t>
            </a:r>
          </a:p>
        </p:txBody>
      </p:sp>
      <p:sp>
        <p:nvSpPr>
          <p:cNvPr id="3" name="Subtitle 2"/>
          <p:cNvSpPr>
            <a:spLocks noGrp="1"/>
          </p:cNvSpPr>
          <p:nvPr>
            <p:ph type="subTitle" idx="1"/>
          </p:nvPr>
        </p:nvSpPr>
        <p:spPr/>
        <p:txBody>
          <a:bodyPr/>
          <a:lstStyle/>
          <a:p>
            <a:r>
              <a:rPr lang="en-US" b="1" dirty="0">
                <a:solidFill>
                  <a:srgbClr val="0000CC"/>
                </a:solidFill>
              </a:rPr>
              <a:t>Greedy Technique</a:t>
            </a:r>
          </a:p>
          <a:p>
            <a:r>
              <a:rPr lang="en-US" b="1" dirty="0">
                <a:solidFill>
                  <a:srgbClr val="00B050"/>
                </a:solidFill>
                <a:latin typeface="Agency FB" panose="020B0503020202020204" pitchFamily="34" charset="0"/>
              </a:rPr>
              <a:t>Prof. Hanan Elazhary</a:t>
            </a:r>
          </a:p>
          <a:p>
            <a:endParaRPr lang="en-US" b="1" dirty="0">
              <a:solidFill>
                <a:srgbClr val="0000CC"/>
              </a:solidFill>
            </a:endParaRPr>
          </a:p>
        </p:txBody>
      </p:sp>
      <p:sp>
        <p:nvSpPr>
          <p:cNvPr id="6" name="TextBox 5">
            <a:extLst>
              <a:ext uri="{FF2B5EF4-FFF2-40B4-BE49-F238E27FC236}">
                <a16:creationId xmlns:a16="http://schemas.microsoft.com/office/drawing/2014/main" id="{7B1DDC7D-9AC9-1A5F-C492-B67EF3D30262}"/>
              </a:ext>
            </a:extLst>
          </p:cNvPr>
          <p:cNvSpPr txBox="1"/>
          <p:nvPr/>
        </p:nvSpPr>
        <p:spPr>
          <a:xfrm>
            <a:off x="2819400" y="6410980"/>
            <a:ext cx="9387840" cy="276999"/>
          </a:xfrm>
          <a:prstGeom prst="rect">
            <a:avLst/>
          </a:prstGeom>
          <a:noFill/>
        </p:spPr>
        <p:txBody>
          <a:bodyPr wrap="square" rtlCol="0">
            <a:spAutoFit/>
          </a:bodyPr>
          <a:lstStyle/>
          <a:p>
            <a:r>
              <a:rPr lang="en-US" sz="1200" b="1" dirty="0"/>
              <a:t>Main source: </a:t>
            </a:r>
            <a:r>
              <a:rPr lang="en-US" sz="1200" dirty="0"/>
              <a:t>A. Levitin, Introduction to the Design and Analysis of Algorithms, 3</a:t>
            </a:r>
            <a:r>
              <a:rPr lang="en-US" sz="1200" baseline="30000" dirty="0"/>
              <a:t>rd</a:t>
            </a:r>
            <a:r>
              <a:rPr lang="en-US" sz="1200" dirty="0"/>
              <a:t> edition</a:t>
            </a:r>
          </a:p>
        </p:txBody>
      </p:sp>
    </p:spTree>
    <p:extLst>
      <p:ext uri="{BB962C8B-B14F-4D97-AF65-F5344CB8AC3E}">
        <p14:creationId xmlns:p14="http://schemas.microsoft.com/office/powerpoint/2010/main" val="3140597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FF0000"/>
                </a:solidFill>
              </a:rPr>
              <a:t>Greedy Technique</a:t>
            </a:r>
            <a:endParaRPr sz="4000" b="1" spc="-18"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2</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456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FF6600"/>
              </a:buClr>
              <a:tabLst>
                <a:tab pos="465671" algn="l"/>
              </a:tabLst>
            </a:pPr>
            <a:r>
              <a:rPr lang="en-US" sz="2800" dirty="0">
                <a:cs typeface="Arial" charset="0"/>
              </a:rPr>
              <a:t>An algorithm design strategy that constructs a solution to an </a:t>
            </a:r>
            <a:r>
              <a:rPr lang="en-US" sz="2800" b="1" dirty="0">
                <a:solidFill>
                  <a:srgbClr val="7030A0"/>
                </a:solidFill>
                <a:cs typeface="Arial" charset="0"/>
              </a:rPr>
              <a:t>optimization problem </a:t>
            </a:r>
            <a:r>
              <a:rPr lang="en-US" sz="2800" dirty="0">
                <a:cs typeface="Arial" charset="0"/>
              </a:rPr>
              <a:t>piece by piece through a </a:t>
            </a:r>
            <a:r>
              <a:rPr lang="en-US" sz="2800" b="1" dirty="0">
                <a:solidFill>
                  <a:srgbClr val="7030A0"/>
                </a:solidFill>
                <a:cs typeface="Arial" charset="0"/>
              </a:rPr>
              <a:t>sequence of choices </a:t>
            </a:r>
            <a:r>
              <a:rPr lang="en-US" sz="2800" dirty="0">
                <a:cs typeface="Arial" charset="0"/>
              </a:rPr>
              <a:t>that are</a:t>
            </a:r>
          </a:p>
          <a:p>
            <a:pPr lvl="1">
              <a:buClr>
                <a:srgbClr val="FF6600"/>
              </a:buClr>
              <a:tabLst>
                <a:tab pos="465671" algn="l"/>
              </a:tabLst>
            </a:pPr>
            <a:r>
              <a:rPr lang="en-US" sz="2400" dirty="0">
                <a:cs typeface="Arial" charset="0"/>
              </a:rPr>
              <a:t>feasible, i.e., satisfying the constraints</a:t>
            </a:r>
          </a:p>
          <a:p>
            <a:pPr lvl="1">
              <a:buClr>
                <a:srgbClr val="FF6600"/>
              </a:buClr>
              <a:tabLst>
                <a:tab pos="465671" algn="l"/>
              </a:tabLst>
            </a:pPr>
            <a:r>
              <a:rPr lang="en-US" sz="2400" b="1" dirty="0">
                <a:solidFill>
                  <a:srgbClr val="7030A0"/>
                </a:solidFill>
                <a:cs typeface="Arial" charset="0"/>
              </a:rPr>
              <a:t>locally</a:t>
            </a:r>
            <a:r>
              <a:rPr lang="en-US" sz="2400" dirty="0">
                <a:cs typeface="Arial" charset="0"/>
              </a:rPr>
              <a:t> optimal </a:t>
            </a:r>
            <a:r>
              <a:rPr lang="en-US" sz="1800" dirty="0">
                <a:cs typeface="Arial" charset="0"/>
              </a:rPr>
              <a:t>(with respect to some neighborhood definition)</a:t>
            </a:r>
            <a:endParaRPr lang="en-US" sz="2400" dirty="0">
              <a:cs typeface="Arial" charset="0"/>
            </a:endParaRPr>
          </a:p>
          <a:p>
            <a:pPr lvl="1">
              <a:buClr>
                <a:srgbClr val="FF6600"/>
              </a:buClr>
              <a:tabLst>
                <a:tab pos="465671" algn="l"/>
              </a:tabLst>
            </a:pPr>
            <a:r>
              <a:rPr lang="en-US" sz="2400" dirty="0">
                <a:cs typeface="Arial" charset="0"/>
              </a:rPr>
              <a:t>irrevocable </a:t>
            </a:r>
            <a:r>
              <a:rPr lang="en-US" sz="1800" dirty="0">
                <a:cs typeface="Arial" charset="0"/>
              </a:rPr>
              <a:t>(permanent)</a:t>
            </a:r>
            <a:endParaRPr lang="en-US" sz="2400" dirty="0">
              <a:cs typeface="Arial" charset="0"/>
            </a:endParaRPr>
          </a:p>
          <a:p>
            <a:pPr>
              <a:buClr>
                <a:srgbClr val="FF6600"/>
              </a:buClr>
              <a:tabLst>
                <a:tab pos="465671" algn="l"/>
              </a:tabLst>
            </a:pPr>
            <a:endParaRPr lang="en-US" sz="2000" dirty="0">
              <a:cs typeface="Arial" charset="0"/>
            </a:endParaRPr>
          </a:p>
          <a:p>
            <a:pPr>
              <a:buClr>
                <a:srgbClr val="FF6600"/>
              </a:buClr>
              <a:tabLst>
                <a:tab pos="465671" algn="l"/>
              </a:tabLst>
            </a:pPr>
            <a:r>
              <a:rPr lang="en-US" sz="2800" dirty="0">
                <a:cs typeface="Arial" charset="0"/>
              </a:rPr>
              <a:t>For some problems, it yields a </a:t>
            </a:r>
            <a:r>
              <a:rPr lang="en-US" sz="2400" b="1" dirty="0">
                <a:solidFill>
                  <a:srgbClr val="7030A0"/>
                </a:solidFill>
                <a:cs typeface="Arial" charset="0"/>
              </a:rPr>
              <a:t>globally</a:t>
            </a:r>
            <a:r>
              <a:rPr lang="en-US" sz="2800" dirty="0">
                <a:cs typeface="Arial" charset="0"/>
              </a:rPr>
              <a:t> </a:t>
            </a:r>
            <a:r>
              <a:rPr lang="en-US" sz="2800" u="sng" dirty="0">
                <a:cs typeface="Arial" charset="0"/>
              </a:rPr>
              <a:t>optimal solution</a:t>
            </a:r>
            <a:r>
              <a:rPr lang="en-US" sz="2800" dirty="0">
                <a:cs typeface="Arial" charset="0"/>
              </a:rPr>
              <a:t> for every instance </a:t>
            </a:r>
            <a:r>
              <a:rPr lang="en-US" sz="1800" dirty="0">
                <a:cs typeface="Arial" charset="0"/>
              </a:rPr>
              <a:t>(we are mostly interested in this case)</a:t>
            </a:r>
            <a:endParaRPr lang="en-US" sz="2800" dirty="0">
              <a:cs typeface="Arial" charset="0"/>
            </a:endParaRPr>
          </a:p>
          <a:p>
            <a:pPr>
              <a:buClr>
                <a:srgbClr val="FF6600"/>
              </a:buClr>
              <a:tabLst>
                <a:tab pos="465671" algn="l"/>
              </a:tabLst>
            </a:pPr>
            <a:r>
              <a:rPr lang="en-US" sz="2800" dirty="0">
                <a:cs typeface="Arial" charset="0"/>
              </a:rPr>
              <a:t>For most cases, it does not but can be useful for </a:t>
            </a:r>
            <a:r>
              <a:rPr lang="en-US" sz="2800" b="1" dirty="0">
                <a:solidFill>
                  <a:srgbClr val="7030A0"/>
                </a:solidFill>
                <a:cs typeface="Arial" charset="0"/>
              </a:rPr>
              <a:t>fast</a:t>
            </a:r>
            <a:r>
              <a:rPr lang="en-US" sz="2800" dirty="0">
                <a:cs typeface="Arial" charset="0"/>
              </a:rPr>
              <a:t> </a:t>
            </a:r>
            <a:r>
              <a:rPr lang="en-US" sz="2800" u="sng" dirty="0">
                <a:cs typeface="Arial" charset="0"/>
              </a:rPr>
              <a:t>approximations</a:t>
            </a:r>
          </a:p>
        </p:txBody>
      </p:sp>
      <p:sp>
        <p:nvSpPr>
          <p:cNvPr id="2" name="AutoShape 13">
            <a:extLst>
              <a:ext uri="{FF2B5EF4-FFF2-40B4-BE49-F238E27FC236}">
                <a16:creationId xmlns:a16="http://schemas.microsoft.com/office/drawing/2014/main" id="{EB3DEDC6-74B4-825F-70C8-180F7E823E64}"/>
              </a:ext>
            </a:extLst>
          </p:cNvPr>
          <p:cNvSpPr>
            <a:spLocks noChangeArrowheads="1"/>
          </p:cNvSpPr>
          <p:nvPr/>
        </p:nvSpPr>
        <p:spPr bwMode="auto">
          <a:xfrm>
            <a:off x="8765082" y="2759075"/>
            <a:ext cx="2590800" cy="822325"/>
          </a:xfrm>
          <a:prstGeom prst="wedgeRectCallout">
            <a:avLst>
              <a:gd name="adj1" fmla="val -58394"/>
              <a:gd name="adj2" fmla="val -120264"/>
            </a:avLst>
          </a:prstGeom>
          <a:solidFill>
            <a:schemeClr val="accent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lnSpc>
                <a:spcPct val="70000"/>
              </a:lnSpc>
              <a:spcBef>
                <a:spcPct val="0"/>
              </a:spcBef>
              <a:buClrTx/>
              <a:buSzTx/>
              <a:buNone/>
            </a:pPr>
            <a:r>
              <a:rPr kumimoji="0" lang="en-US" altLang="ko-KR" sz="2000" b="0" dirty="0">
                <a:solidFill>
                  <a:srgbClr val="001932"/>
                </a:solidFill>
                <a:ea typeface="굴림" pitchFamily="34" charset="-127"/>
              </a:rPr>
              <a:t>problem defined by an objective function and a set of constraints</a:t>
            </a:r>
          </a:p>
        </p:txBody>
      </p:sp>
    </p:spTree>
    <p:extLst>
      <p:ext uri="{BB962C8B-B14F-4D97-AF65-F5344CB8AC3E}">
        <p14:creationId xmlns:p14="http://schemas.microsoft.com/office/powerpoint/2010/main" val="740046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0070C0"/>
                </a:solidFill>
              </a:rPr>
              <a:t>Greedy Technique, Contd.</a:t>
            </a:r>
            <a:endParaRPr sz="40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3</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5158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FF6600"/>
              </a:buClr>
              <a:tabLst>
                <a:tab pos="465671" algn="l"/>
              </a:tabLst>
            </a:pPr>
            <a:r>
              <a:rPr lang="en-US" sz="2800" dirty="0">
                <a:cs typeface="Arial" charset="0"/>
              </a:rPr>
              <a:t>Optimal solutions</a:t>
            </a:r>
          </a:p>
          <a:p>
            <a:pPr lvl="1">
              <a:buClr>
                <a:srgbClr val="FF6600"/>
              </a:buClr>
              <a:tabLst>
                <a:tab pos="465671" algn="l"/>
              </a:tabLst>
            </a:pPr>
            <a:r>
              <a:rPr lang="en-US" sz="2400" b="1" dirty="0">
                <a:solidFill>
                  <a:srgbClr val="7030A0"/>
                </a:solidFill>
                <a:cs typeface="Arial" charset="0"/>
              </a:rPr>
              <a:t>change making problem </a:t>
            </a:r>
            <a:r>
              <a:rPr lang="en-US" sz="2400" dirty="0">
                <a:cs typeface="Arial" charset="0"/>
              </a:rPr>
              <a:t>(for ‘normal’ coin denominations)</a:t>
            </a:r>
          </a:p>
          <a:p>
            <a:pPr lvl="1">
              <a:buClr>
                <a:srgbClr val="FF6600"/>
              </a:buClr>
              <a:tabLst>
                <a:tab pos="465671" algn="l"/>
              </a:tabLst>
            </a:pPr>
            <a:r>
              <a:rPr lang="en-US" sz="2400" b="1" dirty="0">
                <a:solidFill>
                  <a:srgbClr val="7030A0"/>
                </a:solidFill>
                <a:cs typeface="Arial" charset="0"/>
              </a:rPr>
              <a:t>minimum spanning tree (MST) </a:t>
            </a:r>
            <a:r>
              <a:rPr lang="en-US" sz="2400" dirty="0">
                <a:cs typeface="Arial" charset="0"/>
              </a:rPr>
              <a:t>(e.g., </a:t>
            </a:r>
            <a:r>
              <a:rPr lang="en-US" sz="2400" b="1" dirty="0">
                <a:solidFill>
                  <a:srgbClr val="7030A0"/>
                </a:solidFill>
                <a:cs typeface="Arial" charset="0"/>
              </a:rPr>
              <a:t>Prim’s MST Algorithm</a:t>
            </a:r>
            <a:r>
              <a:rPr lang="en-US" sz="2400" dirty="0">
                <a:cs typeface="Arial" charset="0"/>
              </a:rPr>
              <a:t>)</a:t>
            </a:r>
            <a:endParaRPr lang="en-US" sz="2400" b="1" dirty="0">
              <a:solidFill>
                <a:srgbClr val="7030A0"/>
              </a:solidFill>
              <a:cs typeface="Arial" charset="0"/>
            </a:endParaRPr>
          </a:p>
          <a:p>
            <a:pPr lvl="1">
              <a:buClr>
                <a:srgbClr val="FF6600"/>
              </a:buClr>
              <a:tabLst>
                <a:tab pos="465671" algn="l"/>
              </a:tabLst>
            </a:pPr>
            <a:r>
              <a:rPr lang="en-US" sz="2400" b="1" dirty="0">
                <a:solidFill>
                  <a:srgbClr val="7030A0"/>
                </a:solidFill>
                <a:cs typeface="Arial" charset="0"/>
              </a:rPr>
              <a:t>single-source shortest paths problem </a:t>
            </a:r>
            <a:r>
              <a:rPr lang="en-US" sz="2400" dirty="0">
                <a:cs typeface="Arial" charset="0"/>
              </a:rPr>
              <a:t>(e.g., </a:t>
            </a:r>
            <a:r>
              <a:rPr lang="en-US" sz="2400" b="1" dirty="0">
                <a:solidFill>
                  <a:srgbClr val="7030A0"/>
                </a:solidFill>
                <a:cs typeface="Arial" charset="0"/>
              </a:rPr>
              <a:t>Dijkstra’s single-source Shortest Paths Algorithm</a:t>
            </a:r>
            <a:r>
              <a:rPr lang="en-US" sz="2400" dirty="0">
                <a:cs typeface="Arial" charset="0"/>
              </a:rPr>
              <a:t>)</a:t>
            </a:r>
          </a:p>
          <a:p>
            <a:pPr lvl="1">
              <a:buClr>
                <a:srgbClr val="FF6600"/>
              </a:buClr>
              <a:tabLst>
                <a:tab pos="465671" algn="l"/>
              </a:tabLst>
            </a:pPr>
            <a:r>
              <a:rPr lang="en-US" sz="2400" dirty="0">
                <a:cs typeface="Arial" charset="0"/>
              </a:rPr>
              <a:t>simple scheduling problems</a:t>
            </a:r>
          </a:p>
          <a:p>
            <a:pPr lvl="1">
              <a:buClr>
                <a:srgbClr val="FF6600"/>
              </a:buClr>
              <a:tabLst>
                <a:tab pos="465671" algn="l"/>
              </a:tabLst>
            </a:pPr>
            <a:r>
              <a:rPr lang="en-US" sz="2400" b="1" dirty="0">
                <a:solidFill>
                  <a:srgbClr val="7030A0"/>
                </a:solidFill>
                <a:cs typeface="Arial" charset="0"/>
              </a:rPr>
              <a:t>coding problem </a:t>
            </a:r>
            <a:r>
              <a:rPr lang="en-US" sz="2400" dirty="0">
                <a:cs typeface="Arial" charset="0"/>
              </a:rPr>
              <a:t>(e.g., </a:t>
            </a:r>
            <a:r>
              <a:rPr lang="en-US" sz="2400" b="1" dirty="0">
                <a:solidFill>
                  <a:srgbClr val="7030A0"/>
                </a:solidFill>
                <a:cs typeface="Arial" charset="0"/>
              </a:rPr>
              <a:t>Huffman codes</a:t>
            </a:r>
            <a:r>
              <a:rPr lang="en-US" sz="2400" dirty="0">
                <a:cs typeface="Arial" charset="0"/>
              </a:rPr>
              <a:t>)</a:t>
            </a:r>
          </a:p>
          <a:p>
            <a:pPr>
              <a:buClr>
                <a:srgbClr val="FF6600"/>
              </a:buClr>
              <a:tabLst>
                <a:tab pos="465671" algn="l"/>
              </a:tabLst>
            </a:pPr>
            <a:endParaRPr lang="en-US" sz="1400" dirty="0">
              <a:cs typeface="Arial" charset="0"/>
            </a:endParaRPr>
          </a:p>
          <a:p>
            <a:pPr>
              <a:buClr>
                <a:srgbClr val="FF6600"/>
              </a:buClr>
              <a:tabLst>
                <a:tab pos="465671" algn="l"/>
              </a:tabLst>
            </a:pPr>
            <a:r>
              <a:rPr lang="en-US" sz="2800" dirty="0">
                <a:cs typeface="Arial" charset="0"/>
              </a:rPr>
              <a:t>Approximations/heuristics</a:t>
            </a:r>
          </a:p>
          <a:p>
            <a:pPr lvl="1">
              <a:buClr>
                <a:srgbClr val="FF6600"/>
              </a:buClr>
              <a:tabLst>
                <a:tab pos="465671" algn="l"/>
              </a:tabLst>
            </a:pPr>
            <a:r>
              <a:rPr lang="en-US" sz="2400" dirty="0">
                <a:cs typeface="Arial" charset="0"/>
              </a:rPr>
              <a:t>traveling salesman problem (TSP)</a:t>
            </a:r>
          </a:p>
          <a:p>
            <a:pPr lvl="1">
              <a:buClr>
                <a:srgbClr val="FF6600"/>
              </a:buClr>
              <a:tabLst>
                <a:tab pos="465671" algn="l"/>
              </a:tabLst>
            </a:pPr>
            <a:r>
              <a:rPr lang="en-US" sz="2400" b="1" dirty="0">
                <a:solidFill>
                  <a:srgbClr val="00B050"/>
                </a:solidFill>
                <a:cs typeface="Arial" charset="0"/>
              </a:rPr>
              <a:t>knapsack problem</a:t>
            </a:r>
          </a:p>
          <a:p>
            <a:pPr lvl="1">
              <a:buClr>
                <a:srgbClr val="FF6600"/>
              </a:buClr>
              <a:tabLst>
                <a:tab pos="465671" algn="l"/>
              </a:tabLst>
            </a:pPr>
            <a:r>
              <a:rPr lang="en-US" sz="2400" dirty="0">
                <a:cs typeface="Arial" charset="0"/>
              </a:rPr>
              <a:t>other combinatorial optimization problems</a:t>
            </a:r>
          </a:p>
        </p:txBody>
      </p:sp>
      <p:sp>
        <p:nvSpPr>
          <p:cNvPr id="2" name="TextBox 1">
            <a:extLst>
              <a:ext uri="{FF2B5EF4-FFF2-40B4-BE49-F238E27FC236}">
                <a16:creationId xmlns:a16="http://schemas.microsoft.com/office/drawing/2014/main" id="{3514491B-86A1-6F83-B1DC-BF93B3652605}"/>
              </a:ext>
            </a:extLst>
          </p:cNvPr>
          <p:cNvSpPr txBox="1"/>
          <p:nvPr/>
        </p:nvSpPr>
        <p:spPr>
          <a:xfrm>
            <a:off x="6019800" y="4297740"/>
            <a:ext cx="6172200" cy="1569660"/>
          </a:xfrm>
          <a:prstGeom prst="rect">
            <a:avLst/>
          </a:prstGeom>
          <a:noFill/>
        </p:spPr>
        <p:txBody>
          <a:bodyPr wrap="square" rtlCol="0">
            <a:spAutoFit/>
          </a:bodyPr>
          <a:lstStyle/>
          <a:p>
            <a:r>
              <a:rPr lang="en-US" sz="1600" b="1" dirty="0">
                <a:solidFill>
                  <a:srgbClr val="00B050"/>
                </a:solidFill>
              </a:rPr>
              <a:t>In the knapsack problem for example we could</a:t>
            </a:r>
          </a:p>
          <a:p>
            <a:r>
              <a:rPr lang="en-US" sz="1600" b="1" dirty="0">
                <a:solidFill>
                  <a:srgbClr val="002060"/>
                </a:solidFill>
              </a:rPr>
              <a:t>a) </a:t>
            </a:r>
            <a:r>
              <a:rPr lang="en-US" sz="1600" b="1" dirty="0">
                <a:solidFill>
                  <a:srgbClr val="00B050"/>
                </a:solidFill>
              </a:rPr>
              <a:t>pick the items in order determined by the </a:t>
            </a:r>
            <a:r>
              <a:rPr lang="en-US" sz="1600" b="1" u="sng" dirty="0">
                <a:solidFill>
                  <a:srgbClr val="00B050"/>
                </a:solidFill>
              </a:rPr>
              <a:t>highest</a:t>
            </a:r>
            <a:r>
              <a:rPr lang="en-US" sz="1600" b="1" dirty="0">
                <a:solidFill>
                  <a:srgbClr val="00B050"/>
                </a:solidFill>
              </a:rPr>
              <a:t> value</a:t>
            </a:r>
          </a:p>
          <a:p>
            <a:r>
              <a:rPr lang="en-US" sz="1600" b="1" dirty="0">
                <a:solidFill>
                  <a:srgbClr val="002060"/>
                </a:solidFill>
              </a:rPr>
              <a:t>b) </a:t>
            </a:r>
            <a:r>
              <a:rPr lang="en-US" sz="1600" b="1" dirty="0">
                <a:solidFill>
                  <a:srgbClr val="00B050"/>
                </a:solidFill>
              </a:rPr>
              <a:t>pick the items in order determined by the </a:t>
            </a:r>
            <a:r>
              <a:rPr lang="en-US" sz="1600" b="1" u="sng" dirty="0">
                <a:solidFill>
                  <a:srgbClr val="00B050"/>
                </a:solidFill>
              </a:rPr>
              <a:t>highes</a:t>
            </a:r>
            <a:r>
              <a:rPr lang="en-US" sz="1600" b="1" dirty="0">
                <a:solidFill>
                  <a:srgbClr val="00B050"/>
                </a:solidFill>
              </a:rPr>
              <a:t>t value/weight ratio</a:t>
            </a:r>
          </a:p>
          <a:p>
            <a:r>
              <a:rPr lang="en-US" sz="1600" b="1" dirty="0">
                <a:solidFill>
                  <a:srgbClr val="002060"/>
                </a:solidFill>
              </a:rPr>
              <a:t>c) </a:t>
            </a:r>
            <a:r>
              <a:rPr lang="en-US" sz="1600" b="1" dirty="0">
                <a:solidFill>
                  <a:srgbClr val="00B050"/>
                </a:solidFill>
              </a:rPr>
              <a:t>pick the items in order determined by the </a:t>
            </a:r>
            <a:r>
              <a:rPr lang="en-US" sz="1600" b="1" u="sng" dirty="0">
                <a:solidFill>
                  <a:srgbClr val="00B050"/>
                </a:solidFill>
              </a:rPr>
              <a:t>minimum</a:t>
            </a:r>
            <a:r>
              <a:rPr lang="en-US" sz="1600" b="1" dirty="0">
                <a:solidFill>
                  <a:srgbClr val="00B050"/>
                </a:solidFill>
              </a:rPr>
              <a:t> weight</a:t>
            </a:r>
          </a:p>
          <a:p>
            <a:r>
              <a:rPr lang="en-US" sz="1600" b="1" dirty="0">
                <a:solidFill>
                  <a:srgbClr val="00B050"/>
                </a:solidFill>
              </a:rPr>
              <a:t>but will most probably get an approximate solution</a:t>
            </a:r>
          </a:p>
        </p:txBody>
      </p:sp>
    </p:spTree>
    <p:extLst>
      <p:ext uri="{BB962C8B-B14F-4D97-AF65-F5344CB8AC3E}">
        <p14:creationId xmlns:p14="http://schemas.microsoft.com/office/powerpoint/2010/main" val="613975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FF0000"/>
                </a:solidFill>
              </a:rPr>
              <a:t>Change-Making Problem</a:t>
            </a:r>
            <a:endParaRPr sz="3800" b="1" spc="-18"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277600" cy="5367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lang="en-US" altLang="en-US" sz="2800" dirty="0">
                <a:solidFill>
                  <a:srgbClr val="000000"/>
                </a:solidFill>
                <a:latin typeface="Arial"/>
              </a:rPr>
              <a:t>Required </a:t>
            </a: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change of a specific amount </a:t>
            </a:r>
            <a:r>
              <a:rPr kumimoji="0" lang="en-US" altLang="en-US" sz="2800" b="0" i="1" u="none" strike="noStrike" kern="1200" cap="none" spc="0" normalizeH="0" baseline="0" noProof="0" dirty="0">
                <a:ln>
                  <a:noFill/>
                </a:ln>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n </a:t>
            </a: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with the least number </a:t>
            </a:r>
            <a:r>
              <a:rPr kumimoji="0" lang="en-US" altLang="en-US" sz="2000" b="0" i="0" u="none" strike="noStrike" kern="1200" cap="none" spc="0" normalizeH="0" baseline="0" noProof="0" dirty="0">
                <a:ln>
                  <a:noFill/>
                </a:ln>
                <a:solidFill>
                  <a:srgbClr val="000000"/>
                </a:solidFill>
                <a:effectLst/>
                <a:uLnTx/>
                <a:uFillTx/>
                <a:latin typeface="Arial"/>
                <a:ea typeface="ＭＳ Ｐゴシック" charset="0"/>
                <a:cs typeface="+mn-cs"/>
              </a:rPr>
              <a:t>out of unlimited number</a:t>
            </a: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 of coins of </a:t>
            </a:r>
            <a:r>
              <a:rPr kumimoji="0" lang="en-US" altLang="en-US" sz="2000" b="0" i="0" u="none" strike="noStrike" kern="1200" cap="none" spc="0" normalizeH="0" baseline="0" noProof="0" dirty="0">
                <a:ln>
                  <a:noFill/>
                </a:ln>
                <a:solidFill>
                  <a:srgbClr val="000000"/>
                </a:solidFill>
                <a:effectLst/>
                <a:uLnTx/>
                <a:uFillTx/>
                <a:latin typeface="Arial"/>
                <a:ea typeface="ＭＳ Ｐゴシック" charset="0"/>
                <a:cs typeface="+mn-cs"/>
              </a:rPr>
              <a:t>normal</a:t>
            </a: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 denominations </a:t>
            </a:r>
            <a:r>
              <a:rPr kumimoji="0" lang="en-US" altLang="en-US" sz="2800" b="0" i="1"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d</a:t>
            </a:r>
            <a:r>
              <a:rPr kumimoji="0" lang="en-US" altLang="en-US" sz="2800" b="0" i="0" u="none" strike="noStrike" kern="1200" cap="none" spc="0" normalizeH="0" baseline="-25000" noProof="0" dirty="0">
                <a:ln>
                  <a:noFill/>
                </a:ln>
                <a:solidFill>
                  <a:srgbClr val="000000"/>
                </a:solidFill>
                <a:effectLst/>
                <a:uLnTx/>
                <a:uFillTx/>
                <a:latin typeface="Arial"/>
                <a:ea typeface="ＭＳ Ｐゴシック" charset="0"/>
                <a:cs typeface="+mn-cs"/>
              </a:rPr>
              <a:t>1</a:t>
            </a: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&gt;</a:t>
            </a:r>
            <a:r>
              <a:rPr kumimoji="0" lang="en-US" altLang="en-US" sz="2800" b="0" i="1"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d</a:t>
            </a:r>
            <a:r>
              <a:rPr kumimoji="0" lang="en-US" altLang="en-US" sz="2800" b="0" i="0" u="none" strike="noStrike" kern="1200" cap="none" spc="0" normalizeH="0" baseline="-25000" noProof="0" dirty="0">
                <a:ln>
                  <a:noFill/>
                </a:ln>
                <a:solidFill>
                  <a:srgbClr val="000000"/>
                </a:solidFill>
                <a:effectLst/>
                <a:uLnTx/>
                <a:uFillTx/>
                <a:latin typeface="Arial"/>
                <a:ea typeface="ＭＳ Ｐゴシック" charset="0"/>
                <a:cs typeface="+mn-cs"/>
              </a:rPr>
              <a:t>2</a:t>
            </a: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 &gt; . . .&gt;</a:t>
            </a:r>
            <a:r>
              <a:rPr kumimoji="0" lang="en-US" altLang="en-US" sz="2800" b="0" i="1"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d</a:t>
            </a:r>
            <a:r>
              <a:rPr kumimoji="0" lang="en-US" altLang="en-US" sz="2800" b="0" i="0" u="none" strike="noStrike" kern="1200" cap="none" spc="0" normalizeH="0" baseline="-25000" noProof="0" dirty="0">
                <a:ln>
                  <a:noFill/>
                </a:ln>
                <a:solidFill>
                  <a:srgbClr val="000000"/>
                </a:solidFill>
                <a:effectLst/>
                <a:uLnTx/>
                <a:uFillTx/>
                <a:latin typeface="Arial"/>
                <a:ea typeface="ＭＳ Ｐゴシック" charset="0"/>
                <a:cs typeface="+mn-cs"/>
              </a:rPr>
              <a:t>m</a:t>
            </a: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 </a:t>
            </a:r>
          </a:p>
          <a:p>
            <a:pPr lvl="1">
              <a:buClr>
                <a:srgbClr val="FF6600"/>
              </a:buClr>
              <a:tabLst>
                <a:tab pos="465671" algn="l"/>
              </a:tabLst>
              <a:defRPr/>
            </a:pPr>
            <a:r>
              <a:rPr lang="en-US" altLang="en-US" sz="2400" dirty="0">
                <a:cs typeface="Arial" charset="0"/>
              </a:rPr>
              <a:t>For example, considering the widely used coin denominations in the US </a:t>
            </a:r>
          </a:p>
          <a:p>
            <a:pPr lvl="2">
              <a:buClr>
                <a:srgbClr val="FF6600"/>
              </a:buClr>
              <a:tabLst>
                <a:tab pos="465671" algn="l"/>
              </a:tabLst>
              <a:defRPr/>
            </a:pPr>
            <a:r>
              <a:rPr lang="en-US" altLang="en-US" sz="2000" i="1" dirty="0">
                <a:latin typeface="Times New Roman" panose="02020603050405020304" pitchFamily="18" charset="0"/>
                <a:cs typeface="Times New Roman" panose="02020603050405020304" pitchFamily="18" charset="0"/>
              </a:rPr>
              <a:t>d</a:t>
            </a:r>
            <a:r>
              <a:rPr lang="en-US" altLang="en-US" sz="2000" baseline="-25000" dirty="0">
                <a:cs typeface="Arial" charset="0"/>
              </a:rPr>
              <a:t>1</a:t>
            </a:r>
            <a:r>
              <a:rPr lang="en-US" altLang="en-US" sz="2000" dirty="0">
                <a:cs typeface="Arial" charset="0"/>
              </a:rPr>
              <a:t> = 25 (quarter), </a:t>
            </a:r>
            <a:r>
              <a:rPr lang="en-US" altLang="en-US" sz="2000" i="1" dirty="0">
                <a:latin typeface="Times New Roman" panose="02020603050405020304" pitchFamily="18" charset="0"/>
                <a:cs typeface="Times New Roman" panose="02020603050405020304" pitchFamily="18" charset="0"/>
              </a:rPr>
              <a:t>d</a:t>
            </a:r>
            <a:r>
              <a:rPr lang="en-US" altLang="en-US" sz="2000" baseline="-25000" dirty="0">
                <a:cs typeface="Arial" charset="0"/>
              </a:rPr>
              <a:t>2</a:t>
            </a:r>
            <a:r>
              <a:rPr lang="en-US" altLang="en-US" sz="2000" dirty="0">
                <a:cs typeface="Arial" charset="0"/>
              </a:rPr>
              <a:t> = 10 (dime), </a:t>
            </a:r>
            <a:r>
              <a:rPr lang="en-US" altLang="en-US" sz="2000" i="1" dirty="0">
                <a:latin typeface="Times New Roman" panose="02020603050405020304" pitchFamily="18" charset="0"/>
                <a:cs typeface="Times New Roman" panose="02020603050405020304" pitchFamily="18" charset="0"/>
              </a:rPr>
              <a:t>d</a:t>
            </a:r>
            <a:r>
              <a:rPr lang="en-US" altLang="en-US" sz="2000" baseline="-25000" dirty="0">
                <a:cs typeface="Arial" charset="0"/>
              </a:rPr>
              <a:t>3</a:t>
            </a:r>
            <a:r>
              <a:rPr lang="en-US" altLang="en-US" sz="2000" dirty="0">
                <a:cs typeface="Arial" charset="0"/>
              </a:rPr>
              <a:t> = 5 (nickel), and </a:t>
            </a:r>
            <a:r>
              <a:rPr lang="en-US" altLang="en-US" sz="2000" i="1" dirty="0">
                <a:latin typeface="Times New Roman" panose="02020603050405020304" pitchFamily="18" charset="0"/>
                <a:cs typeface="Times New Roman" panose="02020603050405020304" pitchFamily="18" charset="0"/>
              </a:rPr>
              <a:t>d</a:t>
            </a:r>
            <a:r>
              <a:rPr lang="en-US" altLang="en-US" sz="2000" baseline="-25000" dirty="0">
                <a:cs typeface="Arial" charset="0"/>
              </a:rPr>
              <a:t>4</a:t>
            </a:r>
            <a:r>
              <a:rPr lang="en-US" altLang="en-US" sz="2000" dirty="0">
                <a:cs typeface="Arial" charset="0"/>
              </a:rPr>
              <a:t> = 1 (penny)</a:t>
            </a:r>
          </a:p>
          <a:p>
            <a:pPr lvl="1">
              <a:buClr>
                <a:srgbClr val="FF6600"/>
              </a:buClr>
              <a:tabLst>
                <a:tab pos="465671" algn="l"/>
              </a:tabLst>
              <a:defRPr/>
            </a:pPr>
            <a:r>
              <a:rPr lang="en-US" altLang="en-US" sz="2400" dirty="0">
                <a:cs typeface="Arial" charset="0"/>
              </a:rPr>
              <a:t>how would you give 48 cent change with the least number of these denominations?</a:t>
            </a:r>
          </a:p>
          <a:p>
            <a:pPr lvl="1">
              <a:buClr>
                <a:srgbClr val="FF6600"/>
              </a:buClr>
              <a:tabLst>
                <a:tab pos="465671" algn="l"/>
              </a:tabLst>
              <a:defRPr/>
            </a:pPr>
            <a:r>
              <a:rPr lang="en-US" altLang="en-US" sz="2400" dirty="0">
                <a:cs typeface="Arial" charset="0"/>
              </a:rPr>
              <a:t>Greedy solution </a:t>
            </a:r>
            <a:r>
              <a:rPr lang="en-US" altLang="en-US" sz="2400" u="sng" dirty="0">
                <a:cs typeface="Arial" charset="0"/>
              </a:rPr>
              <a:t>starts with the largest</a:t>
            </a:r>
            <a:r>
              <a:rPr lang="en-US" altLang="en-US" sz="2400" dirty="0">
                <a:cs typeface="Arial" charset="0"/>
              </a:rPr>
              <a:t>: 1 quarter, 2 dimes, and 3 pennies     =6 coins are used</a:t>
            </a:r>
          </a:p>
          <a:p>
            <a:pPr lvl="1">
              <a:buClr>
                <a:srgbClr val="FF6600"/>
              </a:buClr>
              <a:tabLst>
                <a:tab pos="465671" algn="l"/>
              </a:tabLst>
              <a:defRPr/>
            </a:pPr>
            <a:endParaRPr lang="en-US" altLang="en-US" sz="800" dirty="0">
              <a:cs typeface="Arial" charset="0"/>
            </a:endParaRPr>
          </a:p>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lang="en-US" altLang="en-US" sz="2800" dirty="0">
                <a:solidFill>
                  <a:srgbClr val="000000"/>
                </a:solidFill>
                <a:latin typeface="Arial"/>
              </a:rPr>
              <a:t>Greedy solution</a:t>
            </a:r>
          </a:p>
          <a:p>
            <a:pPr lvl="1">
              <a:buClr>
                <a:srgbClr val="FF6600"/>
              </a:buClr>
              <a:tabLst>
                <a:tab pos="465671" algn="l"/>
              </a:tabLst>
              <a:defRPr/>
            </a:pPr>
            <a:r>
              <a:rPr lang="en-US" altLang="en-US" sz="2400" dirty="0">
                <a:cs typeface="Arial" charset="0"/>
              </a:rPr>
              <a:t>is optimal for any amount and ‘normal’ set of denominations </a:t>
            </a:r>
            <a:r>
              <a:rPr lang="en-US" altLang="en-US" sz="1800" dirty="0">
                <a:cs typeface="Arial" charset="0"/>
              </a:rPr>
              <a:t>(can you prove it?)</a:t>
            </a:r>
            <a:endParaRPr lang="en-US" altLang="en-US" sz="2400" dirty="0">
              <a:cs typeface="Arial" charset="0"/>
            </a:endParaRPr>
          </a:p>
          <a:p>
            <a:pPr lvl="1">
              <a:buClr>
                <a:srgbClr val="FF6600"/>
              </a:buClr>
              <a:tabLst>
                <a:tab pos="465671" algn="l"/>
              </a:tabLst>
              <a:defRPr/>
            </a:pPr>
            <a:r>
              <a:rPr lang="en-US" altLang="ko-KR" sz="2400" dirty="0">
                <a:cs typeface="Arial" charset="0"/>
              </a:rPr>
              <a:t>may </a:t>
            </a:r>
            <a:r>
              <a:rPr lang="en-US" altLang="ko-KR" sz="2400" u="sng" dirty="0">
                <a:cs typeface="Arial" charset="0"/>
              </a:rPr>
              <a:t>not be optimal for arbitrary coin denominations</a:t>
            </a:r>
            <a:endParaRPr lang="en-US" altLang="en-US" sz="2400" u="sng" dirty="0">
              <a:cs typeface="Arial" charset="0"/>
            </a:endParaRPr>
          </a:p>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endPar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endParaRPr>
          </a:p>
        </p:txBody>
      </p:sp>
      <p:sp>
        <p:nvSpPr>
          <p:cNvPr id="2" name="Text Box 5">
            <a:extLst>
              <a:ext uri="{FF2B5EF4-FFF2-40B4-BE49-F238E27FC236}">
                <a16:creationId xmlns:a16="http://schemas.microsoft.com/office/drawing/2014/main" id="{119FDA06-2A4F-D22F-3046-0618CB5E5651}"/>
              </a:ext>
            </a:extLst>
          </p:cNvPr>
          <p:cNvSpPr txBox="1">
            <a:spLocks noChangeArrowheads="1"/>
          </p:cNvSpPr>
          <p:nvPr/>
        </p:nvSpPr>
        <p:spPr bwMode="auto">
          <a:xfrm>
            <a:off x="2122554" y="5960227"/>
            <a:ext cx="77343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ko-KR" dirty="0">
                <a:solidFill>
                  <a:srgbClr val="00B050"/>
                </a:solidFill>
                <a:ea typeface="굴림" pitchFamily="34" charset="-127"/>
              </a:rPr>
              <a:t>For example, </a:t>
            </a:r>
            <a:r>
              <a:rPr kumimoji="0" lang="en-US" altLang="ko-KR" i="1" dirty="0">
                <a:solidFill>
                  <a:srgbClr val="00B050"/>
                </a:solidFill>
                <a:ea typeface="굴림" pitchFamily="34" charset="-127"/>
              </a:rPr>
              <a:t>d</a:t>
            </a:r>
            <a:r>
              <a:rPr kumimoji="0" lang="en-US" altLang="ko-KR" sz="1800" i="1" dirty="0">
                <a:solidFill>
                  <a:srgbClr val="00B050"/>
                </a:solidFill>
                <a:ea typeface="굴림" pitchFamily="34" charset="-127"/>
              </a:rPr>
              <a:t>1</a:t>
            </a:r>
            <a:r>
              <a:rPr kumimoji="0" lang="en-US" altLang="ko-KR" dirty="0">
                <a:solidFill>
                  <a:srgbClr val="00B050"/>
                </a:solidFill>
                <a:ea typeface="굴림" pitchFamily="34" charset="-127"/>
              </a:rPr>
              <a:t> = 25c , </a:t>
            </a:r>
            <a:r>
              <a:rPr kumimoji="0" lang="en-US" altLang="ko-KR" i="1" dirty="0">
                <a:solidFill>
                  <a:srgbClr val="00B050"/>
                </a:solidFill>
                <a:ea typeface="굴림" pitchFamily="34" charset="-127"/>
              </a:rPr>
              <a:t>d</a:t>
            </a:r>
            <a:r>
              <a:rPr kumimoji="0" lang="en-US" altLang="ko-KR" sz="1800" i="1" dirty="0">
                <a:solidFill>
                  <a:srgbClr val="00B050"/>
                </a:solidFill>
                <a:ea typeface="굴림" pitchFamily="34" charset="-127"/>
              </a:rPr>
              <a:t>2</a:t>
            </a:r>
            <a:r>
              <a:rPr kumimoji="0" lang="en-US" altLang="ko-KR" dirty="0">
                <a:solidFill>
                  <a:srgbClr val="00B050"/>
                </a:solidFill>
                <a:ea typeface="굴림" pitchFamily="34" charset="-127"/>
              </a:rPr>
              <a:t> = 10c, </a:t>
            </a:r>
            <a:r>
              <a:rPr kumimoji="0" lang="en-US" altLang="ko-KR" i="1" dirty="0">
                <a:solidFill>
                  <a:srgbClr val="00B050"/>
                </a:solidFill>
                <a:ea typeface="굴림" pitchFamily="34" charset="-127"/>
              </a:rPr>
              <a:t>d</a:t>
            </a:r>
            <a:r>
              <a:rPr kumimoji="0" lang="en-US" altLang="ko-KR" sz="1800" i="1" dirty="0">
                <a:solidFill>
                  <a:srgbClr val="00B050"/>
                </a:solidFill>
                <a:ea typeface="굴림" pitchFamily="34" charset="-127"/>
              </a:rPr>
              <a:t>3</a:t>
            </a:r>
            <a:r>
              <a:rPr kumimoji="0" lang="en-US" altLang="ko-KR" dirty="0">
                <a:solidFill>
                  <a:srgbClr val="00B050"/>
                </a:solidFill>
                <a:ea typeface="굴림" pitchFamily="34" charset="-127"/>
              </a:rPr>
              <a:t> = 1c, and </a:t>
            </a:r>
            <a:r>
              <a:rPr kumimoji="0" lang="en-US" altLang="ko-KR" i="1" dirty="0">
                <a:solidFill>
                  <a:srgbClr val="00B050"/>
                </a:solidFill>
                <a:ea typeface="굴림" pitchFamily="34" charset="-127"/>
              </a:rPr>
              <a:t>n</a:t>
            </a:r>
            <a:r>
              <a:rPr kumimoji="0" lang="en-US" altLang="ko-KR" dirty="0">
                <a:solidFill>
                  <a:srgbClr val="00B050"/>
                </a:solidFill>
                <a:ea typeface="굴림" pitchFamily="34" charset="-127"/>
              </a:rPr>
              <a:t> = 30c</a:t>
            </a:r>
          </a:p>
          <a:p>
            <a:pPr algn="ctr" eaLnBrk="0" hangingPunct="0">
              <a:spcBef>
                <a:spcPct val="50000"/>
              </a:spcBef>
              <a:buClrTx/>
              <a:buSzTx/>
              <a:buNone/>
            </a:pPr>
            <a:endParaRPr kumimoji="0" lang="en-US" altLang="ko-KR" dirty="0">
              <a:solidFill>
                <a:srgbClr val="00B050"/>
              </a:solidFill>
              <a:ea typeface="굴림" pitchFamily="34" charset="-127"/>
            </a:endParaRPr>
          </a:p>
        </p:txBody>
      </p:sp>
      <p:sp>
        <p:nvSpPr>
          <p:cNvPr id="4" name="Text Box 5">
            <a:extLst>
              <a:ext uri="{FF2B5EF4-FFF2-40B4-BE49-F238E27FC236}">
                <a16:creationId xmlns:a16="http://schemas.microsoft.com/office/drawing/2014/main" id="{C0DC5CA7-DBFD-81F7-2BB2-57E09DEE3761}"/>
              </a:ext>
            </a:extLst>
          </p:cNvPr>
          <p:cNvSpPr txBox="1">
            <a:spLocks noChangeArrowheads="1"/>
          </p:cNvSpPr>
          <p:nvPr/>
        </p:nvSpPr>
        <p:spPr bwMode="auto">
          <a:xfrm>
            <a:off x="3513204" y="4095690"/>
            <a:ext cx="495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ko-KR" sz="2000" dirty="0">
                <a:solidFill>
                  <a:srgbClr val="7030A0"/>
                </a:solidFill>
                <a:ea typeface="굴림" pitchFamily="34" charset="-127"/>
              </a:rPr>
              <a:t>feasible, locally optimal, irrevocable</a:t>
            </a:r>
          </a:p>
        </p:txBody>
      </p:sp>
      <p:sp>
        <p:nvSpPr>
          <p:cNvPr id="5" name="TextBox 4">
            <a:extLst>
              <a:ext uri="{FF2B5EF4-FFF2-40B4-BE49-F238E27FC236}">
                <a16:creationId xmlns:a16="http://schemas.microsoft.com/office/drawing/2014/main" id="{B4D4B95E-F2C8-307F-6CC1-D9D619B3BAE4}"/>
              </a:ext>
            </a:extLst>
          </p:cNvPr>
          <p:cNvSpPr txBox="1"/>
          <p:nvPr/>
        </p:nvSpPr>
        <p:spPr>
          <a:xfrm>
            <a:off x="2667000" y="6547361"/>
            <a:ext cx="8001000" cy="246221"/>
          </a:xfrm>
          <a:prstGeom prst="rect">
            <a:avLst/>
          </a:prstGeom>
          <a:noFill/>
        </p:spPr>
        <p:txBody>
          <a:bodyPr wrap="square" rtlCol="0">
            <a:spAutoFit/>
          </a:bodyPr>
          <a:lstStyle/>
          <a:p>
            <a:r>
              <a:rPr lang="en-US" sz="1000" dirty="0">
                <a:hlinkClick r:id="rId6"/>
              </a:rPr>
              <a:t>https://math.stackexchange.com/questions/2433735/proving-that-greedy-coin-change-algorithm-gives-optimal-solution-under-certain-c</a:t>
            </a:r>
            <a:endParaRPr lang="en-US" sz="1000" dirty="0"/>
          </a:p>
        </p:txBody>
      </p:sp>
    </p:spTree>
    <p:extLst>
      <p:ext uri="{BB962C8B-B14F-4D97-AF65-F5344CB8AC3E}">
        <p14:creationId xmlns:p14="http://schemas.microsoft.com/office/powerpoint/2010/main" val="1893171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FF0000"/>
                </a:solidFill>
              </a:rPr>
              <a:t>Minimum Spanning Tree (MST)</a:t>
            </a:r>
            <a:endParaRPr sz="4000" b="1" spc="-18"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19" name="object 7">
            <a:extLst>
              <a:ext uri="{FF2B5EF4-FFF2-40B4-BE49-F238E27FC236}">
                <a16:creationId xmlns:a16="http://schemas.microsoft.com/office/drawing/2014/main" id="{7BAF3DA9-B7C6-6632-10B4-40D6C5BFFC93}"/>
              </a:ext>
            </a:extLst>
          </p:cNvPr>
          <p:cNvSpPr txBox="1">
            <a:spLocks/>
          </p:cNvSpPr>
          <p:nvPr/>
        </p:nvSpPr>
        <p:spPr bwMode="auto">
          <a:xfrm>
            <a:off x="457200" y="1228384"/>
            <a:ext cx="11353800" cy="2277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lang="en-US" altLang="en-US" sz="2800" b="1" dirty="0">
                <a:solidFill>
                  <a:srgbClr val="000000"/>
                </a:solidFill>
                <a:latin typeface="Arial"/>
              </a:rPr>
              <a:t>Spanning tree </a:t>
            </a:r>
            <a:r>
              <a:rPr lang="en-US" altLang="en-US" sz="2700" dirty="0">
                <a:solidFill>
                  <a:srgbClr val="000000"/>
                </a:solidFill>
                <a:latin typeface="Arial"/>
              </a:rPr>
              <a:t>of an undirected connected graph </a:t>
            </a:r>
            <a:r>
              <a:rPr lang="en-US" altLang="en-US" sz="2700" i="1" dirty="0">
                <a:solidFill>
                  <a:srgbClr val="000000"/>
                </a:solidFill>
                <a:latin typeface="Times New Roman" panose="02020603050405020304" pitchFamily="18" charset="0"/>
                <a:cs typeface="Times New Roman" panose="02020603050405020304" pitchFamily="18" charset="0"/>
              </a:rPr>
              <a:t>G</a:t>
            </a:r>
          </a:p>
          <a:p>
            <a:pPr lvl="1">
              <a:buClr>
                <a:srgbClr val="FF6600"/>
              </a:buClr>
              <a:tabLst>
                <a:tab pos="465671" algn="l"/>
              </a:tabLst>
              <a:defRPr/>
            </a:pPr>
            <a:r>
              <a:rPr lang="en-US" altLang="en-US" sz="2400" dirty="0">
                <a:cs typeface="Arial" charset="0"/>
              </a:rPr>
              <a:t>connected acyclic subgraph (tree) of </a:t>
            </a:r>
            <a:r>
              <a:rPr lang="en-US" altLang="en-US" sz="2400" i="1" dirty="0">
                <a:latin typeface="Times New Roman" panose="02020603050405020304" pitchFamily="18" charset="0"/>
                <a:cs typeface="Times New Roman" panose="02020603050405020304" pitchFamily="18" charset="0"/>
              </a:rPr>
              <a:t>G</a:t>
            </a:r>
            <a:r>
              <a:rPr lang="en-US" altLang="en-US" sz="2400" dirty="0">
                <a:cs typeface="Arial" charset="0"/>
              </a:rPr>
              <a:t> that includes all of </a:t>
            </a:r>
            <a:r>
              <a:rPr lang="en-US" altLang="en-US" sz="2400" i="1" dirty="0">
                <a:latin typeface="Times New Roman" panose="02020603050405020304" pitchFamily="18" charset="0"/>
                <a:cs typeface="Times New Roman" panose="02020603050405020304" pitchFamily="18" charset="0"/>
              </a:rPr>
              <a:t>G</a:t>
            </a:r>
            <a:r>
              <a:rPr lang="en-US" altLang="en-US" sz="2400" dirty="0">
                <a:cs typeface="Arial" charset="0"/>
              </a:rPr>
              <a:t>’s vertices</a:t>
            </a:r>
          </a:p>
          <a:p>
            <a:pPr>
              <a:defRPr/>
            </a:pPr>
            <a:r>
              <a:rPr lang="en-US" altLang="ko-KR" sz="2800" b="1" dirty="0">
                <a:solidFill>
                  <a:srgbClr val="000000"/>
                </a:solidFill>
                <a:latin typeface="Arial"/>
              </a:rPr>
              <a:t>Minimum spanning tree </a:t>
            </a:r>
            <a:r>
              <a:rPr lang="en-US" altLang="ko-KR" sz="2700" dirty="0">
                <a:solidFill>
                  <a:srgbClr val="000000"/>
                </a:solidFill>
                <a:latin typeface="Arial"/>
              </a:rPr>
              <a:t>of a weighted undirected connected graph </a:t>
            </a:r>
            <a:r>
              <a:rPr lang="en-US" altLang="ko-KR" sz="2700" i="1" dirty="0">
                <a:solidFill>
                  <a:srgbClr val="000000"/>
                </a:solidFill>
                <a:latin typeface="Times New Roman" panose="02020603050405020304" pitchFamily="18" charset="0"/>
                <a:cs typeface="Times New Roman" panose="02020603050405020304" pitchFamily="18" charset="0"/>
              </a:rPr>
              <a:t>G</a:t>
            </a:r>
          </a:p>
          <a:p>
            <a:pPr lvl="1">
              <a:defRPr/>
            </a:pPr>
            <a:r>
              <a:rPr lang="en-US" altLang="ko-KR" sz="2400" dirty="0">
                <a:cs typeface="Arial" charset="0"/>
              </a:rPr>
              <a:t>spanning tree of </a:t>
            </a:r>
            <a:r>
              <a:rPr lang="en-US" altLang="ko-KR" sz="2400" i="1" dirty="0">
                <a:latin typeface="Times New Roman" panose="02020603050405020304" pitchFamily="18" charset="0"/>
                <a:cs typeface="Times New Roman" panose="02020603050405020304" pitchFamily="18" charset="0"/>
              </a:rPr>
              <a:t>G</a:t>
            </a:r>
            <a:r>
              <a:rPr lang="en-US" altLang="ko-KR" sz="2400" dirty="0">
                <a:cs typeface="Arial" charset="0"/>
              </a:rPr>
              <a:t> of the minimum total weight</a:t>
            </a:r>
          </a:p>
          <a:p>
            <a:pPr lvl="1">
              <a:buClr>
                <a:srgbClr val="FF6600"/>
              </a:buClr>
              <a:tabLst>
                <a:tab pos="465671" algn="l"/>
              </a:tabLst>
              <a:defRPr/>
            </a:pPr>
            <a:endParaRPr lang="en-US" altLang="en-US" sz="2400" dirty="0">
              <a:cs typeface="Arial" charset="0"/>
            </a:endParaRPr>
          </a:p>
        </p:txBody>
      </p:sp>
      <p:grpSp>
        <p:nvGrpSpPr>
          <p:cNvPr id="20" name="Group 19">
            <a:extLst>
              <a:ext uri="{FF2B5EF4-FFF2-40B4-BE49-F238E27FC236}">
                <a16:creationId xmlns:a16="http://schemas.microsoft.com/office/drawing/2014/main" id="{B2331BDC-ECBA-5103-197F-A16E5302E2BC}"/>
              </a:ext>
            </a:extLst>
          </p:cNvPr>
          <p:cNvGrpSpPr>
            <a:grpSpLocks/>
          </p:cNvGrpSpPr>
          <p:nvPr/>
        </p:nvGrpSpPr>
        <p:grpSpPr bwMode="auto">
          <a:xfrm>
            <a:off x="2286000" y="3808413"/>
            <a:ext cx="2286000" cy="2271712"/>
            <a:chOff x="624" y="2697"/>
            <a:chExt cx="1440" cy="1431"/>
          </a:xfrm>
        </p:grpSpPr>
        <p:sp>
          <p:nvSpPr>
            <p:cNvPr id="21" name="Oval 4">
              <a:extLst>
                <a:ext uri="{FF2B5EF4-FFF2-40B4-BE49-F238E27FC236}">
                  <a16:creationId xmlns:a16="http://schemas.microsoft.com/office/drawing/2014/main" id="{03F02C95-679F-AF18-BCC7-ED5AF1F9EC8C}"/>
                </a:ext>
              </a:extLst>
            </p:cNvPr>
            <p:cNvSpPr>
              <a:spLocks noChangeArrowheads="1"/>
            </p:cNvSpPr>
            <p:nvPr/>
          </p:nvSpPr>
          <p:spPr bwMode="auto">
            <a:xfrm>
              <a:off x="1488" y="2736"/>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chemeClr val="tx1"/>
                  </a:solidFill>
                  <a:ea typeface="굴림" pitchFamily="34" charset="-127"/>
                </a:rPr>
                <a:t>c</a:t>
              </a:r>
            </a:p>
          </p:txBody>
        </p:sp>
        <p:sp>
          <p:nvSpPr>
            <p:cNvPr id="22" name="Oval 5">
              <a:extLst>
                <a:ext uri="{FF2B5EF4-FFF2-40B4-BE49-F238E27FC236}">
                  <a16:creationId xmlns:a16="http://schemas.microsoft.com/office/drawing/2014/main" id="{1E07349E-C879-695B-AF38-2D702E98AE32}"/>
                </a:ext>
              </a:extLst>
            </p:cNvPr>
            <p:cNvSpPr>
              <a:spLocks noChangeArrowheads="1"/>
            </p:cNvSpPr>
            <p:nvPr/>
          </p:nvSpPr>
          <p:spPr bwMode="auto">
            <a:xfrm>
              <a:off x="1872" y="3744"/>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chemeClr val="tx1"/>
                  </a:solidFill>
                  <a:ea typeface="굴림" pitchFamily="34" charset="-127"/>
                </a:rPr>
                <a:t>d</a:t>
              </a:r>
            </a:p>
          </p:txBody>
        </p:sp>
        <p:sp>
          <p:nvSpPr>
            <p:cNvPr id="23" name="Oval 6">
              <a:extLst>
                <a:ext uri="{FF2B5EF4-FFF2-40B4-BE49-F238E27FC236}">
                  <a16:creationId xmlns:a16="http://schemas.microsoft.com/office/drawing/2014/main" id="{9C5E3FE4-567F-01C5-A603-8D4327C3B4DF}"/>
                </a:ext>
              </a:extLst>
            </p:cNvPr>
            <p:cNvSpPr>
              <a:spLocks noChangeArrowheads="1"/>
            </p:cNvSpPr>
            <p:nvPr/>
          </p:nvSpPr>
          <p:spPr bwMode="auto">
            <a:xfrm>
              <a:off x="816" y="3840"/>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chemeClr val="tx1"/>
                  </a:solidFill>
                  <a:ea typeface="굴림" pitchFamily="34" charset="-127"/>
                </a:rPr>
                <a:t>b</a:t>
              </a:r>
            </a:p>
          </p:txBody>
        </p:sp>
        <p:sp>
          <p:nvSpPr>
            <p:cNvPr id="24" name="Oval 7">
              <a:extLst>
                <a:ext uri="{FF2B5EF4-FFF2-40B4-BE49-F238E27FC236}">
                  <a16:creationId xmlns:a16="http://schemas.microsoft.com/office/drawing/2014/main" id="{0D1FA671-D0EF-F3EF-7744-C42121A103EC}"/>
                </a:ext>
              </a:extLst>
            </p:cNvPr>
            <p:cNvSpPr>
              <a:spLocks noChangeArrowheads="1"/>
            </p:cNvSpPr>
            <p:nvPr/>
          </p:nvSpPr>
          <p:spPr bwMode="auto">
            <a:xfrm>
              <a:off x="672" y="2976"/>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chemeClr val="tx1"/>
                  </a:solidFill>
                  <a:ea typeface="굴림" pitchFamily="34" charset="-127"/>
                </a:rPr>
                <a:t>a</a:t>
              </a:r>
            </a:p>
          </p:txBody>
        </p:sp>
        <p:sp>
          <p:nvSpPr>
            <p:cNvPr id="25" name="Line 8">
              <a:extLst>
                <a:ext uri="{FF2B5EF4-FFF2-40B4-BE49-F238E27FC236}">
                  <a16:creationId xmlns:a16="http://schemas.microsoft.com/office/drawing/2014/main" id="{DA549293-D897-7D8C-048B-5B403F2AF61A}"/>
                </a:ext>
              </a:extLst>
            </p:cNvPr>
            <p:cNvSpPr>
              <a:spLocks noChangeShapeType="1"/>
            </p:cNvSpPr>
            <p:nvPr/>
          </p:nvSpPr>
          <p:spPr bwMode="auto">
            <a:xfrm flipV="1">
              <a:off x="864" y="2880"/>
              <a:ext cx="62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26" name="Line 9">
              <a:extLst>
                <a:ext uri="{FF2B5EF4-FFF2-40B4-BE49-F238E27FC236}">
                  <a16:creationId xmlns:a16="http://schemas.microsoft.com/office/drawing/2014/main" id="{06B890BE-C6A3-A173-5A48-FEDB720E5C0B}"/>
                </a:ext>
              </a:extLst>
            </p:cNvPr>
            <p:cNvSpPr>
              <a:spLocks noChangeShapeType="1"/>
            </p:cNvSpPr>
            <p:nvPr/>
          </p:nvSpPr>
          <p:spPr bwMode="auto">
            <a:xfrm flipH="1" flipV="1">
              <a:off x="768" y="3168"/>
              <a:ext cx="96"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27" name="Line 10">
              <a:extLst>
                <a:ext uri="{FF2B5EF4-FFF2-40B4-BE49-F238E27FC236}">
                  <a16:creationId xmlns:a16="http://schemas.microsoft.com/office/drawing/2014/main" id="{883D168A-AF00-A53C-4EA3-C5CFB0BCE3AE}"/>
                </a:ext>
              </a:extLst>
            </p:cNvPr>
            <p:cNvSpPr>
              <a:spLocks noChangeShapeType="1"/>
            </p:cNvSpPr>
            <p:nvPr/>
          </p:nvSpPr>
          <p:spPr bwMode="auto">
            <a:xfrm flipV="1">
              <a:off x="912" y="2928"/>
              <a:ext cx="624"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28" name="Text Box 11">
              <a:extLst>
                <a:ext uri="{FF2B5EF4-FFF2-40B4-BE49-F238E27FC236}">
                  <a16:creationId xmlns:a16="http://schemas.microsoft.com/office/drawing/2014/main" id="{EF29ADA9-EDBB-79DB-828B-7FA3AF5D6C7A}"/>
                </a:ext>
              </a:extLst>
            </p:cNvPr>
            <p:cNvSpPr txBox="1">
              <a:spLocks noChangeArrowheads="1"/>
            </p:cNvSpPr>
            <p:nvPr/>
          </p:nvSpPr>
          <p:spPr bwMode="auto">
            <a:xfrm>
              <a:off x="1046" y="269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chemeClr val="tx1"/>
                  </a:solidFill>
                  <a:ea typeface="굴림" pitchFamily="34" charset="-127"/>
                </a:rPr>
                <a:t>6</a:t>
              </a:r>
            </a:p>
          </p:txBody>
        </p:sp>
        <p:sp>
          <p:nvSpPr>
            <p:cNvPr id="29" name="Text Box 12">
              <a:extLst>
                <a:ext uri="{FF2B5EF4-FFF2-40B4-BE49-F238E27FC236}">
                  <a16:creationId xmlns:a16="http://schemas.microsoft.com/office/drawing/2014/main" id="{2BEFC3AE-A481-BE4E-E3CE-50A0A70D832F}"/>
                </a:ext>
              </a:extLst>
            </p:cNvPr>
            <p:cNvSpPr txBox="1">
              <a:spLocks noChangeArrowheads="1"/>
            </p:cNvSpPr>
            <p:nvPr/>
          </p:nvSpPr>
          <p:spPr bwMode="auto">
            <a:xfrm>
              <a:off x="624" y="339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chemeClr val="tx1"/>
                  </a:solidFill>
                  <a:ea typeface="굴림" pitchFamily="34" charset="-127"/>
                </a:rPr>
                <a:t>2</a:t>
              </a:r>
            </a:p>
          </p:txBody>
        </p:sp>
        <p:sp>
          <p:nvSpPr>
            <p:cNvPr id="30" name="Text Box 13">
              <a:extLst>
                <a:ext uri="{FF2B5EF4-FFF2-40B4-BE49-F238E27FC236}">
                  <a16:creationId xmlns:a16="http://schemas.microsoft.com/office/drawing/2014/main" id="{084DCED3-A821-01C5-4707-3B59754A574A}"/>
                </a:ext>
              </a:extLst>
            </p:cNvPr>
            <p:cNvSpPr txBox="1">
              <a:spLocks noChangeArrowheads="1"/>
            </p:cNvSpPr>
            <p:nvPr/>
          </p:nvSpPr>
          <p:spPr bwMode="auto">
            <a:xfrm>
              <a:off x="1104" y="315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chemeClr val="tx1"/>
                  </a:solidFill>
                  <a:ea typeface="굴림" pitchFamily="34" charset="-127"/>
                </a:rPr>
                <a:t>4</a:t>
              </a:r>
            </a:p>
          </p:txBody>
        </p:sp>
        <p:sp>
          <p:nvSpPr>
            <p:cNvPr id="31" name="Text Box 14">
              <a:extLst>
                <a:ext uri="{FF2B5EF4-FFF2-40B4-BE49-F238E27FC236}">
                  <a16:creationId xmlns:a16="http://schemas.microsoft.com/office/drawing/2014/main" id="{009EDCB5-2BF1-BF23-97CA-40807286D52C}"/>
                </a:ext>
              </a:extLst>
            </p:cNvPr>
            <p:cNvSpPr txBox="1">
              <a:spLocks noChangeArrowheads="1"/>
            </p:cNvSpPr>
            <p:nvPr/>
          </p:nvSpPr>
          <p:spPr bwMode="auto">
            <a:xfrm>
              <a:off x="1344" y="3408"/>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endParaRPr kumimoji="0" lang="ko-KR" altLang="ko-KR" sz="1800" b="0">
                <a:solidFill>
                  <a:schemeClr val="tx1"/>
                </a:solidFill>
                <a:ea typeface="굴림" pitchFamily="34" charset="-127"/>
              </a:endParaRPr>
            </a:p>
          </p:txBody>
        </p:sp>
        <p:sp>
          <p:nvSpPr>
            <p:cNvPr id="32" name="Text Box 15">
              <a:extLst>
                <a:ext uri="{FF2B5EF4-FFF2-40B4-BE49-F238E27FC236}">
                  <a16:creationId xmlns:a16="http://schemas.microsoft.com/office/drawing/2014/main" id="{DD5B8872-5D78-89DB-212B-B884AA5D0BCF}"/>
                </a:ext>
              </a:extLst>
            </p:cNvPr>
            <p:cNvSpPr txBox="1">
              <a:spLocks noChangeArrowheads="1"/>
            </p:cNvSpPr>
            <p:nvPr/>
          </p:nvSpPr>
          <p:spPr bwMode="auto">
            <a:xfrm>
              <a:off x="1344" y="3878"/>
              <a:ext cx="1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dirty="0">
                  <a:solidFill>
                    <a:schemeClr val="tx1"/>
                  </a:solidFill>
                  <a:ea typeface="굴림" pitchFamily="34" charset="-127"/>
                </a:rPr>
                <a:t>3</a:t>
              </a:r>
            </a:p>
          </p:txBody>
        </p:sp>
        <p:sp>
          <p:nvSpPr>
            <p:cNvPr id="33" name="Line 16">
              <a:extLst>
                <a:ext uri="{FF2B5EF4-FFF2-40B4-BE49-F238E27FC236}">
                  <a16:creationId xmlns:a16="http://schemas.microsoft.com/office/drawing/2014/main" id="{92A2CC1C-D58C-2A52-9881-995E872EDBF4}"/>
                </a:ext>
              </a:extLst>
            </p:cNvPr>
            <p:cNvSpPr>
              <a:spLocks noChangeShapeType="1"/>
            </p:cNvSpPr>
            <p:nvPr/>
          </p:nvSpPr>
          <p:spPr bwMode="auto">
            <a:xfrm flipV="1">
              <a:off x="1008" y="3864"/>
              <a:ext cx="864" cy="4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34" name="Line 17">
              <a:extLst>
                <a:ext uri="{FF2B5EF4-FFF2-40B4-BE49-F238E27FC236}">
                  <a16:creationId xmlns:a16="http://schemas.microsoft.com/office/drawing/2014/main" id="{AC9DF30C-561E-933D-D727-2988DF80C814}"/>
                </a:ext>
              </a:extLst>
            </p:cNvPr>
            <p:cNvSpPr>
              <a:spLocks noChangeShapeType="1"/>
            </p:cNvSpPr>
            <p:nvPr/>
          </p:nvSpPr>
          <p:spPr bwMode="auto">
            <a:xfrm flipH="1" flipV="1">
              <a:off x="1632" y="2928"/>
              <a:ext cx="336"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35" name="Text Box 18">
              <a:extLst>
                <a:ext uri="{FF2B5EF4-FFF2-40B4-BE49-F238E27FC236}">
                  <a16:creationId xmlns:a16="http://schemas.microsoft.com/office/drawing/2014/main" id="{DF212479-F3A4-765D-6B39-6D27AA3F7764}"/>
                </a:ext>
              </a:extLst>
            </p:cNvPr>
            <p:cNvSpPr txBox="1">
              <a:spLocks noChangeArrowheads="1"/>
            </p:cNvSpPr>
            <p:nvPr/>
          </p:nvSpPr>
          <p:spPr bwMode="auto">
            <a:xfrm>
              <a:off x="1776" y="3105"/>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chemeClr val="tx1"/>
                  </a:solidFill>
                  <a:ea typeface="굴림" pitchFamily="34" charset="-127"/>
                </a:rPr>
                <a:t>1</a:t>
              </a:r>
            </a:p>
          </p:txBody>
        </p:sp>
      </p:grpSp>
      <p:grpSp>
        <p:nvGrpSpPr>
          <p:cNvPr id="36" name="Group 235">
            <a:extLst>
              <a:ext uri="{FF2B5EF4-FFF2-40B4-BE49-F238E27FC236}">
                <a16:creationId xmlns:a16="http://schemas.microsoft.com/office/drawing/2014/main" id="{9BB7F281-F810-F815-B7AA-6A322BE49C35}"/>
              </a:ext>
            </a:extLst>
          </p:cNvPr>
          <p:cNvGrpSpPr>
            <a:grpSpLocks/>
          </p:cNvGrpSpPr>
          <p:nvPr/>
        </p:nvGrpSpPr>
        <p:grpSpPr bwMode="auto">
          <a:xfrm>
            <a:off x="7543800" y="3856039"/>
            <a:ext cx="2286000" cy="2224088"/>
            <a:chOff x="3936" y="2727"/>
            <a:chExt cx="1440" cy="1401"/>
          </a:xfrm>
        </p:grpSpPr>
        <p:sp>
          <p:nvSpPr>
            <p:cNvPr id="37" name="Oval 218">
              <a:extLst>
                <a:ext uri="{FF2B5EF4-FFF2-40B4-BE49-F238E27FC236}">
                  <a16:creationId xmlns:a16="http://schemas.microsoft.com/office/drawing/2014/main" id="{C48D4564-F1B5-D321-6740-F7FA559E950A}"/>
                </a:ext>
              </a:extLst>
            </p:cNvPr>
            <p:cNvSpPr>
              <a:spLocks noChangeArrowheads="1"/>
            </p:cNvSpPr>
            <p:nvPr/>
          </p:nvSpPr>
          <p:spPr bwMode="auto">
            <a:xfrm>
              <a:off x="4800" y="2727"/>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chemeClr val="tx1"/>
                  </a:solidFill>
                  <a:ea typeface="굴림" pitchFamily="34" charset="-127"/>
                </a:rPr>
                <a:t>c</a:t>
              </a:r>
            </a:p>
          </p:txBody>
        </p:sp>
        <p:sp>
          <p:nvSpPr>
            <p:cNvPr id="38" name="Oval 219">
              <a:extLst>
                <a:ext uri="{FF2B5EF4-FFF2-40B4-BE49-F238E27FC236}">
                  <a16:creationId xmlns:a16="http://schemas.microsoft.com/office/drawing/2014/main" id="{BCC31571-6B9A-91A0-5A2A-A7FF8F2AA161}"/>
                </a:ext>
              </a:extLst>
            </p:cNvPr>
            <p:cNvSpPr>
              <a:spLocks noChangeArrowheads="1"/>
            </p:cNvSpPr>
            <p:nvPr/>
          </p:nvSpPr>
          <p:spPr bwMode="auto">
            <a:xfrm>
              <a:off x="5184" y="3735"/>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chemeClr val="tx1"/>
                  </a:solidFill>
                  <a:ea typeface="굴림" pitchFamily="34" charset="-127"/>
                </a:rPr>
                <a:t>d</a:t>
              </a:r>
            </a:p>
          </p:txBody>
        </p:sp>
        <p:sp>
          <p:nvSpPr>
            <p:cNvPr id="39" name="Oval 220">
              <a:extLst>
                <a:ext uri="{FF2B5EF4-FFF2-40B4-BE49-F238E27FC236}">
                  <a16:creationId xmlns:a16="http://schemas.microsoft.com/office/drawing/2014/main" id="{34E04667-689F-655D-CEF6-5019B202CD92}"/>
                </a:ext>
              </a:extLst>
            </p:cNvPr>
            <p:cNvSpPr>
              <a:spLocks noChangeArrowheads="1"/>
            </p:cNvSpPr>
            <p:nvPr/>
          </p:nvSpPr>
          <p:spPr bwMode="auto">
            <a:xfrm>
              <a:off x="4128" y="3831"/>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chemeClr val="tx1"/>
                  </a:solidFill>
                  <a:ea typeface="굴림" pitchFamily="34" charset="-127"/>
                </a:rPr>
                <a:t>b</a:t>
              </a:r>
            </a:p>
          </p:txBody>
        </p:sp>
        <p:sp>
          <p:nvSpPr>
            <p:cNvPr id="40" name="Oval 221">
              <a:extLst>
                <a:ext uri="{FF2B5EF4-FFF2-40B4-BE49-F238E27FC236}">
                  <a16:creationId xmlns:a16="http://schemas.microsoft.com/office/drawing/2014/main" id="{83028B6A-D124-399E-C1D7-37222140F865}"/>
                </a:ext>
              </a:extLst>
            </p:cNvPr>
            <p:cNvSpPr>
              <a:spLocks noChangeArrowheads="1"/>
            </p:cNvSpPr>
            <p:nvPr/>
          </p:nvSpPr>
          <p:spPr bwMode="auto">
            <a:xfrm>
              <a:off x="3984" y="2967"/>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chemeClr val="tx1"/>
                  </a:solidFill>
                  <a:ea typeface="굴림" pitchFamily="34" charset="-127"/>
                </a:rPr>
                <a:t>a</a:t>
              </a:r>
            </a:p>
          </p:txBody>
        </p:sp>
        <p:sp>
          <p:nvSpPr>
            <p:cNvPr id="41" name="Line 223">
              <a:extLst>
                <a:ext uri="{FF2B5EF4-FFF2-40B4-BE49-F238E27FC236}">
                  <a16:creationId xmlns:a16="http://schemas.microsoft.com/office/drawing/2014/main" id="{3A9A0C80-5A05-4437-4EC4-6627E79F6571}"/>
                </a:ext>
              </a:extLst>
            </p:cNvPr>
            <p:cNvSpPr>
              <a:spLocks noChangeShapeType="1"/>
            </p:cNvSpPr>
            <p:nvPr/>
          </p:nvSpPr>
          <p:spPr bwMode="auto">
            <a:xfrm flipH="1" flipV="1">
              <a:off x="4080" y="3159"/>
              <a:ext cx="96"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42" name="Text Box 226">
              <a:extLst>
                <a:ext uri="{FF2B5EF4-FFF2-40B4-BE49-F238E27FC236}">
                  <a16:creationId xmlns:a16="http://schemas.microsoft.com/office/drawing/2014/main" id="{D235D3FC-3FD7-A53C-5F90-B8C7BB273A77}"/>
                </a:ext>
              </a:extLst>
            </p:cNvPr>
            <p:cNvSpPr txBox="1">
              <a:spLocks noChangeArrowheads="1"/>
            </p:cNvSpPr>
            <p:nvPr/>
          </p:nvSpPr>
          <p:spPr bwMode="auto">
            <a:xfrm>
              <a:off x="3936" y="338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chemeClr val="tx1"/>
                  </a:solidFill>
                  <a:ea typeface="굴림" pitchFamily="34" charset="-127"/>
                </a:rPr>
                <a:t>2</a:t>
              </a:r>
            </a:p>
          </p:txBody>
        </p:sp>
        <p:sp>
          <p:nvSpPr>
            <p:cNvPr id="43" name="Text Box 228">
              <a:extLst>
                <a:ext uri="{FF2B5EF4-FFF2-40B4-BE49-F238E27FC236}">
                  <a16:creationId xmlns:a16="http://schemas.microsoft.com/office/drawing/2014/main" id="{A5C3C479-D910-D3C2-E8CA-A57DEB2F7A31}"/>
                </a:ext>
              </a:extLst>
            </p:cNvPr>
            <p:cNvSpPr txBox="1">
              <a:spLocks noChangeArrowheads="1"/>
            </p:cNvSpPr>
            <p:nvPr/>
          </p:nvSpPr>
          <p:spPr bwMode="auto">
            <a:xfrm>
              <a:off x="4656" y="3399"/>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endParaRPr kumimoji="0" lang="ko-KR" altLang="ko-KR" sz="1800" b="0">
                <a:solidFill>
                  <a:schemeClr val="tx1"/>
                </a:solidFill>
                <a:ea typeface="굴림" pitchFamily="34" charset="-127"/>
              </a:endParaRPr>
            </a:p>
          </p:txBody>
        </p:sp>
        <p:sp>
          <p:nvSpPr>
            <p:cNvPr id="44" name="Text Box 229">
              <a:extLst>
                <a:ext uri="{FF2B5EF4-FFF2-40B4-BE49-F238E27FC236}">
                  <a16:creationId xmlns:a16="http://schemas.microsoft.com/office/drawing/2014/main" id="{EB2E9311-402C-107D-D0ED-56BEC46C13C5}"/>
                </a:ext>
              </a:extLst>
            </p:cNvPr>
            <p:cNvSpPr txBox="1">
              <a:spLocks noChangeArrowheads="1"/>
            </p:cNvSpPr>
            <p:nvPr/>
          </p:nvSpPr>
          <p:spPr bwMode="auto">
            <a:xfrm>
              <a:off x="4656" y="3878"/>
              <a:ext cx="1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dirty="0">
                  <a:solidFill>
                    <a:schemeClr val="tx1"/>
                  </a:solidFill>
                  <a:ea typeface="굴림" pitchFamily="34" charset="-127"/>
                </a:rPr>
                <a:t>3</a:t>
              </a:r>
            </a:p>
          </p:txBody>
        </p:sp>
        <p:sp>
          <p:nvSpPr>
            <p:cNvPr id="45" name="Line 230">
              <a:extLst>
                <a:ext uri="{FF2B5EF4-FFF2-40B4-BE49-F238E27FC236}">
                  <a16:creationId xmlns:a16="http://schemas.microsoft.com/office/drawing/2014/main" id="{EE4762A6-7F45-5D81-621A-565FEF275CB3}"/>
                </a:ext>
              </a:extLst>
            </p:cNvPr>
            <p:cNvSpPr>
              <a:spLocks noChangeShapeType="1"/>
            </p:cNvSpPr>
            <p:nvPr/>
          </p:nvSpPr>
          <p:spPr bwMode="auto">
            <a:xfrm flipV="1">
              <a:off x="4320" y="3855"/>
              <a:ext cx="864" cy="4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46" name="Line 231">
              <a:extLst>
                <a:ext uri="{FF2B5EF4-FFF2-40B4-BE49-F238E27FC236}">
                  <a16:creationId xmlns:a16="http://schemas.microsoft.com/office/drawing/2014/main" id="{883369DB-CBB6-CFFD-0EFC-DA8283EC218D}"/>
                </a:ext>
              </a:extLst>
            </p:cNvPr>
            <p:cNvSpPr>
              <a:spLocks noChangeShapeType="1"/>
            </p:cNvSpPr>
            <p:nvPr/>
          </p:nvSpPr>
          <p:spPr bwMode="auto">
            <a:xfrm flipH="1" flipV="1">
              <a:off x="4944" y="2919"/>
              <a:ext cx="336"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47" name="Text Box 232">
              <a:extLst>
                <a:ext uri="{FF2B5EF4-FFF2-40B4-BE49-F238E27FC236}">
                  <a16:creationId xmlns:a16="http://schemas.microsoft.com/office/drawing/2014/main" id="{3B8C2059-522D-1AE5-D086-06C4CA7DB081}"/>
                </a:ext>
              </a:extLst>
            </p:cNvPr>
            <p:cNvSpPr txBox="1">
              <a:spLocks noChangeArrowheads="1"/>
            </p:cNvSpPr>
            <p:nvPr/>
          </p:nvSpPr>
          <p:spPr bwMode="auto">
            <a:xfrm>
              <a:off x="5088" y="309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chemeClr val="tx1"/>
                  </a:solidFill>
                  <a:ea typeface="굴림" pitchFamily="34" charset="-127"/>
                </a:rPr>
                <a:t>1</a:t>
              </a:r>
            </a:p>
          </p:txBody>
        </p:sp>
      </p:grpSp>
      <p:grpSp>
        <p:nvGrpSpPr>
          <p:cNvPr id="48" name="Group 238">
            <a:extLst>
              <a:ext uri="{FF2B5EF4-FFF2-40B4-BE49-F238E27FC236}">
                <a16:creationId xmlns:a16="http://schemas.microsoft.com/office/drawing/2014/main" id="{7792BBF8-17AD-C9EB-BFD2-AD65A78622E8}"/>
              </a:ext>
            </a:extLst>
          </p:cNvPr>
          <p:cNvGrpSpPr>
            <a:grpSpLocks/>
          </p:cNvGrpSpPr>
          <p:nvPr/>
        </p:nvGrpSpPr>
        <p:grpSpPr bwMode="auto">
          <a:xfrm>
            <a:off x="4876800" y="3794125"/>
            <a:ext cx="2209800" cy="2119313"/>
            <a:chOff x="2256" y="2688"/>
            <a:chExt cx="1392" cy="1335"/>
          </a:xfrm>
        </p:grpSpPr>
        <p:sp>
          <p:nvSpPr>
            <p:cNvPr id="49" name="Oval 202">
              <a:extLst>
                <a:ext uri="{FF2B5EF4-FFF2-40B4-BE49-F238E27FC236}">
                  <a16:creationId xmlns:a16="http://schemas.microsoft.com/office/drawing/2014/main" id="{07C6611C-26E9-0537-338A-FEB4DF57C5E4}"/>
                </a:ext>
              </a:extLst>
            </p:cNvPr>
            <p:cNvSpPr>
              <a:spLocks noChangeArrowheads="1"/>
            </p:cNvSpPr>
            <p:nvPr/>
          </p:nvSpPr>
          <p:spPr bwMode="auto">
            <a:xfrm>
              <a:off x="3072" y="2727"/>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chemeClr val="tx1"/>
                  </a:solidFill>
                  <a:ea typeface="굴림" pitchFamily="34" charset="-127"/>
                </a:rPr>
                <a:t>c</a:t>
              </a:r>
            </a:p>
          </p:txBody>
        </p:sp>
        <p:sp>
          <p:nvSpPr>
            <p:cNvPr id="50" name="Oval 203">
              <a:extLst>
                <a:ext uri="{FF2B5EF4-FFF2-40B4-BE49-F238E27FC236}">
                  <a16:creationId xmlns:a16="http://schemas.microsoft.com/office/drawing/2014/main" id="{FB2389D5-88B9-C674-8251-08EF4C7D9E9A}"/>
                </a:ext>
              </a:extLst>
            </p:cNvPr>
            <p:cNvSpPr>
              <a:spLocks noChangeArrowheads="1"/>
            </p:cNvSpPr>
            <p:nvPr/>
          </p:nvSpPr>
          <p:spPr bwMode="auto">
            <a:xfrm>
              <a:off x="3456" y="3735"/>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chemeClr val="tx1"/>
                  </a:solidFill>
                  <a:ea typeface="굴림" pitchFamily="34" charset="-127"/>
                </a:rPr>
                <a:t>d</a:t>
              </a:r>
            </a:p>
          </p:txBody>
        </p:sp>
        <p:sp>
          <p:nvSpPr>
            <p:cNvPr id="51" name="Oval 204">
              <a:extLst>
                <a:ext uri="{FF2B5EF4-FFF2-40B4-BE49-F238E27FC236}">
                  <a16:creationId xmlns:a16="http://schemas.microsoft.com/office/drawing/2014/main" id="{BD7E6ACD-89E0-744D-FDB1-D6C953F9B95E}"/>
                </a:ext>
              </a:extLst>
            </p:cNvPr>
            <p:cNvSpPr>
              <a:spLocks noChangeArrowheads="1"/>
            </p:cNvSpPr>
            <p:nvPr/>
          </p:nvSpPr>
          <p:spPr bwMode="auto">
            <a:xfrm>
              <a:off x="2400" y="3831"/>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chemeClr val="tx1"/>
                  </a:solidFill>
                  <a:ea typeface="굴림" pitchFamily="34" charset="-127"/>
                </a:rPr>
                <a:t>b</a:t>
              </a:r>
            </a:p>
          </p:txBody>
        </p:sp>
        <p:sp>
          <p:nvSpPr>
            <p:cNvPr id="52" name="Oval 205">
              <a:extLst>
                <a:ext uri="{FF2B5EF4-FFF2-40B4-BE49-F238E27FC236}">
                  <a16:creationId xmlns:a16="http://schemas.microsoft.com/office/drawing/2014/main" id="{123CDD3F-6719-90A2-2708-7661EAE062B7}"/>
                </a:ext>
              </a:extLst>
            </p:cNvPr>
            <p:cNvSpPr>
              <a:spLocks noChangeArrowheads="1"/>
            </p:cNvSpPr>
            <p:nvPr/>
          </p:nvSpPr>
          <p:spPr bwMode="auto">
            <a:xfrm>
              <a:off x="2256" y="2967"/>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chemeClr val="tx1"/>
                  </a:solidFill>
                  <a:ea typeface="굴림" pitchFamily="34" charset="-127"/>
                </a:rPr>
                <a:t>a</a:t>
              </a:r>
            </a:p>
          </p:txBody>
        </p:sp>
        <p:sp>
          <p:nvSpPr>
            <p:cNvPr id="53" name="Line 206">
              <a:extLst>
                <a:ext uri="{FF2B5EF4-FFF2-40B4-BE49-F238E27FC236}">
                  <a16:creationId xmlns:a16="http://schemas.microsoft.com/office/drawing/2014/main" id="{0DB5FAB4-15BC-DF3A-ED79-8E530B15392A}"/>
                </a:ext>
              </a:extLst>
            </p:cNvPr>
            <p:cNvSpPr>
              <a:spLocks noChangeShapeType="1"/>
            </p:cNvSpPr>
            <p:nvPr/>
          </p:nvSpPr>
          <p:spPr bwMode="auto">
            <a:xfrm flipV="1">
              <a:off x="2448" y="2871"/>
              <a:ext cx="62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54" name="Text Box 209">
              <a:extLst>
                <a:ext uri="{FF2B5EF4-FFF2-40B4-BE49-F238E27FC236}">
                  <a16:creationId xmlns:a16="http://schemas.microsoft.com/office/drawing/2014/main" id="{70B2E3BB-6BFC-69A6-80D5-C10237A634A3}"/>
                </a:ext>
              </a:extLst>
            </p:cNvPr>
            <p:cNvSpPr txBox="1">
              <a:spLocks noChangeArrowheads="1"/>
            </p:cNvSpPr>
            <p:nvPr/>
          </p:nvSpPr>
          <p:spPr bwMode="auto">
            <a:xfrm>
              <a:off x="2630" y="2688"/>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chemeClr val="tx1"/>
                  </a:solidFill>
                  <a:ea typeface="굴림" pitchFamily="34" charset="-127"/>
                </a:rPr>
                <a:t>6</a:t>
              </a:r>
            </a:p>
          </p:txBody>
        </p:sp>
        <p:sp>
          <p:nvSpPr>
            <p:cNvPr id="55" name="Text Box 210">
              <a:extLst>
                <a:ext uri="{FF2B5EF4-FFF2-40B4-BE49-F238E27FC236}">
                  <a16:creationId xmlns:a16="http://schemas.microsoft.com/office/drawing/2014/main" id="{FF9168AE-A812-62B5-883C-E505F42B33D0}"/>
                </a:ext>
              </a:extLst>
            </p:cNvPr>
            <p:cNvSpPr txBox="1">
              <a:spLocks noChangeArrowheads="1"/>
            </p:cNvSpPr>
            <p:nvPr/>
          </p:nvSpPr>
          <p:spPr bwMode="auto">
            <a:xfrm>
              <a:off x="2684" y="3158"/>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chemeClr val="tx1"/>
                  </a:solidFill>
                  <a:ea typeface="굴림" pitchFamily="34" charset="-127"/>
                </a:rPr>
                <a:t>4</a:t>
              </a:r>
            </a:p>
          </p:txBody>
        </p:sp>
        <p:sp>
          <p:nvSpPr>
            <p:cNvPr id="56" name="Text Box 212">
              <a:extLst>
                <a:ext uri="{FF2B5EF4-FFF2-40B4-BE49-F238E27FC236}">
                  <a16:creationId xmlns:a16="http://schemas.microsoft.com/office/drawing/2014/main" id="{E7AB77F1-F594-2DED-396C-93D970F42032}"/>
                </a:ext>
              </a:extLst>
            </p:cNvPr>
            <p:cNvSpPr txBox="1">
              <a:spLocks noChangeArrowheads="1"/>
            </p:cNvSpPr>
            <p:nvPr/>
          </p:nvSpPr>
          <p:spPr bwMode="auto">
            <a:xfrm>
              <a:off x="2928" y="3399"/>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endParaRPr kumimoji="0" lang="ko-KR" altLang="ko-KR" sz="1800" b="0">
                <a:solidFill>
                  <a:schemeClr val="tx1"/>
                </a:solidFill>
                <a:ea typeface="굴림" pitchFamily="34" charset="-127"/>
              </a:endParaRPr>
            </a:p>
          </p:txBody>
        </p:sp>
        <p:sp>
          <p:nvSpPr>
            <p:cNvPr id="57" name="Line 215">
              <a:extLst>
                <a:ext uri="{FF2B5EF4-FFF2-40B4-BE49-F238E27FC236}">
                  <a16:creationId xmlns:a16="http://schemas.microsoft.com/office/drawing/2014/main" id="{D8063E7B-7481-BB7F-8157-165C6AB2D51D}"/>
                </a:ext>
              </a:extLst>
            </p:cNvPr>
            <p:cNvSpPr>
              <a:spLocks noChangeShapeType="1"/>
            </p:cNvSpPr>
            <p:nvPr/>
          </p:nvSpPr>
          <p:spPr bwMode="auto">
            <a:xfrm flipH="1" flipV="1">
              <a:off x="3216" y="2919"/>
              <a:ext cx="336"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58" name="Text Box 216">
              <a:extLst>
                <a:ext uri="{FF2B5EF4-FFF2-40B4-BE49-F238E27FC236}">
                  <a16:creationId xmlns:a16="http://schemas.microsoft.com/office/drawing/2014/main" id="{4B6F4C01-C08B-2C43-97EE-5C69B252E385}"/>
                </a:ext>
              </a:extLst>
            </p:cNvPr>
            <p:cNvSpPr txBox="1">
              <a:spLocks noChangeArrowheads="1"/>
            </p:cNvSpPr>
            <p:nvPr/>
          </p:nvSpPr>
          <p:spPr bwMode="auto">
            <a:xfrm>
              <a:off x="3360" y="309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chemeClr val="tx1"/>
                  </a:solidFill>
                  <a:ea typeface="굴림" pitchFamily="34" charset="-127"/>
                </a:rPr>
                <a:t>1</a:t>
              </a:r>
            </a:p>
          </p:txBody>
        </p:sp>
        <p:cxnSp>
          <p:nvCxnSpPr>
            <p:cNvPr id="59" name="AutoShape 236">
              <a:extLst>
                <a:ext uri="{FF2B5EF4-FFF2-40B4-BE49-F238E27FC236}">
                  <a16:creationId xmlns:a16="http://schemas.microsoft.com/office/drawing/2014/main" id="{F6AAB841-2E9F-8894-5200-AA6D34B2505B}"/>
                </a:ext>
              </a:extLst>
            </p:cNvPr>
            <p:cNvCxnSpPr>
              <a:cxnSpLocks noChangeShapeType="1"/>
              <a:stCxn id="49" idx="3"/>
              <a:endCxn id="51" idx="7"/>
            </p:cNvCxnSpPr>
            <p:nvPr/>
          </p:nvCxnSpPr>
          <p:spPr bwMode="auto">
            <a:xfrm flipH="1">
              <a:off x="2564" y="2891"/>
              <a:ext cx="536" cy="968"/>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0" name="TextBox 47">
            <a:extLst>
              <a:ext uri="{FF2B5EF4-FFF2-40B4-BE49-F238E27FC236}">
                <a16:creationId xmlns:a16="http://schemas.microsoft.com/office/drawing/2014/main" id="{CF2E92DA-B32A-EFB2-80E7-EA48CBDCB1FF}"/>
              </a:ext>
            </a:extLst>
          </p:cNvPr>
          <p:cNvSpPr txBox="1">
            <a:spLocks noChangeArrowheads="1"/>
          </p:cNvSpPr>
          <p:nvPr/>
        </p:nvSpPr>
        <p:spPr bwMode="auto">
          <a:xfrm>
            <a:off x="5521325" y="3367087"/>
            <a:ext cx="378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chemeClr val="tx1"/>
                </a:solidFill>
                <a:ea typeface="굴림" pitchFamily="34" charset="-127"/>
              </a:rPr>
              <a:t>T2 and T3 are spanning trees of T1</a:t>
            </a:r>
            <a:endParaRPr kumimoji="0" lang="ko-KR" altLang="en-US" sz="2000" b="0">
              <a:solidFill>
                <a:schemeClr val="tx1"/>
              </a:solidFill>
              <a:ea typeface="굴림" pitchFamily="34" charset="-127"/>
            </a:endParaRPr>
          </a:p>
        </p:txBody>
      </p:sp>
    </p:spTree>
    <p:extLst>
      <p:ext uri="{BB962C8B-B14F-4D97-AF65-F5344CB8AC3E}">
        <p14:creationId xmlns:p14="http://schemas.microsoft.com/office/powerpoint/2010/main" val="2133288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500" fill="hold"/>
                                        <p:tgtEl>
                                          <p:spTgt spid="48"/>
                                        </p:tgtEl>
                                        <p:attrNameLst>
                                          <p:attrName>ppt_x</p:attrName>
                                        </p:attrNameLst>
                                      </p:cBhvr>
                                      <p:tavLst>
                                        <p:tav tm="0">
                                          <p:val>
                                            <p:strVal val="#ppt_x"/>
                                          </p:val>
                                        </p:tav>
                                        <p:tav tm="100000">
                                          <p:val>
                                            <p:strVal val="#ppt_x"/>
                                          </p:val>
                                        </p:tav>
                                      </p:tavLst>
                                    </p:anim>
                                    <p:anim calcmode="lin" valueType="num">
                                      <p:cBhvr additive="base">
                                        <p:cTn id="8"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anim calcmode="lin" valueType="num">
                                      <p:cBhvr additive="base">
                                        <p:cTn id="13" dur="500" fill="hold"/>
                                        <p:tgtEl>
                                          <p:spTgt spid="36"/>
                                        </p:tgtEl>
                                        <p:attrNameLst>
                                          <p:attrName>ppt_x</p:attrName>
                                        </p:attrNameLst>
                                      </p:cBhvr>
                                      <p:tavLst>
                                        <p:tav tm="0">
                                          <p:val>
                                            <p:strVal val="#ppt_x"/>
                                          </p:val>
                                        </p:tav>
                                        <p:tav tm="100000">
                                          <p:val>
                                            <p:strVal val="#ppt_x"/>
                                          </p:val>
                                        </p:tav>
                                      </p:tavLst>
                                    </p:anim>
                                    <p:anim calcmode="lin" valueType="num">
                                      <p:cBhvr additive="base">
                                        <p:cTn id="1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FFC000"/>
                </a:solidFill>
              </a:rPr>
              <a:t>Prim’s MST Algorithm</a:t>
            </a:r>
            <a:endParaRPr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555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kumimoji="0" lang="en-US" altLang="en-US" sz="2800" b="1" i="0" u="none" strike="noStrike" kern="1200" cap="none" spc="0" normalizeH="0" baseline="0" noProof="0" dirty="0">
                <a:ln>
                  <a:noFill/>
                </a:ln>
                <a:solidFill>
                  <a:srgbClr val="000000"/>
                </a:solidFill>
                <a:effectLst/>
                <a:uLnTx/>
                <a:uFillTx/>
                <a:latin typeface="Arial"/>
                <a:ea typeface="ＭＳ Ｐゴシック" charset="0"/>
                <a:cs typeface="+mn-cs"/>
              </a:rPr>
              <a:t>Prim’s algorithm </a:t>
            </a: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constructs a minimum spanning tree</a:t>
            </a:r>
          </a:p>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The idea of Prim’s algorithm is </a:t>
            </a:r>
          </a:p>
          <a:p>
            <a:pPr lvl="1">
              <a:defRPr/>
            </a:pPr>
            <a:r>
              <a:rPr lang="en-US" altLang="en-US" sz="2400" dirty="0">
                <a:cs typeface="Arial" charset="0"/>
              </a:rPr>
              <a:t>to start with a tree T formed of any single vertex </a:t>
            </a:r>
          </a:p>
          <a:p>
            <a:pPr lvl="1">
              <a:defRPr/>
            </a:pPr>
            <a:r>
              <a:rPr lang="en-US" altLang="en-US" sz="2400" dirty="0">
                <a:cs typeface="Arial" charset="0"/>
              </a:rPr>
              <a:t>and continuously attach to it a fringe vertex such that the edge connecting it to the tree has minimum weight among all candidates,</a:t>
            </a:r>
          </a:p>
          <a:p>
            <a:pPr lvl="1">
              <a:defRPr/>
            </a:pPr>
            <a:r>
              <a:rPr lang="en-US" altLang="en-US" sz="2400" dirty="0">
                <a:cs typeface="Arial" charset="0"/>
              </a:rPr>
              <a:t>until all vertices are exhausted </a:t>
            </a:r>
          </a:p>
          <a:p>
            <a:pPr lvl="1">
              <a:defRPr/>
            </a:pPr>
            <a:r>
              <a:rPr lang="en-US" altLang="en-US" sz="2400" dirty="0">
                <a:cs typeface="Arial" charset="0"/>
              </a:rPr>
              <a:t>you end up with a minimum spanning tree</a:t>
            </a:r>
          </a:p>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endPar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endParaRPr>
          </a:p>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It always ends up with a minimum spanning tree (a theorem with a relatively long proof </a:t>
            </a:r>
            <a:r>
              <a:rPr lang="en-US" sz="2800" b="0" dirty="0">
                <a:sym typeface="Wingdings" pitchFamily="2" charset="2"/>
              </a:rPr>
              <a:t></a:t>
            </a: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a:t>
            </a:r>
          </a:p>
        </p:txBody>
      </p:sp>
      <p:sp>
        <p:nvSpPr>
          <p:cNvPr id="4" name="Rectangle 3">
            <a:extLst>
              <a:ext uri="{FF2B5EF4-FFF2-40B4-BE49-F238E27FC236}">
                <a16:creationId xmlns:a16="http://schemas.microsoft.com/office/drawing/2014/main" id="{B008A09D-D61F-16B2-2C3F-5E586FDB02E9}"/>
              </a:ext>
            </a:extLst>
          </p:cNvPr>
          <p:cNvSpPr txBox="1">
            <a:spLocks noChangeArrowheads="1"/>
          </p:cNvSpPr>
          <p:nvPr/>
        </p:nvSpPr>
        <p:spPr bwMode="auto">
          <a:xfrm>
            <a:off x="7163568" y="3490690"/>
            <a:ext cx="4343400" cy="5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spcBef>
                <a:spcPct val="0"/>
              </a:spcBef>
              <a:buFont typeface="Monotype Sorts" pitchFamily="2" charset="2"/>
              <a:buNone/>
              <a:defRPr/>
            </a:pPr>
            <a:r>
              <a:rPr lang="en-US" altLang="ko-KR" sz="1600" b="1" dirty="0">
                <a:solidFill>
                  <a:srgbClr val="7030A0"/>
                </a:solidFill>
                <a:latin typeface="Arial" charset="0"/>
                <a:ea typeface="ＭＳ Ｐゴシック" pitchFamily="34" charset="-128"/>
              </a:rPr>
              <a:t>a fringe is a vertex that is not in the tree but adjacent to at least one tree vertex</a:t>
            </a:r>
          </a:p>
          <a:p>
            <a:pPr>
              <a:spcBef>
                <a:spcPct val="0"/>
              </a:spcBef>
              <a:buFont typeface="Monotype Sorts" pitchFamily="2" charset="2"/>
              <a:buNone/>
              <a:defRPr/>
            </a:pPr>
            <a:endParaRPr lang="en-US" altLang="ko-KR" sz="1600" b="1" dirty="0">
              <a:solidFill>
                <a:srgbClr val="7030A0"/>
              </a:solidFill>
              <a:latin typeface="Arial" charset="0"/>
              <a:ea typeface="ＭＳ Ｐゴシック" pitchFamily="34" charset="-128"/>
            </a:endParaRPr>
          </a:p>
        </p:txBody>
      </p:sp>
    </p:spTree>
    <p:extLst>
      <p:ext uri="{BB962C8B-B14F-4D97-AF65-F5344CB8AC3E}">
        <p14:creationId xmlns:p14="http://schemas.microsoft.com/office/powerpoint/2010/main" val="645338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Prim’s MST Algorithm,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2129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kumimoji="0" lang="en-US" altLang="en-US" sz="2800" i="0" u="none" strike="noStrike" kern="1200" cap="none" spc="0" normalizeH="0" baseline="0" noProof="0" dirty="0">
                <a:ln>
                  <a:noFill/>
                </a:ln>
                <a:solidFill>
                  <a:srgbClr val="000000"/>
                </a:solidFill>
                <a:effectLst/>
                <a:uLnTx/>
                <a:uFillTx/>
                <a:latin typeface="Arial"/>
                <a:ea typeface="ＭＳ Ｐゴシック" charset="0"/>
                <a:cs typeface="+mn-cs"/>
              </a:rPr>
              <a:t>In fact, Prim’s algorithm</a:t>
            </a: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 </a:t>
            </a:r>
          </a:p>
          <a:p>
            <a:pPr lvl="1">
              <a:defRPr/>
            </a:pPr>
            <a:r>
              <a:rPr lang="pt-BR" altLang="en-US" sz="2400" dirty="0">
                <a:cs typeface="Arial" charset="0"/>
              </a:rPr>
              <a:t>processes a sequence of expanding trees T</a:t>
            </a:r>
            <a:r>
              <a:rPr lang="pt-BR" altLang="en-US" sz="2400" baseline="-25000" dirty="0">
                <a:cs typeface="Arial" charset="0"/>
              </a:rPr>
              <a:t>1</a:t>
            </a:r>
            <a:r>
              <a:rPr lang="pt-BR" altLang="en-US" sz="2400" dirty="0">
                <a:cs typeface="Arial" charset="0"/>
              </a:rPr>
              <a:t>, T</a:t>
            </a:r>
            <a:r>
              <a:rPr lang="pt-BR" altLang="en-US" sz="2400" baseline="-25000" dirty="0">
                <a:cs typeface="Arial" charset="0"/>
              </a:rPr>
              <a:t>2</a:t>
            </a:r>
            <a:r>
              <a:rPr lang="pt-BR" altLang="en-US" sz="2400" dirty="0">
                <a:cs typeface="Arial" charset="0"/>
              </a:rPr>
              <a:t>, … , T</a:t>
            </a:r>
            <a:r>
              <a:rPr lang="pt-BR" altLang="en-US" sz="2400" i="1" baseline="-25000" dirty="0">
                <a:latin typeface="Times New Roman" panose="02020603050405020304" pitchFamily="18" charset="0"/>
                <a:cs typeface="Times New Roman" panose="02020603050405020304" pitchFamily="18" charset="0"/>
              </a:rPr>
              <a:t>i</a:t>
            </a:r>
            <a:r>
              <a:rPr lang="pt-BR" altLang="en-US" sz="2400" dirty="0">
                <a:cs typeface="Arial" charset="0"/>
              </a:rPr>
              <a:t>, … , T</a:t>
            </a:r>
            <a:r>
              <a:rPr lang="pt-BR" altLang="en-US" sz="2400" i="1" baseline="-25000" dirty="0">
                <a:latin typeface="Times New Roman" panose="02020603050405020304" pitchFamily="18" charset="0"/>
                <a:cs typeface="Times New Roman" panose="02020603050405020304" pitchFamily="18" charset="0"/>
              </a:rPr>
              <a:t>n</a:t>
            </a:r>
            <a:r>
              <a:rPr lang="pt-BR" altLang="en-US" sz="2400" dirty="0">
                <a:cs typeface="Arial" charset="0"/>
              </a:rPr>
              <a:t> </a:t>
            </a:r>
          </a:p>
          <a:p>
            <a:pPr lvl="1">
              <a:defRPr/>
            </a:pPr>
            <a:r>
              <a:rPr lang="en-US" altLang="en-US" sz="2400" dirty="0">
                <a:cs typeface="Arial" charset="0"/>
              </a:rPr>
              <a:t>such that on each iteration, it constructs T</a:t>
            </a:r>
            <a:r>
              <a:rPr lang="en-US" altLang="en-US" sz="2400" i="1" baseline="-25000" dirty="0">
                <a:latin typeface="Times New Roman" panose="02020603050405020304" pitchFamily="18" charset="0"/>
                <a:cs typeface="Times New Roman" panose="02020603050405020304" pitchFamily="18" charset="0"/>
              </a:rPr>
              <a:t>i</a:t>
            </a:r>
            <a:r>
              <a:rPr lang="en-US" altLang="en-US" sz="2400" baseline="-25000" dirty="0">
                <a:cs typeface="Arial" charset="0"/>
              </a:rPr>
              <a:t>+1</a:t>
            </a:r>
            <a:r>
              <a:rPr lang="en-US" altLang="en-US" sz="2400" dirty="0">
                <a:cs typeface="Arial" charset="0"/>
              </a:rPr>
              <a:t> from T</a:t>
            </a:r>
            <a:r>
              <a:rPr lang="en-US" altLang="en-US" sz="2400" i="1" baseline="-25000" dirty="0">
                <a:latin typeface="Times New Roman" panose="02020603050405020304" pitchFamily="18" charset="0"/>
                <a:cs typeface="Times New Roman" panose="02020603050405020304" pitchFamily="18" charset="0"/>
              </a:rPr>
              <a:t>i</a:t>
            </a:r>
            <a:r>
              <a:rPr lang="en-US" altLang="en-US" sz="2400" dirty="0">
                <a:cs typeface="Arial" charset="0"/>
              </a:rPr>
              <a:t>  </a:t>
            </a:r>
            <a:r>
              <a:rPr lang="en-US" altLang="en-US" sz="2400" u="sng" dirty="0">
                <a:cs typeface="Arial" charset="0"/>
              </a:rPr>
              <a:t>by adding a vertex not in T</a:t>
            </a:r>
            <a:r>
              <a:rPr lang="en-US" altLang="en-US" sz="2400" u="sng" baseline="-25000" dirty="0">
                <a:latin typeface="Times New Roman" panose="02020603050405020304" pitchFamily="18" charset="0"/>
                <a:cs typeface="Times New Roman" panose="02020603050405020304" pitchFamily="18" charset="0"/>
              </a:rPr>
              <a:t>i</a:t>
            </a:r>
            <a:r>
              <a:rPr lang="en-US" altLang="en-US" sz="2400" u="sng" dirty="0">
                <a:cs typeface="Arial" charset="0"/>
              </a:rPr>
              <a:t> and is closest to those already in T</a:t>
            </a:r>
            <a:r>
              <a:rPr lang="en-US" altLang="en-US" sz="2400" u="sng" baseline="-25000" dirty="0">
                <a:latin typeface="Times New Roman" panose="02020603050405020304" pitchFamily="18" charset="0"/>
                <a:cs typeface="Times New Roman" panose="02020603050405020304" pitchFamily="18" charset="0"/>
              </a:rPr>
              <a:t>i</a:t>
            </a:r>
            <a:r>
              <a:rPr lang="en-US" altLang="en-US" sz="2400" u="sng" dirty="0">
                <a:cs typeface="Arial" charset="0"/>
              </a:rPr>
              <a:t> </a:t>
            </a:r>
            <a:r>
              <a:rPr lang="en-US" altLang="en-US" sz="2400" dirty="0">
                <a:cs typeface="Arial" charset="0"/>
              </a:rPr>
              <a:t>(this is a “</a:t>
            </a:r>
            <a:r>
              <a:rPr lang="en-US" altLang="en-US" sz="2400" dirty="0">
                <a:highlight>
                  <a:srgbClr val="C0C0C0"/>
                </a:highlight>
                <a:cs typeface="Arial" charset="0"/>
              </a:rPr>
              <a:t>greedy</a:t>
            </a:r>
            <a:r>
              <a:rPr lang="en-US" altLang="en-US" sz="2400" dirty="0">
                <a:cs typeface="Arial" charset="0"/>
              </a:rPr>
              <a:t>” step!)</a:t>
            </a:r>
          </a:p>
          <a:p>
            <a:pPr lvl="1">
              <a:defRPr/>
            </a:pPr>
            <a:r>
              <a:rPr lang="en-US" altLang="en-US" sz="2400" dirty="0">
                <a:cs typeface="Arial" charset="0"/>
              </a:rPr>
              <a:t>and stops when all vertices are included</a:t>
            </a:r>
          </a:p>
        </p:txBody>
      </p:sp>
    </p:spTree>
    <p:extLst>
      <p:ext uri="{BB962C8B-B14F-4D97-AF65-F5344CB8AC3E}">
        <p14:creationId xmlns:p14="http://schemas.microsoft.com/office/powerpoint/2010/main" val="364217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Prim’s MST Algorithm, Contd.</a:t>
            </a:r>
            <a:endParaRPr sz="3800" b="1" spc="-18" dirty="0">
              <a:solidFill>
                <a:srgbClr val="0070C0"/>
              </a:solidFill>
            </a:endParaRPr>
          </a:p>
        </p:txBody>
      </p:sp>
      <p:sp>
        <p:nvSpPr>
          <p:cNvPr id="2" name="object 7">
            <a:extLst>
              <a:ext uri="{FF2B5EF4-FFF2-40B4-BE49-F238E27FC236}">
                <a16:creationId xmlns:a16="http://schemas.microsoft.com/office/drawing/2014/main" id="{D6BA1F22-AD79-9341-759B-5B35E01999CA}"/>
              </a:ext>
            </a:extLst>
          </p:cNvPr>
          <p:cNvSpPr txBox="1">
            <a:spLocks/>
          </p:cNvSpPr>
          <p:nvPr/>
        </p:nvSpPr>
        <p:spPr bwMode="auto">
          <a:xfrm>
            <a:off x="457200" y="1228384"/>
            <a:ext cx="114300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lang="en-US" altLang="en-US" sz="2800" b="1" dirty="0">
                <a:solidFill>
                  <a:srgbClr val="00B050"/>
                </a:solidFill>
                <a:latin typeface="Arial"/>
              </a:rPr>
              <a:t>Example</a:t>
            </a:r>
            <a:endParaRPr lang="en-US" altLang="en-US" sz="2400" dirty="0">
              <a:solidFill>
                <a:srgbClr val="00B050"/>
              </a:solidFill>
              <a:cs typeface="Arial" charset="0"/>
            </a:endParaRPr>
          </a:p>
        </p:txBody>
      </p:sp>
      <p:sp>
        <p:nvSpPr>
          <p:cNvPr id="8" name="Slide Number Placeholder 2">
            <a:extLst>
              <a:ext uri="{FF2B5EF4-FFF2-40B4-BE49-F238E27FC236}">
                <a16:creationId xmlns:a16="http://schemas.microsoft.com/office/drawing/2014/main" id="{57EED95D-C119-C3AE-214B-5B85CF149A19}"/>
              </a:ext>
            </a:extLst>
          </p:cNvPr>
          <p:cNvSpPr txBox="1">
            <a:spLocks/>
          </p:cNvSpPr>
          <p:nvPr/>
        </p:nvSpPr>
        <p:spPr>
          <a:xfrm>
            <a:off x="8737600" y="6356351"/>
            <a:ext cx="2844800" cy="365125"/>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pPr algn="r">
              <a:defRPr/>
            </a:pPr>
            <a:fld id="{C65781BD-3F4D-4CA7-A858-CE94DEA3B426}" type="slidenum">
              <a:rPr lang="en-US" smtClean="0">
                <a:solidFill>
                  <a:srgbClr val="000000"/>
                </a:solidFill>
              </a:rPr>
              <a:pPr algn="r">
                <a:defRPr/>
              </a:pPr>
              <a:t>8</a:t>
            </a:fld>
            <a:endParaRPr lang="en-US" dirty="0">
              <a:solidFill>
                <a:srgbClr val="000000"/>
              </a:solidFill>
            </a:endParaRPr>
          </a:p>
        </p:txBody>
      </p:sp>
      <p:grpSp>
        <p:nvGrpSpPr>
          <p:cNvPr id="3" name="Group 4">
            <a:extLst>
              <a:ext uri="{FF2B5EF4-FFF2-40B4-BE49-F238E27FC236}">
                <a16:creationId xmlns:a16="http://schemas.microsoft.com/office/drawing/2014/main" id="{8B12E962-E0E8-EEAF-DC03-A22BAF2F4889}"/>
              </a:ext>
            </a:extLst>
          </p:cNvPr>
          <p:cNvGrpSpPr>
            <a:grpSpLocks/>
          </p:cNvGrpSpPr>
          <p:nvPr/>
        </p:nvGrpSpPr>
        <p:grpSpPr bwMode="auto">
          <a:xfrm>
            <a:off x="2667000" y="1373186"/>
            <a:ext cx="2286000" cy="2211388"/>
            <a:chOff x="1440" y="2337"/>
            <a:chExt cx="1440" cy="1393"/>
          </a:xfrm>
        </p:grpSpPr>
        <p:sp>
          <p:nvSpPr>
            <p:cNvPr id="4" name="Oval 5">
              <a:extLst>
                <a:ext uri="{FF2B5EF4-FFF2-40B4-BE49-F238E27FC236}">
                  <a16:creationId xmlns:a16="http://schemas.microsoft.com/office/drawing/2014/main" id="{5F3A5CD0-A53B-D5CD-E152-39173E60FB1C}"/>
                </a:ext>
              </a:extLst>
            </p:cNvPr>
            <p:cNvSpPr>
              <a:spLocks noChangeArrowheads="1"/>
            </p:cNvSpPr>
            <p:nvPr/>
          </p:nvSpPr>
          <p:spPr bwMode="auto">
            <a:xfrm>
              <a:off x="2304" y="2376"/>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c</a:t>
              </a:r>
            </a:p>
          </p:txBody>
        </p:sp>
        <p:sp>
          <p:nvSpPr>
            <p:cNvPr id="5" name="Oval 6">
              <a:extLst>
                <a:ext uri="{FF2B5EF4-FFF2-40B4-BE49-F238E27FC236}">
                  <a16:creationId xmlns:a16="http://schemas.microsoft.com/office/drawing/2014/main" id="{4DD69FA6-3DEC-F604-D489-9343EFCE8240}"/>
                </a:ext>
              </a:extLst>
            </p:cNvPr>
            <p:cNvSpPr>
              <a:spLocks noChangeArrowheads="1"/>
            </p:cNvSpPr>
            <p:nvPr/>
          </p:nvSpPr>
          <p:spPr bwMode="auto">
            <a:xfrm>
              <a:off x="2688" y="3384"/>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d</a:t>
              </a:r>
            </a:p>
          </p:txBody>
        </p:sp>
        <p:sp>
          <p:nvSpPr>
            <p:cNvPr id="9" name="Oval 7">
              <a:extLst>
                <a:ext uri="{FF2B5EF4-FFF2-40B4-BE49-F238E27FC236}">
                  <a16:creationId xmlns:a16="http://schemas.microsoft.com/office/drawing/2014/main" id="{DCFC3E68-5E02-22E5-C8DB-48C9E265A637}"/>
                </a:ext>
              </a:extLst>
            </p:cNvPr>
            <p:cNvSpPr>
              <a:spLocks noChangeArrowheads="1"/>
            </p:cNvSpPr>
            <p:nvPr/>
          </p:nvSpPr>
          <p:spPr bwMode="auto">
            <a:xfrm>
              <a:off x="1632" y="3480"/>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b</a:t>
              </a:r>
            </a:p>
          </p:txBody>
        </p:sp>
        <p:sp>
          <p:nvSpPr>
            <p:cNvPr id="12" name="Oval 8">
              <a:extLst>
                <a:ext uri="{FF2B5EF4-FFF2-40B4-BE49-F238E27FC236}">
                  <a16:creationId xmlns:a16="http://schemas.microsoft.com/office/drawing/2014/main" id="{5F0E9D02-D331-E5BB-4707-5E1045AF2377}"/>
                </a:ext>
              </a:extLst>
            </p:cNvPr>
            <p:cNvSpPr>
              <a:spLocks noChangeArrowheads="1"/>
            </p:cNvSpPr>
            <p:nvPr/>
          </p:nvSpPr>
          <p:spPr bwMode="auto">
            <a:xfrm>
              <a:off x="1488" y="2616"/>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a</a:t>
              </a:r>
            </a:p>
          </p:txBody>
        </p:sp>
        <p:sp>
          <p:nvSpPr>
            <p:cNvPr id="13" name="Line 9">
              <a:extLst>
                <a:ext uri="{FF2B5EF4-FFF2-40B4-BE49-F238E27FC236}">
                  <a16:creationId xmlns:a16="http://schemas.microsoft.com/office/drawing/2014/main" id="{A59CDDFA-56ED-C405-9045-3A5AF0EB4C0A}"/>
                </a:ext>
              </a:extLst>
            </p:cNvPr>
            <p:cNvSpPr>
              <a:spLocks noChangeShapeType="1"/>
            </p:cNvSpPr>
            <p:nvPr/>
          </p:nvSpPr>
          <p:spPr bwMode="auto">
            <a:xfrm flipV="1">
              <a:off x="1680" y="2520"/>
              <a:ext cx="62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14" name="Line 10">
              <a:extLst>
                <a:ext uri="{FF2B5EF4-FFF2-40B4-BE49-F238E27FC236}">
                  <a16:creationId xmlns:a16="http://schemas.microsoft.com/office/drawing/2014/main" id="{82C2918E-59BF-0E4B-0E1C-6CD2E8886A0E}"/>
                </a:ext>
              </a:extLst>
            </p:cNvPr>
            <p:cNvSpPr>
              <a:spLocks noChangeShapeType="1"/>
            </p:cNvSpPr>
            <p:nvPr/>
          </p:nvSpPr>
          <p:spPr bwMode="auto">
            <a:xfrm flipH="1" flipV="1">
              <a:off x="1584" y="2808"/>
              <a:ext cx="96"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15" name="Line 11">
              <a:extLst>
                <a:ext uri="{FF2B5EF4-FFF2-40B4-BE49-F238E27FC236}">
                  <a16:creationId xmlns:a16="http://schemas.microsoft.com/office/drawing/2014/main" id="{C1957060-6CBC-BA33-FEFD-57DA1BE9F5C7}"/>
                </a:ext>
              </a:extLst>
            </p:cNvPr>
            <p:cNvSpPr>
              <a:spLocks noChangeShapeType="1"/>
            </p:cNvSpPr>
            <p:nvPr/>
          </p:nvSpPr>
          <p:spPr bwMode="auto">
            <a:xfrm flipV="1">
              <a:off x="1728" y="2568"/>
              <a:ext cx="624"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16" name="Line 12">
              <a:extLst>
                <a:ext uri="{FF2B5EF4-FFF2-40B4-BE49-F238E27FC236}">
                  <a16:creationId xmlns:a16="http://schemas.microsoft.com/office/drawing/2014/main" id="{F8D69042-A104-FAAD-FAAB-8BEF7FD22DAC}"/>
                </a:ext>
              </a:extLst>
            </p:cNvPr>
            <p:cNvSpPr>
              <a:spLocks noChangeShapeType="1"/>
            </p:cNvSpPr>
            <p:nvPr/>
          </p:nvSpPr>
          <p:spPr bwMode="auto">
            <a:xfrm flipH="1" flipV="1">
              <a:off x="2400" y="2568"/>
              <a:ext cx="384"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17" name="Text Box 13">
              <a:extLst>
                <a:ext uri="{FF2B5EF4-FFF2-40B4-BE49-F238E27FC236}">
                  <a16:creationId xmlns:a16="http://schemas.microsoft.com/office/drawing/2014/main" id="{21DB9013-93AA-9B76-0695-5AC07D0F1546}"/>
                </a:ext>
              </a:extLst>
            </p:cNvPr>
            <p:cNvSpPr txBox="1">
              <a:spLocks noChangeArrowheads="1"/>
            </p:cNvSpPr>
            <p:nvPr/>
          </p:nvSpPr>
          <p:spPr bwMode="auto">
            <a:xfrm>
              <a:off x="1862" y="233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4</a:t>
              </a:r>
            </a:p>
          </p:txBody>
        </p:sp>
        <p:sp>
          <p:nvSpPr>
            <p:cNvPr id="18" name="Text Box 14">
              <a:extLst>
                <a:ext uri="{FF2B5EF4-FFF2-40B4-BE49-F238E27FC236}">
                  <a16:creationId xmlns:a16="http://schemas.microsoft.com/office/drawing/2014/main" id="{90026267-BE77-A15A-991D-44AEBC38534D}"/>
                </a:ext>
              </a:extLst>
            </p:cNvPr>
            <p:cNvSpPr txBox="1">
              <a:spLocks noChangeArrowheads="1"/>
            </p:cNvSpPr>
            <p:nvPr/>
          </p:nvSpPr>
          <p:spPr bwMode="auto">
            <a:xfrm>
              <a:off x="1440" y="303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2</a:t>
              </a:r>
            </a:p>
          </p:txBody>
        </p:sp>
        <p:sp>
          <p:nvSpPr>
            <p:cNvPr id="19" name="Text Box 15">
              <a:extLst>
                <a:ext uri="{FF2B5EF4-FFF2-40B4-BE49-F238E27FC236}">
                  <a16:creationId xmlns:a16="http://schemas.microsoft.com/office/drawing/2014/main" id="{1D2190BE-24CE-4960-DD73-014CF4E20583}"/>
                </a:ext>
              </a:extLst>
            </p:cNvPr>
            <p:cNvSpPr txBox="1">
              <a:spLocks noChangeArrowheads="1"/>
            </p:cNvSpPr>
            <p:nvPr/>
          </p:nvSpPr>
          <p:spPr bwMode="auto">
            <a:xfrm>
              <a:off x="1920" y="2841"/>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6</a:t>
              </a:r>
            </a:p>
          </p:txBody>
        </p:sp>
        <p:sp>
          <p:nvSpPr>
            <p:cNvPr id="20" name="Text Box 16">
              <a:extLst>
                <a:ext uri="{FF2B5EF4-FFF2-40B4-BE49-F238E27FC236}">
                  <a16:creationId xmlns:a16="http://schemas.microsoft.com/office/drawing/2014/main" id="{59BA5599-3B05-652A-7849-1AC1E78097F6}"/>
                </a:ext>
              </a:extLst>
            </p:cNvPr>
            <p:cNvSpPr txBox="1">
              <a:spLocks noChangeArrowheads="1"/>
            </p:cNvSpPr>
            <p:nvPr/>
          </p:nvSpPr>
          <p:spPr bwMode="auto">
            <a:xfrm>
              <a:off x="2544" y="2745"/>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1</a:t>
              </a:r>
            </a:p>
          </p:txBody>
        </p:sp>
        <p:sp>
          <p:nvSpPr>
            <p:cNvPr id="21" name="Text Box 17">
              <a:extLst>
                <a:ext uri="{FF2B5EF4-FFF2-40B4-BE49-F238E27FC236}">
                  <a16:creationId xmlns:a16="http://schemas.microsoft.com/office/drawing/2014/main" id="{91A8A9D5-8BBC-76F0-B815-96F536B162E8}"/>
                </a:ext>
              </a:extLst>
            </p:cNvPr>
            <p:cNvSpPr txBox="1">
              <a:spLocks noChangeArrowheads="1"/>
            </p:cNvSpPr>
            <p:nvPr/>
          </p:nvSpPr>
          <p:spPr bwMode="auto">
            <a:xfrm>
              <a:off x="2160" y="3048"/>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endParaRPr kumimoji="0" lang="ko-KR" altLang="ko-KR" sz="1800" b="0">
                <a:solidFill>
                  <a:srgbClr val="001932"/>
                </a:solidFill>
                <a:ea typeface="굴림" pitchFamily="34" charset="-127"/>
              </a:endParaRPr>
            </a:p>
          </p:txBody>
        </p:sp>
        <p:sp>
          <p:nvSpPr>
            <p:cNvPr id="22" name="Text Box 18">
              <a:extLst>
                <a:ext uri="{FF2B5EF4-FFF2-40B4-BE49-F238E27FC236}">
                  <a16:creationId xmlns:a16="http://schemas.microsoft.com/office/drawing/2014/main" id="{8B6A377D-B8ED-6C14-875B-B9795C8CF32A}"/>
                </a:ext>
              </a:extLst>
            </p:cNvPr>
            <p:cNvSpPr txBox="1">
              <a:spLocks noChangeArrowheads="1"/>
            </p:cNvSpPr>
            <p:nvPr/>
          </p:nvSpPr>
          <p:spPr bwMode="auto">
            <a:xfrm>
              <a:off x="2160" y="3480"/>
              <a:ext cx="1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3</a:t>
              </a:r>
            </a:p>
          </p:txBody>
        </p:sp>
        <p:sp>
          <p:nvSpPr>
            <p:cNvPr id="23" name="Line 19">
              <a:extLst>
                <a:ext uri="{FF2B5EF4-FFF2-40B4-BE49-F238E27FC236}">
                  <a16:creationId xmlns:a16="http://schemas.microsoft.com/office/drawing/2014/main" id="{37A6CB32-BD98-7C5A-17FB-3CCB8187D846}"/>
                </a:ext>
              </a:extLst>
            </p:cNvPr>
            <p:cNvSpPr>
              <a:spLocks noChangeShapeType="1"/>
            </p:cNvSpPr>
            <p:nvPr/>
          </p:nvSpPr>
          <p:spPr bwMode="auto">
            <a:xfrm flipV="1">
              <a:off x="1824" y="3504"/>
              <a:ext cx="864" cy="4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grpSp>
      <p:grpSp>
        <p:nvGrpSpPr>
          <p:cNvPr id="24" name="Group 20">
            <a:extLst>
              <a:ext uri="{FF2B5EF4-FFF2-40B4-BE49-F238E27FC236}">
                <a16:creationId xmlns:a16="http://schemas.microsoft.com/office/drawing/2014/main" id="{CBD99B34-C765-5CDE-D7F1-0DC19F23037A}"/>
              </a:ext>
            </a:extLst>
          </p:cNvPr>
          <p:cNvGrpSpPr>
            <a:grpSpLocks/>
          </p:cNvGrpSpPr>
          <p:nvPr/>
        </p:nvGrpSpPr>
        <p:grpSpPr bwMode="auto">
          <a:xfrm>
            <a:off x="2667000" y="4040186"/>
            <a:ext cx="2286000" cy="2211388"/>
            <a:chOff x="1440" y="2337"/>
            <a:chExt cx="1440" cy="1393"/>
          </a:xfrm>
        </p:grpSpPr>
        <p:sp>
          <p:nvSpPr>
            <p:cNvPr id="25" name="Oval 21">
              <a:extLst>
                <a:ext uri="{FF2B5EF4-FFF2-40B4-BE49-F238E27FC236}">
                  <a16:creationId xmlns:a16="http://schemas.microsoft.com/office/drawing/2014/main" id="{B9EA3B65-D05E-8D18-C784-0D049A816C38}"/>
                </a:ext>
              </a:extLst>
            </p:cNvPr>
            <p:cNvSpPr>
              <a:spLocks noChangeArrowheads="1"/>
            </p:cNvSpPr>
            <p:nvPr/>
          </p:nvSpPr>
          <p:spPr bwMode="auto">
            <a:xfrm>
              <a:off x="2304" y="2376"/>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c</a:t>
              </a:r>
            </a:p>
          </p:txBody>
        </p:sp>
        <p:sp>
          <p:nvSpPr>
            <p:cNvPr id="26" name="Oval 22">
              <a:extLst>
                <a:ext uri="{FF2B5EF4-FFF2-40B4-BE49-F238E27FC236}">
                  <a16:creationId xmlns:a16="http://schemas.microsoft.com/office/drawing/2014/main" id="{AD76F81D-3B53-C43C-62BD-8A67A172A700}"/>
                </a:ext>
              </a:extLst>
            </p:cNvPr>
            <p:cNvSpPr>
              <a:spLocks noChangeArrowheads="1"/>
            </p:cNvSpPr>
            <p:nvPr/>
          </p:nvSpPr>
          <p:spPr bwMode="auto">
            <a:xfrm>
              <a:off x="2688" y="3384"/>
              <a:ext cx="192" cy="192"/>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d</a:t>
              </a:r>
            </a:p>
          </p:txBody>
        </p:sp>
        <p:sp>
          <p:nvSpPr>
            <p:cNvPr id="27" name="Oval 23">
              <a:extLst>
                <a:ext uri="{FF2B5EF4-FFF2-40B4-BE49-F238E27FC236}">
                  <a16:creationId xmlns:a16="http://schemas.microsoft.com/office/drawing/2014/main" id="{DF33C846-3280-567A-73D9-2EFE2527AC4D}"/>
                </a:ext>
              </a:extLst>
            </p:cNvPr>
            <p:cNvSpPr>
              <a:spLocks noChangeArrowheads="1"/>
            </p:cNvSpPr>
            <p:nvPr/>
          </p:nvSpPr>
          <p:spPr bwMode="auto">
            <a:xfrm>
              <a:off x="1632" y="3480"/>
              <a:ext cx="192" cy="192"/>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b</a:t>
              </a:r>
            </a:p>
          </p:txBody>
        </p:sp>
        <p:sp>
          <p:nvSpPr>
            <p:cNvPr id="28" name="Oval 24">
              <a:extLst>
                <a:ext uri="{FF2B5EF4-FFF2-40B4-BE49-F238E27FC236}">
                  <a16:creationId xmlns:a16="http://schemas.microsoft.com/office/drawing/2014/main" id="{016620E7-6C1B-A514-D1CF-81F825F6D016}"/>
                </a:ext>
              </a:extLst>
            </p:cNvPr>
            <p:cNvSpPr>
              <a:spLocks noChangeArrowheads="1"/>
            </p:cNvSpPr>
            <p:nvPr/>
          </p:nvSpPr>
          <p:spPr bwMode="auto">
            <a:xfrm>
              <a:off x="1488" y="2616"/>
              <a:ext cx="192" cy="192"/>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a</a:t>
              </a:r>
            </a:p>
          </p:txBody>
        </p:sp>
        <p:sp>
          <p:nvSpPr>
            <p:cNvPr id="29" name="Line 25">
              <a:extLst>
                <a:ext uri="{FF2B5EF4-FFF2-40B4-BE49-F238E27FC236}">
                  <a16:creationId xmlns:a16="http://schemas.microsoft.com/office/drawing/2014/main" id="{4F392C49-0E1D-7BDB-34DF-1FB2DCD2FEAE}"/>
                </a:ext>
              </a:extLst>
            </p:cNvPr>
            <p:cNvSpPr>
              <a:spLocks noChangeShapeType="1"/>
            </p:cNvSpPr>
            <p:nvPr/>
          </p:nvSpPr>
          <p:spPr bwMode="auto">
            <a:xfrm flipV="1">
              <a:off x="1680" y="2520"/>
              <a:ext cx="62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30" name="Line 26">
              <a:extLst>
                <a:ext uri="{FF2B5EF4-FFF2-40B4-BE49-F238E27FC236}">
                  <a16:creationId xmlns:a16="http://schemas.microsoft.com/office/drawing/2014/main" id="{59DD2C17-939B-A8ED-6AF7-866AAA0715F2}"/>
                </a:ext>
              </a:extLst>
            </p:cNvPr>
            <p:cNvSpPr>
              <a:spLocks noChangeShapeType="1"/>
            </p:cNvSpPr>
            <p:nvPr/>
          </p:nvSpPr>
          <p:spPr bwMode="auto">
            <a:xfrm flipH="1" flipV="1">
              <a:off x="1584" y="2808"/>
              <a:ext cx="96" cy="672"/>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31" name="Line 27">
              <a:extLst>
                <a:ext uri="{FF2B5EF4-FFF2-40B4-BE49-F238E27FC236}">
                  <a16:creationId xmlns:a16="http://schemas.microsoft.com/office/drawing/2014/main" id="{F38A1213-C4EC-6A46-B8B7-655D0ED3119A}"/>
                </a:ext>
              </a:extLst>
            </p:cNvPr>
            <p:cNvSpPr>
              <a:spLocks noChangeShapeType="1"/>
            </p:cNvSpPr>
            <p:nvPr/>
          </p:nvSpPr>
          <p:spPr bwMode="auto">
            <a:xfrm flipV="1">
              <a:off x="1728" y="2568"/>
              <a:ext cx="624"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32" name="Line 28">
              <a:extLst>
                <a:ext uri="{FF2B5EF4-FFF2-40B4-BE49-F238E27FC236}">
                  <a16:creationId xmlns:a16="http://schemas.microsoft.com/office/drawing/2014/main" id="{D80E84DA-9179-2C15-1301-CCB1D37C38B0}"/>
                </a:ext>
              </a:extLst>
            </p:cNvPr>
            <p:cNvSpPr>
              <a:spLocks noChangeShapeType="1"/>
            </p:cNvSpPr>
            <p:nvPr/>
          </p:nvSpPr>
          <p:spPr bwMode="auto">
            <a:xfrm flipH="1" flipV="1">
              <a:off x="2400" y="2568"/>
              <a:ext cx="384"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33" name="Text Box 29">
              <a:extLst>
                <a:ext uri="{FF2B5EF4-FFF2-40B4-BE49-F238E27FC236}">
                  <a16:creationId xmlns:a16="http://schemas.microsoft.com/office/drawing/2014/main" id="{796CDDB5-B6BF-E860-2B91-7CE11603488F}"/>
                </a:ext>
              </a:extLst>
            </p:cNvPr>
            <p:cNvSpPr txBox="1">
              <a:spLocks noChangeArrowheads="1"/>
            </p:cNvSpPr>
            <p:nvPr/>
          </p:nvSpPr>
          <p:spPr bwMode="auto">
            <a:xfrm>
              <a:off x="1862" y="233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4</a:t>
              </a:r>
            </a:p>
          </p:txBody>
        </p:sp>
        <p:sp>
          <p:nvSpPr>
            <p:cNvPr id="34" name="Text Box 30">
              <a:extLst>
                <a:ext uri="{FF2B5EF4-FFF2-40B4-BE49-F238E27FC236}">
                  <a16:creationId xmlns:a16="http://schemas.microsoft.com/office/drawing/2014/main" id="{1DB0CF30-5C0F-2D55-DF86-E518E6D42050}"/>
                </a:ext>
              </a:extLst>
            </p:cNvPr>
            <p:cNvSpPr txBox="1">
              <a:spLocks noChangeArrowheads="1"/>
            </p:cNvSpPr>
            <p:nvPr/>
          </p:nvSpPr>
          <p:spPr bwMode="auto">
            <a:xfrm>
              <a:off x="1440" y="303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2</a:t>
              </a:r>
            </a:p>
          </p:txBody>
        </p:sp>
        <p:sp>
          <p:nvSpPr>
            <p:cNvPr id="35" name="Text Box 31">
              <a:extLst>
                <a:ext uri="{FF2B5EF4-FFF2-40B4-BE49-F238E27FC236}">
                  <a16:creationId xmlns:a16="http://schemas.microsoft.com/office/drawing/2014/main" id="{6FB28000-D8CE-ECD4-3CE5-A34DE4E4317F}"/>
                </a:ext>
              </a:extLst>
            </p:cNvPr>
            <p:cNvSpPr txBox="1">
              <a:spLocks noChangeArrowheads="1"/>
            </p:cNvSpPr>
            <p:nvPr/>
          </p:nvSpPr>
          <p:spPr bwMode="auto">
            <a:xfrm>
              <a:off x="1920" y="2841"/>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6</a:t>
              </a:r>
            </a:p>
          </p:txBody>
        </p:sp>
        <p:sp>
          <p:nvSpPr>
            <p:cNvPr id="36" name="Text Box 32">
              <a:extLst>
                <a:ext uri="{FF2B5EF4-FFF2-40B4-BE49-F238E27FC236}">
                  <a16:creationId xmlns:a16="http://schemas.microsoft.com/office/drawing/2014/main" id="{C43CBFE7-0209-BA50-3D8A-3D42E9D08329}"/>
                </a:ext>
              </a:extLst>
            </p:cNvPr>
            <p:cNvSpPr txBox="1">
              <a:spLocks noChangeArrowheads="1"/>
            </p:cNvSpPr>
            <p:nvPr/>
          </p:nvSpPr>
          <p:spPr bwMode="auto">
            <a:xfrm>
              <a:off x="2544" y="2745"/>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1</a:t>
              </a:r>
            </a:p>
          </p:txBody>
        </p:sp>
        <p:sp>
          <p:nvSpPr>
            <p:cNvPr id="37" name="Text Box 33">
              <a:extLst>
                <a:ext uri="{FF2B5EF4-FFF2-40B4-BE49-F238E27FC236}">
                  <a16:creationId xmlns:a16="http://schemas.microsoft.com/office/drawing/2014/main" id="{FE7DA899-0D85-CC04-4F82-671201D74755}"/>
                </a:ext>
              </a:extLst>
            </p:cNvPr>
            <p:cNvSpPr txBox="1">
              <a:spLocks noChangeArrowheads="1"/>
            </p:cNvSpPr>
            <p:nvPr/>
          </p:nvSpPr>
          <p:spPr bwMode="auto">
            <a:xfrm>
              <a:off x="2160" y="3048"/>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endParaRPr kumimoji="0" lang="ko-KR" altLang="ko-KR" sz="1800" b="0">
                <a:solidFill>
                  <a:srgbClr val="001932"/>
                </a:solidFill>
                <a:ea typeface="굴림" pitchFamily="34" charset="-127"/>
              </a:endParaRPr>
            </a:p>
          </p:txBody>
        </p:sp>
        <p:sp>
          <p:nvSpPr>
            <p:cNvPr id="38" name="Text Box 34">
              <a:extLst>
                <a:ext uri="{FF2B5EF4-FFF2-40B4-BE49-F238E27FC236}">
                  <a16:creationId xmlns:a16="http://schemas.microsoft.com/office/drawing/2014/main" id="{7677FE27-A733-467E-E167-BE4E00651CCE}"/>
                </a:ext>
              </a:extLst>
            </p:cNvPr>
            <p:cNvSpPr txBox="1">
              <a:spLocks noChangeArrowheads="1"/>
            </p:cNvSpPr>
            <p:nvPr/>
          </p:nvSpPr>
          <p:spPr bwMode="auto">
            <a:xfrm>
              <a:off x="2160" y="3480"/>
              <a:ext cx="1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3</a:t>
              </a:r>
            </a:p>
          </p:txBody>
        </p:sp>
        <p:sp>
          <p:nvSpPr>
            <p:cNvPr id="39" name="Line 35">
              <a:extLst>
                <a:ext uri="{FF2B5EF4-FFF2-40B4-BE49-F238E27FC236}">
                  <a16:creationId xmlns:a16="http://schemas.microsoft.com/office/drawing/2014/main" id="{2C0ECE07-036C-3189-69A9-6A3D389EDAAA}"/>
                </a:ext>
              </a:extLst>
            </p:cNvPr>
            <p:cNvSpPr>
              <a:spLocks noChangeShapeType="1"/>
            </p:cNvSpPr>
            <p:nvPr/>
          </p:nvSpPr>
          <p:spPr bwMode="auto">
            <a:xfrm flipV="1">
              <a:off x="1824" y="3504"/>
              <a:ext cx="864" cy="48"/>
            </a:xfrm>
            <a:prstGeom prst="line">
              <a:avLst/>
            </a:prstGeom>
            <a:noFill/>
            <a:ln w="12700">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grpSp>
      <p:grpSp>
        <p:nvGrpSpPr>
          <p:cNvPr id="40" name="Group 36">
            <a:extLst>
              <a:ext uri="{FF2B5EF4-FFF2-40B4-BE49-F238E27FC236}">
                <a16:creationId xmlns:a16="http://schemas.microsoft.com/office/drawing/2014/main" id="{EAD29830-086F-BEDD-28C0-8CC11F717BD7}"/>
              </a:ext>
            </a:extLst>
          </p:cNvPr>
          <p:cNvGrpSpPr>
            <a:grpSpLocks/>
          </p:cNvGrpSpPr>
          <p:nvPr/>
        </p:nvGrpSpPr>
        <p:grpSpPr bwMode="auto">
          <a:xfrm>
            <a:off x="6477000" y="3887786"/>
            <a:ext cx="2286000" cy="2211388"/>
            <a:chOff x="1440" y="2337"/>
            <a:chExt cx="1440" cy="1393"/>
          </a:xfrm>
        </p:grpSpPr>
        <p:sp>
          <p:nvSpPr>
            <p:cNvPr id="41" name="Oval 37">
              <a:extLst>
                <a:ext uri="{FF2B5EF4-FFF2-40B4-BE49-F238E27FC236}">
                  <a16:creationId xmlns:a16="http://schemas.microsoft.com/office/drawing/2014/main" id="{A953BD6B-8B88-9EFD-B12A-91C53B73FC82}"/>
                </a:ext>
              </a:extLst>
            </p:cNvPr>
            <p:cNvSpPr>
              <a:spLocks noChangeArrowheads="1"/>
            </p:cNvSpPr>
            <p:nvPr/>
          </p:nvSpPr>
          <p:spPr bwMode="auto">
            <a:xfrm>
              <a:off x="2304" y="2376"/>
              <a:ext cx="192" cy="192"/>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c</a:t>
              </a:r>
            </a:p>
          </p:txBody>
        </p:sp>
        <p:sp>
          <p:nvSpPr>
            <p:cNvPr id="42" name="Oval 38">
              <a:extLst>
                <a:ext uri="{FF2B5EF4-FFF2-40B4-BE49-F238E27FC236}">
                  <a16:creationId xmlns:a16="http://schemas.microsoft.com/office/drawing/2014/main" id="{8D06B9F3-9D7E-6041-6642-039DB02D7F7C}"/>
                </a:ext>
              </a:extLst>
            </p:cNvPr>
            <p:cNvSpPr>
              <a:spLocks noChangeArrowheads="1"/>
            </p:cNvSpPr>
            <p:nvPr/>
          </p:nvSpPr>
          <p:spPr bwMode="auto">
            <a:xfrm>
              <a:off x="2688" y="3384"/>
              <a:ext cx="192" cy="192"/>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d</a:t>
              </a:r>
            </a:p>
          </p:txBody>
        </p:sp>
        <p:sp>
          <p:nvSpPr>
            <p:cNvPr id="43" name="Oval 39">
              <a:extLst>
                <a:ext uri="{FF2B5EF4-FFF2-40B4-BE49-F238E27FC236}">
                  <a16:creationId xmlns:a16="http://schemas.microsoft.com/office/drawing/2014/main" id="{6B852F0F-87B6-DB36-5C53-74B892572210}"/>
                </a:ext>
              </a:extLst>
            </p:cNvPr>
            <p:cNvSpPr>
              <a:spLocks noChangeArrowheads="1"/>
            </p:cNvSpPr>
            <p:nvPr/>
          </p:nvSpPr>
          <p:spPr bwMode="auto">
            <a:xfrm>
              <a:off x="1632" y="3480"/>
              <a:ext cx="192" cy="192"/>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b</a:t>
              </a:r>
            </a:p>
          </p:txBody>
        </p:sp>
        <p:sp>
          <p:nvSpPr>
            <p:cNvPr id="44" name="Oval 40">
              <a:extLst>
                <a:ext uri="{FF2B5EF4-FFF2-40B4-BE49-F238E27FC236}">
                  <a16:creationId xmlns:a16="http://schemas.microsoft.com/office/drawing/2014/main" id="{233177DE-FCC4-8B2B-45F2-B01711C7630B}"/>
                </a:ext>
              </a:extLst>
            </p:cNvPr>
            <p:cNvSpPr>
              <a:spLocks noChangeArrowheads="1"/>
            </p:cNvSpPr>
            <p:nvPr/>
          </p:nvSpPr>
          <p:spPr bwMode="auto">
            <a:xfrm>
              <a:off x="1488" y="2616"/>
              <a:ext cx="192" cy="192"/>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a</a:t>
              </a:r>
            </a:p>
          </p:txBody>
        </p:sp>
        <p:sp>
          <p:nvSpPr>
            <p:cNvPr id="45" name="Line 41">
              <a:extLst>
                <a:ext uri="{FF2B5EF4-FFF2-40B4-BE49-F238E27FC236}">
                  <a16:creationId xmlns:a16="http://schemas.microsoft.com/office/drawing/2014/main" id="{F2AE67AC-453C-CD7A-68D9-81CF50BD9626}"/>
                </a:ext>
              </a:extLst>
            </p:cNvPr>
            <p:cNvSpPr>
              <a:spLocks noChangeShapeType="1"/>
            </p:cNvSpPr>
            <p:nvPr/>
          </p:nvSpPr>
          <p:spPr bwMode="auto">
            <a:xfrm flipV="1">
              <a:off x="1680" y="2520"/>
              <a:ext cx="62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46" name="Line 42">
              <a:extLst>
                <a:ext uri="{FF2B5EF4-FFF2-40B4-BE49-F238E27FC236}">
                  <a16:creationId xmlns:a16="http://schemas.microsoft.com/office/drawing/2014/main" id="{68DEDA2A-F052-95E0-CDFD-18547DCC817A}"/>
                </a:ext>
              </a:extLst>
            </p:cNvPr>
            <p:cNvSpPr>
              <a:spLocks noChangeShapeType="1"/>
            </p:cNvSpPr>
            <p:nvPr/>
          </p:nvSpPr>
          <p:spPr bwMode="auto">
            <a:xfrm flipH="1" flipV="1">
              <a:off x="1584" y="2808"/>
              <a:ext cx="96" cy="672"/>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47" name="Line 43">
              <a:extLst>
                <a:ext uri="{FF2B5EF4-FFF2-40B4-BE49-F238E27FC236}">
                  <a16:creationId xmlns:a16="http://schemas.microsoft.com/office/drawing/2014/main" id="{D59CE16F-79A8-D18D-A4C6-2D4632E84C0B}"/>
                </a:ext>
              </a:extLst>
            </p:cNvPr>
            <p:cNvSpPr>
              <a:spLocks noChangeShapeType="1"/>
            </p:cNvSpPr>
            <p:nvPr/>
          </p:nvSpPr>
          <p:spPr bwMode="auto">
            <a:xfrm flipV="1">
              <a:off x="1728" y="2568"/>
              <a:ext cx="624"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48" name="Line 44">
              <a:extLst>
                <a:ext uri="{FF2B5EF4-FFF2-40B4-BE49-F238E27FC236}">
                  <a16:creationId xmlns:a16="http://schemas.microsoft.com/office/drawing/2014/main" id="{0EA21C29-2FF9-E83A-0CAD-C43E517BF422}"/>
                </a:ext>
              </a:extLst>
            </p:cNvPr>
            <p:cNvSpPr>
              <a:spLocks noChangeShapeType="1"/>
            </p:cNvSpPr>
            <p:nvPr/>
          </p:nvSpPr>
          <p:spPr bwMode="auto">
            <a:xfrm flipH="1" flipV="1">
              <a:off x="2400" y="2568"/>
              <a:ext cx="384" cy="816"/>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49" name="Text Box 45">
              <a:extLst>
                <a:ext uri="{FF2B5EF4-FFF2-40B4-BE49-F238E27FC236}">
                  <a16:creationId xmlns:a16="http://schemas.microsoft.com/office/drawing/2014/main" id="{A3391246-7EA2-FD22-7801-8F2003CFEA7B}"/>
                </a:ext>
              </a:extLst>
            </p:cNvPr>
            <p:cNvSpPr txBox="1">
              <a:spLocks noChangeArrowheads="1"/>
            </p:cNvSpPr>
            <p:nvPr/>
          </p:nvSpPr>
          <p:spPr bwMode="auto">
            <a:xfrm>
              <a:off x="1862" y="233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4</a:t>
              </a:r>
            </a:p>
          </p:txBody>
        </p:sp>
        <p:sp>
          <p:nvSpPr>
            <p:cNvPr id="50" name="Text Box 46">
              <a:extLst>
                <a:ext uri="{FF2B5EF4-FFF2-40B4-BE49-F238E27FC236}">
                  <a16:creationId xmlns:a16="http://schemas.microsoft.com/office/drawing/2014/main" id="{097A77B7-B018-7678-40EB-16FEBC85B4E3}"/>
                </a:ext>
              </a:extLst>
            </p:cNvPr>
            <p:cNvSpPr txBox="1">
              <a:spLocks noChangeArrowheads="1"/>
            </p:cNvSpPr>
            <p:nvPr/>
          </p:nvSpPr>
          <p:spPr bwMode="auto">
            <a:xfrm>
              <a:off x="1440" y="303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2</a:t>
              </a:r>
            </a:p>
          </p:txBody>
        </p:sp>
        <p:sp>
          <p:nvSpPr>
            <p:cNvPr id="51" name="Text Box 47">
              <a:extLst>
                <a:ext uri="{FF2B5EF4-FFF2-40B4-BE49-F238E27FC236}">
                  <a16:creationId xmlns:a16="http://schemas.microsoft.com/office/drawing/2014/main" id="{1F8B5ACC-D300-9050-454E-953EAF13A08F}"/>
                </a:ext>
              </a:extLst>
            </p:cNvPr>
            <p:cNvSpPr txBox="1">
              <a:spLocks noChangeArrowheads="1"/>
            </p:cNvSpPr>
            <p:nvPr/>
          </p:nvSpPr>
          <p:spPr bwMode="auto">
            <a:xfrm>
              <a:off x="1920" y="2841"/>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6</a:t>
              </a:r>
            </a:p>
          </p:txBody>
        </p:sp>
        <p:sp>
          <p:nvSpPr>
            <p:cNvPr id="52" name="Text Box 48">
              <a:extLst>
                <a:ext uri="{FF2B5EF4-FFF2-40B4-BE49-F238E27FC236}">
                  <a16:creationId xmlns:a16="http://schemas.microsoft.com/office/drawing/2014/main" id="{4B568641-C641-B503-B388-005219577029}"/>
                </a:ext>
              </a:extLst>
            </p:cNvPr>
            <p:cNvSpPr txBox="1">
              <a:spLocks noChangeArrowheads="1"/>
            </p:cNvSpPr>
            <p:nvPr/>
          </p:nvSpPr>
          <p:spPr bwMode="auto">
            <a:xfrm>
              <a:off x="2544" y="2745"/>
              <a:ext cx="196" cy="25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1</a:t>
              </a:r>
            </a:p>
          </p:txBody>
        </p:sp>
        <p:sp>
          <p:nvSpPr>
            <p:cNvPr id="53" name="Text Box 49">
              <a:extLst>
                <a:ext uri="{FF2B5EF4-FFF2-40B4-BE49-F238E27FC236}">
                  <a16:creationId xmlns:a16="http://schemas.microsoft.com/office/drawing/2014/main" id="{D64B545B-8340-3C26-9C54-02984DD9FB9B}"/>
                </a:ext>
              </a:extLst>
            </p:cNvPr>
            <p:cNvSpPr txBox="1">
              <a:spLocks noChangeArrowheads="1"/>
            </p:cNvSpPr>
            <p:nvPr/>
          </p:nvSpPr>
          <p:spPr bwMode="auto">
            <a:xfrm>
              <a:off x="2160" y="3048"/>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endParaRPr kumimoji="0" lang="ko-KR" altLang="ko-KR" sz="1800" b="0">
                <a:solidFill>
                  <a:srgbClr val="001932"/>
                </a:solidFill>
                <a:ea typeface="굴림" pitchFamily="34" charset="-127"/>
              </a:endParaRPr>
            </a:p>
          </p:txBody>
        </p:sp>
        <p:sp>
          <p:nvSpPr>
            <p:cNvPr id="54" name="Text Box 50">
              <a:extLst>
                <a:ext uri="{FF2B5EF4-FFF2-40B4-BE49-F238E27FC236}">
                  <a16:creationId xmlns:a16="http://schemas.microsoft.com/office/drawing/2014/main" id="{63E25A68-B5BC-1951-FF51-42931A959A57}"/>
                </a:ext>
              </a:extLst>
            </p:cNvPr>
            <p:cNvSpPr txBox="1">
              <a:spLocks noChangeArrowheads="1"/>
            </p:cNvSpPr>
            <p:nvPr/>
          </p:nvSpPr>
          <p:spPr bwMode="auto">
            <a:xfrm>
              <a:off x="2160" y="3480"/>
              <a:ext cx="1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3</a:t>
              </a:r>
            </a:p>
          </p:txBody>
        </p:sp>
        <p:sp>
          <p:nvSpPr>
            <p:cNvPr id="55" name="Line 51">
              <a:extLst>
                <a:ext uri="{FF2B5EF4-FFF2-40B4-BE49-F238E27FC236}">
                  <a16:creationId xmlns:a16="http://schemas.microsoft.com/office/drawing/2014/main" id="{C069EDB7-66CE-8911-27EA-8EB6841CF5C2}"/>
                </a:ext>
              </a:extLst>
            </p:cNvPr>
            <p:cNvSpPr>
              <a:spLocks noChangeShapeType="1"/>
            </p:cNvSpPr>
            <p:nvPr/>
          </p:nvSpPr>
          <p:spPr bwMode="auto">
            <a:xfrm flipV="1">
              <a:off x="1824" y="3504"/>
              <a:ext cx="864" cy="48"/>
            </a:xfrm>
            <a:prstGeom prst="line">
              <a:avLst/>
            </a:prstGeom>
            <a:noFill/>
            <a:ln w="12700">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grpSp>
      <p:grpSp>
        <p:nvGrpSpPr>
          <p:cNvPr id="56" name="Group 52">
            <a:extLst>
              <a:ext uri="{FF2B5EF4-FFF2-40B4-BE49-F238E27FC236}">
                <a16:creationId xmlns:a16="http://schemas.microsoft.com/office/drawing/2014/main" id="{BE3A7042-F9D1-99EE-3844-F9854AD8DA54}"/>
              </a:ext>
            </a:extLst>
          </p:cNvPr>
          <p:cNvGrpSpPr>
            <a:grpSpLocks/>
          </p:cNvGrpSpPr>
          <p:nvPr/>
        </p:nvGrpSpPr>
        <p:grpSpPr bwMode="auto">
          <a:xfrm>
            <a:off x="5638800" y="1371600"/>
            <a:ext cx="2286000" cy="2211387"/>
            <a:chOff x="1440" y="2337"/>
            <a:chExt cx="1440" cy="1393"/>
          </a:xfrm>
        </p:grpSpPr>
        <p:sp>
          <p:nvSpPr>
            <p:cNvPr id="57" name="Oval 53">
              <a:extLst>
                <a:ext uri="{FF2B5EF4-FFF2-40B4-BE49-F238E27FC236}">
                  <a16:creationId xmlns:a16="http://schemas.microsoft.com/office/drawing/2014/main" id="{A62D91DA-627E-BD57-FB29-E2A809DEE5B7}"/>
                </a:ext>
              </a:extLst>
            </p:cNvPr>
            <p:cNvSpPr>
              <a:spLocks noChangeArrowheads="1"/>
            </p:cNvSpPr>
            <p:nvPr/>
          </p:nvSpPr>
          <p:spPr bwMode="auto">
            <a:xfrm>
              <a:off x="2304" y="2376"/>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c</a:t>
              </a:r>
            </a:p>
          </p:txBody>
        </p:sp>
        <p:sp>
          <p:nvSpPr>
            <p:cNvPr id="58" name="Oval 54">
              <a:extLst>
                <a:ext uri="{FF2B5EF4-FFF2-40B4-BE49-F238E27FC236}">
                  <a16:creationId xmlns:a16="http://schemas.microsoft.com/office/drawing/2014/main" id="{89DFD153-C5A0-5C6D-D995-09EE1DF7412F}"/>
                </a:ext>
              </a:extLst>
            </p:cNvPr>
            <p:cNvSpPr>
              <a:spLocks noChangeArrowheads="1"/>
            </p:cNvSpPr>
            <p:nvPr/>
          </p:nvSpPr>
          <p:spPr bwMode="auto">
            <a:xfrm>
              <a:off x="2688" y="3384"/>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d</a:t>
              </a:r>
            </a:p>
          </p:txBody>
        </p:sp>
        <p:sp>
          <p:nvSpPr>
            <p:cNvPr id="59" name="Oval 55">
              <a:extLst>
                <a:ext uri="{FF2B5EF4-FFF2-40B4-BE49-F238E27FC236}">
                  <a16:creationId xmlns:a16="http://schemas.microsoft.com/office/drawing/2014/main" id="{AB3C4E17-FB5F-2058-62C2-EB052383DF60}"/>
                </a:ext>
              </a:extLst>
            </p:cNvPr>
            <p:cNvSpPr>
              <a:spLocks noChangeArrowheads="1"/>
            </p:cNvSpPr>
            <p:nvPr/>
          </p:nvSpPr>
          <p:spPr bwMode="auto">
            <a:xfrm>
              <a:off x="1632" y="3480"/>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b</a:t>
              </a:r>
            </a:p>
          </p:txBody>
        </p:sp>
        <p:sp>
          <p:nvSpPr>
            <p:cNvPr id="60" name="Oval 56">
              <a:extLst>
                <a:ext uri="{FF2B5EF4-FFF2-40B4-BE49-F238E27FC236}">
                  <a16:creationId xmlns:a16="http://schemas.microsoft.com/office/drawing/2014/main" id="{68D85F4B-6A6A-F7FF-6199-F2EB33E456A7}"/>
                </a:ext>
              </a:extLst>
            </p:cNvPr>
            <p:cNvSpPr>
              <a:spLocks noChangeArrowheads="1"/>
            </p:cNvSpPr>
            <p:nvPr/>
          </p:nvSpPr>
          <p:spPr bwMode="auto">
            <a:xfrm>
              <a:off x="1488" y="2616"/>
              <a:ext cx="192" cy="192"/>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a</a:t>
              </a:r>
            </a:p>
          </p:txBody>
        </p:sp>
        <p:sp>
          <p:nvSpPr>
            <p:cNvPr id="61" name="Line 57">
              <a:extLst>
                <a:ext uri="{FF2B5EF4-FFF2-40B4-BE49-F238E27FC236}">
                  <a16:creationId xmlns:a16="http://schemas.microsoft.com/office/drawing/2014/main" id="{BC768DAF-F78A-B72E-CD57-8C1D966F3E57}"/>
                </a:ext>
              </a:extLst>
            </p:cNvPr>
            <p:cNvSpPr>
              <a:spLocks noChangeShapeType="1"/>
            </p:cNvSpPr>
            <p:nvPr/>
          </p:nvSpPr>
          <p:spPr bwMode="auto">
            <a:xfrm flipV="1">
              <a:off x="1680" y="2520"/>
              <a:ext cx="62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62" name="Line 58">
              <a:extLst>
                <a:ext uri="{FF2B5EF4-FFF2-40B4-BE49-F238E27FC236}">
                  <a16:creationId xmlns:a16="http://schemas.microsoft.com/office/drawing/2014/main" id="{9854FE8A-E3FE-221A-9476-4910DAE920C8}"/>
                </a:ext>
              </a:extLst>
            </p:cNvPr>
            <p:cNvSpPr>
              <a:spLocks noChangeShapeType="1"/>
            </p:cNvSpPr>
            <p:nvPr/>
          </p:nvSpPr>
          <p:spPr bwMode="auto">
            <a:xfrm flipH="1" flipV="1">
              <a:off x="1584" y="2808"/>
              <a:ext cx="96"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63" name="Line 59">
              <a:extLst>
                <a:ext uri="{FF2B5EF4-FFF2-40B4-BE49-F238E27FC236}">
                  <a16:creationId xmlns:a16="http://schemas.microsoft.com/office/drawing/2014/main" id="{14214D1A-568F-A525-7D92-7ABF1CF8EE14}"/>
                </a:ext>
              </a:extLst>
            </p:cNvPr>
            <p:cNvSpPr>
              <a:spLocks noChangeShapeType="1"/>
            </p:cNvSpPr>
            <p:nvPr/>
          </p:nvSpPr>
          <p:spPr bwMode="auto">
            <a:xfrm flipV="1">
              <a:off x="1728" y="2568"/>
              <a:ext cx="624"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64" name="Line 60">
              <a:extLst>
                <a:ext uri="{FF2B5EF4-FFF2-40B4-BE49-F238E27FC236}">
                  <a16:creationId xmlns:a16="http://schemas.microsoft.com/office/drawing/2014/main" id="{C5D3D27F-6452-C534-458E-816F5C8B50BC}"/>
                </a:ext>
              </a:extLst>
            </p:cNvPr>
            <p:cNvSpPr>
              <a:spLocks noChangeShapeType="1"/>
            </p:cNvSpPr>
            <p:nvPr/>
          </p:nvSpPr>
          <p:spPr bwMode="auto">
            <a:xfrm flipH="1" flipV="1">
              <a:off x="2400" y="2568"/>
              <a:ext cx="384"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65" name="Text Box 61">
              <a:extLst>
                <a:ext uri="{FF2B5EF4-FFF2-40B4-BE49-F238E27FC236}">
                  <a16:creationId xmlns:a16="http://schemas.microsoft.com/office/drawing/2014/main" id="{31624906-3526-7DFC-3716-5B9BF0BADE95}"/>
                </a:ext>
              </a:extLst>
            </p:cNvPr>
            <p:cNvSpPr txBox="1">
              <a:spLocks noChangeArrowheads="1"/>
            </p:cNvSpPr>
            <p:nvPr/>
          </p:nvSpPr>
          <p:spPr bwMode="auto">
            <a:xfrm>
              <a:off x="1862" y="233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4</a:t>
              </a:r>
            </a:p>
          </p:txBody>
        </p:sp>
        <p:sp>
          <p:nvSpPr>
            <p:cNvPr id="66" name="Text Box 62">
              <a:extLst>
                <a:ext uri="{FF2B5EF4-FFF2-40B4-BE49-F238E27FC236}">
                  <a16:creationId xmlns:a16="http://schemas.microsoft.com/office/drawing/2014/main" id="{569553FD-9162-3CA3-7C99-FC1A93E6239B}"/>
                </a:ext>
              </a:extLst>
            </p:cNvPr>
            <p:cNvSpPr txBox="1">
              <a:spLocks noChangeArrowheads="1"/>
            </p:cNvSpPr>
            <p:nvPr/>
          </p:nvSpPr>
          <p:spPr bwMode="auto">
            <a:xfrm>
              <a:off x="1440" y="303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2</a:t>
              </a:r>
            </a:p>
          </p:txBody>
        </p:sp>
        <p:sp>
          <p:nvSpPr>
            <p:cNvPr id="67" name="Text Box 63">
              <a:extLst>
                <a:ext uri="{FF2B5EF4-FFF2-40B4-BE49-F238E27FC236}">
                  <a16:creationId xmlns:a16="http://schemas.microsoft.com/office/drawing/2014/main" id="{1D3FCCDD-77B3-00E7-985A-0EE289796710}"/>
                </a:ext>
              </a:extLst>
            </p:cNvPr>
            <p:cNvSpPr txBox="1">
              <a:spLocks noChangeArrowheads="1"/>
            </p:cNvSpPr>
            <p:nvPr/>
          </p:nvSpPr>
          <p:spPr bwMode="auto">
            <a:xfrm>
              <a:off x="1920" y="2841"/>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6</a:t>
              </a:r>
            </a:p>
          </p:txBody>
        </p:sp>
        <p:sp>
          <p:nvSpPr>
            <p:cNvPr id="68" name="Text Box 64">
              <a:extLst>
                <a:ext uri="{FF2B5EF4-FFF2-40B4-BE49-F238E27FC236}">
                  <a16:creationId xmlns:a16="http://schemas.microsoft.com/office/drawing/2014/main" id="{1C4F8B9D-D082-4423-DF81-0CF3310CC4AC}"/>
                </a:ext>
              </a:extLst>
            </p:cNvPr>
            <p:cNvSpPr txBox="1">
              <a:spLocks noChangeArrowheads="1"/>
            </p:cNvSpPr>
            <p:nvPr/>
          </p:nvSpPr>
          <p:spPr bwMode="auto">
            <a:xfrm>
              <a:off x="2544" y="2745"/>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1</a:t>
              </a:r>
            </a:p>
          </p:txBody>
        </p:sp>
        <p:sp>
          <p:nvSpPr>
            <p:cNvPr id="69" name="Text Box 65">
              <a:extLst>
                <a:ext uri="{FF2B5EF4-FFF2-40B4-BE49-F238E27FC236}">
                  <a16:creationId xmlns:a16="http://schemas.microsoft.com/office/drawing/2014/main" id="{E81A826E-C6B5-82CD-D674-C1ECB9588743}"/>
                </a:ext>
              </a:extLst>
            </p:cNvPr>
            <p:cNvSpPr txBox="1">
              <a:spLocks noChangeArrowheads="1"/>
            </p:cNvSpPr>
            <p:nvPr/>
          </p:nvSpPr>
          <p:spPr bwMode="auto">
            <a:xfrm>
              <a:off x="2160" y="3048"/>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endParaRPr kumimoji="0" lang="ko-KR" altLang="ko-KR" sz="1800" b="0">
                <a:solidFill>
                  <a:srgbClr val="001932"/>
                </a:solidFill>
                <a:ea typeface="굴림" pitchFamily="34" charset="-127"/>
              </a:endParaRPr>
            </a:p>
          </p:txBody>
        </p:sp>
        <p:sp>
          <p:nvSpPr>
            <p:cNvPr id="70" name="Text Box 66">
              <a:extLst>
                <a:ext uri="{FF2B5EF4-FFF2-40B4-BE49-F238E27FC236}">
                  <a16:creationId xmlns:a16="http://schemas.microsoft.com/office/drawing/2014/main" id="{C0219E34-E83A-5422-DCFC-6AFAEE5784BD}"/>
                </a:ext>
              </a:extLst>
            </p:cNvPr>
            <p:cNvSpPr txBox="1">
              <a:spLocks noChangeArrowheads="1"/>
            </p:cNvSpPr>
            <p:nvPr/>
          </p:nvSpPr>
          <p:spPr bwMode="auto">
            <a:xfrm>
              <a:off x="2160" y="3480"/>
              <a:ext cx="1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3</a:t>
              </a:r>
            </a:p>
          </p:txBody>
        </p:sp>
        <p:sp>
          <p:nvSpPr>
            <p:cNvPr id="71" name="Line 67">
              <a:extLst>
                <a:ext uri="{FF2B5EF4-FFF2-40B4-BE49-F238E27FC236}">
                  <a16:creationId xmlns:a16="http://schemas.microsoft.com/office/drawing/2014/main" id="{EA25768E-9B3B-0134-D337-844220EED345}"/>
                </a:ext>
              </a:extLst>
            </p:cNvPr>
            <p:cNvSpPr>
              <a:spLocks noChangeShapeType="1"/>
            </p:cNvSpPr>
            <p:nvPr/>
          </p:nvSpPr>
          <p:spPr bwMode="auto">
            <a:xfrm flipV="1">
              <a:off x="1824" y="3504"/>
              <a:ext cx="864" cy="4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grpSp>
      <p:grpSp>
        <p:nvGrpSpPr>
          <p:cNvPr id="72" name="Group 68">
            <a:extLst>
              <a:ext uri="{FF2B5EF4-FFF2-40B4-BE49-F238E27FC236}">
                <a16:creationId xmlns:a16="http://schemas.microsoft.com/office/drawing/2014/main" id="{2334C3A2-EA58-821F-6C3B-8216042ED272}"/>
              </a:ext>
            </a:extLst>
          </p:cNvPr>
          <p:cNvGrpSpPr>
            <a:grpSpLocks/>
          </p:cNvGrpSpPr>
          <p:nvPr/>
        </p:nvGrpSpPr>
        <p:grpSpPr bwMode="auto">
          <a:xfrm>
            <a:off x="8534400" y="1373186"/>
            <a:ext cx="2286000" cy="2211388"/>
            <a:chOff x="1440" y="2337"/>
            <a:chExt cx="1440" cy="1393"/>
          </a:xfrm>
        </p:grpSpPr>
        <p:sp>
          <p:nvSpPr>
            <p:cNvPr id="73" name="Oval 69">
              <a:extLst>
                <a:ext uri="{FF2B5EF4-FFF2-40B4-BE49-F238E27FC236}">
                  <a16:creationId xmlns:a16="http://schemas.microsoft.com/office/drawing/2014/main" id="{B8184E8D-6963-E5DD-542B-7F82B384A7E7}"/>
                </a:ext>
              </a:extLst>
            </p:cNvPr>
            <p:cNvSpPr>
              <a:spLocks noChangeArrowheads="1"/>
            </p:cNvSpPr>
            <p:nvPr/>
          </p:nvSpPr>
          <p:spPr bwMode="auto">
            <a:xfrm>
              <a:off x="2304" y="2376"/>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c</a:t>
              </a:r>
            </a:p>
          </p:txBody>
        </p:sp>
        <p:sp>
          <p:nvSpPr>
            <p:cNvPr id="74" name="Oval 70">
              <a:extLst>
                <a:ext uri="{FF2B5EF4-FFF2-40B4-BE49-F238E27FC236}">
                  <a16:creationId xmlns:a16="http://schemas.microsoft.com/office/drawing/2014/main" id="{85997414-590C-9751-1AD2-12641DDB03F6}"/>
                </a:ext>
              </a:extLst>
            </p:cNvPr>
            <p:cNvSpPr>
              <a:spLocks noChangeArrowheads="1"/>
            </p:cNvSpPr>
            <p:nvPr/>
          </p:nvSpPr>
          <p:spPr bwMode="auto">
            <a:xfrm>
              <a:off x="2688" y="3384"/>
              <a:ext cx="19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d</a:t>
              </a:r>
            </a:p>
          </p:txBody>
        </p:sp>
        <p:sp>
          <p:nvSpPr>
            <p:cNvPr id="75" name="Oval 71">
              <a:extLst>
                <a:ext uri="{FF2B5EF4-FFF2-40B4-BE49-F238E27FC236}">
                  <a16:creationId xmlns:a16="http://schemas.microsoft.com/office/drawing/2014/main" id="{E4945802-1536-5F3C-B08D-81F3F1765EFC}"/>
                </a:ext>
              </a:extLst>
            </p:cNvPr>
            <p:cNvSpPr>
              <a:spLocks noChangeArrowheads="1"/>
            </p:cNvSpPr>
            <p:nvPr/>
          </p:nvSpPr>
          <p:spPr bwMode="auto">
            <a:xfrm>
              <a:off x="1632" y="3480"/>
              <a:ext cx="192" cy="192"/>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b</a:t>
              </a:r>
            </a:p>
          </p:txBody>
        </p:sp>
        <p:sp>
          <p:nvSpPr>
            <p:cNvPr id="76" name="Oval 72">
              <a:extLst>
                <a:ext uri="{FF2B5EF4-FFF2-40B4-BE49-F238E27FC236}">
                  <a16:creationId xmlns:a16="http://schemas.microsoft.com/office/drawing/2014/main" id="{60186D4F-4F5E-48FB-3B8C-644A23C26840}"/>
                </a:ext>
              </a:extLst>
            </p:cNvPr>
            <p:cNvSpPr>
              <a:spLocks noChangeArrowheads="1"/>
            </p:cNvSpPr>
            <p:nvPr/>
          </p:nvSpPr>
          <p:spPr bwMode="auto">
            <a:xfrm>
              <a:off x="1488" y="2616"/>
              <a:ext cx="192" cy="192"/>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a</a:t>
              </a:r>
            </a:p>
          </p:txBody>
        </p:sp>
        <p:sp>
          <p:nvSpPr>
            <p:cNvPr id="77" name="Line 73">
              <a:extLst>
                <a:ext uri="{FF2B5EF4-FFF2-40B4-BE49-F238E27FC236}">
                  <a16:creationId xmlns:a16="http://schemas.microsoft.com/office/drawing/2014/main" id="{EACB6A82-41A2-139F-EC3D-7A74F9BB5352}"/>
                </a:ext>
              </a:extLst>
            </p:cNvPr>
            <p:cNvSpPr>
              <a:spLocks noChangeShapeType="1"/>
            </p:cNvSpPr>
            <p:nvPr/>
          </p:nvSpPr>
          <p:spPr bwMode="auto">
            <a:xfrm flipV="1">
              <a:off x="1680" y="2520"/>
              <a:ext cx="62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78" name="Line 74">
              <a:extLst>
                <a:ext uri="{FF2B5EF4-FFF2-40B4-BE49-F238E27FC236}">
                  <a16:creationId xmlns:a16="http://schemas.microsoft.com/office/drawing/2014/main" id="{A4746084-8C84-555E-C0D6-87A9987DD034}"/>
                </a:ext>
              </a:extLst>
            </p:cNvPr>
            <p:cNvSpPr>
              <a:spLocks noChangeShapeType="1"/>
            </p:cNvSpPr>
            <p:nvPr/>
          </p:nvSpPr>
          <p:spPr bwMode="auto">
            <a:xfrm flipH="1" flipV="1">
              <a:off x="1584" y="2808"/>
              <a:ext cx="96" cy="672"/>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79" name="Line 75">
              <a:extLst>
                <a:ext uri="{FF2B5EF4-FFF2-40B4-BE49-F238E27FC236}">
                  <a16:creationId xmlns:a16="http://schemas.microsoft.com/office/drawing/2014/main" id="{063C95EE-8CF3-AA8B-7D79-F5A7B1DBB4A2}"/>
                </a:ext>
              </a:extLst>
            </p:cNvPr>
            <p:cNvSpPr>
              <a:spLocks noChangeShapeType="1"/>
            </p:cNvSpPr>
            <p:nvPr/>
          </p:nvSpPr>
          <p:spPr bwMode="auto">
            <a:xfrm flipV="1">
              <a:off x="1728" y="2568"/>
              <a:ext cx="624"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80" name="Line 76">
              <a:extLst>
                <a:ext uri="{FF2B5EF4-FFF2-40B4-BE49-F238E27FC236}">
                  <a16:creationId xmlns:a16="http://schemas.microsoft.com/office/drawing/2014/main" id="{5B6A8E40-D035-4351-CBC8-09139E9379F0}"/>
                </a:ext>
              </a:extLst>
            </p:cNvPr>
            <p:cNvSpPr>
              <a:spLocks noChangeShapeType="1"/>
            </p:cNvSpPr>
            <p:nvPr/>
          </p:nvSpPr>
          <p:spPr bwMode="auto">
            <a:xfrm flipH="1" flipV="1">
              <a:off x="2400" y="2568"/>
              <a:ext cx="384"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sp>
          <p:nvSpPr>
            <p:cNvPr id="81" name="Text Box 77">
              <a:extLst>
                <a:ext uri="{FF2B5EF4-FFF2-40B4-BE49-F238E27FC236}">
                  <a16:creationId xmlns:a16="http://schemas.microsoft.com/office/drawing/2014/main" id="{95E09229-EB73-7F9C-54C6-CD77925D0537}"/>
                </a:ext>
              </a:extLst>
            </p:cNvPr>
            <p:cNvSpPr txBox="1">
              <a:spLocks noChangeArrowheads="1"/>
            </p:cNvSpPr>
            <p:nvPr/>
          </p:nvSpPr>
          <p:spPr bwMode="auto">
            <a:xfrm>
              <a:off x="1862" y="233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4</a:t>
              </a:r>
            </a:p>
          </p:txBody>
        </p:sp>
        <p:sp>
          <p:nvSpPr>
            <p:cNvPr id="82" name="Text Box 78">
              <a:extLst>
                <a:ext uri="{FF2B5EF4-FFF2-40B4-BE49-F238E27FC236}">
                  <a16:creationId xmlns:a16="http://schemas.microsoft.com/office/drawing/2014/main" id="{E691879B-7834-97FC-6CBE-C6F959A4F0CC}"/>
                </a:ext>
              </a:extLst>
            </p:cNvPr>
            <p:cNvSpPr txBox="1">
              <a:spLocks noChangeArrowheads="1"/>
            </p:cNvSpPr>
            <p:nvPr/>
          </p:nvSpPr>
          <p:spPr bwMode="auto">
            <a:xfrm>
              <a:off x="1440" y="303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2</a:t>
              </a:r>
            </a:p>
          </p:txBody>
        </p:sp>
        <p:sp>
          <p:nvSpPr>
            <p:cNvPr id="83" name="Text Box 79">
              <a:extLst>
                <a:ext uri="{FF2B5EF4-FFF2-40B4-BE49-F238E27FC236}">
                  <a16:creationId xmlns:a16="http://schemas.microsoft.com/office/drawing/2014/main" id="{01FC79B9-36C6-D5F1-CF37-EE27A1766AB3}"/>
                </a:ext>
              </a:extLst>
            </p:cNvPr>
            <p:cNvSpPr txBox="1">
              <a:spLocks noChangeArrowheads="1"/>
            </p:cNvSpPr>
            <p:nvPr/>
          </p:nvSpPr>
          <p:spPr bwMode="auto">
            <a:xfrm>
              <a:off x="1920" y="2841"/>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6</a:t>
              </a:r>
            </a:p>
          </p:txBody>
        </p:sp>
        <p:sp>
          <p:nvSpPr>
            <p:cNvPr id="84" name="Text Box 80">
              <a:extLst>
                <a:ext uri="{FF2B5EF4-FFF2-40B4-BE49-F238E27FC236}">
                  <a16:creationId xmlns:a16="http://schemas.microsoft.com/office/drawing/2014/main" id="{16E2E54E-7D79-BB2B-A0AE-D69A40609398}"/>
                </a:ext>
              </a:extLst>
            </p:cNvPr>
            <p:cNvSpPr txBox="1">
              <a:spLocks noChangeArrowheads="1"/>
            </p:cNvSpPr>
            <p:nvPr/>
          </p:nvSpPr>
          <p:spPr bwMode="auto">
            <a:xfrm>
              <a:off x="2544" y="2745"/>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1</a:t>
              </a:r>
            </a:p>
          </p:txBody>
        </p:sp>
        <p:sp>
          <p:nvSpPr>
            <p:cNvPr id="85" name="Text Box 81">
              <a:extLst>
                <a:ext uri="{FF2B5EF4-FFF2-40B4-BE49-F238E27FC236}">
                  <a16:creationId xmlns:a16="http://schemas.microsoft.com/office/drawing/2014/main" id="{9957C0B2-715B-4C81-585D-224489B91009}"/>
                </a:ext>
              </a:extLst>
            </p:cNvPr>
            <p:cNvSpPr txBox="1">
              <a:spLocks noChangeArrowheads="1"/>
            </p:cNvSpPr>
            <p:nvPr/>
          </p:nvSpPr>
          <p:spPr bwMode="auto">
            <a:xfrm>
              <a:off x="2160" y="3048"/>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endParaRPr kumimoji="0" lang="ko-KR" altLang="ko-KR" sz="1800" b="0">
                <a:solidFill>
                  <a:srgbClr val="001932"/>
                </a:solidFill>
                <a:ea typeface="굴림" pitchFamily="34" charset="-127"/>
              </a:endParaRPr>
            </a:p>
          </p:txBody>
        </p:sp>
        <p:sp>
          <p:nvSpPr>
            <p:cNvPr id="86" name="Text Box 82">
              <a:extLst>
                <a:ext uri="{FF2B5EF4-FFF2-40B4-BE49-F238E27FC236}">
                  <a16:creationId xmlns:a16="http://schemas.microsoft.com/office/drawing/2014/main" id="{3B240B8F-72AA-9FF9-FD0D-6055043878B7}"/>
                </a:ext>
              </a:extLst>
            </p:cNvPr>
            <p:cNvSpPr txBox="1">
              <a:spLocks noChangeArrowheads="1"/>
            </p:cNvSpPr>
            <p:nvPr/>
          </p:nvSpPr>
          <p:spPr bwMode="auto">
            <a:xfrm>
              <a:off x="2160" y="3480"/>
              <a:ext cx="1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2000" b="0">
                  <a:solidFill>
                    <a:srgbClr val="001932"/>
                  </a:solidFill>
                  <a:ea typeface="굴림" pitchFamily="34" charset="-127"/>
                </a:rPr>
                <a:t>3</a:t>
              </a:r>
            </a:p>
          </p:txBody>
        </p:sp>
        <p:sp>
          <p:nvSpPr>
            <p:cNvPr id="87" name="Line 83">
              <a:extLst>
                <a:ext uri="{FF2B5EF4-FFF2-40B4-BE49-F238E27FC236}">
                  <a16:creationId xmlns:a16="http://schemas.microsoft.com/office/drawing/2014/main" id="{25901C87-32DA-2455-2453-7A93921CC9D8}"/>
                </a:ext>
              </a:extLst>
            </p:cNvPr>
            <p:cNvSpPr>
              <a:spLocks noChangeShapeType="1"/>
            </p:cNvSpPr>
            <p:nvPr/>
          </p:nvSpPr>
          <p:spPr bwMode="auto">
            <a:xfrm flipV="1">
              <a:off x="1824" y="3504"/>
              <a:ext cx="864" cy="4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grpSp>
    </p:spTree>
    <p:extLst>
      <p:ext uri="{BB962C8B-B14F-4D97-AF65-F5344CB8AC3E}">
        <p14:creationId xmlns:p14="http://schemas.microsoft.com/office/powerpoint/2010/main" val="63799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additive="base">
                                        <p:cTn id="7" dur="500" fill="hold"/>
                                        <p:tgtEl>
                                          <p:spTgt spid="56"/>
                                        </p:tgtEl>
                                        <p:attrNameLst>
                                          <p:attrName>ppt_x</p:attrName>
                                        </p:attrNameLst>
                                      </p:cBhvr>
                                      <p:tavLst>
                                        <p:tav tm="0">
                                          <p:val>
                                            <p:strVal val="#ppt_x"/>
                                          </p:val>
                                        </p:tav>
                                        <p:tav tm="100000">
                                          <p:val>
                                            <p:strVal val="#ppt_x"/>
                                          </p:val>
                                        </p:tav>
                                      </p:tavLst>
                                    </p:anim>
                                    <p:anim calcmode="lin" valueType="num">
                                      <p:cBhvr additive="base">
                                        <p:cTn id="8"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2"/>
                                        </p:tgtEl>
                                        <p:attrNameLst>
                                          <p:attrName>style.visibility</p:attrName>
                                        </p:attrNameLst>
                                      </p:cBhvr>
                                      <p:to>
                                        <p:strVal val="visible"/>
                                      </p:to>
                                    </p:set>
                                    <p:anim calcmode="lin" valueType="num">
                                      <p:cBhvr additive="base">
                                        <p:cTn id="13" dur="500" fill="hold"/>
                                        <p:tgtEl>
                                          <p:spTgt spid="72"/>
                                        </p:tgtEl>
                                        <p:attrNameLst>
                                          <p:attrName>ppt_x</p:attrName>
                                        </p:attrNameLst>
                                      </p:cBhvr>
                                      <p:tavLst>
                                        <p:tav tm="0">
                                          <p:val>
                                            <p:strVal val="#ppt_x"/>
                                          </p:val>
                                        </p:tav>
                                        <p:tav tm="100000">
                                          <p:val>
                                            <p:strVal val="#ppt_x"/>
                                          </p:val>
                                        </p:tav>
                                      </p:tavLst>
                                    </p:anim>
                                    <p:anim calcmode="lin" valueType="num">
                                      <p:cBhvr additive="base">
                                        <p:cTn id="14"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ppt_x"/>
                                          </p:val>
                                        </p:tav>
                                        <p:tav tm="100000">
                                          <p:val>
                                            <p:strVal val="#ppt_x"/>
                                          </p:val>
                                        </p:tav>
                                      </p:tavLst>
                                    </p:anim>
                                    <p:anim calcmode="lin" valueType="num">
                                      <p:cBhvr additive="base">
                                        <p:cTn id="2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 calcmode="lin" valueType="num">
                                      <p:cBhvr additive="base">
                                        <p:cTn id="25" dur="500" fill="hold"/>
                                        <p:tgtEl>
                                          <p:spTgt spid="40"/>
                                        </p:tgtEl>
                                        <p:attrNameLst>
                                          <p:attrName>ppt_x</p:attrName>
                                        </p:attrNameLst>
                                      </p:cBhvr>
                                      <p:tavLst>
                                        <p:tav tm="0">
                                          <p:val>
                                            <p:strVal val="#ppt_x"/>
                                          </p:val>
                                        </p:tav>
                                        <p:tav tm="100000">
                                          <p:val>
                                            <p:strVal val="#ppt_x"/>
                                          </p:val>
                                        </p:tav>
                                      </p:tavLst>
                                    </p:anim>
                                    <p:anim calcmode="lin" valueType="num">
                                      <p:cBhvr additive="base">
                                        <p:cTn id="26"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Prim’s MST Algorithm, Contd.</a:t>
            </a:r>
            <a:endParaRPr sz="3800" b="1" spc="-18" dirty="0">
              <a:solidFill>
                <a:srgbClr val="0070C0"/>
              </a:solidFill>
            </a:endParaRPr>
          </a:p>
        </p:txBody>
      </p:sp>
      <p:sp>
        <p:nvSpPr>
          <p:cNvPr id="2" name="object 7">
            <a:extLst>
              <a:ext uri="{FF2B5EF4-FFF2-40B4-BE49-F238E27FC236}">
                <a16:creationId xmlns:a16="http://schemas.microsoft.com/office/drawing/2014/main" id="{D6BA1F22-AD79-9341-759B-5B35E01999CA}"/>
              </a:ext>
            </a:extLst>
          </p:cNvPr>
          <p:cNvSpPr txBox="1">
            <a:spLocks/>
          </p:cNvSpPr>
          <p:nvPr/>
        </p:nvSpPr>
        <p:spPr bwMode="auto">
          <a:xfrm>
            <a:off x="457200" y="1228384"/>
            <a:ext cx="114300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lang="en-US" altLang="en-US" sz="2800" b="1" dirty="0">
                <a:solidFill>
                  <a:srgbClr val="00B050"/>
                </a:solidFill>
                <a:latin typeface="Arial"/>
              </a:rPr>
              <a:t>Example</a:t>
            </a:r>
            <a:endParaRPr lang="en-US" altLang="en-US" sz="2400" dirty="0">
              <a:solidFill>
                <a:srgbClr val="00B050"/>
              </a:solidFill>
              <a:cs typeface="Arial" charset="0"/>
            </a:endParaRPr>
          </a:p>
        </p:txBody>
      </p:sp>
      <p:pic>
        <p:nvPicPr>
          <p:cNvPr id="7" name="Picture 6">
            <a:extLst>
              <a:ext uri="{FF2B5EF4-FFF2-40B4-BE49-F238E27FC236}">
                <a16:creationId xmlns:a16="http://schemas.microsoft.com/office/drawing/2014/main" id="{9EEC7DA9-ABC5-9F94-EB67-4E0E4E8CF72F}"/>
              </a:ext>
            </a:extLst>
          </p:cNvPr>
          <p:cNvPicPr/>
          <p:nvPr/>
        </p:nvPicPr>
        <p:blipFill>
          <a:blip r:embed="rId6" cstate="print"/>
          <a:srcRect/>
          <a:stretch>
            <a:fillRect/>
          </a:stretch>
        </p:blipFill>
        <p:spPr bwMode="auto">
          <a:xfrm>
            <a:off x="2590800" y="0"/>
            <a:ext cx="9601200" cy="6821774"/>
          </a:xfrm>
          <a:prstGeom prst="rect">
            <a:avLst/>
          </a:prstGeom>
          <a:noFill/>
          <a:ln w="9525">
            <a:noFill/>
            <a:miter lim="800000"/>
            <a:headEnd/>
            <a:tailEnd/>
          </a:ln>
        </p:spPr>
      </p:pic>
      <p:sp>
        <p:nvSpPr>
          <p:cNvPr id="10" name="Slide Number Placeholder 2">
            <a:extLst>
              <a:ext uri="{FF2B5EF4-FFF2-40B4-BE49-F238E27FC236}">
                <a16:creationId xmlns:a16="http://schemas.microsoft.com/office/drawing/2014/main" id="{DAAF6B79-FB5E-6C35-6853-7B884D390C99}"/>
              </a:ext>
            </a:extLst>
          </p:cNvPr>
          <p:cNvSpPr txBox="1">
            <a:spLocks/>
          </p:cNvSpPr>
          <p:nvPr/>
        </p:nvSpPr>
        <p:spPr>
          <a:xfrm>
            <a:off x="8737600" y="6356351"/>
            <a:ext cx="2844800" cy="365125"/>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pPr algn="r">
              <a:defRPr/>
            </a:pPr>
            <a:fld id="{C65781BD-3F4D-4CA7-A858-CE94DEA3B426}" type="slidenum">
              <a:rPr lang="en-US" smtClean="0">
                <a:solidFill>
                  <a:srgbClr val="000000"/>
                </a:solidFill>
              </a:rPr>
              <a:pPr algn="r">
                <a:defRPr/>
              </a:pPr>
              <a:t>9</a:t>
            </a:fld>
            <a:endParaRPr lang="en-US" dirty="0">
              <a:solidFill>
                <a:srgbClr val="000000"/>
              </a:solidFill>
            </a:endParaRPr>
          </a:p>
        </p:txBody>
      </p:sp>
    </p:spTree>
    <p:extLst>
      <p:ext uri="{BB962C8B-B14F-4D97-AF65-F5344CB8AC3E}">
        <p14:creationId xmlns:p14="http://schemas.microsoft.com/office/powerpoint/2010/main" val="517299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Prim’s MST Algorithm, Contd.</a:t>
            </a:r>
            <a:endParaRPr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2" name="object 7">
            <a:extLst>
              <a:ext uri="{FF2B5EF4-FFF2-40B4-BE49-F238E27FC236}">
                <a16:creationId xmlns:a16="http://schemas.microsoft.com/office/drawing/2014/main" id="{D6BA1F22-AD79-9341-759B-5B35E01999CA}"/>
              </a:ext>
            </a:extLst>
          </p:cNvPr>
          <p:cNvSpPr txBox="1">
            <a:spLocks/>
          </p:cNvSpPr>
          <p:nvPr/>
        </p:nvSpPr>
        <p:spPr bwMode="auto">
          <a:xfrm>
            <a:off x="457200" y="1228384"/>
            <a:ext cx="11277600" cy="3902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Proof by induction that this construction actually yields a MST</a:t>
            </a:r>
          </a:p>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The Crucial Property behind Prim’s Algorithm</a:t>
            </a:r>
          </a:p>
          <a:p>
            <a:pPr lvl="1">
              <a:defRPr/>
            </a:pPr>
            <a:r>
              <a:rPr lang="en-US" altLang="en-US" sz="2400" b="1" dirty="0">
                <a:solidFill>
                  <a:srgbClr val="FF0000"/>
                </a:solidFill>
                <a:cs typeface="Arial" charset="0"/>
              </a:rPr>
              <a:t>Claim: </a:t>
            </a:r>
            <a:r>
              <a:rPr lang="en-US" altLang="en-US" sz="2400" dirty="0">
                <a:cs typeface="Arial" charset="0"/>
              </a:rPr>
              <a:t>Let </a:t>
            </a:r>
            <a:r>
              <a:rPr lang="en-US" altLang="en-US" sz="2400" i="1" dirty="0">
                <a:latin typeface="Times New Roman" panose="02020603050405020304" pitchFamily="18" charset="0"/>
                <a:cs typeface="Times New Roman" panose="02020603050405020304" pitchFamily="18" charset="0"/>
              </a:rPr>
              <a:t>G</a:t>
            </a:r>
            <a:r>
              <a:rPr lang="en-US" altLang="en-US" sz="2400" dirty="0">
                <a:cs typeface="Arial" charset="0"/>
              </a:rPr>
              <a:t> = (</a:t>
            </a:r>
            <a:r>
              <a:rPr lang="en-US" altLang="en-US" sz="2400" i="1" dirty="0">
                <a:latin typeface="Times New Roman" panose="02020603050405020304" pitchFamily="18" charset="0"/>
                <a:cs typeface="Times New Roman" panose="02020603050405020304" pitchFamily="18" charset="0"/>
              </a:rPr>
              <a:t>V</a:t>
            </a:r>
            <a:r>
              <a:rPr lang="en-US" altLang="en-US" sz="2400" dirty="0">
                <a:cs typeface="Arial" charset="0"/>
              </a:rPr>
              <a:t>,</a:t>
            </a:r>
            <a:r>
              <a:rPr lang="en-US" altLang="en-US" sz="2400" i="1" dirty="0">
                <a:latin typeface="Times New Roman" panose="02020603050405020304" pitchFamily="18" charset="0"/>
                <a:cs typeface="Times New Roman" panose="02020603050405020304" pitchFamily="18" charset="0"/>
              </a:rPr>
              <a:t>E</a:t>
            </a:r>
            <a:r>
              <a:rPr lang="en-US" altLang="en-US" sz="2400" dirty="0">
                <a:cs typeface="Arial" charset="0"/>
              </a:rPr>
              <a:t>) be a weighted graph and (</a:t>
            </a:r>
            <a:r>
              <a:rPr lang="en-US" altLang="en-US" sz="2400" i="1" dirty="0">
                <a:latin typeface="Times New Roman" panose="02020603050405020304" pitchFamily="18" charset="0"/>
                <a:cs typeface="Times New Roman" panose="02020603050405020304" pitchFamily="18" charset="0"/>
              </a:rPr>
              <a:t>X</a:t>
            </a:r>
            <a:r>
              <a:rPr lang="en-US" altLang="en-US" sz="2400" dirty="0">
                <a:cs typeface="Arial" charset="0"/>
              </a:rPr>
              <a:t>,</a:t>
            </a:r>
            <a:r>
              <a:rPr lang="en-US" altLang="en-US" sz="2400" i="1" dirty="0">
                <a:latin typeface="Times New Roman" panose="02020603050405020304" pitchFamily="18" charset="0"/>
                <a:cs typeface="Times New Roman" panose="02020603050405020304" pitchFamily="18" charset="0"/>
              </a:rPr>
              <a:t>Y</a:t>
            </a:r>
            <a:r>
              <a:rPr lang="en-US" altLang="en-US" sz="2400" dirty="0">
                <a:cs typeface="Arial" charset="0"/>
              </a:rPr>
              <a:t>) be a partition of </a:t>
            </a:r>
            <a:r>
              <a:rPr lang="en-US" altLang="en-US" sz="2400" i="1" dirty="0">
                <a:latin typeface="Times New Roman" panose="02020603050405020304" pitchFamily="18" charset="0"/>
                <a:cs typeface="Times New Roman" panose="02020603050405020304" pitchFamily="18" charset="0"/>
              </a:rPr>
              <a:t>V</a:t>
            </a:r>
            <a:r>
              <a:rPr lang="en-US" altLang="en-US" sz="2400" dirty="0">
                <a:cs typeface="Arial" charset="0"/>
              </a:rPr>
              <a:t> (called a cut). Suppose </a:t>
            </a:r>
            <a:r>
              <a:rPr lang="en-US" altLang="en-US" sz="2400" i="1" dirty="0">
                <a:latin typeface="Times New Roman" panose="02020603050405020304" pitchFamily="18" charset="0"/>
                <a:cs typeface="Times New Roman" panose="02020603050405020304" pitchFamily="18" charset="0"/>
              </a:rPr>
              <a:t>e</a:t>
            </a:r>
            <a:r>
              <a:rPr lang="en-US" altLang="en-US" sz="2400" dirty="0">
                <a:cs typeface="Arial" charset="0"/>
              </a:rPr>
              <a:t> =  (</a:t>
            </a:r>
            <a:r>
              <a:rPr lang="en-US" altLang="en-US" sz="2400" i="1" dirty="0" err="1">
                <a:latin typeface="Times New Roman" panose="02020603050405020304" pitchFamily="18" charset="0"/>
                <a:cs typeface="Times New Roman" panose="02020603050405020304" pitchFamily="18" charset="0"/>
              </a:rPr>
              <a:t>x</a:t>
            </a:r>
            <a:r>
              <a:rPr lang="en-US" altLang="en-US" sz="2400" dirty="0" err="1">
                <a:cs typeface="Arial" charset="0"/>
              </a:rPr>
              <a:t>,</a:t>
            </a:r>
            <a:r>
              <a:rPr lang="en-US" altLang="en-US" sz="2400" i="1" dirty="0" err="1">
                <a:latin typeface="Times New Roman" panose="02020603050405020304" pitchFamily="18" charset="0"/>
                <a:cs typeface="Times New Roman" panose="02020603050405020304" pitchFamily="18" charset="0"/>
              </a:rPr>
              <a:t>y</a:t>
            </a:r>
            <a:r>
              <a:rPr lang="en-US" altLang="en-US" sz="2400" dirty="0">
                <a:cs typeface="Arial" charset="0"/>
              </a:rPr>
              <a:t>) is an edge of </a:t>
            </a:r>
            <a:r>
              <a:rPr lang="en-US" altLang="en-US" sz="2400" i="1" dirty="0">
                <a:latin typeface="Times New Roman" panose="02020603050405020304" pitchFamily="18" charset="0"/>
                <a:cs typeface="Times New Roman" panose="02020603050405020304" pitchFamily="18" charset="0"/>
              </a:rPr>
              <a:t>E</a:t>
            </a:r>
            <a:r>
              <a:rPr lang="en-US" altLang="en-US" sz="2400" dirty="0">
                <a:cs typeface="Arial" charset="0"/>
              </a:rPr>
              <a:t> across the </a:t>
            </a:r>
            <a:r>
              <a:rPr lang="en-US" altLang="en-US" sz="2400" b="1" dirty="0">
                <a:solidFill>
                  <a:srgbClr val="7030A0"/>
                </a:solidFill>
                <a:cs typeface="Arial" charset="0"/>
              </a:rPr>
              <a:t>cut</a:t>
            </a:r>
            <a:r>
              <a:rPr lang="en-US" altLang="en-US" sz="2400" dirty="0">
                <a:cs typeface="Arial" charset="0"/>
              </a:rPr>
              <a:t>, where </a:t>
            </a:r>
            <a:r>
              <a:rPr lang="en-US" altLang="en-US" sz="2400" i="1" dirty="0">
                <a:latin typeface="Times New Roman" panose="02020603050405020304" pitchFamily="18" charset="0"/>
                <a:cs typeface="Times New Roman" panose="02020603050405020304" pitchFamily="18" charset="0"/>
              </a:rPr>
              <a:t>x</a:t>
            </a:r>
            <a:r>
              <a:rPr lang="en-US" altLang="en-US" sz="2400" dirty="0">
                <a:cs typeface="Arial" charset="0"/>
              </a:rPr>
              <a:t> is in </a:t>
            </a:r>
            <a:r>
              <a:rPr lang="en-US" altLang="en-US" sz="2400" i="1" dirty="0">
                <a:latin typeface="Times New Roman" panose="02020603050405020304" pitchFamily="18" charset="0"/>
                <a:cs typeface="Times New Roman" panose="02020603050405020304" pitchFamily="18" charset="0"/>
              </a:rPr>
              <a:t>X</a:t>
            </a:r>
            <a:r>
              <a:rPr lang="en-US" altLang="en-US" sz="2400" dirty="0">
                <a:cs typeface="Arial" charset="0"/>
              </a:rPr>
              <a:t> and </a:t>
            </a:r>
            <a:r>
              <a:rPr lang="en-US" altLang="en-US" sz="2400" i="1" dirty="0">
                <a:latin typeface="Times New Roman" panose="02020603050405020304" pitchFamily="18" charset="0"/>
                <a:cs typeface="Times New Roman" panose="02020603050405020304" pitchFamily="18" charset="0"/>
              </a:rPr>
              <a:t>y</a:t>
            </a:r>
            <a:r>
              <a:rPr lang="en-US" altLang="en-US" sz="2400" dirty="0">
                <a:cs typeface="Arial" charset="0"/>
              </a:rPr>
              <a:t> is in </a:t>
            </a:r>
            <a:r>
              <a:rPr lang="en-US" altLang="en-US" sz="2400" i="1" dirty="0">
                <a:latin typeface="Times New Roman" panose="02020603050405020304" pitchFamily="18" charset="0"/>
                <a:cs typeface="Times New Roman" panose="02020603050405020304" pitchFamily="18" charset="0"/>
              </a:rPr>
              <a:t>Y</a:t>
            </a:r>
            <a:r>
              <a:rPr lang="en-US" altLang="en-US" sz="2400" dirty="0">
                <a:cs typeface="Arial" charset="0"/>
              </a:rPr>
              <a:t>, and </a:t>
            </a:r>
            <a:r>
              <a:rPr lang="en-US" altLang="en-US" sz="2400" i="1" dirty="0">
                <a:latin typeface="Times New Roman" panose="02020603050405020304" pitchFamily="18" charset="0"/>
                <a:cs typeface="Times New Roman" panose="02020603050405020304" pitchFamily="18" charset="0"/>
              </a:rPr>
              <a:t>e</a:t>
            </a:r>
            <a:r>
              <a:rPr lang="en-US" altLang="en-US" sz="2400" dirty="0">
                <a:cs typeface="Arial" charset="0"/>
              </a:rPr>
              <a:t> has the minimum weight among all such crossing edges (called a </a:t>
            </a:r>
            <a:r>
              <a:rPr lang="en-US" altLang="en-US" sz="2400" b="1" dirty="0">
                <a:solidFill>
                  <a:srgbClr val="7030A0"/>
                </a:solidFill>
                <a:cs typeface="Arial" charset="0"/>
              </a:rPr>
              <a:t>light</a:t>
            </a:r>
            <a:r>
              <a:rPr lang="en-US" altLang="en-US" sz="2400" dirty="0">
                <a:cs typeface="Arial" charset="0"/>
              </a:rPr>
              <a:t> edge). Then there is a MST containing </a:t>
            </a:r>
            <a:r>
              <a:rPr lang="en-US" altLang="en-US" sz="2400" i="1" dirty="0">
                <a:latin typeface="Times New Roman" panose="02020603050405020304" pitchFamily="18" charset="0"/>
                <a:cs typeface="Times New Roman" panose="02020603050405020304" pitchFamily="18" charset="0"/>
              </a:rPr>
              <a:t>e</a:t>
            </a:r>
            <a:r>
              <a:rPr lang="en-US" altLang="en-US" sz="2400" dirty="0">
                <a:cs typeface="Arial" charset="0"/>
              </a:rPr>
              <a:t>.</a:t>
            </a:r>
          </a:p>
          <a:p>
            <a:pPr lvl="1" indent="-342900">
              <a:buSzPct val="75000"/>
              <a:buBlip>
                <a:blip r:embed="rId3"/>
              </a:buBlip>
              <a:defRPr/>
            </a:pPr>
            <a:endParaRPr kumimoji="0" lang="en-US" altLang="en-US" sz="2400" b="0" i="0" u="none" strike="noStrike" kern="1200" cap="none" spc="0" normalizeH="0" baseline="0" noProof="0" dirty="0">
              <a:ln>
                <a:noFill/>
              </a:ln>
              <a:solidFill>
                <a:srgbClr val="000000"/>
              </a:solidFill>
              <a:effectLst/>
              <a:uLnTx/>
              <a:uFillTx/>
              <a:latin typeface="Arial"/>
              <a:ea typeface="ＭＳ Ｐゴシック" charset="0"/>
              <a:cs typeface="+mn-cs"/>
            </a:endParaRPr>
          </a:p>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endParaRPr lang="en-US" altLang="en-US" sz="2800" dirty="0">
              <a:solidFill>
                <a:srgbClr val="000000"/>
              </a:solidFill>
              <a:latin typeface="Arial"/>
            </a:endParaRPr>
          </a:p>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endParaRPr kumimoji="0" lang="en-US" altLang="en-US" sz="2400" b="0" i="0" u="none" strike="noStrike" kern="1200" cap="none" spc="0" normalizeH="0" baseline="0" noProof="0" dirty="0">
              <a:ln>
                <a:noFill/>
              </a:ln>
              <a:solidFill>
                <a:srgbClr val="000050"/>
              </a:solidFill>
              <a:effectLst/>
              <a:uLnTx/>
              <a:uFillTx/>
              <a:latin typeface="Arial"/>
              <a:ea typeface="ＭＳ Ｐゴシック" charset="0"/>
              <a:cs typeface="Arial" charset="0"/>
            </a:endParaRPr>
          </a:p>
        </p:txBody>
      </p:sp>
      <p:sp>
        <p:nvSpPr>
          <p:cNvPr id="5" name="TextBox 4">
            <a:extLst>
              <a:ext uri="{FF2B5EF4-FFF2-40B4-BE49-F238E27FC236}">
                <a16:creationId xmlns:a16="http://schemas.microsoft.com/office/drawing/2014/main" id="{7BC368D7-2A2F-595E-9667-B640BF274AF9}"/>
              </a:ext>
            </a:extLst>
          </p:cNvPr>
          <p:cNvSpPr txBox="1"/>
          <p:nvPr/>
        </p:nvSpPr>
        <p:spPr>
          <a:xfrm>
            <a:off x="2743200" y="6535579"/>
            <a:ext cx="8534400" cy="24622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hlinkClick r:id="rId6"/>
              </a:rPr>
              <a:t>https://gtl.csa.iisc.ac.in/dsa/node183.html</a:t>
            </a:r>
            <a:endParaRPr kumimoji="0" lang="en-US" sz="10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4" name="Oval 4">
            <a:extLst>
              <a:ext uri="{FF2B5EF4-FFF2-40B4-BE49-F238E27FC236}">
                <a16:creationId xmlns:a16="http://schemas.microsoft.com/office/drawing/2014/main" id="{C8E410AE-0B7E-BD3F-2285-927F111AA325}"/>
              </a:ext>
            </a:extLst>
          </p:cNvPr>
          <p:cNvSpPr>
            <a:spLocks noChangeArrowheads="1"/>
          </p:cNvSpPr>
          <p:nvPr/>
        </p:nvSpPr>
        <p:spPr bwMode="auto">
          <a:xfrm>
            <a:off x="6705600" y="5043487"/>
            <a:ext cx="3048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endParaRPr kumimoji="0" lang="ko-KR" altLang="ko-KR" b="0">
              <a:solidFill>
                <a:srgbClr val="001932"/>
              </a:solidFill>
              <a:ea typeface="굴림" pitchFamily="34" charset="-127"/>
            </a:endParaRPr>
          </a:p>
        </p:txBody>
      </p:sp>
      <p:sp>
        <p:nvSpPr>
          <p:cNvPr id="7" name="Oval 5">
            <a:extLst>
              <a:ext uri="{FF2B5EF4-FFF2-40B4-BE49-F238E27FC236}">
                <a16:creationId xmlns:a16="http://schemas.microsoft.com/office/drawing/2014/main" id="{63605555-B625-012F-3A90-4A9ADFA49171}"/>
              </a:ext>
            </a:extLst>
          </p:cNvPr>
          <p:cNvSpPr>
            <a:spLocks noChangeArrowheads="1"/>
          </p:cNvSpPr>
          <p:nvPr/>
        </p:nvSpPr>
        <p:spPr bwMode="auto">
          <a:xfrm>
            <a:off x="8610600" y="6186487"/>
            <a:ext cx="3048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endParaRPr kumimoji="0" lang="ko-KR" altLang="ko-KR" b="0">
              <a:solidFill>
                <a:srgbClr val="001932"/>
              </a:solidFill>
              <a:ea typeface="굴림" pitchFamily="34" charset="-127"/>
            </a:endParaRPr>
          </a:p>
        </p:txBody>
      </p:sp>
      <p:sp>
        <p:nvSpPr>
          <p:cNvPr id="8" name="Oval 6">
            <a:extLst>
              <a:ext uri="{FF2B5EF4-FFF2-40B4-BE49-F238E27FC236}">
                <a16:creationId xmlns:a16="http://schemas.microsoft.com/office/drawing/2014/main" id="{66C36DC8-3534-431A-DAA2-D17E231DC6F2}"/>
              </a:ext>
            </a:extLst>
          </p:cNvPr>
          <p:cNvSpPr>
            <a:spLocks noChangeArrowheads="1"/>
          </p:cNvSpPr>
          <p:nvPr/>
        </p:nvSpPr>
        <p:spPr bwMode="auto">
          <a:xfrm>
            <a:off x="5638800" y="5957887"/>
            <a:ext cx="3048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endParaRPr kumimoji="0" lang="ko-KR" altLang="ko-KR" b="0">
              <a:solidFill>
                <a:srgbClr val="001932"/>
              </a:solidFill>
              <a:ea typeface="굴림" pitchFamily="34" charset="-127"/>
            </a:endParaRPr>
          </a:p>
        </p:txBody>
      </p:sp>
      <p:sp>
        <p:nvSpPr>
          <p:cNvPr id="9" name="Oval 7">
            <a:extLst>
              <a:ext uri="{FF2B5EF4-FFF2-40B4-BE49-F238E27FC236}">
                <a16:creationId xmlns:a16="http://schemas.microsoft.com/office/drawing/2014/main" id="{B8C6A7C5-5ADE-6BBD-4FC7-A09CF5E09E2E}"/>
              </a:ext>
            </a:extLst>
          </p:cNvPr>
          <p:cNvSpPr>
            <a:spLocks noChangeArrowheads="1"/>
          </p:cNvSpPr>
          <p:nvPr/>
        </p:nvSpPr>
        <p:spPr bwMode="auto">
          <a:xfrm>
            <a:off x="5562600" y="4738687"/>
            <a:ext cx="3048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endParaRPr kumimoji="0" lang="ko-KR" altLang="ko-KR" b="0">
              <a:solidFill>
                <a:srgbClr val="001932"/>
              </a:solidFill>
              <a:ea typeface="굴림" pitchFamily="34" charset="-127"/>
            </a:endParaRPr>
          </a:p>
        </p:txBody>
      </p:sp>
      <p:sp>
        <p:nvSpPr>
          <p:cNvPr id="10" name="Text Box 8">
            <a:extLst>
              <a:ext uri="{FF2B5EF4-FFF2-40B4-BE49-F238E27FC236}">
                <a16:creationId xmlns:a16="http://schemas.microsoft.com/office/drawing/2014/main" id="{59600DCC-35A8-1C31-8F38-987FDD66C42B}"/>
              </a:ext>
            </a:extLst>
          </p:cNvPr>
          <p:cNvSpPr txBox="1">
            <a:spLocks noChangeArrowheads="1"/>
          </p:cNvSpPr>
          <p:nvPr/>
        </p:nvSpPr>
        <p:spPr bwMode="auto">
          <a:xfrm>
            <a:off x="7086600" y="3810000"/>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endParaRPr kumimoji="0" lang="ko-KR" altLang="ko-KR" sz="1800" b="0">
              <a:solidFill>
                <a:srgbClr val="001932"/>
              </a:solidFill>
              <a:ea typeface="굴림" pitchFamily="34" charset="-127"/>
            </a:endParaRPr>
          </a:p>
        </p:txBody>
      </p:sp>
      <p:sp>
        <p:nvSpPr>
          <p:cNvPr id="11" name="Oval 9">
            <a:extLst>
              <a:ext uri="{FF2B5EF4-FFF2-40B4-BE49-F238E27FC236}">
                <a16:creationId xmlns:a16="http://schemas.microsoft.com/office/drawing/2014/main" id="{A43ADB9B-56E2-9B33-0F2F-622DDDD12511}"/>
              </a:ext>
            </a:extLst>
          </p:cNvPr>
          <p:cNvSpPr>
            <a:spLocks noChangeArrowheads="1"/>
          </p:cNvSpPr>
          <p:nvPr/>
        </p:nvSpPr>
        <p:spPr bwMode="auto">
          <a:xfrm>
            <a:off x="9144000" y="4814887"/>
            <a:ext cx="3048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y</a:t>
            </a:r>
          </a:p>
        </p:txBody>
      </p:sp>
      <p:sp>
        <p:nvSpPr>
          <p:cNvPr id="12" name="Oval 10">
            <a:extLst>
              <a:ext uri="{FF2B5EF4-FFF2-40B4-BE49-F238E27FC236}">
                <a16:creationId xmlns:a16="http://schemas.microsoft.com/office/drawing/2014/main" id="{1ADA8381-8BAB-5997-54E9-233C34056B81}"/>
              </a:ext>
            </a:extLst>
          </p:cNvPr>
          <p:cNvSpPr>
            <a:spLocks noChangeArrowheads="1"/>
          </p:cNvSpPr>
          <p:nvPr/>
        </p:nvSpPr>
        <p:spPr bwMode="auto">
          <a:xfrm>
            <a:off x="7162800" y="6338887"/>
            <a:ext cx="3048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endParaRPr kumimoji="0" lang="ko-KR" altLang="ko-KR" b="0">
              <a:solidFill>
                <a:srgbClr val="001932"/>
              </a:solidFill>
              <a:ea typeface="굴림" pitchFamily="34" charset="-127"/>
            </a:endParaRPr>
          </a:p>
        </p:txBody>
      </p:sp>
      <p:sp>
        <p:nvSpPr>
          <p:cNvPr id="13" name="Oval 11">
            <a:extLst>
              <a:ext uri="{FF2B5EF4-FFF2-40B4-BE49-F238E27FC236}">
                <a16:creationId xmlns:a16="http://schemas.microsoft.com/office/drawing/2014/main" id="{B8C6F5C2-3752-595E-6F84-A00B8BE5BB80}"/>
              </a:ext>
            </a:extLst>
          </p:cNvPr>
          <p:cNvSpPr>
            <a:spLocks noChangeArrowheads="1"/>
          </p:cNvSpPr>
          <p:nvPr/>
        </p:nvSpPr>
        <p:spPr bwMode="auto">
          <a:xfrm>
            <a:off x="8001000" y="5348287"/>
            <a:ext cx="3048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b="0">
                <a:solidFill>
                  <a:srgbClr val="001932"/>
                </a:solidFill>
                <a:ea typeface="굴림" pitchFamily="34" charset="-127"/>
              </a:rPr>
              <a:t>x</a:t>
            </a:r>
          </a:p>
        </p:txBody>
      </p:sp>
      <p:sp>
        <p:nvSpPr>
          <p:cNvPr id="14" name="Oval 12">
            <a:extLst>
              <a:ext uri="{FF2B5EF4-FFF2-40B4-BE49-F238E27FC236}">
                <a16:creationId xmlns:a16="http://schemas.microsoft.com/office/drawing/2014/main" id="{2B500B7F-3696-2071-CD8B-76208175A84A}"/>
              </a:ext>
            </a:extLst>
          </p:cNvPr>
          <p:cNvSpPr>
            <a:spLocks noChangeArrowheads="1"/>
          </p:cNvSpPr>
          <p:nvPr/>
        </p:nvSpPr>
        <p:spPr bwMode="auto">
          <a:xfrm>
            <a:off x="7391400" y="4052887"/>
            <a:ext cx="3048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endParaRPr kumimoji="0" lang="ko-KR" altLang="ko-KR" b="0">
              <a:solidFill>
                <a:srgbClr val="001932"/>
              </a:solidFill>
              <a:ea typeface="굴림" pitchFamily="34" charset="-127"/>
            </a:endParaRPr>
          </a:p>
        </p:txBody>
      </p:sp>
      <p:sp>
        <p:nvSpPr>
          <p:cNvPr id="15" name="Oval 13">
            <a:extLst>
              <a:ext uri="{FF2B5EF4-FFF2-40B4-BE49-F238E27FC236}">
                <a16:creationId xmlns:a16="http://schemas.microsoft.com/office/drawing/2014/main" id="{64256DDE-334D-9692-37C8-2545FCC6027D}"/>
              </a:ext>
            </a:extLst>
          </p:cNvPr>
          <p:cNvSpPr>
            <a:spLocks noChangeArrowheads="1"/>
          </p:cNvSpPr>
          <p:nvPr/>
        </p:nvSpPr>
        <p:spPr bwMode="auto">
          <a:xfrm>
            <a:off x="8686800" y="3976687"/>
            <a:ext cx="3048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endParaRPr kumimoji="0" lang="ko-KR" altLang="ko-KR" b="0">
              <a:solidFill>
                <a:srgbClr val="001932"/>
              </a:solidFill>
              <a:ea typeface="굴림" pitchFamily="34" charset="-127"/>
            </a:endParaRPr>
          </a:p>
        </p:txBody>
      </p:sp>
      <p:sp>
        <p:nvSpPr>
          <p:cNvPr id="16" name="Oval 14">
            <a:extLst>
              <a:ext uri="{FF2B5EF4-FFF2-40B4-BE49-F238E27FC236}">
                <a16:creationId xmlns:a16="http://schemas.microsoft.com/office/drawing/2014/main" id="{DD57A828-CB94-7F56-502D-C8CDAA8ABAD0}"/>
              </a:ext>
            </a:extLst>
          </p:cNvPr>
          <p:cNvSpPr>
            <a:spLocks noChangeArrowheads="1"/>
          </p:cNvSpPr>
          <p:nvPr/>
        </p:nvSpPr>
        <p:spPr bwMode="auto">
          <a:xfrm>
            <a:off x="9829800" y="5729287"/>
            <a:ext cx="3048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endParaRPr kumimoji="0" lang="ko-KR" altLang="ko-KR" b="0">
              <a:solidFill>
                <a:srgbClr val="001932"/>
              </a:solidFill>
              <a:ea typeface="굴림" pitchFamily="34" charset="-127"/>
            </a:endParaRPr>
          </a:p>
        </p:txBody>
      </p:sp>
      <p:sp>
        <p:nvSpPr>
          <p:cNvPr id="17" name="Freeform 18">
            <a:extLst>
              <a:ext uri="{FF2B5EF4-FFF2-40B4-BE49-F238E27FC236}">
                <a16:creationId xmlns:a16="http://schemas.microsoft.com/office/drawing/2014/main" id="{FB7E4A2D-B81C-AA2E-C1A4-3A456CE247BD}"/>
              </a:ext>
            </a:extLst>
          </p:cNvPr>
          <p:cNvSpPr>
            <a:spLocks/>
          </p:cNvSpPr>
          <p:nvPr/>
        </p:nvSpPr>
        <p:spPr bwMode="auto">
          <a:xfrm>
            <a:off x="6019800" y="3900487"/>
            <a:ext cx="4508500" cy="2819400"/>
          </a:xfrm>
          <a:custGeom>
            <a:avLst/>
            <a:gdLst>
              <a:gd name="T0" fmla="*/ 0 w 2840"/>
              <a:gd name="T1" fmla="*/ 0 h 1776"/>
              <a:gd name="T2" fmla="*/ 2147483646 w 2840"/>
              <a:gd name="T3" fmla="*/ 2147483646 h 1776"/>
              <a:gd name="T4" fmla="*/ 2147483646 w 2840"/>
              <a:gd name="T5" fmla="*/ 2147483646 h 1776"/>
              <a:gd name="T6" fmla="*/ 2147483646 w 2840"/>
              <a:gd name="T7" fmla="*/ 2147483646 h 1776"/>
              <a:gd name="T8" fmla="*/ 2147483646 w 2840"/>
              <a:gd name="T9" fmla="*/ 2147483646 h 1776"/>
              <a:gd name="T10" fmla="*/ 2147483646 w 2840"/>
              <a:gd name="T11" fmla="*/ 2147483646 h 1776"/>
              <a:gd name="T12" fmla="*/ 2147483646 w 2840"/>
              <a:gd name="T13" fmla="*/ 2147483646 h 1776"/>
              <a:gd name="T14" fmla="*/ 2147483646 w 2840"/>
              <a:gd name="T15" fmla="*/ 2147483646 h 17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40" h="1776">
                <a:moveTo>
                  <a:pt x="0" y="0"/>
                </a:moveTo>
                <a:cubicBezTo>
                  <a:pt x="284" y="220"/>
                  <a:pt x="568" y="440"/>
                  <a:pt x="816" y="528"/>
                </a:cubicBezTo>
                <a:cubicBezTo>
                  <a:pt x="1064" y="616"/>
                  <a:pt x="1320" y="480"/>
                  <a:pt x="1488" y="528"/>
                </a:cubicBezTo>
                <a:cubicBezTo>
                  <a:pt x="1656" y="576"/>
                  <a:pt x="1736" y="712"/>
                  <a:pt x="1824" y="816"/>
                </a:cubicBezTo>
                <a:cubicBezTo>
                  <a:pt x="1912" y="920"/>
                  <a:pt x="1960" y="1032"/>
                  <a:pt x="2016" y="1152"/>
                </a:cubicBezTo>
                <a:cubicBezTo>
                  <a:pt x="2072" y="1272"/>
                  <a:pt x="2040" y="1440"/>
                  <a:pt x="2160" y="1536"/>
                </a:cubicBezTo>
                <a:cubicBezTo>
                  <a:pt x="2280" y="1632"/>
                  <a:pt x="2632" y="1688"/>
                  <a:pt x="2736" y="1728"/>
                </a:cubicBezTo>
                <a:cubicBezTo>
                  <a:pt x="2840" y="1768"/>
                  <a:pt x="2776" y="1768"/>
                  <a:pt x="2784" y="1776"/>
                </a:cubicBezTo>
              </a:path>
            </a:pathLst>
          </a:custGeom>
          <a:noFill/>
          <a:ln w="12700" cap="flat" cmpd="sng">
            <a:solidFill>
              <a:srgbClr val="FF0000"/>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solidFill>
                <a:srgbClr val="FFFFFF"/>
              </a:solidFill>
              <a:latin typeface="Times New Roman" panose="02020603050405020304" pitchFamily="18" charset="0"/>
              <a:ea typeface="+mn-ea"/>
            </a:endParaRPr>
          </a:p>
        </p:txBody>
      </p:sp>
      <p:cxnSp>
        <p:nvCxnSpPr>
          <p:cNvPr id="18" name="AutoShape 19">
            <a:extLst>
              <a:ext uri="{FF2B5EF4-FFF2-40B4-BE49-F238E27FC236}">
                <a16:creationId xmlns:a16="http://schemas.microsoft.com/office/drawing/2014/main" id="{CD8F0B96-8215-F1D3-7F45-6B8AAA88684D}"/>
              </a:ext>
            </a:extLst>
          </p:cNvPr>
          <p:cNvCxnSpPr>
            <a:cxnSpLocks noChangeShapeType="1"/>
            <a:stCxn id="17" idx="1"/>
            <a:endCxn id="17" idx="1"/>
          </p:cNvCxnSpPr>
          <p:nvPr/>
        </p:nvCxnSpPr>
        <p:spPr bwMode="auto">
          <a:xfrm>
            <a:off x="7315200" y="4738687"/>
            <a:ext cx="0" cy="0"/>
          </a:xfrm>
          <a:prstGeom prst="straightConnector1">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22">
            <a:extLst>
              <a:ext uri="{FF2B5EF4-FFF2-40B4-BE49-F238E27FC236}">
                <a16:creationId xmlns:a16="http://schemas.microsoft.com/office/drawing/2014/main" id="{2AC8DAD7-E3A1-6B24-97F7-0E419459C44B}"/>
              </a:ext>
            </a:extLst>
          </p:cNvPr>
          <p:cNvCxnSpPr>
            <a:cxnSpLocks noChangeShapeType="1"/>
            <a:stCxn id="17" idx="1"/>
            <a:endCxn id="17" idx="1"/>
          </p:cNvCxnSpPr>
          <p:nvPr/>
        </p:nvCxnSpPr>
        <p:spPr bwMode="auto">
          <a:xfrm>
            <a:off x="7315200" y="4738687"/>
            <a:ext cx="0" cy="0"/>
          </a:xfrm>
          <a:prstGeom prst="straightConnector1">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27">
            <a:extLst>
              <a:ext uri="{FF2B5EF4-FFF2-40B4-BE49-F238E27FC236}">
                <a16:creationId xmlns:a16="http://schemas.microsoft.com/office/drawing/2014/main" id="{457E3312-32FD-7D0A-38A7-96F3C3F59146}"/>
              </a:ext>
            </a:extLst>
          </p:cNvPr>
          <p:cNvCxnSpPr>
            <a:cxnSpLocks noChangeShapeType="1"/>
            <a:stCxn id="14" idx="3"/>
            <a:endCxn id="4" idx="7"/>
          </p:cNvCxnSpPr>
          <p:nvPr/>
        </p:nvCxnSpPr>
        <p:spPr bwMode="auto">
          <a:xfrm flipH="1">
            <a:off x="6965950" y="4313237"/>
            <a:ext cx="469900" cy="774700"/>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28">
            <a:extLst>
              <a:ext uri="{FF2B5EF4-FFF2-40B4-BE49-F238E27FC236}">
                <a16:creationId xmlns:a16="http://schemas.microsoft.com/office/drawing/2014/main" id="{5580658D-1FB3-D5E7-2033-8BEA31C360A7}"/>
              </a:ext>
            </a:extLst>
          </p:cNvPr>
          <p:cNvCxnSpPr>
            <a:cxnSpLocks noChangeShapeType="1"/>
            <a:stCxn id="14" idx="4"/>
            <a:endCxn id="13" idx="1"/>
          </p:cNvCxnSpPr>
          <p:nvPr/>
        </p:nvCxnSpPr>
        <p:spPr bwMode="auto">
          <a:xfrm>
            <a:off x="7543800" y="4357687"/>
            <a:ext cx="501650" cy="1035050"/>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AutoShape 29">
            <a:extLst>
              <a:ext uri="{FF2B5EF4-FFF2-40B4-BE49-F238E27FC236}">
                <a16:creationId xmlns:a16="http://schemas.microsoft.com/office/drawing/2014/main" id="{2562FF24-CA2F-5ED5-431B-291223B25401}"/>
              </a:ext>
            </a:extLst>
          </p:cNvPr>
          <p:cNvCxnSpPr>
            <a:cxnSpLocks noChangeShapeType="1"/>
            <a:stCxn id="15" idx="3"/>
            <a:endCxn id="13" idx="0"/>
          </p:cNvCxnSpPr>
          <p:nvPr/>
        </p:nvCxnSpPr>
        <p:spPr bwMode="auto">
          <a:xfrm flipH="1">
            <a:off x="8153400" y="4237037"/>
            <a:ext cx="577850" cy="1111250"/>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30">
            <a:extLst>
              <a:ext uri="{FF2B5EF4-FFF2-40B4-BE49-F238E27FC236}">
                <a16:creationId xmlns:a16="http://schemas.microsoft.com/office/drawing/2014/main" id="{3068A1D3-6E59-EA62-ECC9-743A4D0DA38A}"/>
              </a:ext>
            </a:extLst>
          </p:cNvPr>
          <p:cNvCxnSpPr>
            <a:cxnSpLocks noChangeShapeType="1"/>
            <a:stCxn id="11" idx="3"/>
            <a:endCxn id="13" idx="6"/>
          </p:cNvCxnSpPr>
          <p:nvPr/>
        </p:nvCxnSpPr>
        <p:spPr bwMode="auto">
          <a:xfrm flipH="1">
            <a:off x="8305800" y="5075237"/>
            <a:ext cx="882650" cy="425450"/>
          </a:xfrm>
          <a:prstGeom prst="straightConnector1">
            <a:avLst/>
          </a:prstGeom>
          <a:noFill/>
          <a:ln w="12700">
            <a:solidFill>
              <a:srgbClr val="00CC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AutoShape 31">
            <a:extLst>
              <a:ext uri="{FF2B5EF4-FFF2-40B4-BE49-F238E27FC236}">
                <a16:creationId xmlns:a16="http://schemas.microsoft.com/office/drawing/2014/main" id="{8992645A-F702-06DD-B6EA-7231228C042F}"/>
              </a:ext>
            </a:extLst>
          </p:cNvPr>
          <p:cNvCxnSpPr>
            <a:cxnSpLocks noChangeShapeType="1"/>
            <a:stCxn id="11" idx="4"/>
            <a:endCxn id="7" idx="7"/>
          </p:cNvCxnSpPr>
          <p:nvPr/>
        </p:nvCxnSpPr>
        <p:spPr bwMode="auto">
          <a:xfrm flipH="1">
            <a:off x="8870950" y="5119687"/>
            <a:ext cx="425450" cy="1111250"/>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AutoShape 32">
            <a:extLst>
              <a:ext uri="{FF2B5EF4-FFF2-40B4-BE49-F238E27FC236}">
                <a16:creationId xmlns:a16="http://schemas.microsoft.com/office/drawing/2014/main" id="{043CBDF7-8077-6C5D-CE31-427AA22C4F65}"/>
              </a:ext>
            </a:extLst>
          </p:cNvPr>
          <p:cNvCxnSpPr>
            <a:cxnSpLocks noChangeShapeType="1"/>
            <a:stCxn id="16" idx="3"/>
            <a:endCxn id="7" idx="7"/>
          </p:cNvCxnSpPr>
          <p:nvPr/>
        </p:nvCxnSpPr>
        <p:spPr bwMode="auto">
          <a:xfrm flipH="1">
            <a:off x="8870950" y="5989637"/>
            <a:ext cx="1003300" cy="241300"/>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AutoShape 33">
            <a:extLst>
              <a:ext uri="{FF2B5EF4-FFF2-40B4-BE49-F238E27FC236}">
                <a16:creationId xmlns:a16="http://schemas.microsoft.com/office/drawing/2014/main" id="{94583F21-9652-8DFE-3AD7-384F3A377BFC}"/>
              </a:ext>
            </a:extLst>
          </p:cNvPr>
          <p:cNvCxnSpPr>
            <a:cxnSpLocks noChangeShapeType="1"/>
            <a:stCxn id="9" idx="7"/>
            <a:endCxn id="14" idx="2"/>
          </p:cNvCxnSpPr>
          <p:nvPr/>
        </p:nvCxnSpPr>
        <p:spPr bwMode="auto">
          <a:xfrm flipV="1">
            <a:off x="5822950" y="4205287"/>
            <a:ext cx="1568450" cy="577850"/>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AutoShape 34">
            <a:extLst>
              <a:ext uri="{FF2B5EF4-FFF2-40B4-BE49-F238E27FC236}">
                <a16:creationId xmlns:a16="http://schemas.microsoft.com/office/drawing/2014/main" id="{A5A046C2-DAFD-B986-780A-A0B5FC9E693A}"/>
              </a:ext>
            </a:extLst>
          </p:cNvPr>
          <p:cNvCxnSpPr>
            <a:cxnSpLocks noChangeShapeType="1"/>
            <a:stCxn id="4" idx="3"/>
            <a:endCxn id="8" idx="7"/>
          </p:cNvCxnSpPr>
          <p:nvPr/>
        </p:nvCxnSpPr>
        <p:spPr bwMode="auto">
          <a:xfrm flipH="1">
            <a:off x="5899150" y="5303837"/>
            <a:ext cx="850900" cy="698500"/>
          </a:xfrm>
          <a:prstGeom prst="straightConnector1">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35">
            <a:extLst>
              <a:ext uri="{FF2B5EF4-FFF2-40B4-BE49-F238E27FC236}">
                <a16:creationId xmlns:a16="http://schemas.microsoft.com/office/drawing/2014/main" id="{E33457B6-6EA1-E840-0AC1-F21B07027CDC}"/>
              </a:ext>
            </a:extLst>
          </p:cNvPr>
          <p:cNvCxnSpPr>
            <a:cxnSpLocks noChangeShapeType="1"/>
            <a:stCxn id="4" idx="4"/>
            <a:endCxn id="12" idx="1"/>
          </p:cNvCxnSpPr>
          <p:nvPr/>
        </p:nvCxnSpPr>
        <p:spPr bwMode="auto">
          <a:xfrm>
            <a:off x="6858000" y="5348287"/>
            <a:ext cx="349250" cy="1035050"/>
          </a:xfrm>
          <a:prstGeom prst="straightConnector1">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AutoShape 36">
            <a:extLst>
              <a:ext uri="{FF2B5EF4-FFF2-40B4-BE49-F238E27FC236}">
                <a16:creationId xmlns:a16="http://schemas.microsoft.com/office/drawing/2014/main" id="{F57ADCA3-F12B-05D0-FBCB-56AC25382B29}"/>
              </a:ext>
            </a:extLst>
          </p:cNvPr>
          <p:cNvCxnSpPr>
            <a:cxnSpLocks noChangeShapeType="1"/>
            <a:stCxn id="15" idx="5"/>
            <a:endCxn id="11" idx="0"/>
          </p:cNvCxnSpPr>
          <p:nvPr/>
        </p:nvCxnSpPr>
        <p:spPr bwMode="auto">
          <a:xfrm>
            <a:off x="8947150" y="4237037"/>
            <a:ext cx="349250" cy="577850"/>
          </a:xfrm>
          <a:prstGeom prst="straightConnector1">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AutoShape 37">
            <a:extLst>
              <a:ext uri="{FF2B5EF4-FFF2-40B4-BE49-F238E27FC236}">
                <a16:creationId xmlns:a16="http://schemas.microsoft.com/office/drawing/2014/main" id="{E80E3901-0751-785E-40A0-168F7763264D}"/>
              </a:ext>
            </a:extLst>
          </p:cNvPr>
          <p:cNvCxnSpPr>
            <a:cxnSpLocks noChangeShapeType="1"/>
            <a:stCxn id="13" idx="3"/>
            <a:endCxn id="12" idx="7"/>
          </p:cNvCxnSpPr>
          <p:nvPr/>
        </p:nvCxnSpPr>
        <p:spPr bwMode="auto">
          <a:xfrm flipH="1">
            <a:off x="7423150" y="5608637"/>
            <a:ext cx="622300" cy="774700"/>
          </a:xfrm>
          <a:prstGeom prst="straightConnector1">
            <a:avLst/>
          </a:prstGeom>
          <a:no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 Box 39">
            <a:extLst>
              <a:ext uri="{FF2B5EF4-FFF2-40B4-BE49-F238E27FC236}">
                <a16:creationId xmlns:a16="http://schemas.microsoft.com/office/drawing/2014/main" id="{1BDD81E7-1623-EA0E-E6CF-37B3B5E2B0E3}"/>
              </a:ext>
            </a:extLst>
          </p:cNvPr>
          <p:cNvSpPr txBox="1">
            <a:spLocks noChangeArrowheads="1"/>
          </p:cNvSpPr>
          <p:nvPr/>
        </p:nvSpPr>
        <p:spPr bwMode="auto">
          <a:xfrm>
            <a:off x="4419600" y="5653087"/>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ko-KR" sz="3200" b="0" i="1">
                <a:solidFill>
                  <a:srgbClr val="FF6600"/>
                </a:solidFill>
                <a:ea typeface="굴림" pitchFamily="34" charset="-127"/>
              </a:rPr>
              <a:t>X</a:t>
            </a:r>
          </a:p>
        </p:txBody>
      </p:sp>
      <p:sp>
        <p:nvSpPr>
          <p:cNvPr id="32" name="Text Box 40">
            <a:extLst>
              <a:ext uri="{FF2B5EF4-FFF2-40B4-BE49-F238E27FC236}">
                <a16:creationId xmlns:a16="http://schemas.microsoft.com/office/drawing/2014/main" id="{C4F02B21-185A-C902-BC15-CB7E867609AF}"/>
              </a:ext>
            </a:extLst>
          </p:cNvPr>
          <p:cNvSpPr txBox="1">
            <a:spLocks noChangeArrowheads="1"/>
          </p:cNvSpPr>
          <p:nvPr/>
        </p:nvSpPr>
        <p:spPr bwMode="auto">
          <a:xfrm>
            <a:off x="9525000" y="4129087"/>
            <a:ext cx="1066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ko-KR" sz="3200" b="0" i="1">
                <a:solidFill>
                  <a:srgbClr val="FF6600"/>
                </a:solidFill>
                <a:ea typeface="굴림" pitchFamily="34" charset="-127"/>
              </a:rPr>
              <a:t>Y</a:t>
            </a:r>
          </a:p>
        </p:txBody>
      </p:sp>
    </p:spTree>
    <p:extLst>
      <p:ext uri="{BB962C8B-B14F-4D97-AF65-F5344CB8AC3E}">
        <p14:creationId xmlns:p14="http://schemas.microsoft.com/office/powerpoint/2010/main" val="3475032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Prim’s MST Algorithm, Contd.</a:t>
            </a:r>
            <a:endParaRPr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2" name="object 7">
            <a:extLst>
              <a:ext uri="{FF2B5EF4-FFF2-40B4-BE49-F238E27FC236}">
                <a16:creationId xmlns:a16="http://schemas.microsoft.com/office/drawing/2014/main" id="{D6BA1F22-AD79-9341-759B-5B35E01999CA}"/>
              </a:ext>
            </a:extLst>
          </p:cNvPr>
          <p:cNvSpPr txBox="1">
            <a:spLocks/>
          </p:cNvSpPr>
          <p:nvPr/>
        </p:nvSpPr>
        <p:spPr bwMode="auto">
          <a:xfrm>
            <a:off x="457200" y="1228384"/>
            <a:ext cx="11277600" cy="3520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Needs priority queue for locating closest fringe vertex. The Detailed algorithm can be found in Levitin, P. 320.</a:t>
            </a:r>
          </a:p>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endPar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endParaRPr>
          </a:p>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kumimoji="0" lang="en-US" altLang="en-US" sz="2800" b="1" i="0" u="none" strike="noStrike" kern="1200" cap="none" spc="0" normalizeH="0" baseline="0" noProof="0" dirty="0">
                <a:ln>
                  <a:noFill/>
                </a:ln>
                <a:solidFill>
                  <a:srgbClr val="000000"/>
                </a:solidFill>
                <a:effectLst/>
                <a:uLnTx/>
                <a:uFillTx/>
                <a:latin typeface="Arial"/>
                <a:ea typeface="ＭＳ Ｐゴシック" charset="0"/>
                <a:cs typeface="+mn-cs"/>
              </a:rPr>
              <a:t>Efficiency</a:t>
            </a:r>
          </a:p>
          <a:p>
            <a:pPr marL="742950" marR="0" lvl="1" indent="-285750" algn="l" defTabSz="914400" rtl="0" eaLnBrk="1" fontAlgn="base" latinLnBrk="0" hangingPunct="1">
              <a:lnSpc>
                <a:spcPct val="100000"/>
              </a:lnSpc>
              <a:spcBef>
                <a:spcPct val="20000"/>
              </a:spcBef>
              <a:spcAft>
                <a:spcPct val="0"/>
              </a:spcAft>
              <a:buClrTx/>
              <a:buSzPct val="65000"/>
              <a:buFontTx/>
              <a:buBlip>
                <a:blip r:embed="rId4"/>
              </a:buBlip>
              <a:tabLst/>
              <a:defRPr/>
            </a:pPr>
            <a:r>
              <a:rPr kumimoji="0" lang="en-US" altLang="en-US" sz="2400" b="0" i="0" u="none" strike="noStrike" kern="1200" cap="none" spc="0" normalizeH="0" baseline="0" noProof="0" dirty="0">
                <a:ln>
                  <a:noFill/>
                </a:ln>
                <a:solidFill>
                  <a:srgbClr val="000050"/>
                </a:solidFill>
                <a:effectLst/>
                <a:uLnTx/>
                <a:uFillTx/>
                <a:latin typeface="Arial"/>
                <a:ea typeface="ＭＳ Ｐゴシック" charset="0"/>
                <a:cs typeface="Arial" charset="0"/>
              </a:rPr>
              <a:t>O(</a:t>
            </a:r>
            <a:r>
              <a:rPr kumimoji="0" lang="en-US" altLang="en-US" sz="2400" b="0" i="1" u="none" strike="noStrike" kern="1200" cap="none" spc="0" normalizeH="0" baseline="0" noProof="0" dirty="0">
                <a:ln>
                  <a:noFill/>
                </a:ln>
                <a:solidFill>
                  <a:srgbClr val="000050"/>
                </a:solidFill>
                <a:effectLst/>
                <a:uLnTx/>
                <a:uFillTx/>
                <a:latin typeface="Times New Roman" panose="02020603050405020304" pitchFamily="18" charset="0"/>
                <a:cs typeface="Times New Roman" panose="02020603050405020304" pitchFamily="18" charset="0"/>
              </a:rPr>
              <a:t>n</a:t>
            </a:r>
            <a:r>
              <a:rPr kumimoji="0" lang="en-US" altLang="en-US" sz="2400" b="0" i="0" u="none" strike="noStrike" kern="1200" cap="none" spc="0" normalizeH="0" baseline="30000" noProof="0" dirty="0">
                <a:ln>
                  <a:noFill/>
                </a:ln>
                <a:solidFill>
                  <a:srgbClr val="000050"/>
                </a:solidFill>
                <a:effectLst/>
                <a:uLnTx/>
                <a:uFillTx/>
                <a:latin typeface="Arial"/>
                <a:ea typeface="ＭＳ Ｐゴシック" charset="0"/>
                <a:cs typeface="Arial" charset="0"/>
              </a:rPr>
              <a:t>2</a:t>
            </a:r>
            <a:r>
              <a:rPr kumimoji="0" lang="en-US" altLang="en-US" sz="2400" b="0" i="0" u="none" strike="noStrike" kern="1200" cap="none" spc="0" normalizeH="0" baseline="0" noProof="0" dirty="0">
                <a:ln>
                  <a:noFill/>
                </a:ln>
                <a:solidFill>
                  <a:srgbClr val="000050"/>
                </a:solidFill>
                <a:effectLst/>
                <a:uLnTx/>
                <a:uFillTx/>
                <a:latin typeface="Arial"/>
                <a:ea typeface="ＭＳ Ｐゴシック" charset="0"/>
                <a:cs typeface="Arial" charset="0"/>
              </a:rPr>
              <a:t>) for weight </a:t>
            </a:r>
            <a:r>
              <a:rPr kumimoji="0" lang="en-US" altLang="en-US" sz="2400" b="0" i="0" u="sng" strike="noStrike" kern="1200" cap="none" spc="0" normalizeH="0" baseline="0" noProof="0" dirty="0">
                <a:ln>
                  <a:noFill/>
                </a:ln>
                <a:solidFill>
                  <a:srgbClr val="000050"/>
                </a:solidFill>
                <a:effectLst/>
                <a:uLnTx/>
                <a:uFillTx/>
                <a:latin typeface="Arial"/>
                <a:ea typeface="ＭＳ Ｐゴシック" charset="0"/>
                <a:cs typeface="Arial" charset="0"/>
              </a:rPr>
              <a:t>matrix representation of graph </a:t>
            </a:r>
            <a:r>
              <a:rPr kumimoji="0" lang="en-US" altLang="en-US" sz="2400" b="0" i="0" u="none" strike="noStrike" kern="1200" cap="none" spc="0" normalizeH="0" baseline="0" noProof="0" dirty="0">
                <a:ln>
                  <a:noFill/>
                </a:ln>
                <a:solidFill>
                  <a:srgbClr val="000050"/>
                </a:solidFill>
                <a:effectLst/>
                <a:uLnTx/>
                <a:uFillTx/>
                <a:latin typeface="Arial"/>
                <a:ea typeface="ＭＳ Ｐゴシック" charset="0"/>
                <a:cs typeface="Arial" charset="0"/>
              </a:rPr>
              <a:t>and </a:t>
            </a:r>
            <a:r>
              <a:rPr kumimoji="0" lang="en-US" altLang="en-US" sz="2400" b="0" i="0" u="sng" strike="noStrike" kern="1200" cap="none" spc="0" normalizeH="0" baseline="0" noProof="0" dirty="0">
                <a:ln>
                  <a:noFill/>
                </a:ln>
                <a:solidFill>
                  <a:srgbClr val="000050"/>
                </a:solidFill>
                <a:effectLst/>
                <a:uLnTx/>
                <a:uFillTx/>
                <a:latin typeface="Arial"/>
                <a:ea typeface="ＭＳ Ｐゴシック" charset="0"/>
                <a:cs typeface="Arial" charset="0"/>
              </a:rPr>
              <a:t>array implementation of priority queue </a:t>
            </a:r>
          </a:p>
          <a:p>
            <a:pPr marL="742950" marR="0" lvl="1" indent="-285750" algn="l" defTabSz="914400" rtl="0" eaLnBrk="1" fontAlgn="base" latinLnBrk="0" hangingPunct="1">
              <a:lnSpc>
                <a:spcPct val="100000"/>
              </a:lnSpc>
              <a:spcBef>
                <a:spcPct val="20000"/>
              </a:spcBef>
              <a:spcAft>
                <a:spcPct val="0"/>
              </a:spcAft>
              <a:buClrTx/>
              <a:buSzPct val="65000"/>
              <a:buFontTx/>
              <a:buBlip>
                <a:blip r:embed="rId4"/>
              </a:buBlip>
              <a:tabLst/>
              <a:defRPr/>
            </a:pPr>
            <a:r>
              <a:rPr kumimoji="0" lang="en-US" altLang="en-US" sz="2400" b="0" i="0" u="none" strike="noStrike" kern="1200" cap="none" spc="0" normalizeH="0" baseline="0" noProof="0" dirty="0">
                <a:ln>
                  <a:noFill/>
                </a:ln>
                <a:solidFill>
                  <a:srgbClr val="000050"/>
                </a:solidFill>
                <a:effectLst/>
                <a:uLnTx/>
                <a:uFillTx/>
                <a:latin typeface="Arial"/>
                <a:ea typeface="ＭＳ Ｐゴシック" charset="0"/>
                <a:cs typeface="Arial" charset="0"/>
              </a:rPr>
              <a:t>O(</a:t>
            </a:r>
            <a:r>
              <a:rPr kumimoji="0" lang="en-US" altLang="en-US" sz="2400" b="0" i="1" u="none" strike="noStrike" kern="1200" cap="none" spc="0" normalizeH="0" baseline="0" noProof="0" dirty="0">
                <a:ln>
                  <a:noFill/>
                </a:ln>
                <a:solidFill>
                  <a:srgbClr val="000050"/>
                </a:solidFill>
                <a:effectLst/>
                <a:uLnTx/>
                <a:uFillTx/>
                <a:latin typeface="Times New Roman" panose="02020603050405020304" pitchFamily="18" charset="0"/>
                <a:cs typeface="Times New Roman" panose="02020603050405020304" pitchFamily="18" charset="0"/>
              </a:rPr>
              <a:t>m</a:t>
            </a:r>
            <a:r>
              <a:rPr kumimoji="0" lang="en-US" altLang="en-US" sz="2400" b="0" i="0" u="none" strike="noStrike" kern="1200" cap="none" spc="0" normalizeH="0" baseline="0" noProof="0" dirty="0">
                <a:ln>
                  <a:noFill/>
                </a:ln>
                <a:solidFill>
                  <a:srgbClr val="000050"/>
                </a:solidFill>
                <a:effectLst/>
                <a:uLnTx/>
                <a:uFillTx/>
                <a:latin typeface="Arial"/>
                <a:ea typeface="ＭＳ Ｐゴシック" charset="0"/>
                <a:cs typeface="Arial" charset="0"/>
              </a:rPr>
              <a:t> log </a:t>
            </a:r>
            <a:r>
              <a:rPr lang="en-US" altLang="en-US" sz="2400" i="1" dirty="0">
                <a:latin typeface="Times New Roman" panose="02020603050405020304" pitchFamily="18" charset="0"/>
                <a:cs typeface="Times New Roman" panose="02020603050405020304" pitchFamily="18" charset="0"/>
              </a:rPr>
              <a:t>n</a:t>
            </a:r>
            <a:r>
              <a:rPr kumimoji="0" lang="en-US" altLang="en-US" sz="2400" b="0" i="0" u="none" strike="noStrike" kern="1200" cap="none" spc="0" normalizeH="0" baseline="0" noProof="0" dirty="0">
                <a:ln>
                  <a:noFill/>
                </a:ln>
                <a:solidFill>
                  <a:srgbClr val="000050"/>
                </a:solidFill>
                <a:effectLst/>
                <a:uLnTx/>
                <a:uFillTx/>
                <a:latin typeface="Arial"/>
                <a:ea typeface="ＭＳ Ｐゴシック" charset="0"/>
                <a:cs typeface="Arial" charset="0"/>
              </a:rPr>
              <a:t>) for </a:t>
            </a:r>
            <a:r>
              <a:rPr kumimoji="0" lang="en-US" altLang="en-US" sz="2400" b="0" i="0" u="sng" strike="noStrike" kern="1200" cap="none" spc="0" normalizeH="0" baseline="0" noProof="0" dirty="0">
                <a:ln>
                  <a:noFill/>
                </a:ln>
                <a:solidFill>
                  <a:srgbClr val="000050"/>
                </a:solidFill>
                <a:effectLst/>
                <a:uLnTx/>
                <a:uFillTx/>
                <a:latin typeface="Arial"/>
                <a:ea typeface="ＭＳ Ｐゴシック" charset="0"/>
                <a:cs typeface="Arial" charset="0"/>
              </a:rPr>
              <a:t>adjacency lists representation of graph with </a:t>
            </a:r>
            <a:r>
              <a:rPr lang="en-US" altLang="en-US" sz="2400" i="1" u="sng" dirty="0">
                <a:latin typeface="Times New Roman" panose="02020603050405020304" pitchFamily="18" charset="0"/>
                <a:cs typeface="Times New Roman" panose="02020603050405020304" pitchFamily="18" charset="0"/>
              </a:rPr>
              <a:t>n</a:t>
            </a:r>
            <a:r>
              <a:rPr kumimoji="0" lang="en-US" altLang="en-US" sz="2400" b="0" i="0" u="sng" strike="noStrike" kern="1200" cap="none" spc="0" normalizeH="0" baseline="0" noProof="0" dirty="0">
                <a:ln>
                  <a:noFill/>
                </a:ln>
                <a:solidFill>
                  <a:srgbClr val="000050"/>
                </a:solidFill>
                <a:effectLst/>
                <a:uLnTx/>
                <a:uFillTx/>
                <a:latin typeface="Arial"/>
                <a:ea typeface="ＭＳ Ｐゴシック" charset="0"/>
                <a:cs typeface="Arial" charset="0"/>
              </a:rPr>
              <a:t> vertices and </a:t>
            </a:r>
            <a:r>
              <a:rPr lang="en-US" altLang="en-US" sz="2400" i="1" u="sng" dirty="0">
                <a:latin typeface="Times New Roman" panose="02020603050405020304" pitchFamily="18" charset="0"/>
                <a:cs typeface="Times New Roman" panose="02020603050405020304" pitchFamily="18" charset="0"/>
              </a:rPr>
              <a:t>m</a:t>
            </a:r>
            <a:r>
              <a:rPr kumimoji="0" lang="en-US" altLang="en-US" sz="2400" b="0" i="0" u="sng" strike="noStrike" kern="1200" cap="none" spc="0" normalizeH="0" baseline="0" noProof="0" dirty="0">
                <a:ln>
                  <a:noFill/>
                </a:ln>
                <a:solidFill>
                  <a:srgbClr val="000050"/>
                </a:solidFill>
                <a:effectLst/>
                <a:uLnTx/>
                <a:uFillTx/>
                <a:latin typeface="Arial"/>
                <a:ea typeface="ＭＳ Ｐゴシック" charset="0"/>
                <a:cs typeface="Arial" charset="0"/>
              </a:rPr>
              <a:t> edges</a:t>
            </a:r>
            <a:r>
              <a:rPr kumimoji="0" lang="en-US" altLang="en-US" sz="2400" b="0" i="0" u="none" strike="noStrike" kern="1200" cap="none" spc="0" normalizeH="0" baseline="0" noProof="0" dirty="0">
                <a:ln>
                  <a:noFill/>
                </a:ln>
                <a:solidFill>
                  <a:srgbClr val="000050"/>
                </a:solidFill>
                <a:effectLst/>
                <a:uLnTx/>
                <a:uFillTx/>
                <a:latin typeface="Arial"/>
                <a:ea typeface="ＭＳ Ｐゴシック" charset="0"/>
                <a:cs typeface="Arial" charset="0"/>
              </a:rPr>
              <a:t> and </a:t>
            </a:r>
            <a:r>
              <a:rPr kumimoji="0" lang="en-US" altLang="en-US" sz="2400" b="0" i="0" u="sng" strike="noStrike" kern="1200" cap="none" spc="0" normalizeH="0" baseline="0" noProof="0" dirty="0">
                <a:ln>
                  <a:noFill/>
                </a:ln>
                <a:solidFill>
                  <a:srgbClr val="000050"/>
                </a:solidFill>
                <a:effectLst/>
                <a:uLnTx/>
                <a:uFillTx/>
                <a:latin typeface="Arial"/>
                <a:ea typeface="ＭＳ Ｐゴシック" charset="0"/>
                <a:cs typeface="Arial" charset="0"/>
              </a:rPr>
              <a:t>min-heap implementation of the priority queue</a:t>
            </a:r>
          </a:p>
        </p:txBody>
      </p:sp>
    </p:spTree>
    <p:extLst>
      <p:ext uri="{BB962C8B-B14F-4D97-AF65-F5344CB8AC3E}">
        <p14:creationId xmlns:p14="http://schemas.microsoft.com/office/powerpoint/2010/main" val="75656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FF0000"/>
                </a:solidFill>
              </a:rPr>
              <a:t>Single Source Shortest Paths Problem</a:t>
            </a:r>
            <a:endParaRPr sz="4000" b="1" spc="-18"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936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r>
              <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rPr>
              <a:t>Single-source shortest-paths problem</a:t>
            </a:r>
          </a:p>
          <a:p>
            <a:pPr lvl="1">
              <a:buClr>
                <a:srgbClr val="FF6600"/>
              </a:buClr>
              <a:tabLst>
                <a:tab pos="465671" algn="l"/>
              </a:tabLst>
              <a:defRPr/>
            </a:pPr>
            <a:r>
              <a:rPr lang="en-US" sz="2400" dirty="0">
                <a:cs typeface="Arial" charset="0"/>
              </a:rPr>
              <a:t>For </a:t>
            </a:r>
            <a:r>
              <a:rPr lang="en-US" sz="2400" u="sng" dirty="0">
                <a:cs typeface="Arial" charset="0"/>
              </a:rPr>
              <a:t>a given vertex </a:t>
            </a:r>
            <a:r>
              <a:rPr lang="en-US" sz="2400" dirty="0">
                <a:cs typeface="Arial" charset="0"/>
              </a:rPr>
              <a:t>called the source in a weighted connected graph, </a:t>
            </a:r>
            <a:r>
              <a:rPr lang="en-US" sz="2400" u="sng" dirty="0">
                <a:cs typeface="Arial" charset="0"/>
              </a:rPr>
              <a:t>find shortest paths to all </a:t>
            </a:r>
            <a:r>
              <a:rPr lang="en-US" sz="2400" u="sng" dirty="0">
                <a:solidFill>
                  <a:srgbClr val="000050"/>
                </a:solidFill>
                <a:cs typeface="Arial" charset="0"/>
              </a:rPr>
              <a:t>its other vertices</a:t>
            </a:r>
          </a:p>
          <a:p>
            <a:pPr lvl="2">
              <a:buClr>
                <a:srgbClr val="FF6600"/>
              </a:buClr>
              <a:tabLst>
                <a:tab pos="465671" algn="l"/>
              </a:tabLst>
              <a:defRPr/>
            </a:pPr>
            <a:r>
              <a:rPr lang="en-US" sz="2000" dirty="0">
                <a:solidFill>
                  <a:schemeClr val="bg1">
                    <a:lumMod val="50000"/>
                  </a:schemeClr>
                </a:solidFill>
                <a:cs typeface="Arial" charset="0"/>
              </a:rPr>
              <a:t>transportation planning</a:t>
            </a:r>
          </a:p>
          <a:p>
            <a:pPr lvl="2">
              <a:buClr>
                <a:srgbClr val="FF6600"/>
              </a:buClr>
              <a:tabLst>
                <a:tab pos="465671" algn="l"/>
              </a:tabLst>
              <a:defRPr/>
            </a:pPr>
            <a:r>
              <a:rPr lang="en-US" sz="2000" dirty="0">
                <a:solidFill>
                  <a:schemeClr val="bg1">
                    <a:lumMod val="50000"/>
                  </a:schemeClr>
                </a:solidFill>
                <a:cs typeface="Arial" charset="0"/>
              </a:rPr>
              <a:t>packet routing in communication networks, including the Internet</a:t>
            </a:r>
          </a:p>
          <a:p>
            <a:pPr lvl="2">
              <a:buClr>
                <a:srgbClr val="FF6600"/>
              </a:buClr>
              <a:tabLst>
                <a:tab pos="465671" algn="l"/>
              </a:tabLst>
              <a:defRPr/>
            </a:pPr>
            <a:r>
              <a:rPr lang="en-US" sz="2000" dirty="0">
                <a:solidFill>
                  <a:schemeClr val="bg1">
                    <a:lumMod val="50000"/>
                  </a:schemeClr>
                </a:solidFill>
                <a:cs typeface="Arial" charset="0"/>
              </a:rPr>
              <a:t>social networks</a:t>
            </a:r>
          </a:p>
          <a:p>
            <a:pPr lvl="2">
              <a:buClr>
                <a:srgbClr val="FF6600"/>
              </a:buClr>
              <a:tabLst>
                <a:tab pos="465671" algn="l"/>
              </a:tabLst>
              <a:defRPr/>
            </a:pPr>
            <a:r>
              <a:rPr lang="en-US" sz="2000" dirty="0">
                <a:solidFill>
                  <a:schemeClr val="bg1">
                    <a:lumMod val="50000"/>
                  </a:schemeClr>
                </a:solidFill>
                <a:cs typeface="Arial" charset="0"/>
              </a:rPr>
              <a:t>speech recognition</a:t>
            </a:r>
          </a:p>
          <a:p>
            <a:pPr lvl="2">
              <a:buClr>
                <a:srgbClr val="FF6600"/>
              </a:buClr>
              <a:tabLst>
                <a:tab pos="465671" algn="l"/>
              </a:tabLst>
              <a:defRPr/>
            </a:pPr>
            <a:r>
              <a:rPr lang="en-US" sz="2000" dirty="0">
                <a:solidFill>
                  <a:schemeClr val="bg1">
                    <a:lumMod val="50000"/>
                  </a:schemeClr>
                </a:solidFill>
                <a:cs typeface="Arial" charset="0"/>
              </a:rPr>
              <a:t>document formatting</a:t>
            </a:r>
          </a:p>
          <a:p>
            <a:pPr lvl="2">
              <a:buClr>
                <a:srgbClr val="FF6600"/>
              </a:buClr>
              <a:tabLst>
                <a:tab pos="465671" algn="l"/>
              </a:tabLst>
              <a:defRPr/>
            </a:pPr>
            <a:r>
              <a:rPr lang="en-US" sz="2000" dirty="0">
                <a:solidFill>
                  <a:schemeClr val="bg1">
                    <a:lumMod val="50000"/>
                  </a:schemeClr>
                </a:solidFill>
                <a:cs typeface="Arial" charset="0"/>
              </a:rPr>
              <a:t>robotics</a:t>
            </a:r>
          </a:p>
          <a:p>
            <a:pPr lvl="2">
              <a:buClr>
                <a:srgbClr val="FF6600"/>
              </a:buClr>
              <a:tabLst>
                <a:tab pos="465671" algn="l"/>
              </a:tabLst>
              <a:defRPr/>
            </a:pPr>
            <a:r>
              <a:rPr lang="en-US" sz="2000" dirty="0">
                <a:solidFill>
                  <a:schemeClr val="bg1">
                    <a:lumMod val="50000"/>
                  </a:schemeClr>
                </a:solidFill>
                <a:cs typeface="Arial" charset="0"/>
              </a:rPr>
              <a:t>compilers</a:t>
            </a:r>
          </a:p>
          <a:p>
            <a:pPr lvl="2">
              <a:buClr>
                <a:srgbClr val="FF6600"/>
              </a:buClr>
              <a:tabLst>
                <a:tab pos="465671" algn="l"/>
              </a:tabLst>
              <a:defRPr/>
            </a:pPr>
            <a:r>
              <a:rPr lang="en-US" sz="2000" dirty="0">
                <a:solidFill>
                  <a:schemeClr val="bg1">
                    <a:lumMod val="50000"/>
                  </a:schemeClr>
                </a:solidFill>
                <a:cs typeface="Arial" charset="0"/>
              </a:rPr>
              <a:t>airline crew scheduling</a:t>
            </a:r>
          </a:p>
          <a:p>
            <a:pPr lvl="2">
              <a:buClr>
                <a:srgbClr val="FF6600"/>
              </a:buClr>
              <a:tabLst>
                <a:tab pos="465671" algn="l"/>
              </a:tabLst>
              <a:defRPr/>
            </a:pPr>
            <a:r>
              <a:rPr lang="en-US" sz="2000" dirty="0">
                <a:solidFill>
                  <a:schemeClr val="bg1">
                    <a:lumMod val="50000"/>
                  </a:schemeClr>
                </a:solidFill>
                <a:cs typeface="Arial" charset="0"/>
              </a:rPr>
              <a:t>pathfinding in video games</a:t>
            </a:r>
          </a:p>
          <a:p>
            <a:pPr lvl="2">
              <a:buClr>
                <a:srgbClr val="FF6600"/>
              </a:buClr>
              <a:tabLst>
                <a:tab pos="465671" algn="l"/>
              </a:tabLst>
              <a:defRPr/>
            </a:pPr>
            <a:r>
              <a:rPr lang="en-US" sz="2000" dirty="0">
                <a:solidFill>
                  <a:schemeClr val="bg1">
                    <a:lumMod val="50000"/>
                  </a:schemeClr>
                </a:solidFill>
                <a:cs typeface="Arial" charset="0"/>
              </a:rPr>
              <a:t>finding best solutions to puzzles</a:t>
            </a:r>
          </a:p>
        </p:txBody>
      </p:sp>
    </p:spTree>
    <p:extLst>
      <p:ext uri="{BB962C8B-B14F-4D97-AF65-F5344CB8AC3E}">
        <p14:creationId xmlns:p14="http://schemas.microsoft.com/office/powerpoint/2010/main" val="1881784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FFC000"/>
                </a:solidFill>
              </a:rPr>
              <a:t>Dijkstra’s Shortest Paths Algorithm</a:t>
            </a:r>
            <a:endParaRPr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2" name="object 7">
            <a:extLst>
              <a:ext uri="{FF2B5EF4-FFF2-40B4-BE49-F238E27FC236}">
                <a16:creationId xmlns:a16="http://schemas.microsoft.com/office/drawing/2014/main" id="{D6BA1F22-AD79-9341-759B-5B35E01999CA}"/>
              </a:ext>
            </a:extLst>
          </p:cNvPr>
          <p:cNvSpPr txBox="1">
            <a:spLocks/>
          </p:cNvSpPr>
          <p:nvPr/>
        </p:nvSpPr>
        <p:spPr bwMode="auto">
          <a:xfrm>
            <a:off x="457200" y="1228384"/>
            <a:ext cx="11430000" cy="3668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lang="en-US" altLang="en-US" sz="2800" b="1" dirty="0">
                <a:solidFill>
                  <a:srgbClr val="000000"/>
                </a:solidFill>
                <a:latin typeface="Arial"/>
              </a:rPr>
              <a:t>Dijkstra</a:t>
            </a:r>
            <a:r>
              <a:rPr kumimoji="0" lang="en-US" altLang="en-US" sz="2800" b="1" i="0" u="none" strike="noStrike" kern="1200" cap="none" spc="0" normalizeH="0" baseline="0" noProof="0" dirty="0">
                <a:ln>
                  <a:noFill/>
                </a:ln>
                <a:solidFill>
                  <a:srgbClr val="000000"/>
                </a:solidFill>
                <a:effectLst/>
                <a:uLnTx/>
                <a:uFillTx/>
                <a:latin typeface="Arial"/>
                <a:ea typeface="ＭＳ Ｐゴシック" charset="0"/>
                <a:cs typeface="+mn-cs"/>
              </a:rPr>
              <a:t>’s algorithm </a:t>
            </a: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finds single-source shortest-paths in a weighted connected graph</a:t>
            </a:r>
          </a:p>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The idea of Dijkstra’s algorithm is </a:t>
            </a:r>
          </a:p>
          <a:p>
            <a:pPr lvl="1">
              <a:defRPr/>
            </a:pPr>
            <a:r>
              <a:rPr lang="en-US" altLang="en-US" sz="2400" dirty="0">
                <a:cs typeface="Arial" charset="0"/>
              </a:rPr>
              <a:t>to start with a </a:t>
            </a:r>
            <a:r>
              <a:rPr lang="en-US" altLang="en-US" sz="2400" u="sng" dirty="0">
                <a:cs typeface="Arial" charset="0"/>
              </a:rPr>
              <a:t>boxed</a:t>
            </a:r>
            <a:r>
              <a:rPr lang="en-US" altLang="en-US" sz="2400" dirty="0">
                <a:cs typeface="Arial" charset="0"/>
              </a:rPr>
              <a:t> source vertex and find shortest distance from </a:t>
            </a:r>
            <a:r>
              <a:rPr lang="en-US" altLang="en-US" sz="1800" dirty="0">
                <a:cs typeface="Arial" charset="0"/>
              </a:rPr>
              <a:t>(the source through)</a:t>
            </a:r>
            <a:r>
              <a:rPr lang="en-US" altLang="en-US" sz="2400" dirty="0">
                <a:cs typeface="Arial" charset="0"/>
              </a:rPr>
              <a:t> the box to each neighboring vertex, </a:t>
            </a:r>
          </a:p>
          <a:p>
            <a:pPr lvl="1">
              <a:defRPr/>
            </a:pPr>
            <a:r>
              <a:rPr lang="en-US" altLang="en-US" sz="2400" dirty="0">
                <a:cs typeface="Arial" charset="0"/>
              </a:rPr>
              <a:t>box an unboxed vertex with the shortest distance </a:t>
            </a:r>
            <a:r>
              <a:rPr lang="en-US" altLang="en-US" sz="1800" dirty="0">
                <a:cs typeface="Arial" charset="0"/>
              </a:rPr>
              <a:t>(from the source)</a:t>
            </a:r>
          </a:p>
          <a:p>
            <a:pPr lvl="1">
              <a:defRPr/>
            </a:pPr>
            <a:r>
              <a:rPr lang="en-US" altLang="en-US" sz="2400" dirty="0">
                <a:cs typeface="Arial" charset="0"/>
              </a:rPr>
              <a:t>and repeat until you obtain the single-source shortest paths to all destinations</a:t>
            </a:r>
          </a:p>
          <a:p>
            <a:pPr lvl="1">
              <a:defRPr/>
            </a:pPr>
            <a:r>
              <a:rPr lang="en-US" altLang="en-US" sz="2400" dirty="0">
                <a:cs typeface="Arial" charset="0"/>
              </a:rPr>
              <a:t>boxed vertices are final and form up the solution tree</a:t>
            </a:r>
          </a:p>
          <a:p>
            <a:pPr lvl="1">
              <a:defRPr/>
            </a:pPr>
            <a:endParaRPr lang="en-US" altLang="en-US" sz="800" dirty="0">
              <a:cs typeface="Arial" charset="0"/>
            </a:endParaRPr>
          </a:p>
        </p:txBody>
      </p:sp>
    </p:spTree>
    <p:extLst>
      <p:ext uri="{BB962C8B-B14F-4D97-AF65-F5344CB8AC3E}">
        <p14:creationId xmlns:p14="http://schemas.microsoft.com/office/powerpoint/2010/main" val="2524541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Dijkstra’s Shortest Paths Algorithm,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2" name="object 7">
            <a:extLst>
              <a:ext uri="{FF2B5EF4-FFF2-40B4-BE49-F238E27FC236}">
                <a16:creationId xmlns:a16="http://schemas.microsoft.com/office/drawing/2014/main" id="{D6BA1F22-AD79-9341-759B-5B35E01999CA}"/>
              </a:ext>
            </a:extLst>
          </p:cNvPr>
          <p:cNvSpPr txBox="1">
            <a:spLocks/>
          </p:cNvSpPr>
          <p:nvPr/>
        </p:nvSpPr>
        <p:spPr bwMode="auto">
          <a:xfrm>
            <a:off x="457200" y="1228384"/>
            <a:ext cx="114300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lang="en-US" altLang="en-US" sz="2800" b="1" dirty="0">
                <a:solidFill>
                  <a:srgbClr val="00B050"/>
                </a:solidFill>
                <a:latin typeface="Arial"/>
              </a:rPr>
              <a:t>Example</a:t>
            </a:r>
            <a:endParaRPr lang="en-US" altLang="en-US" sz="2400" dirty="0">
              <a:solidFill>
                <a:srgbClr val="00B050"/>
              </a:solidFill>
              <a:cs typeface="Arial" charset="0"/>
            </a:endParaRPr>
          </a:p>
        </p:txBody>
      </p:sp>
      <p:pic>
        <p:nvPicPr>
          <p:cNvPr id="4" name="Picture 2">
            <a:extLst>
              <a:ext uri="{FF2B5EF4-FFF2-40B4-BE49-F238E27FC236}">
                <a16:creationId xmlns:a16="http://schemas.microsoft.com/office/drawing/2014/main" id="{A986BC3C-5D72-2575-A822-30D242A474E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48773" y="1477711"/>
            <a:ext cx="7895427" cy="4770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8767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Dijkstra’s Shortest Paths Algorithm,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pic>
        <p:nvPicPr>
          <p:cNvPr id="4" name="Picture 2">
            <a:extLst>
              <a:ext uri="{FF2B5EF4-FFF2-40B4-BE49-F238E27FC236}">
                <a16:creationId xmlns:a16="http://schemas.microsoft.com/office/drawing/2014/main" id="{EF86DE17-31D6-D3F9-7CA2-180A740E7D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1143000"/>
            <a:ext cx="7743316"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6882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Dijkstra’s Shortest Paths Algorithm,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pic>
        <p:nvPicPr>
          <p:cNvPr id="2" name="Picture 2">
            <a:extLst>
              <a:ext uri="{FF2B5EF4-FFF2-40B4-BE49-F238E27FC236}">
                <a16:creationId xmlns:a16="http://schemas.microsoft.com/office/drawing/2014/main" id="{5AE328DB-6C3A-8ED4-ED59-6E43E1D4C5B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160" y="1219200"/>
            <a:ext cx="8335227"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44692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Dijkstra’s Shortest Paths Algorithm,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pic>
        <p:nvPicPr>
          <p:cNvPr id="2" name="Picture 2">
            <a:extLst>
              <a:ext uri="{FF2B5EF4-FFF2-40B4-BE49-F238E27FC236}">
                <a16:creationId xmlns:a16="http://schemas.microsoft.com/office/drawing/2014/main" id="{08A2FB3D-3888-62CC-9805-CAE398B591A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199" y="1219200"/>
            <a:ext cx="8228037"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a:extLst>
              <a:ext uri="{FF2B5EF4-FFF2-40B4-BE49-F238E27FC236}">
                <a16:creationId xmlns:a16="http://schemas.microsoft.com/office/drawing/2014/main" id="{FC58BC4B-9089-D52D-D048-85D7408317BA}"/>
              </a:ext>
            </a:extLst>
          </p:cNvPr>
          <p:cNvSpPr txBox="1">
            <a:spLocks noChangeArrowheads="1"/>
          </p:cNvSpPr>
          <p:nvPr/>
        </p:nvSpPr>
        <p:spPr bwMode="auto">
          <a:xfrm>
            <a:off x="1524000" y="1539875"/>
            <a:ext cx="9982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SzPct val="75000"/>
              <a:buBlip>
                <a:blip r:embed="rId4"/>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5"/>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6"/>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spcBef>
                <a:spcPct val="0"/>
              </a:spcBef>
              <a:buFont typeface="Monotype Sorts" pitchFamily="2" charset="2"/>
              <a:buNone/>
              <a:defRPr/>
            </a:pPr>
            <a:r>
              <a:rPr lang="en-US" altLang="ko-KR" sz="1600" b="1" dirty="0">
                <a:solidFill>
                  <a:srgbClr val="7030A0"/>
                </a:solidFill>
                <a:latin typeface="Arial" charset="0"/>
                <a:ea typeface="ＭＳ Ｐゴシック" pitchFamily="34" charset="-128"/>
              </a:rPr>
              <a:t>B has the smallest distance from A and no future path from A to B can be shorter and so it is final</a:t>
            </a:r>
          </a:p>
        </p:txBody>
      </p:sp>
    </p:spTree>
    <p:extLst>
      <p:ext uri="{BB962C8B-B14F-4D97-AF65-F5344CB8AC3E}">
        <p14:creationId xmlns:p14="http://schemas.microsoft.com/office/powerpoint/2010/main" val="3692854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Dijkstra’s Shortest Paths Algorithm,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pic>
        <p:nvPicPr>
          <p:cNvPr id="2" name="Picture 2">
            <a:extLst>
              <a:ext uri="{FF2B5EF4-FFF2-40B4-BE49-F238E27FC236}">
                <a16:creationId xmlns:a16="http://schemas.microsoft.com/office/drawing/2014/main" id="{9369B121-1529-BDB9-0D58-DA2B62ABE3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025" y="1219200"/>
            <a:ext cx="7981950"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6017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Dijkstra’s Shortest Paths Algorithm,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pic>
        <p:nvPicPr>
          <p:cNvPr id="2" name="Picture 2">
            <a:extLst>
              <a:ext uri="{FF2B5EF4-FFF2-40B4-BE49-F238E27FC236}">
                <a16:creationId xmlns:a16="http://schemas.microsoft.com/office/drawing/2014/main" id="{2C8BA791-9EF0-4658-4274-833FB66683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25" y="1181100"/>
            <a:ext cx="8058150"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2265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Dijkstra’s Shortest Paths Algorithm,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pic>
        <p:nvPicPr>
          <p:cNvPr id="2" name="Picture 2">
            <a:extLst>
              <a:ext uri="{FF2B5EF4-FFF2-40B4-BE49-F238E27FC236}">
                <a16:creationId xmlns:a16="http://schemas.microsoft.com/office/drawing/2014/main" id="{D681A95F-660F-7621-C0BF-A54845A7D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713" y="1123950"/>
            <a:ext cx="8410575" cy="504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9474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Dijkstra’s Shortest Paths Algorithm,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pic>
        <p:nvPicPr>
          <p:cNvPr id="2" name="Picture 2">
            <a:extLst>
              <a:ext uri="{FF2B5EF4-FFF2-40B4-BE49-F238E27FC236}">
                <a16:creationId xmlns:a16="http://schemas.microsoft.com/office/drawing/2014/main" id="{6D580F30-676D-4734-342C-E12946E42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143000"/>
            <a:ext cx="8153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5356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Dijkstra’s Shortest Paths Algorithm,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pic>
        <p:nvPicPr>
          <p:cNvPr id="2" name="Picture 2">
            <a:extLst>
              <a:ext uri="{FF2B5EF4-FFF2-40B4-BE49-F238E27FC236}">
                <a16:creationId xmlns:a16="http://schemas.microsoft.com/office/drawing/2014/main" id="{E871DBD4-065E-D983-1589-0F44B5218C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1171575"/>
            <a:ext cx="8286750" cy="500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9332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Dijkstra’s Shortest Paths Algorithm,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pic>
        <p:nvPicPr>
          <p:cNvPr id="2" name="Picture 2">
            <a:extLst>
              <a:ext uri="{FF2B5EF4-FFF2-40B4-BE49-F238E27FC236}">
                <a16:creationId xmlns:a16="http://schemas.microsoft.com/office/drawing/2014/main" id="{4BC7728A-5287-FF38-3020-6E29D35155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863" y="1152525"/>
            <a:ext cx="8296275" cy="494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5728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Dijkstra’s Shortest Paths Algorithm,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pic>
        <p:nvPicPr>
          <p:cNvPr id="2" name="Picture 2">
            <a:extLst>
              <a:ext uri="{FF2B5EF4-FFF2-40B4-BE49-F238E27FC236}">
                <a16:creationId xmlns:a16="http://schemas.microsoft.com/office/drawing/2014/main" id="{10E100AF-0FF6-A18D-E109-D251D06877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050" y="1209675"/>
            <a:ext cx="8515350" cy="503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03949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Dijkstra’s Shortest Paths Algorithm,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pic>
        <p:nvPicPr>
          <p:cNvPr id="4" name="Picture 2">
            <a:extLst>
              <a:ext uri="{FF2B5EF4-FFF2-40B4-BE49-F238E27FC236}">
                <a16:creationId xmlns:a16="http://schemas.microsoft.com/office/drawing/2014/main" id="{8E708A8E-CA19-121E-55B8-5220A620CD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056834"/>
            <a:ext cx="8553450" cy="509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96703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Dijkstra’s Shortest Paths Algorithm, Contd.</a:t>
            </a:r>
            <a:endParaRPr sz="3800" b="1" spc="-18" dirty="0">
              <a:solidFill>
                <a:srgbClr val="0070C0"/>
              </a:solidFill>
            </a:endParaRPr>
          </a:p>
        </p:txBody>
      </p:sp>
      <p:sp>
        <p:nvSpPr>
          <p:cNvPr id="2" name="object 7">
            <a:extLst>
              <a:ext uri="{FF2B5EF4-FFF2-40B4-BE49-F238E27FC236}">
                <a16:creationId xmlns:a16="http://schemas.microsoft.com/office/drawing/2014/main" id="{D6BA1F22-AD79-9341-759B-5B35E01999CA}"/>
              </a:ext>
            </a:extLst>
          </p:cNvPr>
          <p:cNvSpPr txBox="1">
            <a:spLocks/>
          </p:cNvSpPr>
          <p:nvPr/>
        </p:nvSpPr>
        <p:spPr bwMode="auto">
          <a:xfrm>
            <a:off x="457200" y="1228384"/>
            <a:ext cx="114300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lang="en-US" altLang="en-US" sz="2800" b="1" dirty="0">
                <a:solidFill>
                  <a:srgbClr val="00B050"/>
                </a:solidFill>
                <a:latin typeface="Arial"/>
              </a:rPr>
              <a:t>Example</a:t>
            </a:r>
            <a:endParaRPr lang="en-US" altLang="en-US" sz="2400" dirty="0">
              <a:solidFill>
                <a:srgbClr val="00B050"/>
              </a:solidFill>
              <a:cs typeface="Arial" charset="0"/>
            </a:endParaRPr>
          </a:p>
        </p:txBody>
      </p:sp>
      <p:pic>
        <p:nvPicPr>
          <p:cNvPr id="7" name="Picture 6">
            <a:extLst>
              <a:ext uri="{FF2B5EF4-FFF2-40B4-BE49-F238E27FC236}">
                <a16:creationId xmlns:a16="http://schemas.microsoft.com/office/drawing/2014/main" id="{46206F97-3657-6D6D-50BF-35C5613A5899}"/>
              </a:ext>
            </a:extLst>
          </p:cNvPr>
          <p:cNvPicPr>
            <a:picLocks noChangeAspect="1"/>
          </p:cNvPicPr>
          <p:nvPr/>
        </p:nvPicPr>
        <p:blipFill>
          <a:blip r:embed="rId6"/>
          <a:stretch>
            <a:fillRect/>
          </a:stretch>
        </p:blipFill>
        <p:spPr>
          <a:xfrm>
            <a:off x="4495799" y="846507"/>
            <a:ext cx="7543801" cy="5984468"/>
          </a:xfrm>
          <a:prstGeom prst="rect">
            <a:avLst/>
          </a:prstGeom>
        </p:spPr>
      </p:pic>
      <p:sp>
        <p:nvSpPr>
          <p:cNvPr id="8" name="Slide Number Placeholder 2">
            <a:extLst>
              <a:ext uri="{FF2B5EF4-FFF2-40B4-BE49-F238E27FC236}">
                <a16:creationId xmlns:a16="http://schemas.microsoft.com/office/drawing/2014/main" id="{57EED95D-C119-C3AE-214B-5B85CF149A19}"/>
              </a:ext>
            </a:extLst>
          </p:cNvPr>
          <p:cNvSpPr txBox="1">
            <a:spLocks/>
          </p:cNvSpPr>
          <p:nvPr/>
        </p:nvSpPr>
        <p:spPr>
          <a:xfrm>
            <a:off x="8737600" y="6356351"/>
            <a:ext cx="2844800" cy="365125"/>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pPr algn="r">
              <a:defRPr/>
            </a:pPr>
            <a:fld id="{C65781BD-3F4D-4CA7-A858-CE94DEA3B426}" type="slidenum">
              <a:rPr lang="en-US" smtClean="0">
                <a:solidFill>
                  <a:srgbClr val="000000"/>
                </a:solidFill>
              </a:rPr>
              <a:pPr algn="r">
                <a:defRPr/>
              </a:pPr>
              <a:t>26</a:t>
            </a:fld>
            <a:endParaRPr lang="en-US" dirty="0">
              <a:solidFill>
                <a:srgbClr val="000000"/>
              </a:solidFill>
            </a:endParaRPr>
          </a:p>
        </p:txBody>
      </p:sp>
      <p:pic>
        <p:nvPicPr>
          <p:cNvPr id="10" name="Picture 9">
            <a:extLst>
              <a:ext uri="{FF2B5EF4-FFF2-40B4-BE49-F238E27FC236}">
                <a16:creationId xmlns:a16="http://schemas.microsoft.com/office/drawing/2014/main" id="{A5E25138-1700-7201-2071-9EF3CA8B94F7}"/>
              </a:ext>
            </a:extLst>
          </p:cNvPr>
          <p:cNvPicPr>
            <a:picLocks noChangeAspect="1"/>
          </p:cNvPicPr>
          <p:nvPr/>
        </p:nvPicPr>
        <p:blipFill>
          <a:blip r:embed="rId7"/>
          <a:stretch>
            <a:fillRect/>
          </a:stretch>
        </p:blipFill>
        <p:spPr>
          <a:xfrm>
            <a:off x="685800" y="2793521"/>
            <a:ext cx="3378073" cy="1270958"/>
          </a:xfrm>
          <a:prstGeom prst="rect">
            <a:avLst/>
          </a:prstGeom>
        </p:spPr>
      </p:pic>
      <p:sp>
        <p:nvSpPr>
          <p:cNvPr id="11" name="Rectangle 3">
            <a:extLst>
              <a:ext uri="{FF2B5EF4-FFF2-40B4-BE49-F238E27FC236}">
                <a16:creationId xmlns:a16="http://schemas.microsoft.com/office/drawing/2014/main" id="{434562F9-A576-FCED-F582-EAF7A668E0A4}"/>
              </a:ext>
            </a:extLst>
          </p:cNvPr>
          <p:cNvSpPr txBox="1">
            <a:spLocks noChangeArrowheads="1"/>
          </p:cNvSpPr>
          <p:nvPr/>
        </p:nvSpPr>
        <p:spPr bwMode="auto">
          <a:xfrm>
            <a:off x="4876800" y="1143000"/>
            <a:ext cx="886629" cy="5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spcBef>
                <a:spcPct val="0"/>
              </a:spcBef>
              <a:buFont typeface="Monotype Sorts" pitchFamily="2" charset="2"/>
              <a:buNone/>
              <a:defRPr/>
            </a:pPr>
            <a:r>
              <a:rPr lang="en-US" altLang="ko-KR" sz="1600" b="1" dirty="0">
                <a:solidFill>
                  <a:srgbClr val="7030A0"/>
                </a:solidFill>
                <a:latin typeface="Arial" charset="0"/>
                <a:ea typeface="ＭＳ Ｐゴシック" pitchFamily="34" charset="-128"/>
              </a:rPr>
              <a:t>Boxed</a:t>
            </a:r>
          </a:p>
        </p:txBody>
      </p:sp>
    </p:spTree>
    <p:extLst>
      <p:ext uri="{BB962C8B-B14F-4D97-AF65-F5344CB8AC3E}">
        <p14:creationId xmlns:p14="http://schemas.microsoft.com/office/powerpoint/2010/main" val="724723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Dijkstra’s Shortest Paths Algorithm, Contd.</a:t>
            </a:r>
            <a:endParaRPr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2" name="object 7">
            <a:extLst>
              <a:ext uri="{FF2B5EF4-FFF2-40B4-BE49-F238E27FC236}">
                <a16:creationId xmlns:a16="http://schemas.microsoft.com/office/drawing/2014/main" id="{D6BA1F22-AD79-9341-759B-5B35E01999CA}"/>
              </a:ext>
            </a:extLst>
          </p:cNvPr>
          <p:cNvSpPr txBox="1">
            <a:spLocks/>
          </p:cNvSpPr>
          <p:nvPr/>
        </p:nvSpPr>
        <p:spPr bwMode="auto">
          <a:xfrm>
            <a:off x="457200" y="1228384"/>
            <a:ext cx="11277600" cy="5392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lang="en-US" altLang="en-US" sz="2800" b="1" dirty="0">
                <a:solidFill>
                  <a:srgbClr val="000000"/>
                </a:solidFill>
                <a:latin typeface="Arial"/>
              </a:rPr>
              <a:t>Dijkstra</a:t>
            </a:r>
            <a:r>
              <a:rPr kumimoji="0" lang="en-US" altLang="en-US" sz="2800" b="1" i="0" u="none" strike="noStrike" kern="1200" cap="none" spc="0" normalizeH="0" baseline="0" noProof="0" dirty="0">
                <a:ln>
                  <a:noFill/>
                </a:ln>
                <a:solidFill>
                  <a:srgbClr val="000000"/>
                </a:solidFill>
                <a:effectLst/>
                <a:uLnTx/>
                <a:uFillTx/>
                <a:latin typeface="Arial"/>
                <a:ea typeface="ＭＳ Ｐゴシック" charset="0"/>
                <a:cs typeface="+mn-cs"/>
              </a:rPr>
              <a:t>’s algorithm</a:t>
            </a:r>
            <a:endPar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endParaRPr>
          </a:p>
          <a:p>
            <a:pPr lvl="1">
              <a:defRPr/>
            </a:pPr>
            <a:r>
              <a:rPr lang="en-US" altLang="en-US" sz="2400" dirty="0">
                <a:cs typeface="Arial" charset="0"/>
              </a:rPr>
              <a:t>Among vertices not already in the tree, it finds vertex </a:t>
            </a:r>
            <a:r>
              <a:rPr lang="en-US" altLang="en-US" sz="2400" i="1" dirty="0">
                <a:latin typeface="Times New Roman" panose="02020603050405020304" pitchFamily="18" charset="0"/>
                <a:cs typeface="Times New Roman" panose="02020603050405020304" pitchFamily="18" charset="0"/>
              </a:rPr>
              <a:t>u</a:t>
            </a:r>
            <a:r>
              <a:rPr lang="en-US" altLang="en-US" sz="2400" dirty="0">
                <a:cs typeface="Arial" charset="0"/>
              </a:rPr>
              <a:t> with the smallest sum </a:t>
            </a:r>
          </a:p>
          <a:p>
            <a:pPr marL="457200" lvl="1" indent="0">
              <a:buNone/>
              <a:defRPr/>
            </a:pPr>
            <a:r>
              <a:rPr lang="en-US" altLang="en-US" sz="2400" i="1" dirty="0">
                <a:latin typeface="Times New Roman" panose="02020603050405020304" pitchFamily="18" charset="0"/>
                <a:cs typeface="Times New Roman" panose="02020603050405020304" pitchFamily="18" charset="0"/>
              </a:rPr>
              <a:t>                                                d</a:t>
            </a:r>
            <a:r>
              <a:rPr lang="en-US" altLang="en-US" sz="2400" i="1" baseline="-25000" dirty="0">
                <a:latin typeface="Times New Roman" panose="02020603050405020304" pitchFamily="18" charset="0"/>
                <a:cs typeface="Times New Roman" panose="02020603050405020304" pitchFamily="18" charset="0"/>
              </a:rPr>
              <a:t>v</a:t>
            </a:r>
            <a:r>
              <a:rPr lang="en-US" altLang="en-US" sz="2400" i="1" dirty="0">
                <a:latin typeface="Times New Roman" panose="02020603050405020304" pitchFamily="18" charset="0"/>
                <a:cs typeface="Times New Roman" panose="02020603050405020304" pitchFamily="18" charset="0"/>
              </a:rPr>
              <a:t> +  w(</a:t>
            </a:r>
            <a:r>
              <a:rPr lang="en-US" altLang="en-US" sz="2400" i="1" dirty="0" err="1">
                <a:latin typeface="Times New Roman" panose="02020603050405020304" pitchFamily="18" charset="0"/>
                <a:cs typeface="Times New Roman" panose="02020603050405020304" pitchFamily="18" charset="0"/>
              </a:rPr>
              <a:t>v,u</a:t>
            </a:r>
            <a:r>
              <a:rPr lang="en-US" altLang="en-US" sz="2400" i="1" dirty="0">
                <a:latin typeface="Times New Roman" panose="02020603050405020304" pitchFamily="18" charset="0"/>
                <a:cs typeface="Times New Roman" panose="02020603050405020304" pitchFamily="18" charset="0"/>
              </a:rPr>
              <a:t>)</a:t>
            </a:r>
          </a:p>
          <a:p>
            <a:pPr lvl="1">
              <a:defRPr/>
            </a:pPr>
            <a:r>
              <a:rPr lang="en-US" altLang="en-US" sz="2400" dirty="0">
                <a:cs typeface="Arial" charset="0"/>
              </a:rPr>
              <a:t>where </a:t>
            </a:r>
          </a:p>
          <a:p>
            <a:pPr lvl="2">
              <a:defRPr/>
            </a:pPr>
            <a:r>
              <a:rPr lang="en-US" altLang="en-US" sz="2200" i="1" dirty="0">
                <a:latin typeface="Times New Roman" panose="02020603050405020304" pitchFamily="18" charset="0"/>
                <a:cs typeface="Times New Roman" panose="02020603050405020304" pitchFamily="18" charset="0"/>
              </a:rPr>
              <a:t>v</a:t>
            </a:r>
            <a:r>
              <a:rPr lang="en-US" altLang="en-US" sz="2200" dirty="0">
                <a:cs typeface="Arial" charset="0"/>
              </a:rPr>
              <a:t> is a vertex for which shortest path has been already found on preceding iterations (form the tree root </a:t>
            </a:r>
            <a:r>
              <a:rPr lang="en-US" altLang="en-US" sz="2200" i="1" dirty="0">
                <a:latin typeface="Times New Roman" panose="02020603050405020304" pitchFamily="18" charset="0"/>
                <a:cs typeface="Times New Roman" panose="02020603050405020304" pitchFamily="18" charset="0"/>
              </a:rPr>
              <a:t>s</a:t>
            </a:r>
            <a:r>
              <a:rPr lang="en-US" altLang="en-US" sz="2200" dirty="0">
                <a:cs typeface="Arial" charset="0"/>
              </a:rPr>
              <a:t>)</a:t>
            </a:r>
          </a:p>
          <a:p>
            <a:pPr lvl="2">
              <a:defRPr/>
            </a:pPr>
            <a:r>
              <a:rPr lang="en-US" altLang="en-US" sz="2200" i="1" dirty="0">
                <a:latin typeface="Times New Roman" panose="02020603050405020304" pitchFamily="18" charset="0"/>
                <a:cs typeface="Times New Roman" panose="02020603050405020304" pitchFamily="18" charset="0"/>
              </a:rPr>
              <a:t>d</a:t>
            </a:r>
            <a:r>
              <a:rPr lang="en-US" altLang="en-US" sz="2200" i="1" baseline="-25000" dirty="0">
                <a:latin typeface="Times New Roman" panose="02020603050405020304" pitchFamily="18" charset="0"/>
                <a:cs typeface="Times New Roman" panose="02020603050405020304" pitchFamily="18" charset="0"/>
              </a:rPr>
              <a:t>v</a:t>
            </a:r>
            <a:r>
              <a:rPr lang="en-US" altLang="en-US" sz="2200" dirty="0">
                <a:cs typeface="Arial" charset="0"/>
              </a:rPr>
              <a:t> is the length of the shortest path from source </a:t>
            </a:r>
            <a:r>
              <a:rPr lang="en-US" altLang="en-US" sz="2200" i="1" dirty="0">
                <a:latin typeface="Times New Roman" panose="02020603050405020304" pitchFamily="18" charset="0"/>
                <a:cs typeface="Times New Roman" panose="02020603050405020304" pitchFamily="18" charset="0"/>
              </a:rPr>
              <a:t>s</a:t>
            </a:r>
            <a:r>
              <a:rPr lang="en-US" altLang="en-US" sz="2200" dirty="0">
                <a:cs typeface="Arial" charset="0"/>
              </a:rPr>
              <a:t> to </a:t>
            </a:r>
            <a:r>
              <a:rPr lang="en-US" altLang="en-US" sz="2200" i="1" dirty="0">
                <a:latin typeface="Times New Roman" panose="02020603050405020304" pitchFamily="18" charset="0"/>
                <a:cs typeface="Times New Roman" panose="02020603050405020304" pitchFamily="18" charset="0"/>
              </a:rPr>
              <a:t>v</a:t>
            </a:r>
            <a:br>
              <a:rPr lang="en-US" altLang="en-US" sz="2200" dirty="0">
                <a:cs typeface="Arial" charset="0"/>
              </a:rPr>
            </a:br>
            <a:r>
              <a:rPr lang="en-US" altLang="en-US" sz="2200" i="1" dirty="0">
                <a:solidFill>
                  <a:schemeClr val="tx1"/>
                </a:solidFill>
                <a:latin typeface="Times New Roman" panose="02020603050405020304" pitchFamily="18" charset="0"/>
                <a:cs typeface="Times New Roman" panose="02020603050405020304" pitchFamily="18" charset="0"/>
              </a:rPr>
              <a:t>w</a:t>
            </a:r>
            <a:r>
              <a:rPr lang="en-US" altLang="en-US" sz="2200" dirty="0">
                <a:solidFill>
                  <a:schemeClr val="tx1"/>
                </a:solidFill>
                <a:cs typeface="Arial" charset="0"/>
              </a:rPr>
              <a:t>(</a:t>
            </a:r>
            <a:r>
              <a:rPr lang="en-US" altLang="en-US" sz="2200" i="1" dirty="0">
                <a:solidFill>
                  <a:schemeClr val="tx1"/>
                </a:solidFill>
                <a:latin typeface="Times New Roman" panose="02020603050405020304" pitchFamily="18" charset="0"/>
                <a:cs typeface="Times New Roman" panose="02020603050405020304" pitchFamily="18" charset="0"/>
              </a:rPr>
              <a:t>v</a:t>
            </a:r>
            <a:r>
              <a:rPr lang="en-US" altLang="en-US" sz="2200" dirty="0">
                <a:solidFill>
                  <a:schemeClr val="tx1"/>
                </a:solidFill>
                <a:cs typeface="Arial" charset="0"/>
              </a:rPr>
              <a:t>,</a:t>
            </a:r>
            <a:r>
              <a:rPr lang="en-US" altLang="en-US" sz="2200" i="1" dirty="0">
                <a:latin typeface="Times New Roman" panose="02020603050405020304" pitchFamily="18" charset="0"/>
                <a:cs typeface="Times New Roman" panose="02020603050405020304" pitchFamily="18" charset="0"/>
              </a:rPr>
              <a:t>u</a:t>
            </a:r>
            <a:r>
              <a:rPr lang="en-US" altLang="en-US" sz="2200" dirty="0">
                <a:solidFill>
                  <a:schemeClr val="tx1"/>
                </a:solidFill>
                <a:cs typeface="Arial" charset="0"/>
              </a:rPr>
              <a:t>) is the length (weight) of edge from </a:t>
            </a:r>
            <a:r>
              <a:rPr lang="en-US" altLang="en-US" sz="2200" i="1" dirty="0">
                <a:solidFill>
                  <a:schemeClr val="tx1"/>
                </a:solidFill>
                <a:latin typeface="Times New Roman" panose="02020603050405020304" pitchFamily="18" charset="0"/>
                <a:cs typeface="Times New Roman" panose="02020603050405020304" pitchFamily="18" charset="0"/>
              </a:rPr>
              <a:t>v</a:t>
            </a:r>
            <a:r>
              <a:rPr lang="en-US" altLang="en-US" sz="2200" dirty="0">
                <a:solidFill>
                  <a:schemeClr val="tx1"/>
                </a:solidFill>
                <a:cs typeface="Arial" charset="0"/>
              </a:rPr>
              <a:t> to </a:t>
            </a:r>
            <a:r>
              <a:rPr lang="en-US" altLang="en-US" sz="2200" i="1" dirty="0">
                <a:solidFill>
                  <a:schemeClr val="tx1"/>
                </a:solidFill>
                <a:latin typeface="Times New Roman" panose="02020603050405020304" pitchFamily="18" charset="0"/>
                <a:cs typeface="Times New Roman" panose="02020603050405020304" pitchFamily="18" charset="0"/>
              </a:rPr>
              <a:t>u</a:t>
            </a:r>
          </a:p>
          <a:p>
            <a:pPr lvl="2">
              <a:defRPr/>
            </a:pPr>
            <a:endParaRPr lang="en-US" altLang="en-US" sz="2200" i="1" dirty="0">
              <a:latin typeface="Times New Roman" panose="02020603050405020304" pitchFamily="18" charset="0"/>
              <a:cs typeface="Times New Roman" panose="02020603050405020304" pitchFamily="18" charset="0"/>
            </a:endParaRPr>
          </a:p>
          <a:p>
            <a:pPr>
              <a:defRPr/>
            </a:pPr>
            <a:r>
              <a:rPr lang="en-US" altLang="en-US" sz="2800" dirty="0">
                <a:solidFill>
                  <a:srgbClr val="000000"/>
                </a:solidFill>
                <a:latin typeface="Arial"/>
              </a:rPr>
              <a:t>It always ends up with single-source shortest paths to all destinations</a:t>
            </a:r>
          </a:p>
          <a:p>
            <a:pPr lvl="1">
              <a:defRPr/>
            </a:pPr>
            <a:r>
              <a:rPr lang="en-US" altLang="en-US" sz="2400" dirty="0">
                <a:cs typeface="Arial" charset="0"/>
              </a:rPr>
              <a:t>because a boxed vertex has the shortest current distance from the source and no other future such path can be shorter </a:t>
            </a:r>
          </a:p>
          <a:p>
            <a:pPr lvl="2">
              <a:defRPr/>
            </a:pPr>
            <a:endParaRPr lang="en-US" altLang="en-US" sz="2200" dirty="0">
              <a:solidFill>
                <a:schemeClr val="tx1"/>
              </a:solidFill>
              <a:cs typeface="Arial" charset="0"/>
            </a:endParaRPr>
          </a:p>
        </p:txBody>
      </p:sp>
    </p:spTree>
    <p:extLst>
      <p:ext uri="{BB962C8B-B14F-4D97-AF65-F5344CB8AC3E}">
        <p14:creationId xmlns:p14="http://schemas.microsoft.com/office/powerpoint/2010/main" val="3187922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Dijkstra’s Shortest Paths Algorithm, Contd.</a:t>
            </a:r>
            <a:endParaRPr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2" name="object 7">
            <a:extLst>
              <a:ext uri="{FF2B5EF4-FFF2-40B4-BE49-F238E27FC236}">
                <a16:creationId xmlns:a16="http://schemas.microsoft.com/office/drawing/2014/main" id="{D6BA1F22-AD79-9341-759B-5B35E01999CA}"/>
              </a:ext>
            </a:extLst>
          </p:cNvPr>
          <p:cNvSpPr txBox="1">
            <a:spLocks/>
          </p:cNvSpPr>
          <p:nvPr/>
        </p:nvSpPr>
        <p:spPr bwMode="auto">
          <a:xfrm>
            <a:off x="457200" y="1228384"/>
            <a:ext cx="11277600" cy="5293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lang="en-US" altLang="en-US" sz="2800" dirty="0">
                <a:solidFill>
                  <a:srgbClr val="000000"/>
                </a:solidFill>
                <a:latin typeface="Arial"/>
              </a:rPr>
              <a:t>Correctness can be proven by induction on the number of vertices</a:t>
            </a:r>
          </a:p>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endParaRPr lang="en-US" altLang="en-US" sz="2800" dirty="0">
              <a:solidFill>
                <a:srgbClr val="000000"/>
              </a:solidFill>
              <a:latin typeface="Arial"/>
            </a:endParaRPr>
          </a:p>
          <a:p>
            <a:pPr>
              <a:defRPr/>
            </a:pPr>
            <a:r>
              <a:rPr lang="en-US" altLang="en-US" sz="2800" dirty="0">
                <a:solidFill>
                  <a:srgbClr val="000000"/>
                </a:solidFill>
                <a:latin typeface="Arial"/>
              </a:rPr>
              <a:t>Applicable to both undirected and directed graphs</a:t>
            </a:r>
          </a:p>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endParaRPr lang="en-US" altLang="en-US" sz="800" dirty="0">
              <a:solidFill>
                <a:srgbClr val="000000"/>
              </a:solidFill>
              <a:latin typeface="Arial"/>
            </a:endParaRPr>
          </a:p>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lang="en-US" altLang="en-US" sz="2800" dirty="0">
                <a:solidFill>
                  <a:srgbClr val="000000"/>
                </a:solidFill>
                <a:latin typeface="Arial"/>
              </a:rPr>
              <a:t>Cannot be adopted for graphs with negative weights </a:t>
            </a:r>
            <a:r>
              <a:rPr lang="en-US" altLang="en-US" sz="1800" dirty="0">
                <a:solidFill>
                  <a:srgbClr val="000000"/>
                </a:solidFill>
                <a:latin typeface="Arial"/>
              </a:rPr>
              <a:t>(whereas Floyd’s algorithm does, as long as there is no negative cycle). </a:t>
            </a:r>
          </a:p>
          <a:p>
            <a:pPr lvl="1">
              <a:defRPr/>
            </a:pPr>
            <a:r>
              <a:rPr lang="en-US" altLang="en-US" sz="2400" dirty="0">
                <a:cs typeface="Arial" charset="0"/>
              </a:rPr>
              <a:t>Can you find a counterexample for Dijkstra’s algorithm?</a:t>
            </a:r>
          </a:p>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endParaRPr lang="en-US" altLang="en-US" sz="800" dirty="0">
              <a:solidFill>
                <a:srgbClr val="000000"/>
              </a:solidFill>
              <a:latin typeface="Arial"/>
            </a:endParaRPr>
          </a:p>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lang="en-US" altLang="en-US" sz="2800" b="1" dirty="0">
                <a:solidFill>
                  <a:srgbClr val="000000"/>
                </a:solidFill>
                <a:latin typeface="Arial"/>
              </a:rPr>
              <a:t>Efficiency</a:t>
            </a:r>
          </a:p>
          <a:p>
            <a:pPr lvl="1">
              <a:defRPr/>
            </a:pPr>
            <a:r>
              <a:rPr lang="en-US" altLang="en-US" sz="2400" dirty="0">
                <a:cs typeface="Arial" charset="0"/>
              </a:rPr>
              <a:t>O(|V|</a:t>
            </a:r>
            <a:r>
              <a:rPr lang="en-US" altLang="en-US" sz="2400" baseline="30000" dirty="0">
                <a:cs typeface="Arial" charset="0"/>
              </a:rPr>
              <a:t>2</a:t>
            </a:r>
            <a:r>
              <a:rPr lang="en-US" altLang="en-US" sz="2400" dirty="0">
                <a:cs typeface="Arial" charset="0"/>
              </a:rPr>
              <a:t>) for graphs represented by weight matrix and array implementation of priority queue</a:t>
            </a:r>
          </a:p>
          <a:p>
            <a:pPr lvl="1">
              <a:defRPr/>
            </a:pPr>
            <a:r>
              <a:rPr lang="en-US" altLang="en-US" sz="2400" dirty="0">
                <a:cs typeface="Arial" charset="0"/>
              </a:rPr>
              <a:t>O(|E| log |V|) for graphs represented by adjacency lists and min-heap implementation of priority queue</a:t>
            </a:r>
          </a:p>
        </p:txBody>
      </p:sp>
      <p:sp>
        <p:nvSpPr>
          <p:cNvPr id="4" name="Text Box 4">
            <a:extLst>
              <a:ext uri="{FF2B5EF4-FFF2-40B4-BE49-F238E27FC236}">
                <a16:creationId xmlns:a16="http://schemas.microsoft.com/office/drawing/2014/main" id="{8DF00B44-EA84-40A0-E674-1055948D7D47}"/>
              </a:ext>
            </a:extLst>
          </p:cNvPr>
          <p:cNvSpPr txBox="1">
            <a:spLocks noChangeArrowheads="1"/>
          </p:cNvSpPr>
          <p:nvPr/>
        </p:nvSpPr>
        <p:spPr bwMode="auto">
          <a:xfrm>
            <a:off x="2227289" y="1676400"/>
            <a:ext cx="9982200" cy="529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lnSpc>
                <a:spcPct val="70000"/>
              </a:lnSpc>
              <a:spcBef>
                <a:spcPct val="50000"/>
              </a:spcBef>
              <a:buClrTx/>
              <a:buSzTx/>
              <a:buNone/>
            </a:pPr>
            <a:r>
              <a:rPr kumimoji="0" lang="en-US" altLang="ko-KR" sz="2000" dirty="0">
                <a:solidFill>
                  <a:srgbClr val="7030A0"/>
                </a:solidFill>
                <a:ea typeface="굴림" pitchFamily="34" charset="-127"/>
              </a:rPr>
              <a:t>We prove the invariants: (i) when a vertex is added to the tree, its correct distance is calculated and (ii) the distance is at least those of the previously added vertices</a:t>
            </a:r>
          </a:p>
        </p:txBody>
      </p:sp>
      <p:sp>
        <p:nvSpPr>
          <p:cNvPr id="5" name="TextBox 4">
            <a:extLst>
              <a:ext uri="{FF2B5EF4-FFF2-40B4-BE49-F238E27FC236}">
                <a16:creationId xmlns:a16="http://schemas.microsoft.com/office/drawing/2014/main" id="{7BC368D7-2A2F-595E-9667-B640BF274AF9}"/>
              </a:ext>
            </a:extLst>
          </p:cNvPr>
          <p:cNvSpPr txBox="1"/>
          <p:nvPr/>
        </p:nvSpPr>
        <p:spPr>
          <a:xfrm>
            <a:off x="2743200" y="6535579"/>
            <a:ext cx="8534400" cy="246221"/>
          </a:xfrm>
          <a:prstGeom prst="rect">
            <a:avLst/>
          </a:prstGeom>
          <a:noFill/>
        </p:spPr>
        <p:txBody>
          <a:bodyPr wrap="square" rtlCol="0">
            <a:spAutoFit/>
          </a:bodyPr>
          <a:lstStyle/>
          <a:p>
            <a:r>
              <a:rPr lang="en-US" sz="1000" dirty="0">
                <a:hlinkClick r:id="rId6"/>
              </a:rPr>
              <a:t>https://kgardner.people.amherst.edu/courses/s19/cosc211/handouts/dijkstra_slides.pdf</a:t>
            </a:r>
            <a:r>
              <a:rPr lang="en-US" sz="1000" dirty="0"/>
              <a:t>; </a:t>
            </a:r>
            <a:r>
              <a:rPr lang="en-US" sz="1000" dirty="0">
                <a:hlinkClick r:id="rId7"/>
              </a:rPr>
              <a:t>https://avivt.github.io/avivt/downloads/tutorials/Class3.pdf</a:t>
            </a:r>
            <a:endParaRPr lang="en-US" sz="1000" dirty="0"/>
          </a:p>
        </p:txBody>
      </p:sp>
    </p:spTree>
    <p:extLst>
      <p:ext uri="{BB962C8B-B14F-4D97-AF65-F5344CB8AC3E}">
        <p14:creationId xmlns:p14="http://schemas.microsoft.com/office/powerpoint/2010/main" val="2571487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FF3300"/>
                </a:solidFill>
              </a:rPr>
              <a:t>Coding Problem</a:t>
            </a:r>
            <a:endParaRPr sz="3800" b="1" spc="-18" dirty="0">
              <a:solidFill>
                <a:srgbClr val="FF33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8" name="object 7">
            <a:extLst>
              <a:ext uri="{FF2B5EF4-FFF2-40B4-BE49-F238E27FC236}">
                <a16:creationId xmlns:a16="http://schemas.microsoft.com/office/drawing/2014/main" id="{CEC6031F-C815-9291-2A3C-A02E94948BCE}"/>
              </a:ext>
            </a:extLst>
          </p:cNvPr>
          <p:cNvSpPr txBox="1">
            <a:spLocks/>
          </p:cNvSpPr>
          <p:nvPr/>
        </p:nvSpPr>
        <p:spPr bwMode="auto">
          <a:xfrm>
            <a:off x="457200" y="1228384"/>
            <a:ext cx="11430000" cy="5158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r>
              <a:rPr kumimoji="0" lang="en-US" sz="2800" b="1" i="0" u="none" strike="noStrike" kern="1200" cap="none" spc="0" normalizeH="0" baseline="0" noProof="0" dirty="0">
                <a:ln>
                  <a:noFill/>
                </a:ln>
                <a:solidFill>
                  <a:srgbClr val="000000"/>
                </a:solidFill>
                <a:effectLst/>
                <a:uLnTx/>
                <a:uFillTx/>
                <a:latin typeface="Arial"/>
                <a:ea typeface="ＭＳ Ｐゴシック" charset="0"/>
                <a:cs typeface="Arial" charset="0"/>
              </a:rPr>
              <a:t>Coding</a:t>
            </a:r>
          </a:p>
          <a:p>
            <a:pPr lvl="1">
              <a:buClr>
                <a:srgbClr val="FF6600"/>
              </a:buClr>
              <a:tabLst>
                <a:tab pos="465671" algn="l"/>
              </a:tabLst>
              <a:defRPr/>
            </a:pPr>
            <a:r>
              <a:rPr lang="en-US" sz="2400" dirty="0">
                <a:cs typeface="Arial" charset="0"/>
              </a:rPr>
              <a:t>assignment of bit strings (codewords) to alphabet characters</a:t>
            </a:r>
          </a:p>
          <a:p>
            <a:pPr lvl="1">
              <a:buClr>
                <a:srgbClr val="FF6600"/>
              </a:buClr>
              <a:tabLst>
                <a:tab pos="465671" algn="l"/>
              </a:tabLst>
              <a:defRPr/>
            </a:pPr>
            <a:r>
              <a:rPr lang="en-US" sz="2400" dirty="0">
                <a:cs typeface="Arial" charset="0"/>
              </a:rPr>
              <a:t>e.g., w</a:t>
            </a:r>
            <a:r>
              <a:rPr lang="en-US" altLang="ko-KR" sz="2400" dirty="0">
                <a:cs typeface="Arial" charset="0"/>
              </a:rPr>
              <a:t>e can code {</a:t>
            </a:r>
            <a:r>
              <a:rPr lang="en-US" altLang="ko-KR" sz="2400" i="1" dirty="0" err="1">
                <a:latin typeface="Times New Roman" panose="02020603050405020304" pitchFamily="18" charset="0"/>
                <a:cs typeface="Times New Roman" panose="02020603050405020304" pitchFamily="18" charset="0"/>
              </a:rPr>
              <a:t>a,b,c,d</a:t>
            </a:r>
            <a:r>
              <a:rPr lang="en-US" altLang="ko-KR" sz="2400" dirty="0">
                <a:cs typeface="Arial" charset="0"/>
              </a:rPr>
              <a:t>} as {00,01,10,11} or </a:t>
            </a:r>
            <a:r>
              <a:rPr lang="en-US" altLang="ko-KR" sz="2400" b="1" dirty="0">
                <a:solidFill>
                  <a:srgbClr val="FFC000"/>
                </a:solidFill>
                <a:cs typeface="Arial" charset="0"/>
              </a:rPr>
              <a:t>{0,10,110,111} </a:t>
            </a:r>
            <a:r>
              <a:rPr lang="en-US" altLang="ko-KR" sz="2400" dirty="0">
                <a:cs typeface="Arial" charset="0"/>
              </a:rPr>
              <a:t>or {0,01,10,101}</a:t>
            </a:r>
            <a:endParaRPr lang="en-US" sz="2400" dirty="0">
              <a:cs typeface="Arial" charset="0"/>
            </a:endParaRPr>
          </a:p>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endParaRPr lang="en-US" sz="2400" dirty="0">
              <a:solidFill>
                <a:srgbClr val="000050"/>
              </a:solidFill>
              <a:cs typeface="Arial" charset="0"/>
            </a:endParaRPr>
          </a:p>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r>
              <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rPr>
              <a:t>Two types of codes</a:t>
            </a:r>
          </a:p>
          <a:p>
            <a:pPr lvl="1">
              <a:buClr>
                <a:srgbClr val="FF6600"/>
              </a:buClr>
              <a:tabLst>
                <a:tab pos="465671" algn="l"/>
              </a:tabLst>
              <a:defRPr/>
            </a:pPr>
            <a:r>
              <a:rPr lang="en-US" sz="2400" dirty="0">
                <a:cs typeface="Arial" charset="0"/>
              </a:rPr>
              <a:t>fixed-length encoding (e.g., ASCII)</a:t>
            </a:r>
          </a:p>
          <a:p>
            <a:pPr lvl="1">
              <a:buClr>
                <a:srgbClr val="FF6600"/>
              </a:buClr>
              <a:tabLst>
                <a:tab pos="465671" algn="l"/>
              </a:tabLst>
              <a:defRPr/>
            </a:pPr>
            <a:r>
              <a:rPr lang="en-US" sz="2400" dirty="0">
                <a:cs typeface="Arial" charset="0"/>
              </a:rPr>
              <a:t>variable-length encoding (e.g., Morse code)</a:t>
            </a:r>
          </a:p>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endParaRPr kumimoji="0" lang="en-US" sz="800" b="0" i="0" u="none" strike="noStrike" kern="120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r>
              <a:rPr kumimoji="0" lang="en-US" sz="2800" b="1" i="0" u="none" strike="noStrike" kern="1200" cap="none" spc="0" normalizeH="0" baseline="0" noProof="0" dirty="0">
                <a:ln>
                  <a:noFill/>
                </a:ln>
                <a:solidFill>
                  <a:srgbClr val="7030A0"/>
                </a:solidFill>
                <a:effectLst/>
                <a:uLnTx/>
                <a:uFillTx/>
                <a:latin typeface="Arial"/>
                <a:ea typeface="ＭＳ Ｐゴシック" charset="0"/>
                <a:cs typeface="Arial" charset="0"/>
              </a:rPr>
              <a:t>Prefix-free codes </a:t>
            </a:r>
            <a:r>
              <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rPr>
              <a:t>(or </a:t>
            </a:r>
            <a:r>
              <a:rPr kumimoji="0" lang="en-US" sz="2800" b="1" i="0" u="none" strike="noStrike" kern="1200" cap="none" spc="0" normalizeH="0" baseline="0" noProof="0" dirty="0">
                <a:ln>
                  <a:noFill/>
                </a:ln>
                <a:solidFill>
                  <a:srgbClr val="7030A0"/>
                </a:solidFill>
                <a:effectLst/>
                <a:uLnTx/>
                <a:uFillTx/>
                <a:latin typeface="Arial"/>
                <a:ea typeface="ＭＳ Ｐゴシック" charset="0"/>
                <a:cs typeface="Arial" charset="0"/>
              </a:rPr>
              <a:t>prefix-codes</a:t>
            </a:r>
            <a:r>
              <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rPr>
              <a:t>)</a:t>
            </a:r>
          </a:p>
          <a:p>
            <a:pPr lvl="1">
              <a:buClr>
                <a:srgbClr val="FF6600"/>
              </a:buClr>
              <a:tabLst>
                <a:tab pos="465671" algn="l"/>
              </a:tabLst>
              <a:defRPr/>
            </a:pPr>
            <a:r>
              <a:rPr lang="en-US" sz="2400" dirty="0">
                <a:cs typeface="Arial" charset="0"/>
              </a:rPr>
              <a:t>no codeword is a prefix of another codeword</a:t>
            </a:r>
          </a:p>
          <a:p>
            <a:pPr lvl="1">
              <a:buClr>
                <a:srgbClr val="FF6600"/>
              </a:buClr>
              <a:tabLst>
                <a:tab pos="465671" algn="l"/>
              </a:tabLst>
              <a:defRPr/>
            </a:pPr>
            <a:r>
              <a:rPr lang="en-US" sz="2400" dirty="0">
                <a:cs typeface="Arial" charset="0"/>
              </a:rPr>
              <a:t>It allows for efficient (online) decoding! </a:t>
            </a:r>
          </a:p>
          <a:p>
            <a:pPr lvl="1">
              <a:buClr>
                <a:srgbClr val="FF6600"/>
              </a:buClr>
              <a:tabLst>
                <a:tab pos="465671" algn="l"/>
              </a:tabLst>
              <a:defRPr/>
            </a:pPr>
            <a:r>
              <a:rPr lang="en-US" sz="2400" dirty="0">
                <a:cs typeface="Arial" charset="0"/>
              </a:rPr>
              <a:t>e.g., consider the encoded string (msg) 10010110…</a:t>
            </a:r>
            <a:endParaRPr lang="en-US" sz="2000" dirty="0">
              <a:cs typeface="Arial" charset="0"/>
            </a:endParaRPr>
          </a:p>
        </p:txBody>
      </p:sp>
      <p:sp>
        <p:nvSpPr>
          <p:cNvPr id="10" name="AutoShape 7">
            <a:extLst>
              <a:ext uri="{FF2B5EF4-FFF2-40B4-BE49-F238E27FC236}">
                <a16:creationId xmlns:a16="http://schemas.microsoft.com/office/drawing/2014/main" id="{CC7F5355-1EF3-007B-FB31-B8C4C533EAE6}"/>
              </a:ext>
            </a:extLst>
          </p:cNvPr>
          <p:cNvSpPr>
            <a:spLocks noChangeArrowheads="1"/>
          </p:cNvSpPr>
          <p:nvPr/>
        </p:nvSpPr>
        <p:spPr bwMode="auto">
          <a:xfrm>
            <a:off x="7543800" y="3048000"/>
            <a:ext cx="3810000" cy="1236832"/>
          </a:xfrm>
          <a:prstGeom prst="wedgeRectCallout">
            <a:avLst>
              <a:gd name="adj1" fmla="val -25051"/>
              <a:gd name="adj2" fmla="val -81875"/>
            </a:avLst>
          </a:prstGeom>
          <a:solidFill>
            <a:schemeClr val="bg1"/>
          </a:solidFill>
          <a:ln w="12700">
            <a:solidFill>
              <a:srgbClr val="FF0000"/>
            </a:solidFill>
            <a:miter lim="800000"/>
            <a:headEnd type="none" w="sm" len="sm"/>
            <a:tailEnd type="none" w="sm" len="sm"/>
          </a:ln>
          <a:effectLst/>
        </p:spPr>
        <p:txBody>
          <a:bodyPr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0"/>
              </a:spcBef>
              <a:buClrTx/>
              <a:buSzTx/>
              <a:buNone/>
            </a:pPr>
            <a:r>
              <a:rPr kumimoji="0" lang="en-US" altLang="ko-KR" sz="1800" dirty="0">
                <a:solidFill>
                  <a:srgbClr val="FF9933"/>
                </a:solidFill>
                <a:ea typeface="굴림" pitchFamily="34" charset="-127"/>
              </a:rPr>
              <a:t>e.g., if P(a) = 0.4, P(b) = 0.3, P(c) =  0.2, P(d) = 0.1, then the </a:t>
            </a:r>
            <a:r>
              <a:rPr kumimoji="0" lang="en-US" altLang="ko-KR" sz="1800" u="sng" dirty="0">
                <a:solidFill>
                  <a:srgbClr val="FF9933"/>
                </a:solidFill>
                <a:ea typeface="굴림" pitchFamily="34" charset="-127"/>
              </a:rPr>
              <a:t>weighted average length of this code </a:t>
            </a:r>
            <a:r>
              <a:rPr kumimoji="0" lang="en-US" altLang="ko-KR" sz="1800" dirty="0">
                <a:solidFill>
                  <a:srgbClr val="FF9933"/>
                </a:solidFill>
                <a:ea typeface="굴림" pitchFamily="34" charset="-127"/>
              </a:rPr>
              <a:t>is 1*0.4 + 2*0.3 + 3*0.2 + 3*0.1 = 1.9 bits</a:t>
            </a:r>
          </a:p>
        </p:txBody>
      </p:sp>
    </p:spTree>
    <p:extLst>
      <p:ext uri="{BB962C8B-B14F-4D97-AF65-F5344CB8AC3E}">
        <p14:creationId xmlns:p14="http://schemas.microsoft.com/office/powerpoint/2010/main" val="1808165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Coding Problem, Contd.</a:t>
            </a:r>
            <a:endParaRPr sz="3800" b="1" spc="-18" dirty="0">
              <a:solidFill>
                <a:srgbClr val="0070C0"/>
              </a:solidFill>
            </a:endParaRPr>
          </a:p>
        </p:txBody>
      </p:sp>
      <p:pic>
        <p:nvPicPr>
          <p:cNvPr id="4" name="Picture 3">
            <a:extLst>
              <a:ext uri="{FF2B5EF4-FFF2-40B4-BE49-F238E27FC236}">
                <a16:creationId xmlns:a16="http://schemas.microsoft.com/office/drawing/2014/main" id="{704BCD2A-CAAC-09A9-2752-59812033E6DF}"/>
              </a:ext>
            </a:extLst>
          </p:cNvPr>
          <p:cNvPicPr>
            <a:picLocks noChangeAspect="1"/>
          </p:cNvPicPr>
          <p:nvPr/>
        </p:nvPicPr>
        <p:blipFill>
          <a:blip r:embed="rId3"/>
          <a:stretch>
            <a:fillRect/>
          </a:stretch>
        </p:blipFill>
        <p:spPr>
          <a:xfrm>
            <a:off x="6540633" y="3265859"/>
            <a:ext cx="4981575" cy="3101735"/>
          </a:xfrm>
          <a:prstGeom prst="rect">
            <a:avLst/>
          </a:prstGeom>
        </p:spPr>
      </p:pic>
      <p:sp>
        <p:nvSpPr>
          <p:cNvPr id="5" name="Slide Number Placeholder 2">
            <a:extLst>
              <a:ext uri="{FF2B5EF4-FFF2-40B4-BE49-F238E27FC236}">
                <a16:creationId xmlns:a16="http://schemas.microsoft.com/office/drawing/2014/main" id="{D7403EB7-8711-3041-149F-90C69530A817}"/>
              </a:ext>
            </a:extLst>
          </p:cNvPr>
          <p:cNvSpPr txBox="1">
            <a:spLocks/>
          </p:cNvSpPr>
          <p:nvPr/>
        </p:nvSpPr>
        <p:spPr>
          <a:xfrm>
            <a:off x="8737600" y="6356351"/>
            <a:ext cx="2844800" cy="365125"/>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pPr algn="r">
              <a:defRPr/>
            </a:pPr>
            <a:fld id="{C65781BD-3F4D-4CA7-A858-CE94DEA3B426}" type="slidenum">
              <a:rPr lang="en-US" smtClean="0">
                <a:solidFill>
                  <a:srgbClr val="000000"/>
                </a:solidFill>
              </a:rPr>
              <a:pPr algn="r">
                <a:defRPr/>
              </a:pPr>
              <a:t>30</a:t>
            </a:fld>
            <a:endParaRPr lang="en-US" dirty="0">
              <a:solidFill>
                <a:srgbClr val="000000"/>
              </a:solidFill>
            </a:endParaRPr>
          </a:p>
        </p:txBody>
      </p:sp>
      <p:sp>
        <p:nvSpPr>
          <p:cNvPr id="7" name="object 7">
            <a:extLst>
              <a:ext uri="{FF2B5EF4-FFF2-40B4-BE49-F238E27FC236}">
                <a16:creationId xmlns:a16="http://schemas.microsoft.com/office/drawing/2014/main" id="{D9021C5B-14B2-F397-8E77-D2CB7833EEBB}"/>
              </a:ext>
            </a:extLst>
          </p:cNvPr>
          <p:cNvSpPr txBox="1">
            <a:spLocks/>
          </p:cNvSpPr>
          <p:nvPr/>
        </p:nvSpPr>
        <p:spPr bwMode="auto">
          <a:xfrm>
            <a:off x="457200" y="1228384"/>
            <a:ext cx="11430000" cy="2129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4"/>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5"/>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6"/>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4"/>
              </a:buBlip>
              <a:tabLst>
                <a:tab pos="465671" algn="l"/>
              </a:tabLst>
              <a:defRPr/>
            </a:pPr>
            <a:r>
              <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rPr>
              <a:t>A binary prefix code can be represented by a binary tree</a:t>
            </a:r>
          </a:p>
          <a:p>
            <a:pPr marR="0" lvl="1" defTabSz="914400" latinLnBrk="0">
              <a:lnSpc>
                <a:spcPct val="100000"/>
              </a:lnSpc>
              <a:buClr>
                <a:srgbClr val="FF6600"/>
              </a:buClr>
              <a:tabLst>
                <a:tab pos="465671" algn="l"/>
              </a:tabLst>
              <a:defRPr/>
            </a:pPr>
            <a:r>
              <a:rPr lang="en-US" sz="2400" dirty="0">
                <a:cs typeface="Arial" charset="0"/>
              </a:rPr>
              <a:t>associate the alphabet’s symbols with the leaves of the binary tree</a:t>
            </a:r>
          </a:p>
          <a:p>
            <a:pPr marR="0" lvl="1" defTabSz="914400" latinLnBrk="0">
              <a:lnSpc>
                <a:spcPct val="100000"/>
              </a:lnSpc>
              <a:buClr>
                <a:srgbClr val="FF6600"/>
              </a:buClr>
              <a:tabLst>
                <a:tab pos="465671" algn="l"/>
              </a:tabLst>
              <a:defRPr/>
            </a:pPr>
            <a:r>
              <a:rPr lang="en-US" sz="2400" dirty="0">
                <a:cs typeface="Arial" charset="0"/>
              </a:rPr>
              <a:t>each left edge is labeled by 0 and each right edge is labeled by 1</a:t>
            </a:r>
          </a:p>
          <a:p>
            <a:pPr marR="0" lvl="1" defTabSz="914400" latinLnBrk="0">
              <a:lnSpc>
                <a:spcPct val="100000"/>
              </a:lnSpc>
              <a:buClr>
                <a:srgbClr val="FF6600"/>
              </a:buClr>
              <a:tabLst>
                <a:tab pos="465671" algn="l"/>
              </a:tabLst>
              <a:defRPr/>
            </a:pPr>
            <a:r>
              <a:rPr lang="en-US" sz="2400" dirty="0">
                <a:cs typeface="Arial" charset="0"/>
              </a:rPr>
              <a:t>and the codeword of a symbol can then be obtained by recording the labels on the simple path from the root to the symbol’s leaf</a:t>
            </a:r>
          </a:p>
        </p:txBody>
      </p:sp>
      <p:grpSp>
        <p:nvGrpSpPr>
          <p:cNvPr id="9" name="Group 24">
            <a:extLst>
              <a:ext uri="{FF2B5EF4-FFF2-40B4-BE49-F238E27FC236}">
                <a16:creationId xmlns:a16="http://schemas.microsoft.com/office/drawing/2014/main" id="{64096B74-2F3D-A4FC-F1D5-F3353095480D}"/>
              </a:ext>
            </a:extLst>
          </p:cNvPr>
          <p:cNvGrpSpPr>
            <a:grpSpLocks/>
          </p:cNvGrpSpPr>
          <p:nvPr/>
        </p:nvGrpSpPr>
        <p:grpSpPr bwMode="auto">
          <a:xfrm>
            <a:off x="1524000" y="3886200"/>
            <a:ext cx="3352800" cy="1676400"/>
            <a:chOff x="3744" y="1152"/>
            <a:chExt cx="2112" cy="1056"/>
          </a:xfrm>
        </p:grpSpPr>
        <p:sp>
          <p:nvSpPr>
            <p:cNvPr id="11" name="Oval 4">
              <a:extLst>
                <a:ext uri="{FF2B5EF4-FFF2-40B4-BE49-F238E27FC236}">
                  <a16:creationId xmlns:a16="http://schemas.microsoft.com/office/drawing/2014/main" id="{F4106545-A7F7-4247-1478-ECE6EC489B14}"/>
                </a:ext>
              </a:extLst>
            </p:cNvPr>
            <p:cNvSpPr>
              <a:spLocks noChangeArrowheads="1"/>
            </p:cNvSpPr>
            <p:nvPr/>
          </p:nvSpPr>
          <p:spPr bwMode="auto">
            <a:xfrm>
              <a:off x="4752" y="1152"/>
              <a:ext cx="144" cy="144"/>
            </a:xfrm>
            <a:prstGeom prst="ellipse">
              <a:avLst/>
            </a:prstGeom>
            <a:noFill/>
            <a:ln w="127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endParaRPr kumimoji="0" lang="ko-KR" altLang="en-US" b="0">
                <a:solidFill>
                  <a:schemeClr val="tx1"/>
                </a:solidFill>
                <a:ea typeface="굴림" pitchFamily="34" charset="-127"/>
              </a:endParaRPr>
            </a:p>
          </p:txBody>
        </p:sp>
        <p:sp>
          <p:nvSpPr>
            <p:cNvPr id="12" name="Oval 5">
              <a:extLst>
                <a:ext uri="{FF2B5EF4-FFF2-40B4-BE49-F238E27FC236}">
                  <a16:creationId xmlns:a16="http://schemas.microsoft.com/office/drawing/2014/main" id="{42AB8B80-24ED-5B8F-CE59-1803A2B9D643}"/>
                </a:ext>
              </a:extLst>
            </p:cNvPr>
            <p:cNvSpPr>
              <a:spLocks noChangeArrowheads="1"/>
            </p:cNvSpPr>
            <p:nvPr/>
          </p:nvSpPr>
          <p:spPr bwMode="auto">
            <a:xfrm>
              <a:off x="4560" y="1344"/>
              <a:ext cx="144" cy="144"/>
            </a:xfrm>
            <a:prstGeom prst="ellipse">
              <a:avLst/>
            </a:prstGeom>
            <a:noFill/>
            <a:ln w="12700">
              <a:solidFill>
                <a:srgbClr val="FF0000"/>
              </a:solidFill>
              <a:round/>
              <a:headEnd type="none" w="sm" len="sm"/>
              <a:tailEnd type="none" w="sm" len="sm"/>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endParaRPr kumimoji="0" lang="ko-KR" altLang="en-US" b="0">
                <a:solidFill>
                  <a:schemeClr val="tx1"/>
                </a:solidFill>
                <a:ea typeface="굴림" pitchFamily="34" charset="-127"/>
              </a:endParaRPr>
            </a:p>
          </p:txBody>
        </p:sp>
        <p:sp>
          <p:nvSpPr>
            <p:cNvPr id="13" name="Oval 6">
              <a:extLst>
                <a:ext uri="{FF2B5EF4-FFF2-40B4-BE49-F238E27FC236}">
                  <a16:creationId xmlns:a16="http://schemas.microsoft.com/office/drawing/2014/main" id="{DBD96D32-C18A-FE0F-3194-B5D282489033}"/>
                </a:ext>
              </a:extLst>
            </p:cNvPr>
            <p:cNvSpPr>
              <a:spLocks noChangeArrowheads="1"/>
            </p:cNvSpPr>
            <p:nvPr/>
          </p:nvSpPr>
          <p:spPr bwMode="auto">
            <a:xfrm>
              <a:off x="4944" y="1344"/>
              <a:ext cx="144" cy="144"/>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endParaRPr kumimoji="0" lang="ko-KR" altLang="en-US" b="0">
                <a:solidFill>
                  <a:schemeClr val="tx1"/>
                </a:solidFill>
                <a:ea typeface="굴림" pitchFamily="34" charset="-127"/>
              </a:endParaRPr>
            </a:p>
          </p:txBody>
        </p:sp>
        <p:sp>
          <p:nvSpPr>
            <p:cNvPr id="14" name="Oval 7">
              <a:extLst>
                <a:ext uri="{FF2B5EF4-FFF2-40B4-BE49-F238E27FC236}">
                  <a16:creationId xmlns:a16="http://schemas.microsoft.com/office/drawing/2014/main" id="{75037C5D-2555-6276-1614-29A1D41596E5}"/>
                </a:ext>
              </a:extLst>
            </p:cNvPr>
            <p:cNvSpPr>
              <a:spLocks noChangeArrowheads="1"/>
            </p:cNvSpPr>
            <p:nvPr/>
          </p:nvSpPr>
          <p:spPr bwMode="auto">
            <a:xfrm>
              <a:off x="4368" y="1584"/>
              <a:ext cx="144" cy="144"/>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endParaRPr kumimoji="0" lang="ko-KR" altLang="en-US" b="0">
                <a:solidFill>
                  <a:schemeClr val="tx1"/>
                </a:solidFill>
                <a:ea typeface="굴림" pitchFamily="34" charset="-127"/>
              </a:endParaRPr>
            </a:p>
          </p:txBody>
        </p:sp>
        <p:sp>
          <p:nvSpPr>
            <p:cNvPr id="15" name="Oval 8">
              <a:extLst>
                <a:ext uri="{FF2B5EF4-FFF2-40B4-BE49-F238E27FC236}">
                  <a16:creationId xmlns:a16="http://schemas.microsoft.com/office/drawing/2014/main" id="{E4EBAEFB-4600-9F19-623F-8A88D4C29BE1}"/>
                </a:ext>
              </a:extLst>
            </p:cNvPr>
            <p:cNvSpPr>
              <a:spLocks noChangeArrowheads="1"/>
            </p:cNvSpPr>
            <p:nvPr/>
          </p:nvSpPr>
          <p:spPr bwMode="auto">
            <a:xfrm>
              <a:off x="4704" y="1584"/>
              <a:ext cx="144" cy="144"/>
            </a:xfrm>
            <a:prstGeom prst="ellipse">
              <a:avLst/>
            </a:prstGeom>
            <a:noFill/>
            <a:ln w="127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endParaRPr kumimoji="0" lang="ko-KR" altLang="en-US" b="0">
                <a:solidFill>
                  <a:schemeClr val="tx1"/>
                </a:solidFill>
                <a:ea typeface="굴림" pitchFamily="34" charset="-127"/>
              </a:endParaRPr>
            </a:p>
          </p:txBody>
        </p:sp>
        <p:sp>
          <p:nvSpPr>
            <p:cNvPr id="16" name="Oval 9">
              <a:extLst>
                <a:ext uri="{FF2B5EF4-FFF2-40B4-BE49-F238E27FC236}">
                  <a16:creationId xmlns:a16="http://schemas.microsoft.com/office/drawing/2014/main" id="{7B920F73-61D7-09D9-24BA-E8EB64D16D99}"/>
                </a:ext>
              </a:extLst>
            </p:cNvPr>
            <p:cNvSpPr>
              <a:spLocks noChangeArrowheads="1"/>
            </p:cNvSpPr>
            <p:nvPr/>
          </p:nvSpPr>
          <p:spPr bwMode="auto">
            <a:xfrm>
              <a:off x="4848" y="1776"/>
              <a:ext cx="144" cy="144"/>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endParaRPr kumimoji="0" lang="ko-KR" altLang="en-US" b="0">
                <a:solidFill>
                  <a:schemeClr val="tx1"/>
                </a:solidFill>
                <a:ea typeface="굴림" pitchFamily="34" charset="-127"/>
              </a:endParaRPr>
            </a:p>
          </p:txBody>
        </p:sp>
        <p:cxnSp>
          <p:nvCxnSpPr>
            <p:cNvPr id="17" name="AutoShape 10">
              <a:extLst>
                <a:ext uri="{FF2B5EF4-FFF2-40B4-BE49-F238E27FC236}">
                  <a16:creationId xmlns:a16="http://schemas.microsoft.com/office/drawing/2014/main" id="{E27AF744-6545-C7A6-0215-B08A99092CEC}"/>
                </a:ext>
              </a:extLst>
            </p:cNvPr>
            <p:cNvCxnSpPr>
              <a:cxnSpLocks noChangeShapeType="1"/>
              <a:stCxn id="11" idx="3"/>
              <a:endCxn id="12" idx="7"/>
            </p:cNvCxnSpPr>
            <p:nvPr/>
          </p:nvCxnSpPr>
          <p:spPr bwMode="auto">
            <a:xfrm flipH="1">
              <a:off x="4683" y="1275"/>
              <a:ext cx="90" cy="90"/>
            </a:xfrm>
            <a:prstGeom prst="straightConnector1">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AutoShape 11">
              <a:extLst>
                <a:ext uri="{FF2B5EF4-FFF2-40B4-BE49-F238E27FC236}">
                  <a16:creationId xmlns:a16="http://schemas.microsoft.com/office/drawing/2014/main" id="{DA86CC59-BC96-5EFB-3D0A-DBE871D246CA}"/>
                </a:ext>
              </a:extLst>
            </p:cNvPr>
            <p:cNvCxnSpPr>
              <a:cxnSpLocks noChangeShapeType="1"/>
              <a:stCxn id="11" idx="5"/>
              <a:endCxn id="13" idx="1"/>
            </p:cNvCxnSpPr>
            <p:nvPr/>
          </p:nvCxnSpPr>
          <p:spPr bwMode="auto">
            <a:xfrm>
              <a:off x="4875" y="1275"/>
              <a:ext cx="90" cy="90"/>
            </a:xfrm>
            <a:prstGeom prst="straightConnector1">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12">
              <a:extLst>
                <a:ext uri="{FF2B5EF4-FFF2-40B4-BE49-F238E27FC236}">
                  <a16:creationId xmlns:a16="http://schemas.microsoft.com/office/drawing/2014/main" id="{E354F38D-293A-1681-CD24-60020CE585EA}"/>
                </a:ext>
              </a:extLst>
            </p:cNvPr>
            <p:cNvCxnSpPr>
              <a:cxnSpLocks noChangeShapeType="1"/>
              <a:stCxn id="12" idx="3"/>
              <a:endCxn id="14" idx="7"/>
            </p:cNvCxnSpPr>
            <p:nvPr/>
          </p:nvCxnSpPr>
          <p:spPr bwMode="auto">
            <a:xfrm flipH="1">
              <a:off x="4491" y="1467"/>
              <a:ext cx="90" cy="138"/>
            </a:xfrm>
            <a:prstGeom prst="straightConnector1">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14">
              <a:extLst>
                <a:ext uri="{FF2B5EF4-FFF2-40B4-BE49-F238E27FC236}">
                  <a16:creationId xmlns:a16="http://schemas.microsoft.com/office/drawing/2014/main" id="{168E22B9-0A33-8DEB-CD84-37674C0DF23A}"/>
                </a:ext>
              </a:extLst>
            </p:cNvPr>
            <p:cNvCxnSpPr>
              <a:cxnSpLocks noChangeShapeType="1"/>
              <a:stCxn id="15" idx="5"/>
              <a:endCxn id="16" idx="1"/>
            </p:cNvCxnSpPr>
            <p:nvPr/>
          </p:nvCxnSpPr>
          <p:spPr bwMode="auto">
            <a:xfrm>
              <a:off x="4827" y="1707"/>
              <a:ext cx="42" cy="90"/>
            </a:xfrm>
            <a:prstGeom prst="straightConnector1">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16">
              <a:extLst>
                <a:ext uri="{FF2B5EF4-FFF2-40B4-BE49-F238E27FC236}">
                  <a16:creationId xmlns:a16="http://schemas.microsoft.com/office/drawing/2014/main" id="{AC71FF5C-2B7C-04D0-60C8-2B626584BBD7}"/>
                </a:ext>
              </a:extLst>
            </p:cNvPr>
            <p:cNvCxnSpPr>
              <a:cxnSpLocks noChangeShapeType="1"/>
              <a:stCxn id="12" idx="5"/>
              <a:endCxn id="15" idx="1"/>
            </p:cNvCxnSpPr>
            <p:nvPr/>
          </p:nvCxnSpPr>
          <p:spPr bwMode="auto">
            <a:xfrm>
              <a:off x="4683" y="1467"/>
              <a:ext cx="42" cy="138"/>
            </a:xfrm>
            <a:prstGeom prst="straightConnector1">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Text Box 17">
              <a:extLst>
                <a:ext uri="{FF2B5EF4-FFF2-40B4-BE49-F238E27FC236}">
                  <a16:creationId xmlns:a16="http://schemas.microsoft.com/office/drawing/2014/main" id="{8736E950-6349-C395-AE42-4CE51913B709}"/>
                </a:ext>
              </a:extLst>
            </p:cNvPr>
            <p:cNvSpPr txBox="1">
              <a:spLocks noChangeArrowheads="1"/>
            </p:cNvSpPr>
            <p:nvPr/>
          </p:nvSpPr>
          <p:spPr bwMode="auto">
            <a:xfrm>
              <a:off x="4580" y="115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sz="1400" b="0">
                  <a:solidFill>
                    <a:schemeClr val="tx1"/>
                  </a:solidFill>
                  <a:ea typeface="굴림" pitchFamily="34" charset="-127"/>
                </a:rPr>
                <a:t>0</a:t>
              </a:r>
            </a:p>
          </p:txBody>
        </p:sp>
        <p:sp>
          <p:nvSpPr>
            <p:cNvPr id="23" name="Text Box 18">
              <a:extLst>
                <a:ext uri="{FF2B5EF4-FFF2-40B4-BE49-F238E27FC236}">
                  <a16:creationId xmlns:a16="http://schemas.microsoft.com/office/drawing/2014/main" id="{FE06D3EA-696A-C6CE-864E-DB8A83E49996}"/>
                </a:ext>
              </a:extLst>
            </p:cNvPr>
            <p:cNvSpPr txBox="1">
              <a:spLocks noChangeArrowheads="1"/>
            </p:cNvSpPr>
            <p:nvPr/>
          </p:nvSpPr>
          <p:spPr bwMode="auto">
            <a:xfrm>
              <a:off x="4896" y="115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sz="1400" b="0">
                  <a:solidFill>
                    <a:schemeClr val="tx1"/>
                  </a:solidFill>
                  <a:ea typeface="굴림" pitchFamily="34" charset="-127"/>
                </a:rPr>
                <a:t>1</a:t>
              </a:r>
            </a:p>
          </p:txBody>
        </p:sp>
        <p:sp>
          <p:nvSpPr>
            <p:cNvPr id="24" name="Text Box 19">
              <a:extLst>
                <a:ext uri="{FF2B5EF4-FFF2-40B4-BE49-F238E27FC236}">
                  <a16:creationId xmlns:a16="http://schemas.microsoft.com/office/drawing/2014/main" id="{A1343DA0-7E92-3E84-3C26-7DC5E58671C7}"/>
                </a:ext>
              </a:extLst>
            </p:cNvPr>
            <p:cNvSpPr txBox="1">
              <a:spLocks noChangeArrowheads="1"/>
            </p:cNvSpPr>
            <p:nvPr/>
          </p:nvSpPr>
          <p:spPr bwMode="auto">
            <a:xfrm>
              <a:off x="4704" y="139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sz="1400" b="0">
                  <a:solidFill>
                    <a:schemeClr val="tx1"/>
                  </a:solidFill>
                  <a:ea typeface="굴림" pitchFamily="34" charset="-127"/>
                </a:rPr>
                <a:t>1</a:t>
              </a:r>
            </a:p>
          </p:txBody>
        </p:sp>
        <p:sp>
          <p:nvSpPr>
            <p:cNvPr id="25" name="Text Box 20">
              <a:extLst>
                <a:ext uri="{FF2B5EF4-FFF2-40B4-BE49-F238E27FC236}">
                  <a16:creationId xmlns:a16="http://schemas.microsoft.com/office/drawing/2014/main" id="{1B7B44D5-7B19-FC3C-E468-487FF9504891}"/>
                </a:ext>
              </a:extLst>
            </p:cNvPr>
            <p:cNvSpPr txBox="1">
              <a:spLocks noChangeArrowheads="1"/>
            </p:cNvSpPr>
            <p:nvPr/>
          </p:nvSpPr>
          <p:spPr bwMode="auto">
            <a:xfrm>
              <a:off x="4388" y="139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sz="1400" b="0">
                  <a:solidFill>
                    <a:schemeClr val="tx1"/>
                  </a:solidFill>
                  <a:ea typeface="굴림" pitchFamily="34" charset="-127"/>
                </a:rPr>
                <a:t>0</a:t>
              </a:r>
            </a:p>
          </p:txBody>
        </p:sp>
        <p:sp>
          <p:nvSpPr>
            <p:cNvPr id="26" name="Text Box 21">
              <a:extLst>
                <a:ext uri="{FF2B5EF4-FFF2-40B4-BE49-F238E27FC236}">
                  <a16:creationId xmlns:a16="http://schemas.microsoft.com/office/drawing/2014/main" id="{3F3B3F37-3F22-B282-65DC-869224132AED}"/>
                </a:ext>
              </a:extLst>
            </p:cNvPr>
            <p:cNvSpPr txBox="1">
              <a:spLocks noChangeArrowheads="1"/>
            </p:cNvSpPr>
            <p:nvPr/>
          </p:nvSpPr>
          <p:spPr bwMode="auto">
            <a:xfrm>
              <a:off x="4800" y="163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0"/>
                </a:spcBef>
                <a:buClrTx/>
                <a:buSzTx/>
                <a:buNone/>
              </a:pPr>
              <a:r>
                <a:rPr kumimoji="0" lang="en-US" altLang="ko-KR" sz="1400" b="0">
                  <a:solidFill>
                    <a:schemeClr val="tx1"/>
                  </a:solidFill>
                  <a:ea typeface="굴림" pitchFamily="34" charset="-127"/>
                </a:rPr>
                <a:t>1</a:t>
              </a:r>
            </a:p>
          </p:txBody>
        </p:sp>
        <p:sp>
          <p:nvSpPr>
            <p:cNvPr id="27" name="Text Box 23">
              <a:extLst>
                <a:ext uri="{FF2B5EF4-FFF2-40B4-BE49-F238E27FC236}">
                  <a16:creationId xmlns:a16="http://schemas.microsoft.com/office/drawing/2014/main" id="{89FD371C-A69D-36CD-BEFD-B6EDD9756126}"/>
                </a:ext>
              </a:extLst>
            </p:cNvPr>
            <p:cNvSpPr txBox="1">
              <a:spLocks noChangeArrowheads="1"/>
            </p:cNvSpPr>
            <p:nvPr/>
          </p:nvSpPr>
          <p:spPr bwMode="auto">
            <a:xfrm>
              <a:off x="3744" y="1920"/>
              <a:ext cx="21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0" hangingPunct="0">
                <a:spcBef>
                  <a:spcPct val="50000"/>
                </a:spcBef>
                <a:buClrTx/>
                <a:buSzTx/>
                <a:buNone/>
              </a:pPr>
              <a:r>
                <a:rPr kumimoji="0" lang="en-US" altLang="ko-KR" dirty="0">
                  <a:solidFill>
                    <a:srgbClr val="00B050"/>
                  </a:solidFill>
                  <a:ea typeface="굴림" pitchFamily="34" charset="-127"/>
                </a:rPr>
                <a:t>represents {00, 011, 1}</a:t>
              </a:r>
            </a:p>
          </p:txBody>
        </p:sp>
      </p:grpSp>
    </p:spTree>
    <p:extLst>
      <p:ext uri="{BB962C8B-B14F-4D97-AF65-F5344CB8AC3E}">
        <p14:creationId xmlns:p14="http://schemas.microsoft.com/office/powerpoint/2010/main" val="4141961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Coding Problem, Contd.</a:t>
            </a:r>
            <a:endParaRPr sz="3800" b="1" spc="-18" dirty="0">
              <a:solidFill>
                <a:srgbClr val="0070C0"/>
              </a:solidFill>
            </a:endParaRPr>
          </a:p>
        </p:txBody>
      </p:sp>
      <p:sp>
        <p:nvSpPr>
          <p:cNvPr id="5" name="Slide Number Placeholder 2">
            <a:extLst>
              <a:ext uri="{FF2B5EF4-FFF2-40B4-BE49-F238E27FC236}">
                <a16:creationId xmlns:a16="http://schemas.microsoft.com/office/drawing/2014/main" id="{D7403EB7-8711-3041-149F-90C69530A817}"/>
              </a:ext>
            </a:extLst>
          </p:cNvPr>
          <p:cNvSpPr txBox="1">
            <a:spLocks/>
          </p:cNvSpPr>
          <p:nvPr/>
        </p:nvSpPr>
        <p:spPr>
          <a:xfrm>
            <a:off x="8737600" y="6356351"/>
            <a:ext cx="2844800" cy="365125"/>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pPr algn="r">
              <a:defRPr/>
            </a:pPr>
            <a:fld id="{C65781BD-3F4D-4CA7-A858-CE94DEA3B426}" type="slidenum">
              <a:rPr lang="en-US" smtClean="0">
                <a:solidFill>
                  <a:srgbClr val="000000"/>
                </a:solidFill>
              </a:rPr>
              <a:pPr algn="r">
                <a:defRPr/>
              </a:pPr>
              <a:t>31</a:t>
            </a:fld>
            <a:endParaRPr lang="en-US" dirty="0">
              <a:solidFill>
                <a:srgbClr val="000000"/>
              </a:solidFill>
            </a:endParaRPr>
          </a:p>
        </p:txBody>
      </p:sp>
      <p:sp>
        <p:nvSpPr>
          <p:cNvPr id="7" name="object 7">
            <a:extLst>
              <a:ext uri="{FF2B5EF4-FFF2-40B4-BE49-F238E27FC236}">
                <a16:creationId xmlns:a16="http://schemas.microsoft.com/office/drawing/2014/main" id="{D9021C5B-14B2-F397-8E77-D2CB7833EEBB}"/>
              </a:ext>
            </a:extLst>
          </p:cNvPr>
          <p:cNvSpPr txBox="1">
            <a:spLocks/>
          </p:cNvSpPr>
          <p:nvPr/>
        </p:nvSpPr>
        <p:spPr bwMode="auto">
          <a:xfrm>
            <a:off x="457200" y="1228384"/>
            <a:ext cx="11430000"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r>
              <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rPr>
              <a:t>If frequencies of the character occurrences are known, what is the best </a:t>
            </a:r>
            <a:r>
              <a:rPr kumimoji="0" lang="en-US" sz="2800" b="0" i="0" u="sng" strike="noStrike" kern="1200" cap="none" spc="0" normalizeH="0" baseline="0" noProof="0" dirty="0">
                <a:ln>
                  <a:noFill/>
                </a:ln>
                <a:solidFill>
                  <a:srgbClr val="000000"/>
                </a:solidFill>
                <a:effectLst/>
                <a:uLnTx/>
                <a:uFillTx/>
                <a:latin typeface="Arial"/>
                <a:ea typeface="ＭＳ Ｐゴシック" charset="0"/>
                <a:cs typeface="Arial" charset="0"/>
              </a:rPr>
              <a:t>binary prefix-free code</a:t>
            </a:r>
            <a:r>
              <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rPr>
              <a:t>?</a:t>
            </a:r>
          </a:p>
          <a:p>
            <a:pPr lvl="1">
              <a:buClr>
                <a:srgbClr val="FF6600"/>
              </a:buClr>
              <a:tabLst>
                <a:tab pos="465671" algn="l"/>
              </a:tabLst>
              <a:defRPr/>
            </a:pPr>
            <a:r>
              <a:rPr lang="en-US" altLang="ko-KR" sz="2400" dirty="0">
                <a:cs typeface="Arial" charset="0"/>
              </a:rPr>
              <a:t>The one with the shortest average code length</a:t>
            </a:r>
          </a:p>
          <a:p>
            <a:pPr lvl="1">
              <a:buClr>
                <a:srgbClr val="FF6600"/>
              </a:buClr>
              <a:tabLst>
                <a:tab pos="465671" algn="l"/>
              </a:tabLst>
              <a:defRPr/>
            </a:pPr>
            <a:r>
              <a:rPr lang="en-US" altLang="ko-KR" sz="2400" dirty="0">
                <a:cs typeface="Arial" charset="0"/>
              </a:rPr>
              <a:t>representing on the average how many bits are required to transmit or store a character</a:t>
            </a:r>
          </a:p>
          <a:p>
            <a:pPr lvl="1">
              <a:buClr>
                <a:srgbClr val="FF6600"/>
              </a:buClr>
              <a:tabLst>
                <a:tab pos="465671" algn="l"/>
              </a:tabLst>
              <a:defRPr/>
            </a:pPr>
            <a:endParaRPr lang="en-US" sz="800" b="1" dirty="0">
              <a:solidFill>
                <a:srgbClr val="7030A0"/>
              </a:solidFill>
              <a:cs typeface="Arial" charset="0"/>
            </a:endParaRPr>
          </a:p>
          <a:p>
            <a:pPr>
              <a:buClr>
                <a:srgbClr val="FF6600"/>
              </a:buClr>
              <a:tabLst>
                <a:tab pos="465671" algn="l"/>
              </a:tabLst>
              <a:defRPr/>
            </a:pPr>
            <a:r>
              <a:rPr lang="en-US" sz="2800" b="1" dirty="0">
                <a:solidFill>
                  <a:srgbClr val="7030A0"/>
                </a:solidFill>
                <a:latin typeface="Arial"/>
                <a:cs typeface="Arial" charset="0"/>
              </a:rPr>
              <a:t>Huffman code</a:t>
            </a:r>
          </a:p>
          <a:p>
            <a:pPr lvl="1">
              <a:buClr>
                <a:srgbClr val="FF6600"/>
              </a:buClr>
              <a:tabLst>
                <a:tab pos="465671" algn="l"/>
              </a:tabLst>
              <a:defRPr/>
            </a:pPr>
            <a:r>
              <a:rPr lang="en-US" sz="2400" dirty="0">
                <a:cs typeface="Arial" charset="0"/>
              </a:rPr>
              <a:t>represented by a </a:t>
            </a:r>
            <a:r>
              <a:rPr lang="en-US" sz="2400" b="1" dirty="0">
                <a:solidFill>
                  <a:srgbClr val="7030A0"/>
                </a:solidFill>
                <a:cs typeface="Arial" charset="0"/>
              </a:rPr>
              <a:t>Huffman tree </a:t>
            </a:r>
          </a:p>
          <a:p>
            <a:pPr lvl="1">
              <a:buClr>
                <a:srgbClr val="FF6600"/>
              </a:buClr>
              <a:tabLst>
                <a:tab pos="465671" algn="l"/>
              </a:tabLst>
              <a:defRPr/>
            </a:pPr>
            <a:r>
              <a:rPr lang="en-US" sz="2400" dirty="0">
                <a:cs typeface="Arial" charset="0"/>
              </a:rPr>
              <a:t>that would </a:t>
            </a:r>
            <a:r>
              <a:rPr lang="en-US" sz="2400" u="sng" dirty="0">
                <a:cs typeface="Arial" charset="0"/>
              </a:rPr>
              <a:t>assign shorter bit strings to high-frequency symbols</a:t>
            </a:r>
          </a:p>
          <a:p>
            <a:pPr lvl="1">
              <a:buClr>
                <a:srgbClr val="FF6600"/>
              </a:buClr>
              <a:tabLst>
                <a:tab pos="465671" algn="l"/>
              </a:tabLst>
              <a:defRPr/>
            </a:pPr>
            <a:r>
              <a:rPr lang="en-US" sz="2400" dirty="0">
                <a:cs typeface="Arial" charset="0"/>
              </a:rPr>
              <a:t>and </a:t>
            </a:r>
            <a:r>
              <a:rPr lang="en-US" sz="2400" u="sng" dirty="0">
                <a:cs typeface="Arial" charset="0"/>
              </a:rPr>
              <a:t>longer ones to low-frequency symbols</a:t>
            </a:r>
          </a:p>
          <a:p>
            <a:pPr lvl="1">
              <a:buClr>
                <a:srgbClr val="FF6600"/>
              </a:buClr>
              <a:tabLst>
                <a:tab pos="465671" algn="l"/>
              </a:tabLst>
              <a:defRPr/>
            </a:pPr>
            <a:r>
              <a:rPr lang="en-US" sz="2400" dirty="0">
                <a:cs typeface="Arial" charset="0"/>
              </a:rPr>
              <a:t>by the greedy </a:t>
            </a:r>
            <a:r>
              <a:rPr lang="en-US" sz="2400" b="1" dirty="0">
                <a:solidFill>
                  <a:srgbClr val="7030A0"/>
                </a:solidFill>
                <a:cs typeface="Arial" charset="0"/>
              </a:rPr>
              <a:t>Huffman algorithm </a:t>
            </a:r>
            <a:r>
              <a:rPr lang="en-US" sz="2400" dirty="0">
                <a:cs typeface="Arial" charset="0"/>
              </a:rPr>
              <a:t>invented by David Huffman while he was a graduate student at MIT</a:t>
            </a:r>
          </a:p>
        </p:txBody>
      </p:sp>
    </p:spTree>
    <p:extLst>
      <p:ext uri="{BB962C8B-B14F-4D97-AF65-F5344CB8AC3E}">
        <p14:creationId xmlns:p14="http://schemas.microsoft.com/office/powerpoint/2010/main" val="18253880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FFC000"/>
                </a:solidFill>
              </a:rPr>
              <a:t>Huffman Codes</a:t>
            </a:r>
            <a:endParaRPr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01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Huffman Algorithm</a:t>
            </a:r>
          </a:p>
          <a:p>
            <a:pPr marR="0" lvl="1" defTabSz="914400" latinLnBrk="0">
              <a:lnSpc>
                <a:spcPct val="100000"/>
              </a:lnSpc>
              <a:buClr>
                <a:srgbClr val="FF6600"/>
              </a:buClr>
              <a:tabLst>
                <a:tab pos="465671" algn="l"/>
              </a:tabLst>
              <a:defRPr/>
            </a:pPr>
            <a:r>
              <a:rPr lang="en-US" altLang="en-US" sz="2400" dirty="0">
                <a:cs typeface="Arial" charset="0"/>
              </a:rPr>
              <a:t>Initialize </a:t>
            </a:r>
            <a:r>
              <a:rPr lang="en-US" altLang="en-US" sz="2400" i="1" dirty="0">
                <a:latin typeface="Times New Roman" panose="02020603050405020304" pitchFamily="18" charset="0"/>
                <a:cs typeface="Times New Roman" panose="02020603050405020304" pitchFamily="18" charset="0"/>
              </a:rPr>
              <a:t>n</a:t>
            </a:r>
            <a:r>
              <a:rPr lang="en-US" altLang="en-US" sz="2400" dirty="0">
                <a:cs typeface="Arial" charset="0"/>
              </a:rPr>
              <a:t> </a:t>
            </a:r>
            <a:r>
              <a:rPr lang="en-US" altLang="en-US" sz="2400" u="sng" dirty="0">
                <a:cs typeface="Arial" charset="0"/>
              </a:rPr>
              <a:t>one-node</a:t>
            </a:r>
            <a:r>
              <a:rPr lang="en-US" altLang="en-US" sz="2400" dirty="0">
                <a:cs typeface="Arial" charset="0"/>
              </a:rPr>
              <a:t> trees and label them with the characters of the alphabet</a:t>
            </a:r>
          </a:p>
          <a:p>
            <a:pPr marR="0" lvl="1" defTabSz="914400" latinLnBrk="0">
              <a:lnSpc>
                <a:spcPct val="100000"/>
              </a:lnSpc>
              <a:buClr>
                <a:srgbClr val="FF6600"/>
              </a:buClr>
              <a:tabLst>
                <a:tab pos="465671" algn="l"/>
              </a:tabLst>
              <a:defRPr/>
            </a:pPr>
            <a:r>
              <a:rPr lang="en-US" altLang="en-US" sz="2400" dirty="0">
                <a:cs typeface="Arial" charset="0"/>
              </a:rPr>
              <a:t>Record the frequency of each character in its tree’s root </a:t>
            </a:r>
            <a:r>
              <a:rPr lang="en-US" altLang="en-US" sz="2000" dirty="0">
                <a:cs typeface="Arial" charset="0"/>
              </a:rPr>
              <a:t>to indicate the tree weight</a:t>
            </a:r>
            <a:endParaRPr lang="en-US" altLang="en-US" sz="2400" dirty="0">
              <a:cs typeface="Arial" charset="0"/>
            </a:endParaRPr>
          </a:p>
          <a:p>
            <a:pPr lvl="2">
              <a:buClr>
                <a:srgbClr val="FF6600"/>
              </a:buClr>
              <a:tabLst>
                <a:tab pos="465671" algn="l"/>
              </a:tabLst>
              <a:defRPr/>
            </a:pPr>
            <a:r>
              <a:rPr lang="en-US" altLang="en-US" dirty="0">
                <a:cs typeface="Arial" charset="0"/>
              </a:rPr>
              <a:t>the weight of a tree is equal to the sum of the frequencies in the leaves</a:t>
            </a:r>
            <a:endParaRPr lang="en-US" altLang="en-US" sz="2400" dirty="0">
              <a:cs typeface="Arial" charset="0"/>
            </a:endParaRPr>
          </a:p>
          <a:p>
            <a:pPr marR="0" lvl="1" defTabSz="914400" latinLnBrk="0">
              <a:lnSpc>
                <a:spcPct val="100000"/>
              </a:lnSpc>
              <a:buClr>
                <a:srgbClr val="FF6600"/>
              </a:buClr>
              <a:tabLst>
                <a:tab pos="465671" algn="l"/>
              </a:tabLst>
              <a:defRPr/>
            </a:pPr>
            <a:r>
              <a:rPr lang="en-US" altLang="en-US" sz="2400" dirty="0">
                <a:cs typeface="Arial" charset="0"/>
              </a:rPr>
              <a:t>Repeat </a:t>
            </a:r>
            <a:r>
              <a:rPr lang="en-US" altLang="en-US" sz="2400" i="1" dirty="0">
                <a:latin typeface="Times New Roman" panose="02020603050405020304" pitchFamily="18" charset="0"/>
                <a:cs typeface="Times New Roman" panose="02020603050405020304" pitchFamily="18" charset="0"/>
              </a:rPr>
              <a:t>n</a:t>
            </a:r>
            <a:r>
              <a:rPr lang="en-US" altLang="en-US" sz="2400" dirty="0">
                <a:cs typeface="Arial" charset="0"/>
              </a:rPr>
              <a:t>-1 times the following until a single tree is obtained</a:t>
            </a:r>
          </a:p>
          <a:p>
            <a:pPr lvl="2">
              <a:buClr>
                <a:srgbClr val="FF6600"/>
              </a:buClr>
              <a:tabLst>
                <a:tab pos="465671" algn="l"/>
              </a:tabLst>
              <a:defRPr/>
            </a:pPr>
            <a:r>
              <a:rPr lang="en-US" altLang="en-US" dirty="0">
                <a:cs typeface="Arial" charset="0"/>
              </a:rPr>
              <a:t>Find two trees with the smallest weight </a:t>
            </a:r>
          </a:p>
          <a:p>
            <a:pPr lvl="2">
              <a:buClr>
                <a:srgbClr val="FF6600"/>
              </a:buClr>
              <a:tabLst>
                <a:tab pos="465671" algn="l"/>
              </a:tabLst>
              <a:defRPr/>
            </a:pPr>
            <a:r>
              <a:rPr lang="en-US" altLang="en-US" dirty="0">
                <a:cs typeface="Arial" charset="0"/>
              </a:rPr>
              <a:t>Join them as left and right subtrees of a new tree and record the sum of their weights in the root of the new tree </a:t>
            </a:r>
            <a:r>
              <a:rPr lang="en-US" altLang="en-US" sz="2000" dirty="0">
                <a:cs typeface="Arial" charset="0"/>
              </a:rPr>
              <a:t>as its weight</a:t>
            </a:r>
          </a:p>
          <a:p>
            <a:pPr lvl="2">
              <a:lnSpc>
                <a:spcPct val="120000"/>
              </a:lnSpc>
              <a:buClr>
                <a:srgbClr val="FF6600"/>
              </a:buClr>
              <a:tabLst>
                <a:tab pos="465671" algn="l"/>
              </a:tabLst>
              <a:defRPr/>
            </a:pPr>
            <a:r>
              <a:rPr lang="en-US" altLang="ko-KR" dirty="0">
                <a:cs typeface="Arial" charset="0"/>
              </a:rPr>
              <a:t>Mark edges leading to left and right subtrees with 0 and 1 respectively</a:t>
            </a:r>
            <a:endPar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endParaRPr>
          </a:p>
        </p:txBody>
      </p:sp>
    </p:spTree>
    <p:extLst>
      <p:ext uri="{BB962C8B-B14F-4D97-AF65-F5344CB8AC3E}">
        <p14:creationId xmlns:p14="http://schemas.microsoft.com/office/powerpoint/2010/main" val="12565422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Huffman Codes,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Pct val="75000"/>
              <a:buFontTx/>
              <a:buBlip>
                <a:blip r:embed="rId3"/>
              </a:buBlip>
              <a:tabLst/>
              <a:defRPr/>
            </a:pPr>
            <a:r>
              <a:rPr kumimoji="0" lang="en-US" altLang="en-US" sz="2800" b="0" i="0" u="none" strike="noStrike" kern="1200" cap="none" spc="0" normalizeH="0" baseline="0" noProof="0" dirty="0">
                <a:ln>
                  <a:noFill/>
                </a:ln>
                <a:solidFill>
                  <a:srgbClr val="000000"/>
                </a:solidFill>
                <a:effectLst/>
                <a:uLnTx/>
                <a:uFillTx/>
                <a:latin typeface="Arial"/>
                <a:ea typeface="ＭＳ Ｐゴシック" charset="0"/>
                <a:cs typeface="+mn-cs"/>
              </a:rPr>
              <a:t>Example</a:t>
            </a:r>
          </a:p>
        </p:txBody>
      </p:sp>
      <p:pic>
        <p:nvPicPr>
          <p:cNvPr id="4" name="Picture 3">
            <a:extLst>
              <a:ext uri="{FF2B5EF4-FFF2-40B4-BE49-F238E27FC236}">
                <a16:creationId xmlns:a16="http://schemas.microsoft.com/office/drawing/2014/main" id="{6FCE7B90-DD9C-6B78-46B0-DADAE58B236A}"/>
              </a:ext>
            </a:extLst>
          </p:cNvPr>
          <p:cNvPicPr>
            <a:picLocks noChangeAspect="1"/>
          </p:cNvPicPr>
          <p:nvPr/>
        </p:nvPicPr>
        <p:blipFill>
          <a:blip r:embed="rId6"/>
          <a:stretch>
            <a:fillRect/>
          </a:stretch>
        </p:blipFill>
        <p:spPr>
          <a:xfrm>
            <a:off x="762000" y="1304584"/>
            <a:ext cx="9450993" cy="1895816"/>
          </a:xfrm>
          <a:prstGeom prst="rect">
            <a:avLst/>
          </a:prstGeom>
        </p:spPr>
      </p:pic>
      <p:pic>
        <p:nvPicPr>
          <p:cNvPr id="7" name="Picture 6">
            <a:extLst>
              <a:ext uri="{FF2B5EF4-FFF2-40B4-BE49-F238E27FC236}">
                <a16:creationId xmlns:a16="http://schemas.microsoft.com/office/drawing/2014/main" id="{1B195E24-9F4D-C087-5C17-9D62582841B8}"/>
              </a:ext>
            </a:extLst>
          </p:cNvPr>
          <p:cNvPicPr>
            <a:picLocks noChangeAspect="1"/>
          </p:cNvPicPr>
          <p:nvPr/>
        </p:nvPicPr>
        <p:blipFill>
          <a:blip r:embed="rId7"/>
          <a:stretch>
            <a:fillRect/>
          </a:stretch>
        </p:blipFill>
        <p:spPr>
          <a:xfrm>
            <a:off x="838200" y="3962401"/>
            <a:ext cx="5029200" cy="783364"/>
          </a:xfrm>
          <a:prstGeom prst="rect">
            <a:avLst/>
          </a:prstGeom>
        </p:spPr>
      </p:pic>
      <p:pic>
        <p:nvPicPr>
          <p:cNvPr id="10" name="Picture 9">
            <a:extLst>
              <a:ext uri="{FF2B5EF4-FFF2-40B4-BE49-F238E27FC236}">
                <a16:creationId xmlns:a16="http://schemas.microsoft.com/office/drawing/2014/main" id="{C6D5EB6F-F259-2434-1AE3-9FF5F8FE03B9}"/>
              </a:ext>
            </a:extLst>
          </p:cNvPr>
          <p:cNvPicPr>
            <a:picLocks noChangeAspect="1"/>
          </p:cNvPicPr>
          <p:nvPr/>
        </p:nvPicPr>
        <p:blipFill>
          <a:blip r:embed="rId8"/>
          <a:stretch>
            <a:fillRect/>
          </a:stretch>
        </p:blipFill>
        <p:spPr>
          <a:xfrm>
            <a:off x="762000" y="5201421"/>
            <a:ext cx="5179102" cy="1123179"/>
          </a:xfrm>
          <a:prstGeom prst="rect">
            <a:avLst/>
          </a:prstGeom>
        </p:spPr>
      </p:pic>
      <p:sp>
        <p:nvSpPr>
          <p:cNvPr id="11" name="TextBox 10">
            <a:extLst>
              <a:ext uri="{FF2B5EF4-FFF2-40B4-BE49-F238E27FC236}">
                <a16:creationId xmlns:a16="http://schemas.microsoft.com/office/drawing/2014/main" id="{9498CF2C-C119-D4BB-2817-2750DF31883B}"/>
              </a:ext>
            </a:extLst>
          </p:cNvPr>
          <p:cNvSpPr txBox="1"/>
          <p:nvPr/>
        </p:nvSpPr>
        <p:spPr>
          <a:xfrm>
            <a:off x="838200" y="4876800"/>
            <a:ext cx="3733800" cy="369332"/>
          </a:xfrm>
          <a:prstGeom prst="rect">
            <a:avLst/>
          </a:prstGeom>
          <a:noFill/>
        </p:spPr>
        <p:txBody>
          <a:bodyPr wrap="square" rtlCol="0">
            <a:spAutoFit/>
          </a:bodyPr>
          <a:lstStyle>
            <a:defPPr>
              <a:defRPr lang="en-US"/>
            </a:defPPr>
            <a:lvl1pPr>
              <a:defRPr b="1">
                <a:solidFill>
                  <a:srgbClr val="00B050"/>
                </a:solidFill>
              </a:defRPr>
            </a:lvl1pPr>
          </a:lstStyle>
          <a:p>
            <a:r>
              <a:rPr lang="en-US" dirty="0"/>
              <a:t>two trees with smallest weight</a:t>
            </a:r>
          </a:p>
        </p:txBody>
      </p:sp>
      <p:sp>
        <p:nvSpPr>
          <p:cNvPr id="12" name="TextBox 11">
            <a:extLst>
              <a:ext uri="{FF2B5EF4-FFF2-40B4-BE49-F238E27FC236}">
                <a16:creationId xmlns:a16="http://schemas.microsoft.com/office/drawing/2014/main" id="{28083FA4-DF1D-FAD5-2485-1ECE76C4A56E}"/>
              </a:ext>
            </a:extLst>
          </p:cNvPr>
          <p:cNvSpPr txBox="1"/>
          <p:nvPr/>
        </p:nvSpPr>
        <p:spPr>
          <a:xfrm>
            <a:off x="838200" y="3581400"/>
            <a:ext cx="3733800" cy="369332"/>
          </a:xfrm>
          <a:prstGeom prst="rect">
            <a:avLst/>
          </a:prstGeom>
          <a:noFill/>
        </p:spPr>
        <p:txBody>
          <a:bodyPr wrap="square" rtlCol="0">
            <a:spAutoFit/>
          </a:bodyPr>
          <a:lstStyle>
            <a:defPPr>
              <a:defRPr lang="en-US"/>
            </a:defPPr>
            <a:lvl1pPr>
              <a:defRPr b="1">
                <a:solidFill>
                  <a:srgbClr val="00B050"/>
                </a:solidFill>
              </a:defRPr>
            </a:lvl1pPr>
          </a:lstStyle>
          <a:p>
            <a:r>
              <a:rPr lang="en-US" dirty="0"/>
              <a:t>initialization</a:t>
            </a:r>
          </a:p>
        </p:txBody>
      </p:sp>
      <p:pic>
        <p:nvPicPr>
          <p:cNvPr id="13" name="Picture 12">
            <a:extLst>
              <a:ext uri="{FF2B5EF4-FFF2-40B4-BE49-F238E27FC236}">
                <a16:creationId xmlns:a16="http://schemas.microsoft.com/office/drawing/2014/main" id="{98911689-4A1F-11BB-B64B-1A0487AD76D0}"/>
              </a:ext>
            </a:extLst>
          </p:cNvPr>
          <p:cNvPicPr>
            <a:picLocks noChangeAspect="1"/>
          </p:cNvPicPr>
          <p:nvPr/>
        </p:nvPicPr>
        <p:blipFill>
          <a:blip r:embed="rId9"/>
          <a:stretch>
            <a:fillRect/>
          </a:stretch>
        </p:blipFill>
        <p:spPr>
          <a:xfrm>
            <a:off x="6963793" y="4607351"/>
            <a:ext cx="4390007" cy="1617371"/>
          </a:xfrm>
          <a:prstGeom prst="rect">
            <a:avLst/>
          </a:prstGeom>
        </p:spPr>
      </p:pic>
      <p:sp>
        <p:nvSpPr>
          <p:cNvPr id="14" name="TextBox 13">
            <a:extLst>
              <a:ext uri="{FF2B5EF4-FFF2-40B4-BE49-F238E27FC236}">
                <a16:creationId xmlns:a16="http://schemas.microsoft.com/office/drawing/2014/main" id="{90E26734-FC94-B384-FE94-32294615BC64}"/>
              </a:ext>
            </a:extLst>
          </p:cNvPr>
          <p:cNvSpPr txBox="1"/>
          <p:nvPr/>
        </p:nvSpPr>
        <p:spPr>
          <a:xfrm>
            <a:off x="6963793" y="3877745"/>
            <a:ext cx="4618607" cy="646331"/>
          </a:xfrm>
          <a:prstGeom prst="rect">
            <a:avLst/>
          </a:prstGeom>
          <a:noFill/>
        </p:spPr>
        <p:txBody>
          <a:bodyPr wrap="square" rtlCol="0">
            <a:spAutoFit/>
          </a:bodyPr>
          <a:lstStyle>
            <a:defPPr>
              <a:defRPr lang="en-US"/>
            </a:defPPr>
            <a:lvl1pPr>
              <a:defRPr b="1">
                <a:solidFill>
                  <a:srgbClr val="00B050"/>
                </a:solidFill>
              </a:defRPr>
            </a:lvl1pPr>
          </a:lstStyle>
          <a:p>
            <a:r>
              <a:rPr lang="en-US" dirty="0"/>
              <a:t>forming a tree out of the two trees with smallest weight</a:t>
            </a:r>
          </a:p>
        </p:txBody>
      </p:sp>
    </p:spTree>
    <p:extLst>
      <p:ext uri="{BB962C8B-B14F-4D97-AF65-F5344CB8AC3E}">
        <p14:creationId xmlns:p14="http://schemas.microsoft.com/office/powerpoint/2010/main" val="33392252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Huffman Codes,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pic>
        <p:nvPicPr>
          <p:cNvPr id="13" name="Picture 12">
            <a:extLst>
              <a:ext uri="{FF2B5EF4-FFF2-40B4-BE49-F238E27FC236}">
                <a16:creationId xmlns:a16="http://schemas.microsoft.com/office/drawing/2014/main" id="{346EDB90-2C15-FC6D-B64E-7E32B9483134}"/>
              </a:ext>
            </a:extLst>
          </p:cNvPr>
          <p:cNvPicPr>
            <a:picLocks noChangeAspect="1"/>
          </p:cNvPicPr>
          <p:nvPr/>
        </p:nvPicPr>
        <p:blipFill>
          <a:blip r:embed="rId3"/>
          <a:stretch>
            <a:fillRect/>
          </a:stretch>
        </p:blipFill>
        <p:spPr>
          <a:xfrm>
            <a:off x="457200" y="1371600"/>
            <a:ext cx="4114800" cy="1690673"/>
          </a:xfrm>
          <a:prstGeom prst="rect">
            <a:avLst/>
          </a:prstGeom>
        </p:spPr>
      </p:pic>
      <p:sp>
        <p:nvSpPr>
          <p:cNvPr id="14" name="TextBox 13">
            <a:extLst>
              <a:ext uri="{FF2B5EF4-FFF2-40B4-BE49-F238E27FC236}">
                <a16:creationId xmlns:a16="http://schemas.microsoft.com/office/drawing/2014/main" id="{F657E64E-468D-6B69-BF0F-AC92349DB6A7}"/>
              </a:ext>
            </a:extLst>
          </p:cNvPr>
          <p:cNvSpPr txBox="1"/>
          <p:nvPr/>
        </p:nvSpPr>
        <p:spPr>
          <a:xfrm>
            <a:off x="457200" y="1002268"/>
            <a:ext cx="3733800" cy="369332"/>
          </a:xfrm>
          <a:prstGeom prst="rect">
            <a:avLst/>
          </a:prstGeom>
          <a:noFill/>
        </p:spPr>
        <p:txBody>
          <a:bodyPr wrap="square" rtlCol="0">
            <a:spAutoFit/>
          </a:bodyPr>
          <a:lstStyle>
            <a:defPPr>
              <a:defRPr lang="en-US"/>
            </a:defPPr>
            <a:lvl1pPr>
              <a:defRPr b="1">
                <a:solidFill>
                  <a:srgbClr val="00B050"/>
                </a:solidFill>
              </a:defRPr>
            </a:lvl1pPr>
          </a:lstStyle>
          <a:p>
            <a:r>
              <a:rPr lang="en-US" dirty="0"/>
              <a:t>two trees with smallest weight</a:t>
            </a:r>
          </a:p>
        </p:txBody>
      </p:sp>
      <p:pic>
        <p:nvPicPr>
          <p:cNvPr id="16" name="Picture 15">
            <a:extLst>
              <a:ext uri="{FF2B5EF4-FFF2-40B4-BE49-F238E27FC236}">
                <a16:creationId xmlns:a16="http://schemas.microsoft.com/office/drawing/2014/main" id="{9B752B79-98C3-784B-A3E9-0A8FD76EE197}"/>
              </a:ext>
            </a:extLst>
          </p:cNvPr>
          <p:cNvPicPr>
            <a:picLocks noChangeAspect="1"/>
          </p:cNvPicPr>
          <p:nvPr/>
        </p:nvPicPr>
        <p:blipFill>
          <a:blip r:embed="rId4"/>
          <a:stretch>
            <a:fillRect/>
          </a:stretch>
        </p:blipFill>
        <p:spPr>
          <a:xfrm>
            <a:off x="457200" y="4103037"/>
            <a:ext cx="4595813" cy="1459563"/>
          </a:xfrm>
          <a:prstGeom prst="rect">
            <a:avLst/>
          </a:prstGeom>
        </p:spPr>
      </p:pic>
      <p:sp>
        <p:nvSpPr>
          <p:cNvPr id="17" name="TextBox 16">
            <a:extLst>
              <a:ext uri="{FF2B5EF4-FFF2-40B4-BE49-F238E27FC236}">
                <a16:creationId xmlns:a16="http://schemas.microsoft.com/office/drawing/2014/main" id="{3AE44C36-C5C9-0034-E452-C2901229A831}"/>
              </a:ext>
            </a:extLst>
          </p:cNvPr>
          <p:cNvSpPr txBox="1"/>
          <p:nvPr/>
        </p:nvSpPr>
        <p:spPr>
          <a:xfrm>
            <a:off x="457200" y="3327310"/>
            <a:ext cx="4618607" cy="646331"/>
          </a:xfrm>
          <a:prstGeom prst="rect">
            <a:avLst/>
          </a:prstGeom>
          <a:noFill/>
        </p:spPr>
        <p:txBody>
          <a:bodyPr wrap="square" rtlCol="0">
            <a:spAutoFit/>
          </a:bodyPr>
          <a:lstStyle>
            <a:defPPr>
              <a:defRPr lang="en-US"/>
            </a:defPPr>
            <a:lvl1pPr>
              <a:defRPr b="1">
                <a:solidFill>
                  <a:srgbClr val="00B050"/>
                </a:solidFill>
              </a:defRPr>
            </a:lvl1pPr>
          </a:lstStyle>
          <a:p>
            <a:r>
              <a:rPr lang="en-US" dirty="0"/>
              <a:t>forming a tree out of the two trees with smallest weight</a:t>
            </a:r>
          </a:p>
        </p:txBody>
      </p:sp>
      <p:pic>
        <p:nvPicPr>
          <p:cNvPr id="19" name="Picture 18">
            <a:extLst>
              <a:ext uri="{FF2B5EF4-FFF2-40B4-BE49-F238E27FC236}">
                <a16:creationId xmlns:a16="http://schemas.microsoft.com/office/drawing/2014/main" id="{0196D2BC-8793-7148-BED8-2BA1E7573604}"/>
              </a:ext>
            </a:extLst>
          </p:cNvPr>
          <p:cNvPicPr>
            <a:picLocks noChangeAspect="1"/>
          </p:cNvPicPr>
          <p:nvPr/>
        </p:nvPicPr>
        <p:blipFill>
          <a:blip r:embed="rId5"/>
          <a:stretch>
            <a:fillRect/>
          </a:stretch>
        </p:blipFill>
        <p:spPr>
          <a:xfrm>
            <a:off x="5744593" y="1371600"/>
            <a:ext cx="4648200" cy="1647000"/>
          </a:xfrm>
          <a:prstGeom prst="rect">
            <a:avLst/>
          </a:prstGeom>
        </p:spPr>
      </p:pic>
      <p:sp>
        <p:nvSpPr>
          <p:cNvPr id="20" name="TextBox 19">
            <a:extLst>
              <a:ext uri="{FF2B5EF4-FFF2-40B4-BE49-F238E27FC236}">
                <a16:creationId xmlns:a16="http://schemas.microsoft.com/office/drawing/2014/main" id="{4DB268F8-A809-324C-7518-7B61CD84A808}"/>
              </a:ext>
            </a:extLst>
          </p:cNvPr>
          <p:cNvSpPr txBox="1"/>
          <p:nvPr/>
        </p:nvSpPr>
        <p:spPr>
          <a:xfrm>
            <a:off x="5896993" y="990600"/>
            <a:ext cx="3733800" cy="369332"/>
          </a:xfrm>
          <a:prstGeom prst="rect">
            <a:avLst/>
          </a:prstGeom>
          <a:noFill/>
        </p:spPr>
        <p:txBody>
          <a:bodyPr wrap="square" rtlCol="0">
            <a:spAutoFit/>
          </a:bodyPr>
          <a:lstStyle>
            <a:defPPr>
              <a:defRPr lang="en-US"/>
            </a:defPPr>
            <a:lvl1pPr>
              <a:defRPr b="1">
                <a:solidFill>
                  <a:srgbClr val="00B050"/>
                </a:solidFill>
              </a:defRPr>
            </a:lvl1pPr>
          </a:lstStyle>
          <a:p>
            <a:r>
              <a:rPr lang="en-US" dirty="0"/>
              <a:t>two trees with smallest weight</a:t>
            </a:r>
          </a:p>
        </p:txBody>
      </p:sp>
      <p:sp>
        <p:nvSpPr>
          <p:cNvPr id="21" name="TextBox 20">
            <a:extLst>
              <a:ext uri="{FF2B5EF4-FFF2-40B4-BE49-F238E27FC236}">
                <a16:creationId xmlns:a16="http://schemas.microsoft.com/office/drawing/2014/main" id="{1DC2E527-C566-EF6B-DA03-F41F78980666}"/>
              </a:ext>
            </a:extLst>
          </p:cNvPr>
          <p:cNvSpPr txBox="1"/>
          <p:nvPr/>
        </p:nvSpPr>
        <p:spPr>
          <a:xfrm>
            <a:off x="5896993" y="3315642"/>
            <a:ext cx="4618607" cy="646331"/>
          </a:xfrm>
          <a:prstGeom prst="rect">
            <a:avLst/>
          </a:prstGeom>
          <a:noFill/>
        </p:spPr>
        <p:txBody>
          <a:bodyPr wrap="square" rtlCol="0">
            <a:spAutoFit/>
          </a:bodyPr>
          <a:lstStyle>
            <a:defPPr>
              <a:defRPr lang="en-US"/>
            </a:defPPr>
            <a:lvl1pPr>
              <a:defRPr b="1">
                <a:solidFill>
                  <a:srgbClr val="00B050"/>
                </a:solidFill>
              </a:defRPr>
            </a:lvl1pPr>
          </a:lstStyle>
          <a:p>
            <a:r>
              <a:rPr lang="en-US" dirty="0"/>
              <a:t>forming a tree out of the two trees with smallest weight</a:t>
            </a:r>
          </a:p>
        </p:txBody>
      </p:sp>
      <p:pic>
        <p:nvPicPr>
          <p:cNvPr id="23" name="Picture 22">
            <a:extLst>
              <a:ext uri="{FF2B5EF4-FFF2-40B4-BE49-F238E27FC236}">
                <a16:creationId xmlns:a16="http://schemas.microsoft.com/office/drawing/2014/main" id="{C7E1A733-5757-B9F0-C2ED-B18303FBA1BF}"/>
              </a:ext>
            </a:extLst>
          </p:cNvPr>
          <p:cNvPicPr>
            <a:picLocks noChangeAspect="1"/>
          </p:cNvPicPr>
          <p:nvPr/>
        </p:nvPicPr>
        <p:blipFill>
          <a:blip r:embed="rId6"/>
          <a:stretch>
            <a:fillRect/>
          </a:stretch>
        </p:blipFill>
        <p:spPr>
          <a:xfrm>
            <a:off x="5989704" y="4003003"/>
            <a:ext cx="4950889" cy="2516932"/>
          </a:xfrm>
          <a:prstGeom prst="rect">
            <a:avLst/>
          </a:prstGeom>
        </p:spPr>
      </p:pic>
    </p:spTree>
    <p:extLst>
      <p:ext uri="{BB962C8B-B14F-4D97-AF65-F5344CB8AC3E}">
        <p14:creationId xmlns:p14="http://schemas.microsoft.com/office/powerpoint/2010/main" val="17118360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Huffman Codes,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2" name="TextBox 1">
            <a:extLst>
              <a:ext uri="{FF2B5EF4-FFF2-40B4-BE49-F238E27FC236}">
                <a16:creationId xmlns:a16="http://schemas.microsoft.com/office/drawing/2014/main" id="{614990E4-06B0-974D-E7BA-7ABFA7831382}"/>
              </a:ext>
            </a:extLst>
          </p:cNvPr>
          <p:cNvSpPr txBox="1"/>
          <p:nvPr/>
        </p:nvSpPr>
        <p:spPr>
          <a:xfrm>
            <a:off x="457200" y="1002268"/>
            <a:ext cx="3733800" cy="369332"/>
          </a:xfrm>
          <a:prstGeom prst="rect">
            <a:avLst/>
          </a:prstGeom>
          <a:noFill/>
        </p:spPr>
        <p:txBody>
          <a:bodyPr wrap="square" rtlCol="0">
            <a:spAutoFit/>
          </a:bodyPr>
          <a:lstStyle>
            <a:defPPr>
              <a:defRPr lang="en-US"/>
            </a:defPPr>
            <a:lvl1pPr>
              <a:defRPr b="1">
                <a:solidFill>
                  <a:srgbClr val="00B050"/>
                </a:solidFill>
              </a:defRPr>
            </a:lvl1pPr>
          </a:lstStyle>
          <a:p>
            <a:r>
              <a:rPr lang="en-US" dirty="0"/>
              <a:t>two trees with smallest weight</a:t>
            </a:r>
          </a:p>
        </p:txBody>
      </p:sp>
      <p:pic>
        <p:nvPicPr>
          <p:cNvPr id="7" name="Picture 6">
            <a:extLst>
              <a:ext uri="{FF2B5EF4-FFF2-40B4-BE49-F238E27FC236}">
                <a16:creationId xmlns:a16="http://schemas.microsoft.com/office/drawing/2014/main" id="{4A87E444-B1E1-780A-E354-877A198215C7}"/>
              </a:ext>
            </a:extLst>
          </p:cNvPr>
          <p:cNvPicPr>
            <a:picLocks noChangeAspect="1"/>
          </p:cNvPicPr>
          <p:nvPr/>
        </p:nvPicPr>
        <p:blipFill>
          <a:blip r:embed="rId3"/>
          <a:stretch>
            <a:fillRect/>
          </a:stretch>
        </p:blipFill>
        <p:spPr>
          <a:xfrm>
            <a:off x="523024" y="1371600"/>
            <a:ext cx="5268176" cy="2883934"/>
          </a:xfrm>
          <a:prstGeom prst="rect">
            <a:avLst/>
          </a:prstGeom>
        </p:spPr>
      </p:pic>
      <p:pic>
        <p:nvPicPr>
          <p:cNvPr id="9" name="Picture 8">
            <a:extLst>
              <a:ext uri="{FF2B5EF4-FFF2-40B4-BE49-F238E27FC236}">
                <a16:creationId xmlns:a16="http://schemas.microsoft.com/office/drawing/2014/main" id="{6D2D1880-CC06-DE5E-EAC5-BDFEC73246B8}"/>
              </a:ext>
            </a:extLst>
          </p:cNvPr>
          <p:cNvPicPr>
            <a:picLocks noChangeAspect="1"/>
          </p:cNvPicPr>
          <p:nvPr/>
        </p:nvPicPr>
        <p:blipFill>
          <a:blip r:embed="rId4"/>
          <a:stretch>
            <a:fillRect/>
          </a:stretch>
        </p:blipFill>
        <p:spPr>
          <a:xfrm>
            <a:off x="7239000" y="1676400"/>
            <a:ext cx="4572000" cy="3582926"/>
          </a:xfrm>
          <a:prstGeom prst="rect">
            <a:avLst/>
          </a:prstGeom>
        </p:spPr>
      </p:pic>
      <p:sp>
        <p:nvSpPr>
          <p:cNvPr id="10" name="Rectangle 3">
            <a:extLst>
              <a:ext uri="{FF2B5EF4-FFF2-40B4-BE49-F238E27FC236}">
                <a16:creationId xmlns:a16="http://schemas.microsoft.com/office/drawing/2014/main" id="{8FBB0041-F8E9-6D35-2472-2050AA936165}"/>
              </a:ext>
            </a:extLst>
          </p:cNvPr>
          <p:cNvSpPr txBox="1">
            <a:spLocks noChangeArrowheads="1"/>
          </p:cNvSpPr>
          <p:nvPr/>
        </p:nvSpPr>
        <p:spPr bwMode="auto">
          <a:xfrm>
            <a:off x="228600" y="4448753"/>
            <a:ext cx="6705600" cy="1871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SzPct val="75000"/>
              <a:buBlip>
                <a:blip r:embed="rId5"/>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6"/>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7"/>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spcBef>
                <a:spcPct val="0"/>
              </a:spcBef>
              <a:buFont typeface="Wingdings" pitchFamily="2" charset="2"/>
              <a:buChar char="Ø"/>
              <a:defRPr/>
            </a:pPr>
            <a:r>
              <a:rPr lang="en-US" altLang="ko-KR" sz="1600" b="1" dirty="0">
                <a:solidFill>
                  <a:srgbClr val="7030A0"/>
                </a:solidFill>
                <a:latin typeface="Arial" charset="0"/>
                <a:ea typeface="ＭＳ Ｐゴシック" pitchFamily="34" charset="-128"/>
              </a:rPr>
              <a:t>Weighted average bits per character for </a:t>
            </a:r>
            <a:r>
              <a:rPr lang="en-AU" sz="1600" b="1" dirty="0">
                <a:solidFill>
                  <a:srgbClr val="7030A0"/>
                </a:solidFill>
                <a:latin typeface="Arial" charset="0"/>
                <a:ea typeface="ＭＳ Ｐゴシック" pitchFamily="34" charset="-128"/>
              </a:rPr>
              <a:t>variable-length encoding</a:t>
            </a:r>
            <a:r>
              <a:rPr lang="en-US" altLang="ko-KR" sz="1600" b="1" dirty="0">
                <a:solidFill>
                  <a:srgbClr val="7030A0"/>
                </a:solidFill>
                <a:latin typeface="Arial" charset="0"/>
                <a:ea typeface="ＭＳ Ｐゴシック" pitchFamily="34" charset="-128"/>
              </a:rPr>
              <a:t>: 2.25 bits</a:t>
            </a:r>
          </a:p>
          <a:p>
            <a:pPr>
              <a:spcBef>
                <a:spcPct val="0"/>
              </a:spcBef>
              <a:buFont typeface="Wingdings" pitchFamily="2" charset="2"/>
              <a:buChar char="Ø"/>
              <a:defRPr/>
            </a:pPr>
            <a:r>
              <a:rPr lang="en-US" altLang="ko-KR" sz="1600" b="1" dirty="0">
                <a:solidFill>
                  <a:srgbClr val="7030A0"/>
                </a:solidFill>
                <a:latin typeface="Arial" charset="0"/>
                <a:ea typeface="ＭＳ Ｐゴシック" pitchFamily="34" charset="-128"/>
              </a:rPr>
              <a:t>For fixed-length encoding: 3 bits.</a:t>
            </a:r>
          </a:p>
          <a:p>
            <a:pPr>
              <a:spcBef>
                <a:spcPct val="0"/>
              </a:spcBef>
              <a:buFont typeface="Wingdings" pitchFamily="2" charset="2"/>
              <a:buChar char="Ø"/>
              <a:defRPr/>
            </a:pPr>
            <a:r>
              <a:rPr lang="en-AU" sz="1600" b="1" dirty="0">
                <a:solidFill>
                  <a:srgbClr val="7030A0"/>
                </a:solidFill>
                <a:latin typeface="Arial" charset="0"/>
                <a:ea typeface="ＭＳ Ｐゴシック" pitchFamily="34" charset="-128"/>
              </a:rPr>
              <a:t>The compression ratio measures the savings achieved by using variable-length encoding compared to fixed-length encoding</a:t>
            </a:r>
            <a:endParaRPr lang="en-US" altLang="ko-KR" sz="1600" b="1" dirty="0">
              <a:solidFill>
                <a:srgbClr val="7030A0"/>
              </a:solidFill>
              <a:latin typeface="Arial" charset="0"/>
              <a:ea typeface="ＭＳ Ｐゴシック" pitchFamily="34" charset="-128"/>
            </a:endParaRPr>
          </a:p>
          <a:p>
            <a:pPr lvl="1">
              <a:spcBef>
                <a:spcPct val="0"/>
              </a:spcBef>
              <a:buFont typeface="Wingdings" pitchFamily="2" charset="2"/>
              <a:buChar char="q"/>
              <a:defRPr/>
            </a:pPr>
            <a:r>
              <a:rPr lang="en-US" altLang="ko-KR" sz="1050" b="1" dirty="0">
                <a:solidFill>
                  <a:srgbClr val="7030A0"/>
                </a:solidFill>
                <a:latin typeface="Arial" charset="0"/>
                <a:ea typeface="ＭＳ Ｐゴシック" pitchFamily="34" charset="-128"/>
              </a:rPr>
              <a:t> </a:t>
            </a:r>
            <a:r>
              <a:rPr lang="en-US" altLang="ko-KR" sz="1600" b="1" dirty="0">
                <a:solidFill>
                  <a:srgbClr val="7030A0"/>
                </a:solidFill>
                <a:latin typeface="Arial" charset="0"/>
                <a:ea typeface="ＭＳ Ｐゴシック" pitchFamily="34" charset="-128"/>
              </a:rPr>
              <a:t>Compression ratio: (3-2.25)/3*100% = 25%</a:t>
            </a:r>
            <a:endParaRPr lang="en-US" altLang="ko-KR" sz="1050" b="1" dirty="0">
              <a:solidFill>
                <a:srgbClr val="7030A0"/>
              </a:solidFill>
              <a:latin typeface="Arial" charset="0"/>
              <a:ea typeface="ＭＳ Ｐゴシック" pitchFamily="34" charset="-128"/>
            </a:endParaRPr>
          </a:p>
        </p:txBody>
      </p:sp>
      <p:pic>
        <p:nvPicPr>
          <p:cNvPr id="12" name="Picture 11">
            <a:extLst>
              <a:ext uri="{FF2B5EF4-FFF2-40B4-BE49-F238E27FC236}">
                <a16:creationId xmlns:a16="http://schemas.microsoft.com/office/drawing/2014/main" id="{333EA05E-CE5D-92D7-2496-996D35308B56}"/>
              </a:ext>
            </a:extLst>
          </p:cNvPr>
          <p:cNvPicPr>
            <a:picLocks noChangeAspect="1"/>
          </p:cNvPicPr>
          <p:nvPr/>
        </p:nvPicPr>
        <p:blipFill>
          <a:blip r:embed="rId8"/>
          <a:stretch>
            <a:fillRect/>
          </a:stretch>
        </p:blipFill>
        <p:spPr>
          <a:xfrm>
            <a:off x="7239000" y="5331040"/>
            <a:ext cx="4474624" cy="989085"/>
          </a:xfrm>
          <a:prstGeom prst="rect">
            <a:avLst/>
          </a:prstGeom>
        </p:spPr>
      </p:pic>
      <p:sp>
        <p:nvSpPr>
          <p:cNvPr id="13" name="TextBox 12">
            <a:extLst>
              <a:ext uri="{FF2B5EF4-FFF2-40B4-BE49-F238E27FC236}">
                <a16:creationId xmlns:a16="http://schemas.microsoft.com/office/drawing/2014/main" id="{D1DB0064-C99E-9185-048A-8279333BA175}"/>
              </a:ext>
            </a:extLst>
          </p:cNvPr>
          <p:cNvSpPr txBox="1"/>
          <p:nvPr/>
        </p:nvSpPr>
        <p:spPr>
          <a:xfrm>
            <a:off x="6430393" y="1303218"/>
            <a:ext cx="4618607" cy="646331"/>
          </a:xfrm>
          <a:prstGeom prst="rect">
            <a:avLst/>
          </a:prstGeom>
          <a:noFill/>
        </p:spPr>
        <p:txBody>
          <a:bodyPr wrap="square" rtlCol="0">
            <a:spAutoFit/>
          </a:bodyPr>
          <a:lstStyle/>
          <a:p>
            <a:r>
              <a:rPr lang="en-US" b="1" dirty="0">
                <a:solidFill>
                  <a:srgbClr val="00B050"/>
                </a:solidFill>
              </a:rPr>
              <a:t>forming a tree out of the two trees with smallest weight</a:t>
            </a:r>
          </a:p>
        </p:txBody>
      </p:sp>
    </p:spTree>
    <p:extLst>
      <p:ext uri="{BB962C8B-B14F-4D97-AF65-F5344CB8AC3E}">
        <p14:creationId xmlns:p14="http://schemas.microsoft.com/office/powerpoint/2010/main" val="29841706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05200" y="2362200"/>
            <a:ext cx="5334000" cy="707886"/>
          </a:xfrm>
          <a:prstGeom prst="rect">
            <a:avLst/>
          </a:prstGeom>
          <a:noFill/>
        </p:spPr>
        <p:txBody>
          <a:bodyPr wrap="square" rtlCol="0">
            <a:spAutoFit/>
          </a:bodyPr>
          <a:lstStyle/>
          <a:p>
            <a:pPr algn="ctr"/>
            <a:r>
              <a:rPr lang="en-US" sz="4000" b="1" dirty="0">
                <a:solidFill>
                  <a:srgbClr val="FF0000"/>
                </a:solidFill>
                <a:latin typeface="+mj-lt"/>
                <a:ea typeface="ＭＳ Ｐゴシック" charset="0"/>
                <a:cs typeface="+mj-cs"/>
              </a:rPr>
              <a:t>Questions?</a:t>
            </a:r>
          </a:p>
        </p:txBody>
      </p:sp>
    </p:spTree>
    <p:extLst>
      <p:ext uri="{BB962C8B-B14F-4D97-AF65-F5344CB8AC3E}">
        <p14:creationId xmlns:p14="http://schemas.microsoft.com/office/powerpoint/2010/main" val="1296890882"/>
      </p:ext>
    </p:extLst>
  </p:cSld>
  <p:clrMapOvr>
    <a:masterClrMapping/>
  </p:clrMapOvr>
</p:sld>
</file>

<file path=ppt/theme/theme1.xml><?xml version="1.0" encoding="utf-8"?>
<a:theme xmlns:a="http://schemas.openxmlformats.org/drawingml/2006/main" name="DataScience">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DataScience</Template>
  <TotalTime>11802</TotalTime>
  <Words>2682</Words>
  <Application>Microsoft Macintosh PowerPoint</Application>
  <PresentationFormat>Widescreen</PresentationFormat>
  <Paragraphs>350</Paragraphs>
  <Slides>36</Slides>
  <Notes>35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36</vt:i4>
      </vt:variant>
    </vt:vector>
  </HeadingPairs>
  <TitlesOfParts>
    <vt:vector size="47" baseType="lpstr">
      <vt:lpstr>굴림</vt:lpstr>
      <vt:lpstr>Agency FB</vt:lpstr>
      <vt:lpstr>Arial</vt:lpstr>
      <vt:lpstr>Arial</vt:lpstr>
      <vt:lpstr>Calibri</vt:lpstr>
      <vt:lpstr>Google Sans</vt:lpstr>
      <vt:lpstr>Monotype Sorts</vt:lpstr>
      <vt:lpstr>Times New Roman</vt:lpstr>
      <vt:lpstr>Wingdings</vt:lpstr>
      <vt:lpstr>DataScience</vt:lpstr>
      <vt:lpstr>Custom Design</vt:lpstr>
      <vt:lpstr>Topic 7</vt:lpstr>
      <vt:lpstr>Greedy Technique</vt:lpstr>
      <vt:lpstr>Greedy Technique, Contd.</vt:lpstr>
      <vt:lpstr>Change-Making Problem</vt:lpstr>
      <vt:lpstr>Minimum Spanning Tree (MST)</vt:lpstr>
      <vt:lpstr>Prim’s MST Algorithm</vt:lpstr>
      <vt:lpstr>Prim’s MST Algorithm, Contd.</vt:lpstr>
      <vt:lpstr>Prim’s MST Algorithm, Contd.</vt:lpstr>
      <vt:lpstr>Prim’s MST Algorithm, Contd.</vt:lpstr>
      <vt:lpstr>Prim’s MST Algorithm, Contd.</vt:lpstr>
      <vt:lpstr>Prim’s MST Algorithm, Contd.</vt:lpstr>
      <vt:lpstr>Single Source Shortest Paths Problem</vt:lpstr>
      <vt:lpstr>Dijkstra’s Shortest Paths Algorithm</vt:lpstr>
      <vt:lpstr>Dijkstra’s Shortest Paths Algorithm, Contd.</vt:lpstr>
      <vt:lpstr>Dijkstra’s Shortest Paths Algorithm, Contd.</vt:lpstr>
      <vt:lpstr>Dijkstra’s Shortest Paths Algorithm, Contd.</vt:lpstr>
      <vt:lpstr>Dijkstra’s Shortest Paths Algorithm, Contd.</vt:lpstr>
      <vt:lpstr>Dijkstra’s Shortest Paths Algorithm, Contd.</vt:lpstr>
      <vt:lpstr>Dijkstra’s Shortest Paths Algorithm, Contd.</vt:lpstr>
      <vt:lpstr>Dijkstra’s Shortest Paths Algorithm, Contd.</vt:lpstr>
      <vt:lpstr>Dijkstra’s Shortest Paths Algorithm, Contd.</vt:lpstr>
      <vt:lpstr>Dijkstra’s Shortest Paths Algorithm, Contd.</vt:lpstr>
      <vt:lpstr>Dijkstra’s Shortest Paths Algorithm, Contd.</vt:lpstr>
      <vt:lpstr>Dijkstra’s Shortest Paths Algorithm, Contd.</vt:lpstr>
      <vt:lpstr>Dijkstra’s Shortest Paths Algorithm, Contd.</vt:lpstr>
      <vt:lpstr>Dijkstra’s Shortest Paths Algorithm, Contd.</vt:lpstr>
      <vt:lpstr>Dijkstra’s Shortest Paths Algorithm, Contd.</vt:lpstr>
      <vt:lpstr>Dijkstra’s Shortest Paths Algorithm, Contd.</vt:lpstr>
      <vt:lpstr>Coding Problem</vt:lpstr>
      <vt:lpstr>Coding Problem, Contd.</vt:lpstr>
      <vt:lpstr>Coding Problem, Contd.</vt:lpstr>
      <vt:lpstr>Huffman Codes</vt:lpstr>
      <vt:lpstr>Huffman Codes, Contd.</vt:lpstr>
      <vt:lpstr>Huffman Codes, Contd.</vt:lpstr>
      <vt:lpstr>Huffman Codes, 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Science</dc:title>
  <dc:creator>Jf</dc:creator>
  <cp:lastModifiedBy>Am-tmeem Alsa.</cp:lastModifiedBy>
  <cp:revision>245</cp:revision>
  <cp:lastPrinted>2019-09-01T09:07:45Z</cp:lastPrinted>
  <dcterms:created xsi:type="dcterms:W3CDTF">2015-03-22T23:49:48Z</dcterms:created>
  <dcterms:modified xsi:type="dcterms:W3CDTF">2025-04-05T18:44:14Z</dcterms:modified>
</cp:coreProperties>
</file>