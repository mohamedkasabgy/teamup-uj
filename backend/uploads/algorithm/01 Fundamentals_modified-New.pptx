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8" r:id="rId2"/>
  </p:sldMasterIdLst>
  <p:notesMasterIdLst>
    <p:notesMasterId r:id="rId49"/>
  </p:notesMasterIdLst>
  <p:handoutMasterIdLst>
    <p:handoutMasterId r:id="rId50"/>
  </p:handoutMasterIdLst>
  <p:sldIdLst>
    <p:sldId id="479" r:id="rId3"/>
    <p:sldId id="481" r:id="rId4"/>
    <p:sldId id="482" r:id="rId5"/>
    <p:sldId id="483" r:id="rId6"/>
    <p:sldId id="484" r:id="rId7"/>
    <p:sldId id="486" r:id="rId8"/>
    <p:sldId id="487" r:id="rId9"/>
    <p:sldId id="499" r:id="rId10"/>
    <p:sldId id="488" r:id="rId11"/>
    <p:sldId id="494" r:id="rId12"/>
    <p:sldId id="495" r:id="rId13"/>
    <p:sldId id="496" r:id="rId14"/>
    <p:sldId id="503" r:id="rId15"/>
    <p:sldId id="504" r:id="rId16"/>
    <p:sldId id="542" r:id="rId17"/>
    <p:sldId id="505" r:id="rId18"/>
    <p:sldId id="506" r:id="rId19"/>
    <p:sldId id="507" r:id="rId20"/>
    <p:sldId id="521" r:id="rId21"/>
    <p:sldId id="522" r:id="rId22"/>
    <p:sldId id="510" r:id="rId23"/>
    <p:sldId id="516" r:id="rId24"/>
    <p:sldId id="517" r:id="rId25"/>
    <p:sldId id="515" r:id="rId26"/>
    <p:sldId id="523" r:id="rId27"/>
    <p:sldId id="537" r:id="rId28"/>
    <p:sldId id="538" r:id="rId29"/>
    <p:sldId id="539" r:id="rId30"/>
    <p:sldId id="519" r:id="rId31"/>
    <p:sldId id="524" r:id="rId32"/>
    <p:sldId id="525" r:id="rId33"/>
    <p:sldId id="526" r:id="rId34"/>
    <p:sldId id="527" r:id="rId35"/>
    <p:sldId id="520" r:id="rId36"/>
    <p:sldId id="528" r:id="rId37"/>
    <p:sldId id="529" r:id="rId38"/>
    <p:sldId id="532" r:id="rId39"/>
    <p:sldId id="550" r:id="rId40"/>
    <p:sldId id="500" r:id="rId41"/>
    <p:sldId id="489" r:id="rId42"/>
    <p:sldId id="493" r:id="rId43"/>
    <p:sldId id="501" r:id="rId44"/>
    <p:sldId id="490" r:id="rId45"/>
    <p:sldId id="502" r:id="rId46"/>
    <p:sldId id="491" r:id="rId47"/>
    <p:sldId id="492" r:id="rId48"/>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tthew Hayes" initials="" lastIdx="2" clrIdx="0"/>
  <p:cmAuthor id="1" name="Graeme Malcolm" initials="GM" lastIdx="9" clrIdx="1">
    <p:extLst>
      <p:ext uri="{19B8F6BF-5375-455C-9EA6-DF929625EA0E}">
        <p15:presenceInfo xmlns:p15="http://schemas.microsoft.com/office/powerpoint/2012/main" userId="S-1-5-21-2127521184-1604012920-1887927527-565654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50"/>
    <a:srgbClr val="FFFFFF"/>
    <a:srgbClr val="FF3300"/>
    <a:srgbClr val="5A8DE6"/>
    <a:srgbClr val="0000CC"/>
    <a:srgbClr val="FFFFCC"/>
    <a:srgbClr val="000066"/>
    <a:srgbClr val="BBAE54"/>
    <a:srgbClr val="2C0000"/>
    <a:srgbClr val="3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67" autoAdjust="0"/>
    <p:restoredTop sz="94118" autoAdjust="0"/>
  </p:normalViewPr>
  <p:slideViewPr>
    <p:cSldViewPr>
      <p:cViewPr>
        <p:scale>
          <a:sx n="75" d="100"/>
          <a:sy n="75" d="100"/>
        </p:scale>
        <p:origin x="672" y="110"/>
      </p:cViewPr>
      <p:guideLst>
        <p:guide orient="horz" pos="2160"/>
        <p:guide pos="3840"/>
      </p:guideLst>
    </p:cSldViewPr>
  </p:slideViewPr>
  <p:outlineViewPr>
    <p:cViewPr>
      <p:scale>
        <a:sx n="33" d="100"/>
        <a:sy n="33" d="100"/>
      </p:scale>
      <p:origin x="0" y="-8947"/>
    </p:cViewPr>
  </p:outlineViewPr>
  <p:notesTextViewPr>
    <p:cViewPr>
      <p:scale>
        <a:sx n="100" d="100"/>
        <a:sy n="100" d="100"/>
      </p:scale>
      <p:origin x="0" y="0"/>
    </p:cViewPr>
  </p:notesTextViewPr>
  <p:sorterViewPr>
    <p:cViewPr>
      <p:scale>
        <a:sx n="100" d="100"/>
        <a:sy n="100" d="100"/>
      </p:scale>
      <p:origin x="0" y="-3974"/>
    </p:cViewPr>
  </p:sorterViewPr>
  <p:notesViewPr>
    <p:cSldViewPr>
      <p:cViewPr varScale="1">
        <p:scale>
          <a:sx n="61" d="100"/>
          <a:sy n="61" d="100"/>
        </p:scale>
        <p:origin x="1632" y="3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AM SAAD MASAOD ALSAHY" userId="4be5c5fb-491d-424e-9026-8f04d9c3f968" providerId="ADAL" clId="{E71FFE43-8173-DB41-BD02-956C20872479}"/>
    <pc:docChg chg="modSld">
      <pc:chgData name="MARAM SAAD MASAOD ALSAHY" userId="4be5c5fb-491d-424e-9026-8f04d9c3f968" providerId="ADAL" clId="{E71FFE43-8173-DB41-BD02-956C20872479}" dt="2024-08-16T09:06:17.191" v="9" actId="1076"/>
      <pc:docMkLst>
        <pc:docMk/>
      </pc:docMkLst>
      <pc:sldChg chg="modSp mod">
        <pc:chgData name="MARAM SAAD MASAOD ALSAHY" userId="4be5c5fb-491d-424e-9026-8f04d9c3f968" providerId="ADAL" clId="{E71FFE43-8173-DB41-BD02-956C20872479}" dt="2024-08-16T09:06:17.191" v="9" actId="1076"/>
        <pc:sldMkLst>
          <pc:docMk/>
          <pc:sldMk cId="1941407586" sldId="541"/>
        </pc:sldMkLst>
        <pc:spChg chg="mod">
          <ac:chgData name="MARAM SAAD MASAOD ALSAHY" userId="4be5c5fb-491d-424e-9026-8f04d9c3f968" providerId="ADAL" clId="{E71FFE43-8173-DB41-BD02-956C20872479}" dt="2024-08-16T09:06:17.191" v="9" actId="1076"/>
          <ac:spMkLst>
            <pc:docMk/>
            <pc:sldMk cId="1941407586" sldId="541"/>
            <ac:spMk id="5" creationId="{66F4AEE2-7CB7-8849-B847-6A6810056E13}"/>
          </ac:spMkLst>
        </pc:spChg>
        <pc:picChg chg="mod">
          <ac:chgData name="MARAM SAAD MASAOD ALSAHY" userId="4be5c5fb-491d-424e-9026-8f04d9c3f968" providerId="ADAL" clId="{E71FFE43-8173-DB41-BD02-956C20872479}" dt="2024-08-16T09:05:31.776" v="6" actId="1076"/>
          <ac:picMkLst>
            <pc:docMk/>
            <pc:sldMk cId="1941407586" sldId="541"/>
            <ac:picMk id="6" creationId="{CA1C8D33-EBB3-0A4B-8562-6CF533AAF0E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ea typeface="+mn-ea"/>
              </a:defRPr>
            </a:lvl1pPr>
          </a:lstStyle>
          <a:p>
            <a:pPr>
              <a:defRPr/>
            </a:pP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Arial" pitchFamily="34" charset="0"/>
              </a:defRPr>
            </a:lvl1pPr>
          </a:lstStyle>
          <a:p>
            <a:pPr>
              <a:defRPr/>
            </a:pPr>
            <a:fld id="{260F0ECF-F84D-43BE-A58E-0DB2F99E2671}" type="datetimeFigureOut">
              <a:rPr lang="en-US" altLang="en-US"/>
              <a:pPr>
                <a:defRPr/>
              </a:pPr>
              <a:t>2/6/2026</a:t>
            </a:fld>
            <a:endParaRPr lang="en-US" alt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atin typeface="Arial" charset="0"/>
                <a:ea typeface="+mn-ea"/>
              </a:defRPr>
            </a:lvl1pPr>
          </a:lstStyle>
          <a:p>
            <a:pPr>
              <a:defRPr/>
            </a:pP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Arial" pitchFamily="34" charset="0"/>
              </a:defRPr>
            </a:lvl1pPr>
          </a:lstStyle>
          <a:p>
            <a:pPr>
              <a:defRPr/>
            </a:pPr>
            <a:fld id="{A312E49B-09D1-47A2-B871-8DE206184B02}" type="slidenum">
              <a:rPr lang="en-US" altLang="en-US"/>
              <a:pPr>
                <a:defRPr/>
              </a:pPr>
              <a:t>‹#›</a:t>
            </a:fld>
            <a:endParaRPr lang="en-US" altLang="en-US"/>
          </a:p>
        </p:txBody>
      </p:sp>
    </p:spTree>
    <p:extLst>
      <p:ext uri="{BB962C8B-B14F-4D97-AF65-F5344CB8AC3E}">
        <p14:creationId xmlns:p14="http://schemas.microsoft.com/office/powerpoint/2010/main" val="87130376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ea typeface="+mn-ea"/>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Arial" pitchFamily="34" charset="0"/>
              </a:defRPr>
            </a:lvl1pPr>
          </a:lstStyle>
          <a:p>
            <a:pPr>
              <a:defRPr/>
            </a:pPr>
            <a:fld id="{FCC8B620-7FB1-4D4A-893E-5909C901B9B8}" type="datetimeFigureOut">
              <a:rPr lang="en-US" altLang="en-US"/>
              <a:pPr>
                <a:defRPr/>
              </a:pPr>
              <a:t>2/6/2026</a:t>
            </a:fld>
            <a:endParaRPr lang="en-US" alt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charset="0"/>
                <a:ea typeface="+mn-ea"/>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Arial" pitchFamily="34" charset="0"/>
              </a:defRPr>
            </a:lvl1pPr>
          </a:lstStyle>
          <a:p>
            <a:pPr>
              <a:defRPr/>
            </a:pPr>
            <a:fld id="{5929A2E2-B731-4145-A8A4-FEBDEFC5FF59}" type="slidenum">
              <a:rPr lang="en-US" altLang="en-US"/>
              <a:pPr>
                <a:defRPr/>
              </a:pPr>
              <a:t>‹#›</a:t>
            </a:fld>
            <a:endParaRPr lang="en-US" altLang="en-US"/>
          </a:p>
        </p:txBody>
      </p:sp>
    </p:spTree>
    <p:extLst>
      <p:ext uri="{BB962C8B-B14F-4D97-AF65-F5344CB8AC3E}">
        <p14:creationId xmlns:p14="http://schemas.microsoft.com/office/powerpoint/2010/main" val="356179171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943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70969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770302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b="1" i="0" dirty="0" err="1">
                <a:solidFill>
                  <a:srgbClr val="202124"/>
                </a:solidFill>
                <a:effectLst/>
                <a:latin typeface="Google Sans"/>
              </a:rPr>
              <a:t>gcd</a:t>
            </a:r>
            <a:r>
              <a:rPr lang="en-US" b="1" i="0" dirty="0">
                <a:solidFill>
                  <a:srgbClr val="202124"/>
                </a:solidFill>
                <a:effectLst/>
                <a:latin typeface="Google Sans"/>
              </a:rPr>
              <a:t>(a, b, c) = </a:t>
            </a:r>
            <a:r>
              <a:rPr lang="en-US" b="1" i="0" dirty="0" err="1">
                <a:solidFill>
                  <a:srgbClr val="202124"/>
                </a:solidFill>
                <a:effectLst/>
                <a:latin typeface="Google Sans"/>
              </a:rPr>
              <a:t>gcd</a:t>
            </a:r>
            <a:r>
              <a:rPr lang="en-US" b="1" i="0" dirty="0">
                <a:solidFill>
                  <a:srgbClr val="202124"/>
                </a:solidFill>
                <a:effectLst/>
                <a:latin typeface="Google Sans"/>
              </a:rPr>
              <a:t>(a, </a:t>
            </a:r>
            <a:r>
              <a:rPr lang="en-US" b="1" i="0" dirty="0" err="1">
                <a:solidFill>
                  <a:srgbClr val="202124"/>
                </a:solidFill>
                <a:effectLst/>
                <a:latin typeface="Google Sans"/>
              </a:rPr>
              <a:t>gcd</a:t>
            </a:r>
            <a:r>
              <a:rPr lang="en-US" b="1" i="0" dirty="0">
                <a:solidFill>
                  <a:srgbClr val="202124"/>
                </a:solidFill>
                <a:effectLst/>
                <a:latin typeface="Google Sans"/>
              </a:rPr>
              <a:t>(b, c)) = </a:t>
            </a:r>
            <a:r>
              <a:rPr lang="en-US" b="1" i="0" dirty="0" err="1">
                <a:solidFill>
                  <a:srgbClr val="202124"/>
                </a:solidFill>
                <a:effectLst/>
                <a:latin typeface="Google Sans"/>
              </a:rPr>
              <a:t>gcd</a:t>
            </a:r>
            <a:r>
              <a:rPr lang="en-US" b="1" i="0" dirty="0">
                <a:solidFill>
                  <a:srgbClr val="202124"/>
                </a:solidFill>
                <a:effectLst/>
                <a:latin typeface="Google Sans"/>
              </a:rPr>
              <a:t>(</a:t>
            </a:r>
            <a:r>
              <a:rPr lang="en-US" b="1" i="0" dirty="0" err="1">
                <a:solidFill>
                  <a:srgbClr val="202124"/>
                </a:solidFill>
                <a:effectLst/>
                <a:latin typeface="Google Sans"/>
              </a:rPr>
              <a:t>gcd</a:t>
            </a:r>
            <a:r>
              <a:rPr lang="en-US" b="1" i="0" dirty="0">
                <a:solidFill>
                  <a:srgbClr val="202124"/>
                </a:solidFill>
                <a:effectLst/>
                <a:latin typeface="Google Sans"/>
              </a:rPr>
              <a:t>(a, b), c) = </a:t>
            </a:r>
            <a:r>
              <a:rPr lang="en-US" b="1" i="0" dirty="0" err="1">
                <a:solidFill>
                  <a:srgbClr val="202124"/>
                </a:solidFill>
                <a:effectLst/>
                <a:latin typeface="Google Sans"/>
              </a:rPr>
              <a:t>gcd</a:t>
            </a:r>
            <a:r>
              <a:rPr lang="en-US" b="1" i="0" dirty="0">
                <a:solidFill>
                  <a:srgbClr val="202124"/>
                </a:solidFill>
                <a:effectLst/>
                <a:latin typeface="Google Sans"/>
              </a:rPr>
              <a:t>(</a:t>
            </a:r>
            <a:r>
              <a:rPr lang="en-US" b="1" i="0" dirty="0" err="1">
                <a:solidFill>
                  <a:srgbClr val="202124"/>
                </a:solidFill>
                <a:effectLst/>
                <a:latin typeface="Google Sans"/>
              </a:rPr>
              <a:t>gcd</a:t>
            </a:r>
            <a:r>
              <a:rPr lang="en-US" b="1" i="0" dirty="0">
                <a:solidFill>
                  <a:srgbClr val="202124"/>
                </a:solidFill>
                <a:effectLst/>
                <a:latin typeface="Google Sans"/>
              </a:rPr>
              <a:t>(a, c), b)</a:t>
            </a:r>
            <a:endParaRPr lang="en-US" b="1" dirty="0"/>
          </a:p>
        </p:txBody>
      </p:sp>
    </p:spTree>
    <p:extLst>
      <p:ext uri="{BB962C8B-B14F-4D97-AF65-F5344CB8AC3E}">
        <p14:creationId xmlns:p14="http://schemas.microsoft.com/office/powerpoint/2010/main" val="481806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Mod is the remainder</a:t>
            </a:r>
          </a:p>
          <a:p>
            <a:r>
              <a:rPr lang="en-US" dirty="0" err="1"/>
              <a:t>gcd</a:t>
            </a:r>
            <a:r>
              <a:rPr lang="en-US" dirty="0"/>
              <a:t>(0, 0) is undefined; </a:t>
            </a:r>
            <a:r>
              <a:rPr lang="en-US" b="0" i="0" dirty="0">
                <a:solidFill>
                  <a:srgbClr val="202124"/>
                </a:solidFill>
                <a:effectLst/>
                <a:latin typeface="Google Sans"/>
              </a:rPr>
              <a:t>all integers are common divisors of 0 and 0</a:t>
            </a:r>
            <a:endParaRPr lang="en-US" dirty="0"/>
          </a:p>
        </p:txBody>
      </p:sp>
    </p:spTree>
    <p:extLst>
      <p:ext uri="{BB962C8B-B14F-4D97-AF65-F5344CB8AC3E}">
        <p14:creationId xmlns:p14="http://schemas.microsoft.com/office/powerpoint/2010/main" val="2628442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2957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582200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b="1" dirty="0"/>
              <a:t>Specify n, basic operation, and C(n)</a:t>
            </a:r>
          </a:p>
        </p:txBody>
      </p:sp>
    </p:spTree>
    <p:extLst>
      <p:ext uri="{BB962C8B-B14F-4D97-AF65-F5344CB8AC3E}">
        <p14:creationId xmlns:p14="http://schemas.microsoft.com/office/powerpoint/2010/main" val="3945261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704701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solidFill>
                  <a:srgbClr val="FF3300"/>
                </a:solidFill>
              </a:rPr>
              <a:t>Specify n, basic operation, cases, and C(n)</a:t>
            </a:r>
          </a:p>
          <a:p>
            <a:endParaRPr lang="en-US" dirty="0"/>
          </a:p>
        </p:txBody>
      </p:sp>
    </p:spTree>
    <p:extLst>
      <p:ext uri="{BB962C8B-B14F-4D97-AF65-F5344CB8AC3E}">
        <p14:creationId xmlns:p14="http://schemas.microsoft.com/office/powerpoint/2010/main" val="3644787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algn="l"/>
            <a:endParaRPr lang="en-US" b="0" i="0"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2938452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dirty="0">
                <a:solidFill>
                  <a:srgbClr val="FF3300"/>
                </a:solidFill>
              </a:rPr>
              <a:t>Specify n, basic operation, cases, and C(n) which may be approximate</a:t>
            </a:r>
            <a:endParaRPr lang="en-US" dirty="0"/>
          </a:p>
        </p:txBody>
      </p:sp>
    </p:spTree>
    <p:extLst>
      <p:ext uri="{BB962C8B-B14F-4D97-AF65-F5344CB8AC3E}">
        <p14:creationId xmlns:p14="http://schemas.microsoft.com/office/powerpoint/2010/main" val="897167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2, 4</a:t>
            </a:r>
          </a:p>
        </p:txBody>
      </p:sp>
    </p:spTree>
    <p:extLst>
      <p:ext uri="{BB962C8B-B14F-4D97-AF65-F5344CB8AC3E}">
        <p14:creationId xmlns:p14="http://schemas.microsoft.com/office/powerpoint/2010/main" val="3246049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2, 4</a:t>
            </a:r>
          </a:p>
        </p:txBody>
      </p:sp>
    </p:spTree>
    <p:extLst>
      <p:ext uri="{BB962C8B-B14F-4D97-AF65-F5344CB8AC3E}">
        <p14:creationId xmlns:p14="http://schemas.microsoft.com/office/powerpoint/2010/main" val="1889470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78271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Start at n</a:t>
            </a:r>
            <a:r>
              <a:rPr lang="en-US" baseline="-25000" dirty="0"/>
              <a:t>0 </a:t>
            </a:r>
            <a:r>
              <a:rPr lang="en-US" dirty="0"/>
              <a:t>since </a:t>
            </a:r>
            <a:r>
              <a:rPr lang="en-US" sz="1200" dirty="0"/>
              <a:t>f</a:t>
            </a:r>
            <a:r>
              <a:rPr lang="en-US" altLang="en-US" sz="1200" dirty="0"/>
              <a:t>or small values of n, the order of growth does not really matter</a:t>
            </a:r>
          </a:p>
          <a:p>
            <a:r>
              <a:rPr lang="en-US" dirty="0"/>
              <a:t>Ignore any constant factor when considering g(n) since computing the ratio of two points along the function would cancel the constant factor</a:t>
            </a:r>
            <a:endParaRPr lang="en-US" altLang="en-US" sz="1200" dirty="0"/>
          </a:p>
        </p:txBody>
      </p:sp>
    </p:spTree>
    <p:extLst>
      <p:ext uri="{BB962C8B-B14F-4D97-AF65-F5344CB8AC3E}">
        <p14:creationId xmlns:p14="http://schemas.microsoft.com/office/powerpoint/2010/main" val="2667633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Symbol" panose="05050102010706020507" pitchFamily="18" charset="2"/>
              <a:buChar char="Î"/>
            </a:pPr>
            <a:r>
              <a:rPr lang="en-US" altLang="en-US" sz="1200" b="0" i="0" dirty="0">
                <a:sym typeface="Symbol" panose="05050102010706020507" pitchFamily="18" charset="2"/>
              </a:rPr>
              <a:t>means </a:t>
            </a:r>
            <a:r>
              <a:rPr lang="en-US" dirty="0"/>
              <a:t>belongs to</a:t>
            </a:r>
          </a:p>
        </p:txBody>
      </p:sp>
    </p:spTree>
    <p:extLst>
      <p:ext uri="{BB962C8B-B14F-4D97-AF65-F5344CB8AC3E}">
        <p14:creationId xmlns:p14="http://schemas.microsoft.com/office/powerpoint/2010/main" val="1335730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98828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151300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15527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5944373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145241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Tree>
    <p:extLst>
      <p:ext uri="{BB962C8B-B14F-4D97-AF65-F5344CB8AC3E}">
        <p14:creationId xmlns:p14="http://schemas.microsoft.com/office/powerpoint/2010/main" val="1233948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877990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8973623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0956667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Remember that Theta implies Big O and Omega</a:t>
            </a:r>
          </a:p>
          <a:p>
            <a:endParaRPr lang="en-US" dirty="0"/>
          </a:p>
        </p:txBody>
      </p:sp>
    </p:spTree>
    <p:extLst>
      <p:ext uri="{BB962C8B-B14F-4D97-AF65-F5344CB8AC3E}">
        <p14:creationId xmlns:p14="http://schemas.microsoft.com/office/powerpoint/2010/main" val="15918343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0136691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3177472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a:bodyPr>
              <a:lstStyle/>
              <a:p>
                <a:r>
                  <a:rPr lang="en-US" altLang="en-US" sz="1200" dirty="0">
                    <a:sym typeface="Symbol" panose="05050102010706020507" pitchFamily="18" charset="2"/>
                  </a:rPr>
                  <a:t></a:t>
                </a:r>
                <a:r>
                  <a:rPr lang="en-US" sz="1200" b="0" dirty="0">
                    <a:ea typeface="Cambria Math" panose="02040503050406030204" pitchFamily="18" charset="0"/>
                  </a:rPr>
                  <a:t> O</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𝑛</m:t>
                        </m:r>
                      </m:e>
                      <m:sup>
                        <m:r>
                          <a:rPr lang="en-US" sz="1200" b="0" i="1" smtClean="0">
                            <a:latin typeface="Cambria Math" panose="02040503050406030204" pitchFamily="18" charset="0"/>
                            <a:ea typeface="Cambria Math" panose="02040503050406030204" pitchFamily="18" charset="0"/>
                          </a:rPr>
                          <m:t>2</m:t>
                        </m:r>
                      </m:sup>
                    </m:sSup>
                  </m:oMath>
                </a14:m>
                <a:r>
                  <a:rPr lang="en-US" sz="1200" dirty="0"/>
                  <a:t>) </a:t>
                </a:r>
                <a:r>
                  <a:rPr lang="en-US" sz="1200"/>
                  <a:t>in general</a:t>
                </a:r>
                <a:endParaRPr lang="en-US" dirty="0"/>
              </a:p>
            </p:txBody>
          </p:sp>
        </mc:Choice>
        <mc:Fallback xmlns="">
          <p:sp>
            <p:nvSpPr>
              <p:cNvPr id="2" name="Notes Placeholder"/>
              <p:cNvSpPr>
                <a:spLocks noGrp="1"/>
              </p:cNvSpPr>
              <p:nvPr>
                <p:ph type="body" idx="1"/>
              </p:nvPr>
            </p:nvSpPr>
            <p:spPr/>
            <p:txBody>
              <a:bodyPr>
                <a:normAutofit/>
              </a:bodyPr>
              <a:lstStyle/>
              <a:p>
                <a:r>
                  <a:rPr lang="en-US" altLang="en-US" sz="1200" dirty="0">
                    <a:sym typeface="Symbol" panose="05050102010706020507" pitchFamily="18" charset="2"/>
                  </a:rPr>
                  <a:t></a:t>
                </a:r>
                <a:r>
                  <a:rPr lang="en-US" sz="1200" b="0" dirty="0">
                    <a:ea typeface="Cambria Math" panose="02040503050406030204" pitchFamily="18" charset="0"/>
                  </a:rPr>
                  <a:t> O</a:t>
                </a:r>
                <a:r>
                  <a:rPr lang="en-US" sz="1200" b="0" i="0">
                    <a:latin typeface="Cambria Math" panose="02040503050406030204" pitchFamily="18" charset="0"/>
                    <a:ea typeface="Cambria Math" panose="02040503050406030204" pitchFamily="18" charset="0"/>
                  </a:rPr>
                  <a:t>(𝑛^2</a:t>
                </a:r>
                <a:r>
                  <a:rPr lang="en-US" sz="1200" dirty="0"/>
                  <a:t>) </a:t>
                </a:r>
                <a:r>
                  <a:rPr lang="en-US" sz="1200"/>
                  <a:t>in general</a:t>
                </a:r>
                <a:endParaRPr lang="en-US" dirty="0"/>
              </a:p>
            </p:txBody>
          </p:sp>
        </mc:Fallback>
      </mc:AlternateContent>
    </p:spTree>
    <p:extLst>
      <p:ext uri="{BB962C8B-B14F-4D97-AF65-F5344CB8AC3E}">
        <p14:creationId xmlns:p14="http://schemas.microsoft.com/office/powerpoint/2010/main" val="22752056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1611943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Here we look at divisions knowing that the count of the bits is higher by one</a:t>
            </a:r>
          </a:p>
        </p:txBody>
      </p:sp>
    </p:spTree>
    <p:extLst>
      <p:ext uri="{BB962C8B-B14F-4D97-AF65-F5344CB8AC3E}">
        <p14:creationId xmlns:p14="http://schemas.microsoft.com/office/powerpoint/2010/main" val="1008313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574104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2051684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0535521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Here we look at the additions of bits that form the recursion</a:t>
            </a:r>
          </a:p>
        </p:txBody>
      </p:sp>
    </p:spTree>
    <p:extLst>
      <p:ext uri="{BB962C8B-B14F-4D97-AF65-F5344CB8AC3E}">
        <p14:creationId xmlns:p14="http://schemas.microsoft.com/office/powerpoint/2010/main" val="26182279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10"/>
          </p:nvPr>
        </p:nvSpPr>
        <p:spPr/>
        <p:txBody>
          <a:bodyPr/>
          <a:lstStyle/>
          <a:p>
            <a:fld id="{57CD6FDD-16E6-4C20-A343-DD27F81D41F3}" type="slidenum">
              <a:rPr lang="en-US" smtClean="0"/>
              <a:pPr/>
              <a:t>38</a:t>
            </a:fld>
            <a:endParaRPr lang="en-US"/>
          </a:p>
        </p:txBody>
      </p:sp>
    </p:spTree>
    <p:extLst>
      <p:ext uri="{BB962C8B-B14F-4D97-AF65-F5344CB8AC3E}">
        <p14:creationId xmlns:p14="http://schemas.microsoft.com/office/powerpoint/2010/main" val="35749930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4689849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0702845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9340001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1793958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807687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914400" y="2130427"/>
            <a:ext cx="10363200" cy="1470025"/>
          </a:xfrm>
        </p:spPr>
        <p:txBody>
          <a:bodyPr/>
          <a:lstStyle>
            <a:lvl1pPr>
              <a:defRPr sz="4000" b="0">
                <a:effectLst/>
              </a:defRPr>
            </a:lvl1pPr>
          </a:lstStyle>
          <a:p>
            <a:r>
              <a:rPr lang="en-US"/>
              <a:t>Click to edit Master title style</a:t>
            </a:r>
            <a:endParaRPr lang="en-US" dirty="0"/>
          </a:p>
        </p:txBody>
      </p:sp>
      <p:sp>
        <p:nvSpPr>
          <p:cNvPr id="4099"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r>
              <a:rPr lang="en-US"/>
              <a:t>Click to edit Master subtitle style</a:t>
            </a:r>
          </a:p>
        </p:txBody>
      </p:sp>
    </p:spTree>
    <p:extLst>
      <p:ext uri="{BB962C8B-B14F-4D97-AF65-F5344CB8AC3E}">
        <p14:creationId xmlns:p14="http://schemas.microsoft.com/office/powerpoint/2010/main" val="3975513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19200"/>
          </a:xfrm>
        </p:spPr>
        <p:txBody>
          <a:bodyPr/>
          <a:lstStyle>
            <a:lvl1pPr>
              <a:defRPr sz="3600" b="0">
                <a:effectLst/>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5262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906348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
        <p:nvSpPr>
          <p:cNvPr id="3" name="Content Placeholder 2"/>
          <p:cNvSpPr>
            <a:spLocks noGrp="1"/>
          </p:cNvSpPr>
          <p:nvPr>
            <p:ph sz="half" idx="1"/>
          </p:nvPr>
        </p:nvSpPr>
        <p:spPr>
          <a:xfrm>
            <a:off x="609600" y="1981202"/>
            <a:ext cx="5384800" cy="3916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2"/>
            <a:ext cx="5384800" cy="3916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92543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8265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Tree>
    <p:extLst>
      <p:ext uri="{BB962C8B-B14F-4D97-AF65-F5344CB8AC3E}">
        <p14:creationId xmlns:p14="http://schemas.microsoft.com/office/powerpoint/2010/main" val="421199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960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2"/>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57856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78357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679612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90602"/>
            <a:ext cx="2743200" cy="4906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90602"/>
            <a:ext cx="8026400" cy="4906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341620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990600"/>
            <a:ext cx="10972800" cy="990600"/>
          </a:xfrm>
        </p:spPr>
        <p:txBody>
          <a:bodyPr/>
          <a:lstStyle/>
          <a:p>
            <a:r>
              <a:rPr lang="en-US"/>
              <a:t>Click to edit Master title style</a:t>
            </a:r>
          </a:p>
        </p:txBody>
      </p:sp>
      <p:sp>
        <p:nvSpPr>
          <p:cNvPr id="3" name="Content Placeholder 2"/>
          <p:cNvSpPr>
            <a:spLocks noGrp="1"/>
          </p:cNvSpPr>
          <p:nvPr>
            <p:ph sz="half" idx="1"/>
          </p:nvPr>
        </p:nvSpPr>
        <p:spPr>
          <a:xfrm>
            <a:off x="609600" y="1981202"/>
            <a:ext cx="5384800"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1"/>
            <a:ext cx="5384800" cy="188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014790"/>
            <a:ext cx="5384800" cy="188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049825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609600" y="990600"/>
            <a:ext cx="10972800" cy="990600"/>
          </a:xfrm>
        </p:spPr>
        <p:txBody>
          <a:bodyPr/>
          <a:lstStyle/>
          <a:p>
            <a:r>
              <a:rPr lang="en-US"/>
              <a:t>Click to edit Master title style</a:t>
            </a:r>
          </a:p>
        </p:txBody>
      </p:sp>
      <p:sp>
        <p:nvSpPr>
          <p:cNvPr id="3" name="Text Placeholder 2"/>
          <p:cNvSpPr>
            <a:spLocks noGrp="1"/>
          </p:cNvSpPr>
          <p:nvPr>
            <p:ph type="body" sz="half" idx="1"/>
          </p:nvPr>
        </p:nvSpPr>
        <p:spPr>
          <a:xfrm>
            <a:off x="609600" y="1981202"/>
            <a:ext cx="5384800"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edia Placeholder 3"/>
          <p:cNvSpPr>
            <a:spLocks noGrp="1"/>
          </p:cNvSpPr>
          <p:nvPr>
            <p:ph type="media" sz="half" idx="2"/>
          </p:nvPr>
        </p:nvSpPr>
        <p:spPr>
          <a:xfrm>
            <a:off x="6197600" y="1981202"/>
            <a:ext cx="5384800" cy="3916363"/>
          </a:xfrm>
        </p:spPr>
        <p:txBody>
          <a:bodyPr/>
          <a:lstStyle/>
          <a:p>
            <a:pPr lvl="0"/>
            <a:r>
              <a:rPr lang="en-US" noProof="0"/>
              <a:t>Click icon to add media</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505961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990602"/>
            <a:ext cx="10972800" cy="490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8866595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A585E1-CF01-406D-858C-101913AACD92}" type="slidenum">
              <a:rPr lang="en-US" altLang="en-US"/>
              <a:pPr>
                <a:defRPr/>
              </a:pPr>
              <a:t>‹#›</a:t>
            </a:fld>
            <a:endParaRPr lang="en-US" altLang="en-US"/>
          </a:p>
        </p:txBody>
      </p:sp>
    </p:spTree>
    <p:extLst>
      <p:ext uri="{BB962C8B-B14F-4D97-AF65-F5344CB8AC3E}">
        <p14:creationId xmlns:p14="http://schemas.microsoft.com/office/powerpoint/2010/main" val="3182728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A7BED28-CF36-4AE1-B3BC-441DDA300B8C}" type="slidenum">
              <a:rPr lang="en-US" altLang="en-US"/>
              <a:pPr>
                <a:defRPr/>
              </a:pPr>
              <a:t>‹#›</a:t>
            </a:fld>
            <a:endParaRPr lang="en-US" altLang="en-US"/>
          </a:p>
        </p:txBody>
      </p:sp>
    </p:spTree>
    <p:extLst>
      <p:ext uri="{BB962C8B-B14F-4D97-AF65-F5344CB8AC3E}">
        <p14:creationId xmlns:p14="http://schemas.microsoft.com/office/powerpoint/2010/main" val="2298390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A7AB5C3-E46F-47EA-B2C7-0537058F2BAD}" type="slidenum">
              <a:rPr lang="en-US" altLang="en-US"/>
              <a:pPr>
                <a:defRPr/>
              </a:pPr>
              <a:t>‹#›</a:t>
            </a:fld>
            <a:endParaRPr lang="en-US" altLang="en-US"/>
          </a:p>
        </p:txBody>
      </p:sp>
    </p:spTree>
    <p:extLst>
      <p:ext uri="{BB962C8B-B14F-4D97-AF65-F5344CB8AC3E}">
        <p14:creationId xmlns:p14="http://schemas.microsoft.com/office/powerpoint/2010/main" val="31015900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2B11607-FEDE-4B3C-B093-8F69E31FE090}" type="slidenum">
              <a:rPr lang="en-US" altLang="en-US"/>
              <a:pPr>
                <a:defRPr/>
              </a:pPr>
              <a:t>‹#›</a:t>
            </a:fld>
            <a:endParaRPr lang="en-US" altLang="en-US"/>
          </a:p>
        </p:txBody>
      </p:sp>
    </p:spTree>
    <p:extLst>
      <p:ext uri="{BB962C8B-B14F-4D97-AF65-F5344CB8AC3E}">
        <p14:creationId xmlns:p14="http://schemas.microsoft.com/office/powerpoint/2010/main" val="255359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3A3879A-5510-441C-AF5A-BB7EDDA5696E}" type="slidenum">
              <a:rPr lang="en-US" altLang="en-US"/>
              <a:pPr>
                <a:defRPr/>
              </a:pPr>
              <a:t>‹#›</a:t>
            </a:fld>
            <a:endParaRPr lang="en-US" altLang="en-US"/>
          </a:p>
        </p:txBody>
      </p:sp>
    </p:spTree>
    <p:extLst>
      <p:ext uri="{BB962C8B-B14F-4D97-AF65-F5344CB8AC3E}">
        <p14:creationId xmlns:p14="http://schemas.microsoft.com/office/powerpoint/2010/main" val="40730370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40A0A3C-4E93-4AE8-9691-5880DE951956}" type="slidenum">
              <a:rPr lang="en-US" altLang="en-US"/>
              <a:pPr>
                <a:defRPr/>
              </a:pPr>
              <a:t>‹#›</a:t>
            </a:fld>
            <a:endParaRPr lang="en-US" altLang="en-US"/>
          </a:p>
        </p:txBody>
      </p:sp>
    </p:spTree>
    <p:extLst>
      <p:ext uri="{BB962C8B-B14F-4D97-AF65-F5344CB8AC3E}">
        <p14:creationId xmlns:p14="http://schemas.microsoft.com/office/powerpoint/2010/main" val="2266478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19190B27-A95E-4E85-A968-48FC38C18BEA}" type="slidenum">
              <a:rPr lang="en-US" altLang="en-US"/>
              <a:pPr>
                <a:defRPr/>
              </a:pPr>
              <a:t>‹#›</a:t>
            </a:fld>
            <a:endParaRPr lang="en-US" altLang="en-US"/>
          </a:p>
        </p:txBody>
      </p:sp>
    </p:spTree>
    <p:extLst>
      <p:ext uri="{BB962C8B-B14F-4D97-AF65-F5344CB8AC3E}">
        <p14:creationId xmlns:p14="http://schemas.microsoft.com/office/powerpoint/2010/main" val="4039624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65B2C8D-9373-4A5C-966D-3D5A3E53D1AD}" type="slidenum">
              <a:rPr lang="en-US" altLang="en-US"/>
              <a:pPr>
                <a:defRPr/>
              </a:pPr>
              <a:t>‹#›</a:t>
            </a:fld>
            <a:endParaRPr lang="en-US" altLang="en-US"/>
          </a:p>
        </p:txBody>
      </p:sp>
    </p:spTree>
    <p:extLst>
      <p:ext uri="{BB962C8B-B14F-4D97-AF65-F5344CB8AC3E}">
        <p14:creationId xmlns:p14="http://schemas.microsoft.com/office/powerpoint/2010/main" val="7759022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25217E3-9142-477F-B01F-5956A03AE788}" type="slidenum">
              <a:rPr lang="en-US" altLang="en-US"/>
              <a:pPr>
                <a:defRPr/>
              </a:pPr>
              <a:t>‹#›</a:t>
            </a:fld>
            <a:endParaRPr lang="en-US" altLang="en-US"/>
          </a:p>
        </p:txBody>
      </p:sp>
    </p:spTree>
    <p:extLst>
      <p:ext uri="{BB962C8B-B14F-4D97-AF65-F5344CB8AC3E}">
        <p14:creationId xmlns:p14="http://schemas.microsoft.com/office/powerpoint/2010/main" val="2398520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82FD06C-BD9A-4128-BB6C-2F9A3DB4FAFE}" type="slidenum">
              <a:rPr lang="en-US" altLang="en-US"/>
              <a:pPr>
                <a:defRPr/>
              </a:pPr>
              <a:t>‹#›</a:t>
            </a:fld>
            <a:endParaRPr lang="en-US" altLang="en-US"/>
          </a:p>
        </p:txBody>
      </p:sp>
    </p:spTree>
    <p:extLst>
      <p:ext uri="{BB962C8B-B14F-4D97-AF65-F5344CB8AC3E}">
        <p14:creationId xmlns:p14="http://schemas.microsoft.com/office/powerpoint/2010/main" val="21243557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FAFB62-30DA-4A3E-98AA-4C489BA2EE23}" type="slidenum">
              <a:rPr lang="en-US" altLang="en-US"/>
              <a:pPr>
                <a:defRPr/>
              </a:pPr>
              <a:t>‹#›</a:t>
            </a:fld>
            <a:endParaRPr lang="en-US" altLang="en-US"/>
          </a:p>
        </p:txBody>
      </p:sp>
    </p:spTree>
    <p:extLst>
      <p:ext uri="{BB962C8B-B14F-4D97-AF65-F5344CB8AC3E}">
        <p14:creationId xmlns:p14="http://schemas.microsoft.com/office/powerpoint/2010/main" val="4036583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t="-1000" b="-1000"/>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609600" y="1295400"/>
            <a:ext cx="10972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2"/>
          <p:cNvSpPr>
            <a:spLocks noGrp="1" noChangeArrowheads="1"/>
          </p:cNvSpPr>
          <p:nvPr>
            <p:ph type="title"/>
          </p:nvPr>
        </p:nvSpPr>
        <p:spPr bwMode="auto">
          <a:xfrm>
            <a:off x="0" y="-28575"/>
            <a:ext cx="12192000" cy="9906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Tree>
  </p:cSld>
  <p:clrMap bg1="lt1" tx1="dk1" bg2="lt2" tx2="dk2" accent1="accent1" accent2="accent2" accent3="accent3" accent4="accent4" accent5="accent5" accent6="accent6" hlink="hlink" folHlink="folHlink"/>
  <p:sldLayoutIdLst>
    <p:sldLayoutId id="2147484392" r:id="rId1"/>
    <p:sldLayoutId id="2147484393" r:id="rId2"/>
    <p:sldLayoutId id="2147484373" r:id="rId3"/>
    <p:sldLayoutId id="2147484374" r:id="rId4"/>
    <p:sldLayoutId id="2147484394" r:id="rId5"/>
    <p:sldLayoutId id="2147484395" r:id="rId6"/>
    <p:sldLayoutId id="2147484396" r:id="rId7"/>
    <p:sldLayoutId id="2147484397" r:id="rId8"/>
    <p:sldLayoutId id="2147484375" r:id="rId9"/>
    <p:sldLayoutId id="2147484376" r:id="rId10"/>
    <p:sldLayoutId id="2147484377" r:id="rId11"/>
    <p:sldLayoutId id="2147484378" r:id="rId12"/>
    <p:sldLayoutId id="2147484379" r:id="rId13"/>
    <p:sldLayoutId id="2147484380" r:id="rId14"/>
  </p:sldLayoutIdLst>
  <p:hf hdr="0" ftr="0" dt="0"/>
  <p:txStyles>
    <p:titleStyle>
      <a:lvl1pPr algn="ctr" rtl="0" eaLnBrk="1" fontAlgn="base" hangingPunct="1">
        <a:spcBef>
          <a:spcPct val="0"/>
        </a:spcBef>
        <a:spcAft>
          <a:spcPct val="0"/>
        </a:spcAft>
        <a:defRPr sz="3600">
          <a:solidFill>
            <a:schemeClr val="tx1"/>
          </a:solidFill>
          <a:latin typeface="+mj-lt"/>
          <a:ea typeface="ＭＳ Ｐゴシック" charset="0"/>
          <a:cs typeface="+mj-cs"/>
        </a:defRPr>
      </a:lvl1pPr>
      <a:lvl2pPr algn="ctr" rtl="0" eaLnBrk="1" fontAlgn="base" hangingPunct="1">
        <a:spcBef>
          <a:spcPct val="0"/>
        </a:spcBef>
        <a:spcAft>
          <a:spcPct val="0"/>
        </a:spcAft>
        <a:defRPr sz="3600">
          <a:solidFill>
            <a:schemeClr val="tx1"/>
          </a:solidFill>
          <a:latin typeface="Arial" pitchFamily="34" charset="0"/>
          <a:ea typeface="ＭＳ Ｐゴシック" charset="0"/>
        </a:defRPr>
      </a:lvl2pPr>
      <a:lvl3pPr algn="ctr" rtl="0" eaLnBrk="1" fontAlgn="base" hangingPunct="1">
        <a:spcBef>
          <a:spcPct val="0"/>
        </a:spcBef>
        <a:spcAft>
          <a:spcPct val="0"/>
        </a:spcAft>
        <a:defRPr sz="3600">
          <a:solidFill>
            <a:schemeClr val="tx1"/>
          </a:solidFill>
          <a:latin typeface="Arial" pitchFamily="34" charset="0"/>
          <a:ea typeface="ＭＳ Ｐゴシック" charset="0"/>
        </a:defRPr>
      </a:lvl3pPr>
      <a:lvl4pPr algn="ctr" rtl="0" eaLnBrk="1" fontAlgn="base" hangingPunct="1">
        <a:spcBef>
          <a:spcPct val="0"/>
        </a:spcBef>
        <a:spcAft>
          <a:spcPct val="0"/>
        </a:spcAft>
        <a:defRPr sz="3600">
          <a:solidFill>
            <a:schemeClr val="tx1"/>
          </a:solidFill>
          <a:latin typeface="Arial" pitchFamily="34" charset="0"/>
          <a:ea typeface="ＭＳ Ｐゴシック" charset="0"/>
        </a:defRPr>
      </a:lvl4pPr>
      <a:lvl5pPr algn="ctr" rtl="0" eaLnBrk="1" fontAlgn="base" hangingPunct="1">
        <a:spcBef>
          <a:spcPct val="0"/>
        </a:spcBef>
        <a:spcAft>
          <a:spcPct val="0"/>
        </a:spcAft>
        <a:defRPr sz="3600">
          <a:solidFill>
            <a:schemeClr val="tx1"/>
          </a:solidFill>
          <a:latin typeface="Arial" pitchFamily="34" charset="0"/>
          <a:ea typeface="ＭＳ Ｐゴシック" charset="0"/>
        </a:defRPr>
      </a:lvl5pPr>
      <a:lvl6pPr marL="457200" algn="l" rtl="0" eaLnBrk="1" fontAlgn="base" hangingPunct="1">
        <a:spcBef>
          <a:spcPct val="0"/>
        </a:spcBef>
        <a:spcAft>
          <a:spcPct val="0"/>
        </a:spcAft>
        <a:defRPr sz="4400">
          <a:solidFill>
            <a:schemeClr val="tx2"/>
          </a:solidFill>
          <a:latin typeface="Arial" pitchFamily="34" charset="0"/>
        </a:defRPr>
      </a:lvl6pPr>
      <a:lvl7pPr marL="914400" algn="l" rtl="0" eaLnBrk="1" fontAlgn="base" hangingPunct="1">
        <a:spcBef>
          <a:spcPct val="0"/>
        </a:spcBef>
        <a:spcAft>
          <a:spcPct val="0"/>
        </a:spcAft>
        <a:defRPr sz="4400">
          <a:solidFill>
            <a:schemeClr val="tx2"/>
          </a:solidFill>
          <a:latin typeface="Arial" pitchFamily="34" charset="0"/>
        </a:defRPr>
      </a:lvl7pPr>
      <a:lvl8pPr marL="1371600" algn="l" rtl="0" eaLnBrk="1" fontAlgn="base" hangingPunct="1">
        <a:spcBef>
          <a:spcPct val="0"/>
        </a:spcBef>
        <a:spcAft>
          <a:spcPct val="0"/>
        </a:spcAft>
        <a:defRPr sz="4400">
          <a:solidFill>
            <a:schemeClr val="tx2"/>
          </a:solidFill>
          <a:latin typeface="Arial" pitchFamily="34" charset="0"/>
        </a:defRPr>
      </a:lvl8pPr>
      <a:lvl9pPr marL="1828800" algn="l" rtl="0" eaLnBrk="1" fontAlgn="base" hangingPunct="1">
        <a:spcBef>
          <a:spcPct val="0"/>
        </a:spcBef>
        <a:spcAft>
          <a:spcPct val="0"/>
        </a:spcAft>
        <a:defRPr sz="4400">
          <a:solidFill>
            <a:schemeClr val="tx2"/>
          </a:solidFill>
          <a:latin typeface="Arial" pitchFamily="34" charset="0"/>
        </a:defRPr>
      </a:lvl9pPr>
    </p:titleStyle>
    <p:bodyStyle>
      <a:lvl1pPr marL="342900" indent="-342900" algn="l" rtl="0" eaLnBrk="1" fontAlgn="base" hangingPunct="1">
        <a:spcBef>
          <a:spcPct val="20000"/>
        </a:spcBef>
        <a:spcAft>
          <a:spcPct val="0"/>
        </a:spcAft>
        <a:buSzPct val="75000"/>
        <a:buBlip>
          <a:blip r:embed="rId17"/>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18"/>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19"/>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000" b="-1000"/>
          </a:stretch>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pitchFamily="34" charset="0"/>
              </a:defRPr>
            </a:lvl1pPr>
          </a:lstStyle>
          <a:p>
            <a:pPr>
              <a:defRPr/>
            </a:pPr>
            <a:endParaRPr lang="en-US" alt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ea typeface="+mn-ea"/>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Arial" pitchFamily="34" charset="0"/>
              </a:defRPr>
            </a:lvl1pPr>
          </a:lstStyle>
          <a:p>
            <a:pPr>
              <a:defRPr/>
            </a:pPr>
            <a:fld id="{0BFDEB6E-1DDE-4718-956D-E92CB94A556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hf hdr="0" ft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www.lib.virginia.edu/science/parshall/khwariz.html"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w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oleObject" Target="../embeddings/oleObject1.bin"/><Relationship Id="rId11" Type="http://schemas.microsoft.com/office/2007/relationships/hdphoto" Target="../media/hdphoto2.wdp"/><Relationship Id="rId5" Type="http://schemas.openxmlformats.org/officeDocument/2006/relationships/image" Target="../media/image4.png"/><Relationship Id="rId10" Type="http://schemas.openxmlformats.org/officeDocument/2006/relationships/image" Target="../media/image14.png"/><Relationship Id="rId4" Type="http://schemas.openxmlformats.org/officeDocument/2006/relationships/image" Target="../media/image3.png"/><Relationship Id="rId9"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50.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png"/><Relationship Id="rId7" Type="http://schemas.openxmlformats.org/officeDocument/2006/relationships/image" Target="../media/image31.emf"/><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image" Target="../media/image4.png"/><Relationship Id="rId10" Type="http://schemas.openxmlformats.org/officeDocument/2006/relationships/hyperlink" Target="https://towardsdatascience.com/5-sorting-algorithms-in-python-c7ece9df5dd6" TargetMode="External"/><Relationship Id="rId4" Type="http://schemas.openxmlformats.org/officeDocument/2006/relationships/image" Target="../media/image3.png"/><Relationship Id="rId9" Type="http://schemas.openxmlformats.org/officeDocument/2006/relationships/image" Target="../media/image33.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0000"/>
                </a:solidFill>
              </a:rPr>
              <a:t>Topic 1</a:t>
            </a:r>
          </a:p>
        </p:txBody>
      </p:sp>
      <p:sp>
        <p:nvSpPr>
          <p:cNvPr id="3" name="Subtitle 2"/>
          <p:cNvSpPr>
            <a:spLocks noGrp="1"/>
          </p:cNvSpPr>
          <p:nvPr>
            <p:ph type="subTitle" idx="1"/>
          </p:nvPr>
        </p:nvSpPr>
        <p:spPr/>
        <p:txBody>
          <a:bodyPr/>
          <a:lstStyle/>
          <a:p>
            <a:r>
              <a:rPr lang="en-US" b="1" dirty="0">
                <a:solidFill>
                  <a:srgbClr val="0000CC"/>
                </a:solidFill>
              </a:rPr>
              <a:t>Fundamentals of the Analysis of Algorithm Efficiency</a:t>
            </a:r>
          </a:p>
          <a:p>
            <a:r>
              <a:rPr lang="en-US" b="1" dirty="0">
                <a:solidFill>
                  <a:srgbClr val="00B050"/>
                </a:solidFill>
                <a:latin typeface="Agency FB" panose="020B0503020202020204" pitchFamily="34" charset="0"/>
              </a:rPr>
              <a:t>Prof. Hanan Elazhary</a:t>
            </a:r>
          </a:p>
        </p:txBody>
      </p:sp>
      <p:sp>
        <p:nvSpPr>
          <p:cNvPr id="6" name="TextBox 5">
            <a:extLst>
              <a:ext uri="{FF2B5EF4-FFF2-40B4-BE49-F238E27FC236}">
                <a16:creationId xmlns:a16="http://schemas.microsoft.com/office/drawing/2014/main" id="{7B1DDC7D-9AC9-1A5F-C492-B67EF3D30262}"/>
              </a:ext>
            </a:extLst>
          </p:cNvPr>
          <p:cNvSpPr txBox="1"/>
          <p:nvPr/>
        </p:nvSpPr>
        <p:spPr>
          <a:xfrm>
            <a:off x="2819400" y="6410980"/>
            <a:ext cx="9387840" cy="276999"/>
          </a:xfrm>
          <a:prstGeom prst="rect">
            <a:avLst/>
          </a:prstGeom>
          <a:noFill/>
        </p:spPr>
        <p:txBody>
          <a:bodyPr wrap="square" rtlCol="0">
            <a:spAutoFit/>
          </a:bodyPr>
          <a:lstStyle/>
          <a:p>
            <a:r>
              <a:rPr lang="en-US" sz="1200" b="1" dirty="0"/>
              <a:t>Main source: </a:t>
            </a:r>
            <a:r>
              <a:rPr lang="en-US" sz="1200" dirty="0"/>
              <a:t>A. Levitin, Introduction to the Design and Analysis of Algorithms, 3</a:t>
            </a:r>
            <a:r>
              <a:rPr lang="en-US" sz="1200" baseline="30000" dirty="0"/>
              <a:t>rd</a:t>
            </a:r>
            <a:r>
              <a:rPr lang="en-US" sz="1200" dirty="0"/>
              <a:t> edition</a:t>
            </a:r>
          </a:p>
        </p:txBody>
      </p:sp>
    </p:spTree>
    <p:extLst>
      <p:ext uri="{BB962C8B-B14F-4D97-AF65-F5344CB8AC3E}">
        <p14:creationId xmlns:p14="http://schemas.microsoft.com/office/powerpoint/2010/main" val="3140597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What is an algorithm?</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2044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cs typeface="Arial" charset="0"/>
              </a:rPr>
              <a:t>An </a:t>
            </a:r>
            <a:r>
              <a:rPr lang="en-US" sz="2800" b="1" dirty="0">
                <a:cs typeface="Arial" charset="0"/>
              </a:rPr>
              <a:t>algorithm </a:t>
            </a:r>
            <a:r>
              <a:rPr lang="en-US" sz="2800" dirty="0">
                <a:cs typeface="Arial" charset="0"/>
              </a:rPr>
              <a:t>is a sequence of </a:t>
            </a:r>
            <a:r>
              <a:rPr lang="en-US" sz="2800" u="sng" dirty="0">
                <a:cs typeface="Arial" charset="0"/>
              </a:rPr>
              <a:t>unambiguous</a:t>
            </a:r>
            <a:r>
              <a:rPr lang="en-US" sz="2800" dirty="0">
                <a:cs typeface="Arial" charset="0"/>
              </a:rPr>
              <a:t> instructions for solving a problem, i.e., obtaining the </a:t>
            </a:r>
            <a:r>
              <a:rPr lang="en-US" sz="2800" u="sng" dirty="0">
                <a:cs typeface="Arial" charset="0"/>
              </a:rPr>
              <a:t>required</a:t>
            </a:r>
            <a:r>
              <a:rPr lang="en-US" sz="2800" dirty="0">
                <a:cs typeface="Arial" charset="0"/>
              </a:rPr>
              <a:t> </a:t>
            </a:r>
            <a:r>
              <a:rPr lang="en-US" sz="2800" b="1" dirty="0">
                <a:solidFill>
                  <a:srgbClr val="7030A0"/>
                </a:solidFill>
                <a:cs typeface="Arial" charset="0"/>
              </a:rPr>
              <a:t>output</a:t>
            </a:r>
            <a:r>
              <a:rPr lang="en-US" sz="2800" dirty="0">
                <a:cs typeface="Arial" charset="0"/>
              </a:rPr>
              <a:t> for any </a:t>
            </a:r>
            <a:r>
              <a:rPr lang="en-US" sz="2800" u="sng" dirty="0">
                <a:cs typeface="Arial" charset="0"/>
              </a:rPr>
              <a:t>legitimate</a:t>
            </a:r>
            <a:r>
              <a:rPr lang="en-US" sz="2800" dirty="0">
                <a:cs typeface="Arial" charset="0"/>
              </a:rPr>
              <a:t> </a:t>
            </a:r>
            <a:r>
              <a:rPr lang="en-US" sz="2800" b="1" dirty="0">
                <a:solidFill>
                  <a:srgbClr val="7030A0"/>
                </a:solidFill>
                <a:cs typeface="Arial" charset="0"/>
              </a:rPr>
              <a:t>input</a:t>
            </a:r>
            <a:r>
              <a:rPr lang="en-US" sz="2800" dirty="0">
                <a:cs typeface="Arial" charset="0"/>
              </a:rPr>
              <a:t> in a </a:t>
            </a:r>
            <a:r>
              <a:rPr lang="en-US" sz="2800" u="sng" dirty="0">
                <a:cs typeface="Arial" charset="0"/>
              </a:rPr>
              <a:t>finite</a:t>
            </a:r>
            <a:r>
              <a:rPr lang="en-US" sz="2800" dirty="0">
                <a:cs typeface="Arial" charset="0"/>
              </a:rPr>
              <a:t> amount of </a:t>
            </a:r>
            <a:r>
              <a:rPr lang="en-US" sz="2800" b="1" dirty="0">
                <a:solidFill>
                  <a:srgbClr val="7030A0"/>
                </a:solidFill>
                <a:cs typeface="Arial" charset="0"/>
              </a:rPr>
              <a:t>time</a:t>
            </a:r>
            <a:br>
              <a:rPr lang="en-US" sz="2800" b="1" dirty="0">
                <a:cs typeface="Arial" charset="0"/>
              </a:rPr>
            </a:br>
            <a:endParaRPr lang="en-US" sz="2800" b="1" dirty="0">
              <a:cs typeface="Arial" charset="0"/>
            </a:endParaRPr>
          </a:p>
          <a:p>
            <a:pPr marL="1070814" marR="4611" lvl="2" indent="-207477">
              <a:lnSpc>
                <a:spcPts val="1851"/>
              </a:lnSpc>
              <a:spcBef>
                <a:spcPts val="600"/>
              </a:spcBef>
              <a:buClr>
                <a:srgbClr val="FF9900"/>
              </a:buClr>
              <a:buFont typeface="Tahoma"/>
              <a:buChar char="•"/>
              <a:tabLst>
                <a:tab pos="1070814" algn="l"/>
              </a:tabLst>
            </a:pPr>
            <a:endParaRPr lang="en-US" sz="2100" spc="-9" dirty="0">
              <a:latin typeface="Tahoma"/>
              <a:cs typeface="Tahoma"/>
            </a:endParaRPr>
          </a:p>
        </p:txBody>
      </p:sp>
      <p:sp>
        <p:nvSpPr>
          <p:cNvPr id="2" name="Rectangle 12">
            <a:extLst>
              <a:ext uri="{FF2B5EF4-FFF2-40B4-BE49-F238E27FC236}">
                <a16:creationId xmlns:a16="http://schemas.microsoft.com/office/drawing/2014/main" id="{06E5A196-B618-2F0F-E646-CE7811DCA18F}"/>
              </a:ext>
            </a:extLst>
          </p:cNvPr>
          <p:cNvSpPr>
            <a:spLocks noChangeArrowheads="1"/>
          </p:cNvSpPr>
          <p:nvPr/>
        </p:nvSpPr>
        <p:spPr bwMode="auto">
          <a:xfrm>
            <a:off x="5211762" y="4648200"/>
            <a:ext cx="2743200" cy="762000"/>
          </a:xfrm>
          <a:prstGeom prst="rect">
            <a:avLst/>
          </a:prstGeom>
          <a:solidFill>
            <a:schemeClr val="accent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r>
              <a:rPr kumimoji="0" lang="en-US" altLang="ko-KR">
                <a:solidFill>
                  <a:schemeClr val="tx1"/>
                </a:solidFill>
                <a:ea typeface="굴림" panose="020B0600000101010101" pitchFamily="34" charset="-127"/>
              </a:rPr>
              <a:t>“computer” </a:t>
            </a:r>
          </a:p>
        </p:txBody>
      </p:sp>
      <p:sp>
        <p:nvSpPr>
          <p:cNvPr id="4" name="Line 13">
            <a:extLst>
              <a:ext uri="{FF2B5EF4-FFF2-40B4-BE49-F238E27FC236}">
                <a16:creationId xmlns:a16="http://schemas.microsoft.com/office/drawing/2014/main" id="{C6222A42-018B-E7E8-ED04-06C0126FFFF2}"/>
              </a:ext>
            </a:extLst>
          </p:cNvPr>
          <p:cNvSpPr>
            <a:spLocks noChangeShapeType="1"/>
          </p:cNvSpPr>
          <p:nvPr/>
        </p:nvSpPr>
        <p:spPr bwMode="auto">
          <a:xfrm>
            <a:off x="6507162" y="2971800"/>
            <a:ext cx="0" cy="609600"/>
          </a:xfrm>
          <a:prstGeom prst="line">
            <a:avLst/>
          </a:prstGeom>
          <a:noFill/>
          <a:ln w="28575">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p>
        </p:txBody>
      </p:sp>
      <p:sp>
        <p:nvSpPr>
          <p:cNvPr id="8" name="Line 14">
            <a:extLst>
              <a:ext uri="{FF2B5EF4-FFF2-40B4-BE49-F238E27FC236}">
                <a16:creationId xmlns:a16="http://schemas.microsoft.com/office/drawing/2014/main" id="{EB302214-4118-845F-6818-F3527FA0892C}"/>
              </a:ext>
            </a:extLst>
          </p:cNvPr>
          <p:cNvSpPr>
            <a:spLocks noChangeShapeType="1"/>
          </p:cNvSpPr>
          <p:nvPr/>
        </p:nvSpPr>
        <p:spPr bwMode="auto">
          <a:xfrm>
            <a:off x="6507162" y="4191000"/>
            <a:ext cx="0" cy="457200"/>
          </a:xfrm>
          <a:prstGeom prst="line">
            <a:avLst/>
          </a:prstGeom>
          <a:noFill/>
          <a:ln w="28575">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p>
        </p:txBody>
      </p:sp>
      <p:sp>
        <p:nvSpPr>
          <p:cNvPr id="10" name="Text Box 15">
            <a:extLst>
              <a:ext uri="{FF2B5EF4-FFF2-40B4-BE49-F238E27FC236}">
                <a16:creationId xmlns:a16="http://schemas.microsoft.com/office/drawing/2014/main" id="{602A7C61-845D-6C67-DC3D-D66495BECD6F}"/>
              </a:ext>
            </a:extLst>
          </p:cNvPr>
          <p:cNvSpPr txBox="1">
            <a:spLocks noChangeArrowheads="1"/>
          </p:cNvSpPr>
          <p:nvPr/>
        </p:nvSpPr>
        <p:spPr bwMode="auto">
          <a:xfrm>
            <a:off x="5899150" y="2438400"/>
            <a:ext cx="128428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Tx/>
              <a:buNone/>
            </a:pPr>
            <a:r>
              <a:rPr kumimoji="0" lang="en-US" altLang="ko-KR">
                <a:solidFill>
                  <a:schemeClr val="tx1"/>
                </a:solidFill>
                <a:ea typeface="굴림" panose="020B0600000101010101" pitchFamily="34" charset="-127"/>
              </a:rPr>
              <a:t>problem</a:t>
            </a:r>
          </a:p>
        </p:txBody>
      </p:sp>
      <p:sp>
        <p:nvSpPr>
          <p:cNvPr id="11" name="Text Box 16">
            <a:extLst>
              <a:ext uri="{FF2B5EF4-FFF2-40B4-BE49-F238E27FC236}">
                <a16:creationId xmlns:a16="http://schemas.microsoft.com/office/drawing/2014/main" id="{1F0DCFE7-7520-977C-9A06-EE972022BF53}"/>
              </a:ext>
            </a:extLst>
          </p:cNvPr>
          <p:cNvSpPr txBox="1">
            <a:spLocks noChangeArrowheads="1"/>
          </p:cNvSpPr>
          <p:nvPr/>
        </p:nvSpPr>
        <p:spPr bwMode="auto">
          <a:xfrm>
            <a:off x="5891212" y="3581400"/>
            <a:ext cx="14830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Tx/>
              <a:buNone/>
            </a:pPr>
            <a:r>
              <a:rPr kumimoji="0" lang="en-US" altLang="ko-KR">
                <a:solidFill>
                  <a:schemeClr val="tx1"/>
                </a:solidFill>
                <a:ea typeface="굴림" panose="020B0600000101010101" pitchFamily="34" charset="-127"/>
              </a:rPr>
              <a:t>algorithm</a:t>
            </a:r>
          </a:p>
        </p:txBody>
      </p:sp>
      <p:sp>
        <p:nvSpPr>
          <p:cNvPr id="14" name="Text Box 17">
            <a:extLst>
              <a:ext uri="{FF2B5EF4-FFF2-40B4-BE49-F238E27FC236}">
                <a16:creationId xmlns:a16="http://schemas.microsoft.com/office/drawing/2014/main" id="{F98E41F5-9C76-507C-C797-71E993475C13}"/>
              </a:ext>
            </a:extLst>
          </p:cNvPr>
          <p:cNvSpPr txBox="1">
            <a:spLocks noChangeArrowheads="1"/>
          </p:cNvSpPr>
          <p:nvPr/>
        </p:nvSpPr>
        <p:spPr bwMode="auto">
          <a:xfrm>
            <a:off x="2840037" y="4800600"/>
            <a:ext cx="11985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Tx/>
              <a:buNone/>
            </a:pPr>
            <a:r>
              <a:rPr kumimoji="0" lang="en-US" altLang="ko-KR">
                <a:solidFill>
                  <a:schemeClr val="tx1"/>
                </a:solidFill>
                <a:ea typeface="굴림" panose="020B0600000101010101" pitchFamily="34" charset="-127"/>
              </a:rPr>
              <a:t>input</a:t>
            </a:r>
          </a:p>
        </p:txBody>
      </p:sp>
      <p:sp>
        <p:nvSpPr>
          <p:cNvPr id="15" name="Text Box 18">
            <a:extLst>
              <a:ext uri="{FF2B5EF4-FFF2-40B4-BE49-F238E27FC236}">
                <a16:creationId xmlns:a16="http://schemas.microsoft.com/office/drawing/2014/main" id="{91573DA5-E9BD-DB0A-127D-7826AD788C37}"/>
              </a:ext>
            </a:extLst>
          </p:cNvPr>
          <p:cNvSpPr txBox="1">
            <a:spLocks noChangeArrowheads="1"/>
          </p:cNvSpPr>
          <p:nvPr/>
        </p:nvSpPr>
        <p:spPr bwMode="auto">
          <a:xfrm>
            <a:off x="9164637" y="4860925"/>
            <a:ext cx="11985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Tx/>
              <a:buNone/>
            </a:pPr>
            <a:r>
              <a:rPr kumimoji="0" lang="en-US" altLang="ko-KR">
                <a:solidFill>
                  <a:schemeClr val="tx1"/>
                </a:solidFill>
                <a:ea typeface="굴림" panose="020B0600000101010101" pitchFamily="34" charset="-127"/>
              </a:rPr>
              <a:t>output</a:t>
            </a:r>
          </a:p>
        </p:txBody>
      </p:sp>
      <p:sp>
        <p:nvSpPr>
          <p:cNvPr id="17" name="Line 19">
            <a:extLst>
              <a:ext uri="{FF2B5EF4-FFF2-40B4-BE49-F238E27FC236}">
                <a16:creationId xmlns:a16="http://schemas.microsoft.com/office/drawing/2014/main" id="{B54C2508-8D26-041C-AFB9-E0558FC43674}"/>
              </a:ext>
            </a:extLst>
          </p:cNvPr>
          <p:cNvSpPr>
            <a:spLocks noChangeShapeType="1"/>
          </p:cNvSpPr>
          <p:nvPr/>
        </p:nvSpPr>
        <p:spPr bwMode="auto">
          <a:xfrm>
            <a:off x="3983037" y="5105400"/>
            <a:ext cx="1219200" cy="0"/>
          </a:xfrm>
          <a:prstGeom prst="line">
            <a:avLst/>
          </a:prstGeom>
          <a:noFill/>
          <a:ln w="28575">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p>
        </p:txBody>
      </p:sp>
      <p:sp>
        <p:nvSpPr>
          <p:cNvPr id="18" name="Line 20">
            <a:extLst>
              <a:ext uri="{FF2B5EF4-FFF2-40B4-BE49-F238E27FC236}">
                <a16:creationId xmlns:a16="http://schemas.microsoft.com/office/drawing/2014/main" id="{C9E72A48-7035-F305-032D-22C35012FA94}"/>
              </a:ext>
            </a:extLst>
          </p:cNvPr>
          <p:cNvSpPr>
            <a:spLocks noChangeShapeType="1"/>
          </p:cNvSpPr>
          <p:nvPr/>
        </p:nvSpPr>
        <p:spPr bwMode="auto">
          <a:xfrm>
            <a:off x="7945437" y="5105400"/>
            <a:ext cx="1143000" cy="0"/>
          </a:xfrm>
          <a:prstGeom prst="line">
            <a:avLst/>
          </a:prstGeom>
          <a:noFill/>
          <a:ln w="28575">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p>
        </p:txBody>
      </p:sp>
    </p:spTree>
    <p:extLst>
      <p:ext uri="{BB962C8B-B14F-4D97-AF65-F5344CB8AC3E}">
        <p14:creationId xmlns:p14="http://schemas.microsoft.com/office/powerpoint/2010/main" val="740046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What is an algorithm?, Contd.</a:t>
            </a:r>
            <a:endParaRPr sz="40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19200"/>
            <a:ext cx="11430000" cy="272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cs typeface="Arial" charset="0"/>
              </a:rPr>
              <a:t>Properties of an algorithm</a:t>
            </a:r>
          </a:p>
          <a:p>
            <a:pPr lvl="1">
              <a:buClr>
                <a:srgbClr val="FF6600"/>
              </a:buClr>
              <a:tabLst>
                <a:tab pos="465671" algn="l"/>
              </a:tabLst>
            </a:pPr>
            <a:r>
              <a:rPr lang="en-US" sz="2400" dirty="0">
                <a:cs typeface="Arial" charset="0"/>
              </a:rPr>
              <a:t>Representable in various forms</a:t>
            </a:r>
          </a:p>
          <a:p>
            <a:pPr lvl="1">
              <a:buClr>
                <a:srgbClr val="FF6600"/>
              </a:buClr>
              <a:tabLst>
                <a:tab pos="465671" algn="l"/>
              </a:tabLst>
            </a:pPr>
            <a:r>
              <a:rPr lang="en-US" sz="2400" dirty="0">
                <a:cs typeface="Arial" charset="0"/>
              </a:rPr>
              <a:t>Unambiguity/clearness</a:t>
            </a:r>
          </a:p>
          <a:p>
            <a:pPr lvl="1">
              <a:buClr>
                <a:srgbClr val="FF6600"/>
              </a:buClr>
              <a:tabLst>
                <a:tab pos="465671" algn="l"/>
              </a:tabLst>
            </a:pPr>
            <a:r>
              <a:rPr lang="en-US" sz="2400" dirty="0">
                <a:cs typeface="Arial" charset="0"/>
              </a:rPr>
              <a:t>Correctness </a:t>
            </a:r>
          </a:p>
          <a:p>
            <a:pPr lvl="1">
              <a:buClr>
                <a:srgbClr val="FF6600"/>
              </a:buClr>
              <a:tabLst>
                <a:tab pos="465671" algn="l"/>
              </a:tabLst>
            </a:pPr>
            <a:r>
              <a:rPr lang="en-US" sz="2400" dirty="0">
                <a:cs typeface="Arial" charset="0"/>
              </a:rPr>
              <a:t>Finiteness/termination</a:t>
            </a:r>
          </a:p>
          <a:p>
            <a:pPr lvl="1">
              <a:buClr>
                <a:srgbClr val="FF6600"/>
              </a:buClr>
              <a:tabLst>
                <a:tab pos="465671" algn="l"/>
              </a:tabLst>
            </a:pPr>
            <a:r>
              <a:rPr lang="en-US" sz="2400" dirty="0">
                <a:cs typeface="Arial" charset="0"/>
              </a:rPr>
              <a:t>Effectiveness</a:t>
            </a:r>
          </a:p>
        </p:txBody>
      </p:sp>
    </p:spTree>
    <p:extLst>
      <p:ext uri="{BB962C8B-B14F-4D97-AF65-F5344CB8AC3E}">
        <p14:creationId xmlns:p14="http://schemas.microsoft.com/office/powerpoint/2010/main" val="4062829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Historical Perspective</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4</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2708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cs typeface="Arial" charset="0"/>
              </a:rPr>
              <a:t>Muhammad ibn Musa al-Khwarizmi – 9</a:t>
            </a:r>
            <a:r>
              <a:rPr lang="en-US" sz="2800" baseline="30000" dirty="0">
                <a:cs typeface="Arial" charset="0"/>
              </a:rPr>
              <a:t>th</a:t>
            </a:r>
            <a:r>
              <a:rPr lang="en-US" sz="2800" dirty="0">
                <a:cs typeface="Arial" charset="0"/>
              </a:rPr>
              <a:t> century mathematician </a:t>
            </a:r>
          </a:p>
          <a:p>
            <a:pPr lvl="1">
              <a:buClr>
                <a:srgbClr val="FF6600"/>
              </a:buClr>
              <a:tabLst>
                <a:tab pos="465671" algn="l"/>
              </a:tabLst>
            </a:pPr>
            <a:r>
              <a:rPr lang="en-US" sz="2400" dirty="0">
                <a:cs typeface="Arial" charset="0"/>
                <a:hlinkClick r:id="rId6"/>
              </a:rPr>
              <a:t>www.lib.virginia.edu/science/parshall/khwariz.html</a:t>
            </a:r>
            <a:endParaRPr lang="en-US" sz="2400" dirty="0">
              <a:cs typeface="Arial" charset="0"/>
            </a:endParaRPr>
          </a:p>
          <a:p>
            <a:pPr lvl="1">
              <a:buClr>
                <a:srgbClr val="FF6600"/>
              </a:buClr>
              <a:tabLst>
                <a:tab pos="465671" algn="l"/>
              </a:tabLst>
            </a:pPr>
            <a:r>
              <a:rPr lang="en-US" sz="2400" dirty="0">
                <a:cs typeface="Arial" charset="0"/>
              </a:rPr>
              <a:t>The word ‘algorism’ (originally) and later ‘algorithm’ come from his name</a:t>
            </a:r>
          </a:p>
          <a:p>
            <a:pPr marL="457200" lvl="1" indent="0">
              <a:buClr>
                <a:srgbClr val="FF6600"/>
              </a:buClr>
              <a:buNone/>
              <a:tabLst>
                <a:tab pos="465671" algn="l"/>
              </a:tabLst>
            </a:pPr>
            <a:endParaRPr lang="en-US" sz="2400" dirty="0">
              <a:cs typeface="Arial" charset="0"/>
            </a:endParaRPr>
          </a:p>
          <a:p>
            <a:pPr>
              <a:buClr>
                <a:srgbClr val="FF6600"/>
              </a:buClr>
              <a:tabLst>
                <a:tab pos="465671" algn="l"/>
              </a:tabLst>
            </a:pPr>
            <a:r>
              <a:rPr lang="en-US" sz="2800" dirty="0">
                <a:cs typeface="Arial" charset="0"/>
              </a:rPr>
              <a:t>Euclid’s algorithm for finding the greatest common divisor (of two or </a:t>
            </a:r>
            <a:r>
              <a:rPr lang="en-US" sz="2800">
                <a:cs typeface="Arial" charset="0"/>
              </a:rPr>
              <a:t>more numbers) is </a:t>
            </a:r>
            <a:r>
              <a:rPr lang="en-US" sz="2800" dirty="0">
                <a:cs typeface="Arial" charset="0"/>
              </a:rPr>
              <a:t>good for introducing the notion of an algorithm </a:t>
            </a:r>
          </a:p>
        </p:txBody>
      </p:sp>
    </p:spTree>
    <p:extLst>
      <p:ext uri="{BB962C8B-B14F-4D97-AF65-F5344CB8AC3E}">
        <p14:creationId xmlns:p14="http://schemas.microsoft.com/office/powerpoint/2010/main" val="1707122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C000"/>
                </a:solidFill>
              </a:rPr>
              <a:t>Euclid’s Algorithm</a:t>
            </a:r>
            <a:endParaRPr sz="40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5</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71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cs typeface="Arial" charset="0"/>
              </a:rPr>
              <a:t>Problem</a:t>
            </a:r>
          </a:p>
          <a:p>
            <a:pPr lvl="1">
              <a:buClr>
                <a:srgbClr val="FF6600"/>
              </a:buClr>
              <a:tabLst>
                <a:tab pos="465671" algn="l"/>
              </a:tabLst>
            </a:pPr>
            <a:r>
              <a:rPr lang="en-US" sz="2400" dirty="0">
                <a:cs typeface="Arial" charset="0"/>
              </a:rPr>
              <a:t>Find </a:t>
            </a:r>
            <a:r>
              <a:rPr lang="en-US" sz="2400" dirty="0" err="1">
                <a:cs typeface="Arial" charset="0"/>
              </a:rPr>
              <a:t>gcd</a:t>
            </a:r>
            <a:r>
              <a:rPr lang="en-US" sz="2400" dirty="0">
                <a:cs typeface="Arial" charset="0"/>
              </a:rPr>
              <a:t>(</a:t>
            </a:r>
            <a:r>
              <a:rPr lang="en-US" sz="2400" i="1" dirty="0" err="1">
                <a:cs typeface="Arial" charset="0"/>
              </a:rPr>
              <a:t>m,n</a:t>
            </a:r>
            <a:r>
              <a:rPr lang="en-US" sz="2400" dirty="0">
                <a:cs typeface="Arial" charset="0"/>
              </a:rPr>
              <a:t>), the greatest common divisor of two </a:t>
            </a:r>
            <a:r>
              <a:rPr lang="en-US" sz="2400" b="1" dirty="0">
                <a:solidFill>
                  <a:srgbClr val="7030A0"/>
                </a:solidFill>
                <a:cs typeface="Arial" charset="0"/>
              </a:rPr>
              <a:t>nonnegative</a:t>
            </a:r>
            <a:r>
              <a:rPr lang="en-US" sz="2400" dirty="0">
                <a:cs typeface="Arial" charset="0"/>
              </a:rPr>
              <a:t>, </a:t>
            </a:r>
            <a:r>
              <a:rPr lang="en-US" sz="2400" b="1" dirty="0">
                <a:solidFill>
                  <a:srgbClr val="7030A0"/>
                </a:solidFill>
                <a:cs typeface="Arial" charset="0"/>
              </a:rPr>
              <a:t>not both zero </a:t>
            </a:r>
            <a:r>
              <a:rPr lang="en-US" sz="2400" dirty="0">
                <a:cs typeface="Arial" charset="0"/>
              </a:rPr>
              <a:t>integers </a:t>
            </a:r>
            <a:r>
              <a:rPr lang="en-US" sz="2400" i="1" dirty="0">
                <a:cs typeface="Arial" charset="0"/>
              </a:rPr>
              <a:t>m</a:t>
            </a:r>
            <a:r>
              <a:rPr lang="en-US" sz="2400" dirty="0">
                <a:cs typeface="Arial" charset="0"/>
              </a:rPr>
              <a:t> and </a:t>
            </a:r>
            <a:r>
              <a:rPr lang="en-US" sz="2400" i="1" dirty="0">
                <a:cs typeface="Arial" charset="0"/>
              </a:rPr>
              <a:t>n</a:t>
            </a:r>
          </a:p>
          <a:p>
            <a:pPr lvl="2">
              <a:buClr>
                <a:srgbClr val="FF6600"/>
              </a:buClr>
              <a:tabLst>
                <a:tab pos="465671" algn="l"/>
              </a:tabLst>
            </a:pPr>
            <a:r>
              <a:rPr lang="en-US" sz="2000" dirty="0">
                <a:cs typeface="Arial" charset="0"/>
              </a:rPr>
              <a:t>e.g., </a:t>
            </a:r>
            <a:r>
              <a:rPr lang="en-US" sz="2000" dirty="0" err="1">
                <a:cs typeface="Arial" charset="0"/>
              </a:rPr>
              <a:t>gcd</a:t>
            </a:r>
            <a:r>
              <a:rPr lang="en-US" sz="2000" dirty="0">
                <a:cs typeface="Arial" charset="0"/>
              </a:rPr>
              <a:t>(60,24) = 12 and </a:t>
            </a:r>
            <a:r>
              <a:rPr lang="en-US" sz="2000" dirty="0" err="1">
                <a:cs typeface="Arial" charset="0"/>
              </a:rPr>
              <a:t>gcd</a:t>
            </a:r>
            <a:r>
              <a:rPr lang="en-US" sz="2000" dirty="0">
                <a:cs typeface="Arial" charset="0"/>
              </a:rPr>
              <a:t>(60,0) = 60</a:t>
            </a:r>
          </a:p>
          <a:p>
            <a:pPr>
              <a:buClr>
                <a:srgbClr val="FF6600"/>
              </a:buClr>
              <a:tabLst>
                <a:tab pos="465671" algn="l"/>
              </a:tabLst>
            </a:pPr>
            <a:endParaRPr lang="en-US" sz="2800" dirty="0">
              <a:cs typeface="Arial" charset="0"/>
            </a:endParaRPr>
          </a:p>
          <a:p>
            <a:pPr>
              <a:buClr>
                <a:srgbClr val="FF6600"/>
              </a:buClr>
              <a:tabLst>
                <a:tab pos="465671" algn="l"/>
              </a:tabLst>
            </a:pPr>
            <a:r>
              <a:rPr lang="en-US" sz="2800" dirty="0">
                <a:cs typeface="Arial" charset="0"/>
              </a:rPr>
              <a:t>Euclid’s algorithm is based on repeated application of the equality </a:t>
            </a:r>
          </a:p>
          <a:p>
            <a:pPr lvl="1">
              <a:buClr>
                <a:srgbClr val="FF6600"/>
              </a:buClr>
              <a:tabLst>
                <a:tab pos="465671" algn="l"/>
              </a:tabLst>
            </a:pPr>
            <a:r>
              <a:rPr lang="en-US" sz="2400" dirty="0" err="1">
                <a:cs typeface="Arial" charset="0"/>
              </a:rPr>
              <a:t>gcd</a:t>
            </a:r>
            <a:r>
              <a:rPr lang="en-US" sz="2400" dirty="0">
                <a:cs typeface="Arial" charset="0"/>
              </a:rPr>
              <a:t>(</a:t>
            </a:r>
            <a:r>
              <a:rPr lang="en-US" sz="2400" i="1" dirty="0" err="1">
                <a:cs typeface="Arial" charset="0"/>
              </a:rPr>
              <a:t>m,</a:t>
            </a:r>
            <a:r>
              <a:rPr lang="en-US" sz="2400" b="1" i="1" dirty="0" err="1">
                <a:solidFill>
                  <a:srgbClr val="7030A0"/>
                </a:solidFill>
                <a:cs typeface="Arial" charset="0"/>
              </a:rPr>
              <a:t>n</a:t>
            </a:r>
            <a:r>
              <a:rPr lang="en-US" sz="2400" dirty="0">
                <a:cs typeface="Arial" charset="0"/>
              </a:rPr>
              <a:t>) = </a:t>
            </a:r>
            <a:r>
              <a:rPr lang="en-US" sz="2400" dirty="0" err="1">
                <a:cs typeface="Arial" charset="0"/>
              </a:rPr>
              <a:t>gcd</a:t>
            </a:r>
            <a:r>
              <a:rPr lang="en-US" sz="2400" dirty="0">
                <a:cs typeface="Arial" charset="0"/>
              </a:rPr>
              <a:t>(</a:t>
            </a:r>
            <a:r>
              <a:rPr lang="en-US" sz="2400" b="1" i="1" dirty="0">
                <a:solidFill>
                  <a:srgbClr val="7030A0"/>
                </a:solidFill>
                <a:cs typeface="Arial" charset="0"/>
              </a:rPr>
              <a:t>n</a:t>
            </a:r>
            <a:r>
              <a:rPr lang="en-US" sz="2400" i="1" dirty="0">
                <a:cs typeface="Arial" charset="0"/>
              </a:rPr>
              <a:t>, m </a:t>
            </a:r>
            <a:r>
              <a:rPr lang="en-US" sz="2400" dirty="0">
                <a:cs typeface="Arial" charset="0"/>
              </a:rPr>
              <a:t>mod </a:t>
            </a:r>
            <a:r>
              <a:rPr lang="en-US" sz="2400" i="1" dirty="0">
                <a:cs typeface="Arial" charset="0"/>
              </a:rPr>
              <a:t>n</a:t>
            </a:r>
            <a:r>
              <a:rPr lang="en-US" sz="2400" dirty="0">
                <a:cs typeface="Arial" charset="0"/>
              </a:rPr>
              <a:t>)</a:t>
            </a:r>
          </a:p>
          <a:p>
            <a:pPr>
              <a:buClr>
                <a:srgbClr val="FF6600"/>
              </a:buClr>
              <a:tabLst>
                <a:tab pos="465671" algn="l"/>
              </a:tabLst>
            </a:pPr>
            <a:r>
              <a:rPr lang="en-US" sz="2800" dirty="0">
                <a:cs typeface="Arial" charset="0"/>
              </a:rPr>
              <a:t>until the second number becomes 0, which makes the problem trivial</a:t>
            </a:r>
          </a:p>
          <a:p>
            <a:pPr lvl="1">
              <a:buClr>
                <a:srgbClr val="FF6600"/>
              </a:buClr>
              <a:tabLst>
                <a:tab pos="465671" algn="l"/>
              </a:tabLst>
            </a:pPr>
            <a:r>
              <a:rPr lang="en-US" sz="2400" dirty="0">
                <a:cs typeface="Arial" charset="0"/>
              </a:rPr>
              <a:t>e.g., </a:t>
            </a:r>
            <a:r>
              <a:rPr lang="en-US" sz="2400" dirty="0" err="1">
                <a:cs typeface="Arial" charset="0"/>
              </a:rPr>
              <a:t>gcd</a:t>
            </a:r>
            <a:r>
              <a:rPr lang="en-US" sz="2400" dirty="0">
                <a:cs typeface="Arial" charset="0"/>
              </a:rPr>
              <a:t>(60,</a:t>
            </a:r>
            <a:r>
              <a:rPr lang="en-US" sz="2400" b="1" dirty="0">
                <a:solidFill>
                  <a:srgbClr val="7030A0"/>
                </a:solidFill>
                <a:cs typeface="Arial" charset="0"/>
              </a:rPr>
              <a:t>24</a:t>
            </a:r>
            <a:r>
              <a:rPr lang="en-US" sz="2400" dirty="0">
                <a:cs typeface="Arial" charset="0"/>
              </a:rPr>
              <a:t>) = </a:t>
            </a:r>
            <a:r>
              <a:rPr lang="en-US" sz="2400" dirty="0" err="1">
                <a:cs typeface="Arial" charset="0"/>
              </a:rPr>
              <a:t>gcd</a:t>
            </a:r>
            <a:r>
              <a:rPr lang="en-US" sz="2400" dirty="0">
                <a:cs typeface="Arial" charset="0"/>
              </a:rPr>
              <a:t>(</a:t>
            </a:r>
            <a:r>
              <a:rPr lang="en-US" sz="2400" b="1" dirty="0">
                <a:solidFill>
                  <a:srgbClr val="7030A0"/>
                </a:solidFill>
                <a:cs typeface="Arial" charset="0"/>
              </a:rPr>
              <a:t>24</a:t>
            </a:r>
            <a:r>
              <a:rPr lang="en-US" sz="2400" dirty="0">
                <a:cs typeface="Arial" charset="0"/>
              </a:rPr>
              <a:t>,</a:t>
            </a:r>
            <a:r>
              <a:rPr lang="en-US" sz="2400" b="1" dirty="0">
                <a:solidFill>
                  <a:srgbClr val="00B050"/>
                </a:solidFill>
                <a:cs typeface="Arial" charset="0"/>
              </a:rPr>
              <a:t>12</a:t>
            </a:r>
            <a:r>
              <a:rPr lang="en-US" sz="2400" dirty="0">
                <a:cs typeface="Arial" charset="0"/>
              </a:rPr>
              <a:t>) = </a:t>
            </a:r>
            <a:r>
              <a:rPr lang="en-US" sz="2400" dirty="0" err="1">
                <a:cs typeface="Arial" charset="0"/>
              </a:rPr>
              <a:t>gcd</a:t>
            </a:r>
            <a:r>
              <a:rPr lang="en-US" sz="2400" dirty="0">
                <a:cs typeface="Arial" charset="0"/>
              </a:rPr>
              <a:t>(</a:t>
            </a:r>
            <a:r>
              <a:rPr lang="en-US" sz="2400" b="1" dirty="0">
                <a:solidFill>
                  <a:srgbClr val="00B050"/>
                </a:solidFill>
                <a:cs typeface="Arial" charset="0"/>
              </a:rPr>
              <a:t>12</a:t>
            </a:r>
            <a:r>
              <a:rPr lang="en-US" sz="2400" dirty="0">
                <a:cs typeface="Arial" charset="0"/>
              </a:rPr>
              <a:t>,0) = 12</a:t>
            </a:r>
          </a:p>
          <a:p>
            <a:pPr>
              <a:buClr>
                <a:srgbClr val="FF6600"/>
              </a:buClr>
              <a:tabLst>
                <a:tab pos="465671" algn="l"/>
              </a:tabLst>
            </a:pPr>
            <a:endParaRPr lang="en-US" sz="2800" dirty="0">
              <a:cs typeface="Arial" charset="0"/>
            </a:endParaRPr>
          </a:p>
        </p:txBody>
      </p:sp>
      <p:sp>
        <p:nvSpPr>
          <p:cNvPr id="2" name="TextBox 5">
            <a:extLst>
              <a:ext uri="{FF2B5EF4-FFF2-40B4-BE49-F238E27FC236}">
                <a16:creationId xmlns:a16="http://schemas.microsoft.com/office/drawing/2014/main" id="{84FDAE28-A0EA-7D27-5A77-52F52AB053F6}"/>
              </a:ext>
            </a:extLst>
          </p:cNvPr>
          <p:cNvSpPr txBox="1">
            <a:spLocks noChangeArrowheads="1"/>
          </p:cNvSpPr>
          <p:nvPr/>
        </p:nvSpPr>
        <p:spPr bwMode="auto">
          <a:xfrm>
            <a:off x="10134600" y="5938837"/>
            <a:ext cx="172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 typeface="Monotype Sorts" pitchFamily="2" charset="2"/>
              <a:buNone/>
            </a:pPr>
            <a:r>
              <a:rPr kumimoji="0" lang="en-US" altLang="ko-KR" b="0" dirty="0" err="1">
                <a:solidFill>
                  <a:srgbClr val="FF6600"/>
                </a:solidFill>
              </a:rPr>
              <a:t>gcd</a:t>
            </a:r>
            <a:r>
              <a:rPr kumimoji="0" lang="en-US" altLang="ko-KR" b="0" dirty="0">
                <a:solidFill>
                  <a:srgbClr val="FF6600"/>
                </a:solidFill>
              </a:rPr>
              <a:t>(0,0) = ? </a:t>
            </a:r>
          </a:p>
        </p:txBody>
      </p:sp>
    </p:spTree>
    <p:extLst>
      <p:ext uri="{BB962C8B-B14F-4D97-AF65-F5344CB8AC3E}">
        <p14:creationId xmlns:p14="http://schemas.microsoft.com/office/powerpoint/2010/main" val="4102304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5A8DE6"/>
                </a:solidFill>
              </a:rPr>
              <a:t>Euclid’s Algorithm, Contd.</a:t>
            </a:r>
            <a:endParaRPr sz="40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6</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62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b="1" dirty="0">
                <a:cs typeface="Arial" charset="0"/>
              </a:rPr>
              <a:t>Two descriptions of Euclid’s algorithm</a:t>
            </a:r>
          </a:p>
          <a:p>
            <a:pPr>
              <a:buFont typeface="Monotype Sorts" pitchFamily="2" charset="2"/>
              <a:buNone/>
              <a:defRPr/>
            </a:pPr>
            <a:endParaRPr lang="en-US" altLang="ko-KR" sz="1200" b="0" dirty="0">
              <a:ea typeface="굴림" panose="020B0600000101010101" pitchFamily="50" charset="-127"/>
            </a:endParaRPr>
          </a:p>
          <a:p>
            <a:pPr lvl="1">
              <a:buNone/>
              <a:defRPr/>
            </a:pPr>
            <a:r>
              <a:rPr lang="en-US" altLang="ko-KR" sz="2400" b="0" dirty="0">
                <a:ea typeface="굴림" panose="020B0600000101010101" pitchFamily="50" charset="-127"/>
              </a:rPr>
              <a:t>Step 1  </a:t>
            </a:r>
            <a:r>
              <a:rPr lang="en-US" altLang="ko-KR" sz="2400" b="1" dirty="0">
                <a:solidFill>
                  <a:srgbClr val="7030A0"/>
                </a:solidFill>
                <a:ea typeface="굴림" panose="020B0600000101010101" pitchFamily="50" charset="-127"/>
              </a:rPr>
              <a:t>If </a:t>
            </a:r>
            <a:r>
              <a:rPr lang="pt-BR" altLang="ko-KR" sz="2400" b="1" i="1" dirty="0">
                <a:solidFill>
                  <a:srgbClr val="7030A0"/>
                </a:solidFill>
                <a:ea typeface="굴림" panose="020B0600000101010101" pitchFamily="50" charset="-127"/>
              </a:rPr>
              <a:t>n</a:t>
            </a:r>
            <a:r>
              <a:rPr lang="pt-BR" altLang="ko-KR" sz="2400" b="1" dirty="0">
                <a:solidFill>
                  <a:srgbClr val="7030A0"/>
                </a:solidFill>
                <a:ea typeface="굴림" panose="020B0600000101010101" pitchFamily="50" charset="-127"/>
              </a:rPr>
              <a:t> = 0</a:t>
            </a:r>
            <a:r>
              <a:rPr lang="pt-BR" altLang="ko-KR" sz="2400" b="0" dirty="0">
                <a:ea typeface="굴림" panose="020B0600000101010101" pitchFamily="50" charset="-127"/>
              </a:rPr>
              <a:t>, return </a:t>
            </a:r>
            <a:r>
              <a:rPr lang="pt-BR" altLang="ko-KR" sz="2400" b="0" i="1" dirty="0">
                <a:ea typeface="굴림" panose="020B0600000101010101" pitchFamily="50" charset="-127"/>
              </a:rPr>
              <a:t>m</a:t>
            </a:r>
            <a:r>
              <a:rPr lang="pt-BR" altLang="ko-KR" sz="2400" b="0" dirty="0">
                <a:ea typeface="굴림" panose="020B0600000101010101" pitchFamily="50" charset="-127"/>
              </a:rPr>
              <a:t> and stop; otherwise go to Step 2.</a:t>
            </a:r>
          </a:p>
          <a:p>
            <a:pPr lvl="1">
              <a:buNone/>
              <a:defRPr/>
            </a:pPr>
            <a:r>
              <a:rPr lang="en-US" altLang="ko-KR" sz="2400" b="0" dirty="0">
                <a:ea typeface="굴림" panose="020B0600000101010101" pitchFamily="50" charset="-127"/>
              </a:rPr>
              <a:t>Step 2 </a:t>
            </a:r>
            <a:r>
              <a:rPr lang="pt-BR" altLang="ko-KR" sz="2400" b="0" dirty="0">
                <a:ea typeface="굴림" panose="020B0600000101010101" pitchFamily="50" charset="-127"/>
              </a:rPr>
              <a:t> Divide </a:t>
            </a:r>
            <a:r>
              <a:rPr lang="pt-BR" altLang="ko-KR" sz="2400" b="0" i="1" dirty="0">
                <a:ea typeface="굴림" panose="020B0600000101010101" pitchFamily="50" charset="-127"/>
              </a:rPr>
              <a:t>m</a:t>
            </a:r>
            <a:r>
              <a:rPr lang="pt-BR" altLang="ko-KR" sz="2400" b="0" dirty="0">
                <a:ea typeface="굴림" panose="020B0600000101010101" pitchFamily="50" charset="-127"/>
              </a:rPr>
              <a:t> by </a:t>
            </a:r>
            <a:r>
              <a:rPr lang="pt-BR" altLang="ko-KR" sz="2400" b="0" i="1" dirty="0">
                <a:ea typeface="굴림" panose="020B0600000101010101" pitchFamily="50" charset="-127"/>
              </a:rPr>
              <a:t>n </a:t>
            </a:r>
            <a:r>
              <a:rPr lang="pt-BR" altLang="ko-KR" sz="2400" b="0" dirty="0">
                <a:ea typeface="굴림" panose="020B0600000101010101" pitchFamily="50" charset="-127"/>
              </a:rPr>
              <a:t>and assign the value of the remainder to</a:t>
            </a:r>
            <a:r>
              <a:rPr lang="pt-BR" altLang="ko-KR" sz="2400" b="0" i="1" dirty="0">
                <a:ea typeface="굴림" panose="020B0600000101010101" pitchFamily="50" charset="-127"/>
              </a:rPr>
              <a:t> r </a:t>
            </a:r>
            <a:r>
              <a:rPr lang="pt-BR" altLang="ko-KR" sz="1800" b="0" i="1" dirty="0">
                <a:ea typeface="굴림" panose="020B0600000101010101" pitchFamily="50" charset="-127"/>
              </a:rPr>
              <a:t>(temporary variable)</a:t>
            </a:r>
            <a:r>
              <a:rPr lang="pt-BR" altLang="ko-KR" sz="2400" b="0" i="1" dirty="0">
                <a:ea typeface="굴림" panose="020B0600000101010101" pitchFamily="50" charset="-127"/>
              </a:rPr>
              <a:t>.</a:t>
            </a:r>
          </a:p>
          <a:p>
            <a:pPr lvl="1">
              <a:buNone/>
              <a:defRPr/>
            </a:pPr>
            <a:r>
              <a:rPr lang="en-US" altLang="ko-KR" sz="2400" b="0" dirty="0">
                <a:ea typeface="굴림" panose="020B0600000101010101" pitchFamily="50" charset="-127"/>
              </a:rPr>
              <a:t>Step 3  Assign the value of </a:t>
            </a:r>
            <a:r>
              <a:rPr lang="en-US" altLang="ko-KR" sz="2400" b="0" i="1" dirty="0">
                <a:ea typeface="굴림" panose="020B0600000101010101" pitchFamily="50" charset="-127"/>
              </a:rPr>
              <a:t>n </a:t>
            </a:r>
            <a:r>
              <a:rPr lang="en-US" altLang="ko-KR" sz="2400" b="0" dirty="0">
                <a:ea typeface="굴림" panose="020B0600000101010101" pitchFamily="50" charset="-127"/>
              </a:rPr>
              <a:t>to </a:t>
            </a:r>
            <a:r>
              <a:rPr lang="en-US" altLang="ko-KR" sz="2400" b="0" i="1" dirty="0">
                <a:ea typeface="굴림" panose="020B0600000101010101" pitchFamily="50" charset="-127"/>
              </a:rPr>
              <a:t>m</a:t>
            </a:r>
            <a:r>
              <a:rPr lang="en-US" altLang="ko-KR" sz="2400" b="0" dirty="0">
                <a:ea typeface="굴림" panose="020B0600000101010101" pitchFamily="50" charset="-127"/>
              </a:rPr>
              <a:t> and the value of </a:t>
            </a:r>
            <a:r>
              <a:rPr lang="en-US" altLang="ko-KR" sz="2400" b="0" i="1" dirty="0">
                <a:ea typeface="굴림" panose="020B0600000101010101" pitchFamily="50" charset="-127"/>
              </a:rPr>
              <a:t>r</a:t>
            </a:r>
            <a:r>
              <a:rPr lang="en-US" altLang="ko-KR" sz="2400" b="0" dirty="0">
                <a:ea typeface="굴림" panose="020B0600000101010101" pitchFamily="50" charset="-127"/>
              </a:rPr>
              <a:t> to </a:t>
            </a:r>
            <a:r>
              <a:rPr lang="en-US" altLang="ko-KR" sz="2400" b="0" i="1" dirty="0">
                <a:ea typeface="굴림" panose="020B0600000101010101" pitchFamily="50" charset="-127"/>
              </a:rPr>
              <a:t>n.  </a:t>
            </a:r>
            <a:r>
              <a:rPr lang="en-US" altLang="ko-KR" sz="2400" b="0" dirty="0">
                <a:ea typeface="굴림" panose="020B0600000101010101" pitchFamily="50" charset="-127"/>
              </a:rPr>
              <a:t>Go to Step 1.</a:t>
            </a:r>
            <a:br>
              <a:rPr lang="en-US" altLang="ko-KR" sz="2400" b="0" dirty="0">
                <a:ea typeface="굴림" panose="020B0600000101010101" pitchFamily="50" charset="-127"/>
              </a:rPr>
            </a:br>
            <a:endParaRPr lang="en-US" altLang="ko-KR" b="0" dirty="0">
              <a:ea typeface="굴림" panose="020B0600000101010101" pitchFamily="50" charset="-127"/>
            </a:endParaRPr>
          </a:p>
          <a:p>
            <a:pPr lvl="1">
              <a:buNone/>
              <a:defRPr/>
            </a:pPr>
            <a:r>
              <a:rPr lang="pt-BR" altLang="ko-KR" sz="2400" b="1" dirty="0">
                <a:solidFill>
                  <a:srgbClr val="7030A0"/>
                </a:solidFill>
                <a:ea typeface="굴림" panose="020B0600000101010101" pitchFamily="50" charset="-127"/>
              </a:rPr>
              <a:t>while</a:t>
            </a:r>
            <a:r>
              <a:rPr lang="pt-BR" altLang="ko-KR" sz="2400" b="1" i="1" dirty="0">
                <a:solidFill>
                  <a:srgbClr val="7030A0"/>
                </a:solidFill>
                <a:ea typeface="굴림" panose="020B0600000101010101" pitchFamily="50" charset="-127"/>
              </a:rPr>
              <a:t> n</a:t>
            </a:r>
            <a:r>
              <a:rPr lang="pt-BR" altLang="ko-KR" sz="2400" b="1" dirty="0">
                <a:solidFill>
                  <a:srgbClr val="7030A0"/>
                </a:solidFill>
                <a:ea typeface="굴림" panose="020B0600000101010101" pitchFamily="50" charset="-127"/>
              </a:rPr>
              <a:t> ≠ 0 </a:t>
            </a:r>
            <a:r>
              <a:rPr lang="pt-BR" altLang="ko-KR" sz="2400" b="0" dirty="0">
                <a:ea typeface="굴림" panose="020B0600000101010101" pitchFamily="50" charset="-127"/>
              </a:rPr>
              <a:t>do</a:t>
            </a:r>
            <a:r>
              <a:rPr lang="pt-BR" altLang="ko-KR" sz="2400" b="0" i="1" dirty="0">
                <a:ea typeface="굴림" panose="020B0600000101010101" pitchFamily="50" charset="-127"/>
              </a:rPr>
              <a:t>            </a:t>
            </a:r>
          </a:p>
          <a:p>
            <a:pPr lvl="1">
              <a:buNone/>
              <a:defRPr/>
            </a:pPr>
            <a:r>
              <a:rPr lang="pt-BR" altLang="ko-KR" sz="2400" b="0" i="1" dirty="0">
                <a:ea typeface="굴림" panose="020B0600000101010101" pitchFamily="50" charset="-127"/>
              </a:rPr>
              <a:t>	r ← m </a:t>
            </a:r>
            <a:r>
              <a:rPr lang="pt-BR" altLang="ko-KR" sz="2400" b="0" dirty="0">
                <a:ea typeface="굴림" panose="020B0600000101010101" pitchFamily="50" charset="-127"/>
              </a:rPr>
              <a:t>mod </a:t>
            </a:r>
            <a:r>
              <a:rPr lang="pt-BR" altLang="ko-KR" sz="2400" b="0" i="1" dirty="0">
                <a:ea typeface="굴림" panose="020B0600000101010101" pitchFamily="50" charset="-127"/>
              </a:rPr>
              <a:t>n</a:t>
            </a:r>
          </a:p>
          <a:p>
            <a:pPr lvl="1">
              <a:buNone/>
              <a:defRPr/>
            </a:pPr>
            <a:r>
              <a:rPr lang="pt-BR" altLang="ko-KR" sz="2400" b="0" i="1" dirty="0">
                <a:ea typeface="굴림" panose="020B0600000101010101" pitchFamily="50" charset="-127"/>
              </a:rPr>
              <a:t>    m ← n   </a:t>
            </a:r>
          </a:p>
          <a:p>
            <a:pPr lvl="1">
              <a:buNone/>
              <a:defRPr/>
            </a:pPr>
            <a:r>
              <a:rPr lang="pt-BR" altLang="ko-KR" sz="2400" b="0" i="1" dirty="0">
                <a:ea typeface="굴림" panose="020B0600000101010101" pitchFamily="50" charset="-127"/>
              </a:rPr>
              <a:t>    n ← r    </a:t>
            </a:r>
          </a:p>
          <a:p>
            <a:pPr lvl="1">
              <a:buNone/>
              <a:defRPr/>
            </a:pPr>
            <a:r>
              <a:rPr lang="pt-BR" altLang="ko-KR" sz="2400" b="0" dirty="0">
                <a:ea typeface="굴림" panose="020B0600000101010101" pitchFamily="50" charset="-127"/>
              </a:rPr>
              <a:t>return</a:t>
            </a:r>
            <a:r>
              <a:rPr lang="pt-BR" altLang="ko-KR" sz="2400" b="0" i="1" dirty="0">
                <a:ea typeface="굴림" panose="020B0600000101010101" pitchFamily="50" charset="-127"/>
              </a:rPr>
              <a:t> m</a:t>
            </a:r>
            <a:endParaRPr lang="en-US" sz="2400" b="1" dirty="0">
              <a:cs typeface="Arial" charset="0"/>
            </a:endParaRPr>
          </a:p>
        </p:txBody>
      </p:sp>
      <p:sp>
        <p:nvSpPr>
          <p:cNvPr id="2" name="TextBox 5">
            <a:extLst>
              <a:ext uri="{FF2B5EF4-FFF2-40B4-BE49-F238E27FC236}">
                <a16:creationId xmlns:a16="http://schemas.microsoft.com/office/drawing/2014/main" id="{A816213D-3138-873A-57F2-3237A452EA11}"/>
              </a:ext>
            </a:extLst>
          </p:cNvPr>
          <p:cNvSpPr txBox="1">
            <a:spLocks noChangeArrowheads="1"/>
          </p:cNvSpPr>
          <p:nvPr/>
        </p:nvSpPr>
        <p:spPr bwMode="auto">
          <a:xfrm>
            <a:off x="10363200" y="5943600"/>
            <a:ext cx="152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50000"/>
              </a:spcBef>
              <a:buClrTx/>
              <a:buSzTx/>
              <a:buNone/>
            </a:pPr>
            <a:r>
              <a:rPr kumimoji="0" lang="pt-BR" altLang="ko-KR" b="0" dirty="0">
                <a:solidFill>
                  <a:srgbClr val="FF6600"/>
                </a:solidFill>
              </a:rPr>
              <a:t>gcd(m,n)</a:t>
            </a:r>
          </a:p>
        </p:txBody>
      </p:sp>
    </p:spTree>
    <p:extLst>
      <p:ext uri="{BB962C8B-B14F-4D97-AF65-F5344CB8AC3E}">
        <p14:creationId xmlns:p14="http://schemas.microsoft.com/office/powerpoint/2010/main" val="241166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Analysis of Algorithms</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7</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456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Issues</a:t>
            </a:r>
          </a:p>
          <a:p>
            <a:pPr lvl="1">
              <a:defRPr/>
            </a:pPr>
            <a:r>
              <a:rPr lang="en-US" altLang="en-US" sz="2400" dirty="0"/>
              <a:t>correctness</a:t>
            </a:r>
          </a:p>
          <a:p>
            <a:pPr lvl="1">
              <a:defRPr/>
            </a:pPr>
            <a:r>
              <a:rPr lang="en-US" altLang="en-US" sz="2400" b="1" dirty="0">
                <a:solidFill>
                  <a:srgbClr val="7030A0"/>
                </a:solidFill>
              </a:rPr>
              <a:t>time efficiency </a:t>
            </a:r>
            <a:r>
              <a:rPr lang="en-US" altLang="en-US" sz="2400" dirty="0"/>
              <a:t>(how fast)</a:t>
            </a:r>
          </a:p>
          <a:p>
            <a:pPr lvl="1">
              <a:defRPr/>
            </a:pPr>
            <a:r>
              <a:rPr lang="en-US" altLang="en-US" sz="2400" dirty="0"/>
              <a:t>space efficiency (how much memory required)</a:t>
            </a:r>
          </a:p>
          <a:p>
            <a:pPr lvl="1">
              <a:defRPr/>
            </a:pPr>
            <a:r>
              <a:rPr lang="en-US" altLang="en-US" sz="2400" dirty="0"/>
              <a:t>optimality</a:t>
            </a:r>
          </a:p>
          <a:p>
            <a:pPr marL="457200" lvl="1" indent="0">
              <a:buNone/>
              <a:defRPr/>
            </a:pPr>
            <a:endParaRPr lang="en-US" altLang="en-US" sz="1800" dirty="0"/>
          </a:p>
          <a:p>
            <a:pPr>
              <a:defRPr/>
            </a:pPr>
            <a:r>
              <a:rPr lang="en-US" altLang="en-US" sz="2800" dirty="0"/>
              <a:t>Approaches</a:t>
            </a:r>
            <a:r>
              <a:rPr lang="en-US" altLang="en-US" dirty="0"/>
              <a:t> </a:t>
            </a:r>
          </a:p>
          <a:p>
            <a:pPr lvl="1">
              <a:defRPr/>
            </a:pPr>
            <a:r>
              <a:rPr lang="en-US" altLang="en-US" sz="2400" b="1" dirty="0">
                <a:solidFill>
                  <a:srgbClr val="7030A0"/>
                </a:solidFill>
              </a:rPr>
              <a:t>theoretical</a:t>
            </a:r>
            <a:r>
              <a:rPr lang="en-US" altLang="en-US" sz="2400" dirty="0"/>
              <a:t> </a:t>
            </a:r>
            <a:r>
              <a:rPr lang="en-US" altLang="en-US" sz="1800" dirty="0"/>
              <a:t>(mathematical)</a:t>
            </a:r>
            <a:r>
              <a:rPr lang="en-US" altLang="en-US" sz="2400" dirty="0"/>
              <a:t> </a:t>
            </a:r>
            <a:r>
              <a:rPr lang="en-US" altLang="en-US" sz="2400" b="1" dirty="0">
                <a:solidFill>
                  <a:srgbClr val="7030A0"/>
                </a:solidFill>
              </a:rPr>
              <a:t>analysis</a:t>
            </a:r>
          </a:p>
          <a:p>
            <a:pPr lvl="1">
              <a:defRPr/>
            </a:pPr>
            <a:r>
              <a:rPr lang="en-US" altLang="en-US" sz="2400" dirty="0"/>
              <a:t>empirical analysis</a:t>
            </a:r>
          </a:p>
          <a:p>
            <a:pPr lvl="1">
              <a:defRPr/>
            </a:pPr>
            <a:r>
              <a:rPr lang="en-US" altLang="en-US" sz="2400" dirty="0"/>
              <a:t>algorithm visualization</a:t>
            </a:r>
          </a:p>
        </p:txBody>
      </p:sp>
    </p:spTree>
    <p:extLst>
      <p:ext uri="{BB962C8B-B14F-4D97-AF65-F5344CB8AC3E}">
        <p14:creationId xmlns:p14="http://schemas.microsoft.com/office/powerpoint/2010/main" val="496068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ADBABA-AD23-4E8E-ACD7-D9C2BBCED46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dirty="0">
                <a:solidFill>
                  <a:srgbClr val="FF0000"/>
                </a:solidFill>
              </a:rPr>
              <a:t>Theoretical Analysis of Time Efficiency</a:t>
            </a:r>
          </a:p>
        </p:txBody>
      </p:sp>
    </p:spTree>
    <p:extLst>
      <p:ext uri="{BB962C8B-B14F-4D97-AF65-F5344CB8AC3E}">
        <p14:creationId xmlns:p14="http://schemas.microsoft.com/office/powerpoint/2010/main" val="204371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Theoretical Analysis of Time Efficiency</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9</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277600"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b="1" dirty="0">
                <a:solidFill>
                  <a:srgbClr val="7030A0"/>
                </a:solidFill>
              </a:rPr>
              <a:t>Time efficiency </a:t>
            </a:r>
            <a:r>
              <a:rPr lang="en-US" altLang="en-US" sz="1800" dirty="0"/>
              <a:t>(running time </a:t>
            </a:r>
            <a:r>
              <a:rPr lang="en-US" altLang="en-US" sz="1800" i="1" dirty="0">
                <a:latin typeface="Baguet Script" panose="020B0604020202020204" pitchFamily="2" charset="0"/>
              </a:rPr>
              <a:t>estimate</a:t>
            </a:r>
            <a:r>
              <a:rPr lang="en-US" altLang="en-US" sz="1800" dirty="0"/>
              <a:t>)</a:t>
            </a:r>
            <a:r>
              <a:rPr lang="en-US" altLang="en-US" sz="2800" dirty="0"/>
              <a:t> is a function of </a:t>
            </a:r>
            <a:r>
              <a:rPr lang="en-US" altLang="en-US" sz="2800" b="1" dirty="0">
                <a:solidFill>
                  <a:srgbClr val="7030A0"/>
                </a:solidFill>
              </a:rPr>
              <a:t>input size</a:t>
            </a:r>
          </a:p>
          <a:p>
            <a:pPr>
              <a:defRPr/>
            </a:pPr>
            <a:r>
              <a:rPr lang="en-US" altLang="en-US" sz="2800" dirty="0"/>
              <a:t>It is analyzed by determining the </a:t>
            </a:r>
            <a:r>
              <a:rPr lang="en-US" altLang="en-US" sz="2800" b="1" dirty="0">
                <a:solidFill>
                  <a:srgbClr val="7030A0"/>
                </a:solidFill>
              </a:rPr>
              <a:t>count of the basic operation </a:t>
            </a:r>
            <a:r>
              <a:rPr lang="en-US" altLang="en-US" sz="2800" dirty="0"/>
              <a:t>of the algorithm </a:t>
            </a:r>
            <a:r>
              <a:rPr lang="en-US" altLang="en-US" sz="1800" dirty="0"/>
              <a:t>(number of repetitions)</a:t>
            </a:r>
          </a:p>
          <a:p>
            <a:pPr lvl="1">
              <a:defRPr/>
            </a:pPr>
            <a:r>
              <a:rPr lang="en-US" altLang="en-US" sz="2400" dirty="0"/>
              <a:t>The basic operation is the one </a:t>
            </a:r>
            <a:r>
              <a:rPr lang="en-US" altLang="en-US" sz="2400" b="1" dirty="0">
                <a:solidFill>
                  <a:srgbClr val="7030A0"/>
                </a:solidFill>
              </a:rPr>
              <a:t>that contributes the most towards the running time of the algorithm</a:t>
            </a:r>
            <a:r>
              <a:rPr lang="en-US" altLang="en-US" sz="2400" dirty="0"/>
              <a:t> </a:t>
            </a:r>
            <a:r>
              <a:rPr lang="en-US" altLang="en-US" sz="1800" dirty="0"/>
              <a:t>(t</a:t>
            </a:r>
            <a:r>
              <a:rPr lang="en-US" sz="1800" dirty="0"/>
              <a:t>ypically, it is the most time-consuming operation in the algorithm’s innermost loop</a:t>
            </a:r>
            <a:r>
              <a:rPr lang="en-US" altLang="en-US" sz="1800" dirty="0"/>
              <a:t>)</a:t>
            </a:r>
            <a:endParaRPr lang="en-US" altLang="en-US" sz="2400" dirty="0"/>
          </a:p>
          <a:p>
            <a:pPr>
              <a:defRPr/>
            </a:pPr>
            <a:endParaRPr lang="en-US" altLang="en-US" sz="2800" dirty="0"/>
          </a:p>
        </p:txBody>
      </p:sp>
      <p:sp>
        <p:nvSpPr>
          <p:cNvPr id="2" name="Text Box 16">
            <a:extLst>
              <a:ext uri="{FF2B5EF4-FFF2-40B4-BE49-F238E27FC236}">
                <a16:creationId xmlns:a16="http://schemas.microsoft.com/office/drawing/2014/main" id="{5B794015-3EB1-C057-15A5-699784A413A6}"/>
              </a:ext>
            </a:extLst>
          </p:cNvPr>
          <p:cNvSpPr txBox="1">
            <a:spLocks noChangeArrowheads="1"/>
          </p:cNvSpPr>
          <p:nvPr/>
        </p:nvSpPr>
        <p:spPr bwMode="auto">
          <a:xfrm>
            <a:off x="9067800" y="5200650"/>
            <a:ext cx="2819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50000"/>
              </a:spcBef>
              <a:buClrTx/>
              <a:buSzTx/>
              <a:buFontTx/>
              <a:buNone/>
            </a:pPr>
            <a:r>
              <a:rPr kumimoji="0" lang="en-US" altLang="en-US" b="0" dirty="0">
                <a:solidFill>
                  <a:srgbClr val="FF6600"/>
                </a:solidFill>
              </a:rPr>
              <a:t>Note that different basic operations may give different results!</a:t>
            </a:r>
          </a:p>
        </p:txBody>
      </p:sp>
      <p:pic>
        <p:nvPicPr>
          <p:cNvPr id="18" name="Picture 17">
            <a:extLst>
              <a:ext uri="{FF2B5EF4-FFF2-40B4-BE49-F238E27FC236}">
                <a16:creationId xmlns:a16="http://schemas.microsoft.com/office/drawing/2014/main" id="{99827FCF-853D-48B1-1715-89844365048A}"/>
              </a:ext>
            </a:extLst>
          </p:cNvPr>
          <p:cNvPicPr>
            <a:picLocks noChangeAspect="1"/>
          </p:cNvPicPr>
          <p:nvPr/>
        </p:nvPicPr>
        <p:blipFill>
          <a:blip r:embed="rId6"/>
          <a:stretch>
            <a:fillRect/>
          </a:stretch>
        </p:blipFill>
        <p:spPr>
          <a:xfrm>
            <a:off x="3325148" y="3896269"/>
            <a:ext cx="5329111" cy="2199731"/>
          </a:xfrm>
          <a:prstGeom prst="rect">
            <a:avLst/>
          </a:prstGeom>
        </p:spPr>
      </p:pic>
      <p:sp>
        <p:nvSpPr>
          <p:cNvPr id="4" name="Star: 5 Points 3">
            <a:extLst>
              <a:ext uri="{FF2B5EF4-FFF2-40B4-BE49-F238E27FC236}">
                <a16:creationId xmlns:a16="http://schemas.microsoft.com/office/drawing/2014/main" id="{23CF950B-1B2A-011B-71C6-FC3C01548358}"/>
              </a:ext>
            </a:extLst>
          </p:cNvPr>
          <p:cNvSpPr/>
          <p:nvPr/>
        </p:nvSpPr>
        <p:spPr>
          <a:xfrm>
            <a:off x="6934200" y="4086573"/>
            <a:ext cx="1172833" cy="799007"/>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7629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Input Size and Basic Operation Examples</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10</a:t>
            </a:fld>
            <a:endParaRPr lang="en-US" dirty="0"/>
          </a:p>
        </p:txBody>
      </p:sp>
      <p:graphicFrame>
        <p:nvGraphicFramePr>
          <p:cNvPr id="4" name="Group 3">
            <a:extLst>
              <a:ext uri="{FF2B5EF4-FFF2-40B4-BE49-F238E27FC236}">
                <a16:creationId xmlns:a16="http://schemas.microsoft.com/office/drawing/2014/main" id="{E219A4F5-B017-B8EF-39E1-B172477931F3}"/>
              </a:ext>
            </a:extLst>
          </p:cNvPr>
          <p:cNvGraphicFramePr>
            <a:graphicFrameLocks noGrp="1"/>
          </p:cNvGraphicFramePr>
          <p:nvPr>
            <p:ph idx="1"/>
            <p:extLst>
              <p:ext uri="{D42A27DB-BD31-4B8C-83A1-F6EECF244321}">
                <p14:modId xmlns:p14="http://schemas.microsoft.com/office/powerpoint/2010/main" val="2827760591"/>
              </p:ext>
            </p:extLst>
          </p:nvPr>
        </p:nvGraphicFramePr>
        <p:xfrm>
          <a:off x="609600" y="1524000"/>
          <a:ext cx="10912609" cy="4741531"/>
        </p:xfrm>
        <a:graphic>
          <a:graphicData uri="http://schemas.openxmlformats.org/drawingml/2006/table">
            <a:tbl>
              <a:tblPr/>
              <a:tblGrid>
                <a:gridCol w="4125012">
                  <a:extLst>
                    <a:ext uri="{9D8B030D-6E8A-4147-A177-3AD203B41FA5}">
                      <a16:colId xmlns:a16="http://schemas.microsoft.com/office/drawing/2014/main" val="20000"/>
                    </a:ext>
                  </a:extLst>
                </a:gridCol>
                <a:gridCol w="3346708">
                  <a:extLst>
                    <a:ext uri="{9D8B030D-6E8A-4147-A177-3AD203B41FA5}">
                      <a16:colId xmlns:a16="http://schemas.microsoft.com/office/drawing/2014/main" val="20001"/>
                    </a:ext>
                  </a:extLst>
                </a:gridCol>
                <a:gridCol w="3440889">
                  <a:extLst>
                    <a:ext uri="{9D8B030D-6E8A-4147-A177-3AD203B41FA5}">
                      <a16:colId xmlns:a16="http://schemas.microsoft.com/office/drawing/2014/main" val="20002"/>
                    </a:ext>
                  </a:extLst>
                </a:gridCol>
              </a:tblGrid>
              <a:tr h="89675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1" i="1" u="none" strike="noStrike" cap="none" normalizeH="0" baseline="0" dirty="0">
                          <a:ln>
                            <a:noFill/>
                          </a:ln>
                          <a:solidFill>
                            <a:schemeClr val="tx1"/>
                          </a:solidFill>
                          <a:effectLst/>
                          <a:latin typeface="Times New Roman" panose="02020603050405020304" pitchFamily="18" charset="0"/>
                        </a:rPr>
                        <a:t>Problem</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1" i="1" u="none" strike="noStrike" cap="none" normalizeH="0" baseline="0" dirty="0">
                          <a:ln>
                            <a:noFill/>
                          </a:ln>
                          <a:solidFill>
                            <a:schemeClr val="tx1"/>
                          </a:solidFill>
                          <a:effectLst/>
                          <a:latin typeface="Times New Roman" panose="02020603050405020304" pitchFamily="18" charset="0"/>
                        </a:rPr>
                        <a:t>Input size</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1" i="1" u="none" strike="noStrike" cap="none" normalizeH="0" baseline="0">
                          <a:ln>
                            <a:noFill/>
                          </a:ln>
                          <a:solidFill>
                            <a:schemeClr val="tx1"/>
                          </a:solidFill>
                          <a:effectLst/>
                          <a:latin typeface="Times New Roman" panose="02020603050405020304" pitchFamily="18" charset="0"/>
                        </a:rPr>
                        <a:t>Basic operation</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924537">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0" i="0" u="none" strike="noStrike" cap="none" normalizeH="0" baseline="0" dirty="0">
                          <a:ln>
                            <a:noFill/>
                          </a:ln>
                          <a:solidFill>
                            <a:schemeClr val="tx1"/>
                          </a:solidFill>
                          <a:effectLst/>
                          <a:latin typeface="Times New Roman" panose="02020603050405020304" pitchFamily="18" charset="0"/>
                        </a:rPr>
                        <a:t>Searching for a key in a list of </a:t>
                      </a:r>
                      <a:r>
                        <a:rPr kumimoji="1" lang="en-US" altLang="en-US" sz="2000" b="0" i="1" u="none" strike="noStrike" cap="none" normalizeH="0" baseline="0" dirty="0">
                          <a:ln>
                            <a:noFill/>
                          </a:ln>
                          <a:solidFill>
                            <a:schemeClr val="tx1"/>
                          </a:solidFill>
                          <a:effectLst/>
                          <a:latin typeface="Times New Roman" panose="02020603050405020304" pitchFamily="18" charset="0"/>
                        </a:rPr>
                        <a:t>n</a:t>
                      </a:r>
                      <a:r>
                        <a:rPr kumimoji="1" lang="en-US" altLang="en-US" sz="2000" b="0" i="0" u="none" strike="noStrike" cap="none" normalizeH="0" baseline="0" dirty="0">
                          <a:ln>
                            <a:noFill/>
                          </a:ln>
                          <a:solidFill>
                            <a:schemeClr val="tx1"/>
                          </a:solidFill>
                          <a:effectLst/>
                          <a:latin typeface="Times New Roman" panose="02020603050405020304" pitchFamily="18" charset="0"/>
                        </a:rPr>
                        <a:t> items</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0" i="0" u="none" strike="noStrike" cap="none" normalizeH="0" baseline="0" dirty="0">
                          <a:ln>
                            <a:noFill/>
                          </a:ln>
                          <a:solidFill>
                            <a:schemeClr val="tx1"/>
                          </a:solidFill>
                          <a:effectLst/>
                          <a:latin typeface="Times New Roman" panose="02020603050405020304" pitchFamily="18" charset="0"/>
                        </a:rPr>
                        <a:t>Number of list’s items,  i.e., </a:t>
                      </a:r>
                      <a:r>
                        <a:rPr kumimoji="1" lang="en-US" altLang="en-US" sz="2000" b="0" i="1" u="none" strike="noStrike" cap="none" normalizeH="0" baseline="0" dirty="0">
                          <a:ln>
                            <a:noFill/>
                          </a:ln>
                          <a:solidFill>
                            <a:schemeClr val="tx1"/>
                          </a:solidFill>
                          <a:effectLst/>
                          <a:latin typeface="Times New Roman" panose="02020603050405020304" pitchFamily="18" charset="0"/>
                        </a:rPr>
                        <a:t>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dirty="0">
                          <a:ln>
                            <a:noFill/>
                          </a:ln>
                          <a:solidFill>
                            <a:srgbClr val="7030A0"/>
                          </a:solidFill>
                          <a:effectLst/>
                          <a:latin typeface="Times New Roman" panose="02020603050405020304" pitchFamily="18" charset="0"/>
                        </a:rPr>
                        <a:t>Comparison</a:t>
                      </a:r>
                      <a:r>
                        <a:rPr kumimoji="1" lang="en-US" altLang="en-US" sz="2000" b="0" i="0" u="none" strike="noStrike" cap="none" normalizeH="0" baseline="0" dirty="0">
                          <a:ln>
                            <a:noFill/>
                          </a:ln>
                          <a:solidFill>
                            <a:schemeClr val="tx1"/>
                          </a:solidFill>
                          <a:effectLst/>
                          <a:latin typeface="Times New Roman" panose="02020603050405020304" pitchFamily="18" charset="0"/>
                        </a:rPr>
                        <a:t> of the key</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07116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0" i="0" u="none" strike="noStrike" cap="none" normalizeH="0" baseline="0" dirty="0">
                          <a:ln>
                            <a:noFill/>
                          </a:ln>
                          <a:solidFill>
                            <a:schemeClr val="tx1"/>
                          </a:solidFill>
                          <a:effectLst/>
                          <a:latin typeface="Times New Roman" panose="02020603050405020304" pitchFamily="18" charset="0"/>
                        </a:rPr>
                        <a:t>Multiplication of two matrices</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0" i="0" u="none" strike="noStrike" cap="none" normalizeH="0" baseline="0" dirty="0">
                          <a:ln>
                            <a:noFill/>
                          </a:ln>
                          <a:solidFill>
                            <a:schemeClr val="tx1"/>
                          </a:solidFill>
                          <a:effectLst/>
                          <a:latin typeface="Times New Roman" panose="02020603050405020304" pitchFamily="18" charset="0"/>
                        </a:rPr>
                        <a:t>Matrix dimensions or total number of elements</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kern="1200" cap="none" normalizeH="0" baseline="0" dirty="0">
                          <a:ln>
                            <a:noFill/>
                          </a:ln>
                          <a:solidFill>
                            <a:srgbClr val="7030A0"/>
                          </a:solidFill>
                          <a:effectLst/>
                          <a:latin typeface="Times New Roman" panose="02020603050405020304" pitchFamily="18" charset="0"/>
                          <a:ea typeface="+mn-ea"/>
                          <a:cs typeface="+mn-cs"/>
                        </a:rPr>
                        <a:t>Multiplication</a:t>
                      </a:r>
                      <a:r>
                        <a:rPr kumimoji="1" lang="en-US" altLang="en-US" sz="2000" b="0" i="0" u="none" strike="noStrike" cap="none" normalizeH="0" baseline="0" dirty="0">
                          <a:ln>
                            <a:noFill/>
                          </a:ln>
                          <a:solidFill>
                            <a:schemeClr val="tx1"/>
                          </a:solidFill>
                          <a:effectLst/>
                          <a:latin typeface="Times New Roman" panose="02020603050405020304" pitchFamily="18" charset="0"/>
                        </a:rPr>
                        <a:t> of two numbers</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924537">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0" i="0" u="none" strike="noStrike" cap="none" normalizeH="0" baseline="0" dirty="0">
                          <a:ln>
                            <a:noFill/>
                          </a:ln>
                          <a:solidFill>
                            <a:schemeClr val="tx1"/>
                          </a:solidFill>
                          <a:effectLst/>
                          <a:latin typeface="Times New Roman" panose="02020603050405020304" pitchFamily="18" charset="0"/>
                        </a:rPr>
                        <a:t>Checking primality of a given integer </a:t>
                      </a:r>
                      <a:r>
                        <a:rPr kumimoji="1" lang="en-US" altLang="en-US" sz="2000" b="0" i="1" u="none" strike="noStrike" cap="none" normalizeH="0" baseline="0" dirty="0">
                          <a:ln>
                            <a:noFill/>
                          </a:ln>
                          <a:solidFill>
                            <a:schemeClr val="tx1"/>
                          </a:solidFill>
                          <a:effectLst/>
                          <a:latin typeface="Times New Roman" panose="02020603050405020304" pitchFamily="18" charset="0"/>
                        </a:rPr>
                        <a:t>n </a:t>
                      </a:r>
                      <a:r>
                        <a:rPr kumimoji="1" lang="en-US" altLang="en-US" sz="1600" b="0" i="0" u="none" strike="noStrike" cap="none" normalizeH="0" baseline="0" dirty="0">
                          <a:ln>
                            <a:noFill/>
                          </a:ln>
                          <a:solidFill>
                            <a:schemeClr val="tx1"/>
                          </a:solidFill>
                          <a:effectLst/>
                          <a:latin typeface="Times New Roman" panose="02020603050405020304" pitchFamily="18" charset="0"/>
                        </a:rPr>
                        <a:t>(can only be divided by itself or by 1)</a:t>
                      </a:r>
                      <a:endParaRPr kumimoji="1" lang="en-US" altLang="en-US" sz="2000" b="0" i="0" u="none" strike="noStrike" cap="none" normalizeH="0" baseline="30000" dirty="0">
                        <a:ln>
                          <a:noFill/>
                        </a:ln>
                        <a:solidFill>
                          <a:schemeClr val="tx1"/>
                        </a:solidFill>
                        <a:effectLst/>
                        <a:latin typeface="Times New Roman" panose="02020603050405020304" pitchFamily="18" charset="0"/>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0" i="0" u="none" strike="noStrike" cap="none" normalizeH="0" baseline="0" dirty="0">
                          <a:ln>
                            <a:noFill/>
                          </a:ln>
                          <a:solidFill>
                            <a:schemeClr val="tx1"/>
                          </a:solidFill>
                          <a:effectLst/>
                          <a:latin typeface="Times New Roman" panose="02020603050405020304" pitchFamily="18" charset="0"/>
                        </a:rPr>
                        <a:t>Size of </a:t>
                      </a:r>
                      <a:r>
                        <a:rPr kumimoji="1" lang="en-US" altLang="en-US" sz="2000" b="0" i="1" u="none" strike="noStrike" cap="none" normalizeH="0" baseline="0" dirty="0">
                          <a:ln>
                            <a:noFill/>
                          </a:ln>
                          <a:solidFill>
                            <a:schemeClr val="tx1"/>
                          </a:solidFill>
                          <a:effectLst/>
                          <a:latin typeface="Times New Roman" panose="02020603050405020304" pitchFamily="18" charset="0"/>
                        </a:rPr>
                        <a:t>n</a:t>
                      </a:r>
                      <a:r>
                        <a:rPr kumimoji="1" lang="en-US" altLang="en-US" sz="2000" b="0" i="0" u="none" strike="noStrike" cap="none" normalizeH="0" baseline="0" dirty="0">
                          <a:ln>
                            <a:noFill/>
                          </a:ln>
                          <a:solidFill>
                            <a:schemeClr val="tx1"/>
                          </a:solidFill>
                          <a:effectLst/>
                          <a:latin typeface="Times New Roman" panose="02020603050405020304" pitchFamily="18" charset="0"/>
                        </a:rPr>
                        <a:t> = number of digits in binary representation</a:t>
                      </a:r>
                      <a:endParaRPr kumimoji="1" lang="en-US" altLang="en-US" sz="2000" b="0" i="1" u="none" strike="noStrike" cap="none" normalizeH="0" baseline="0" dirty="0">
                        <a:ln>
                          <a:noFill/>
                        </a:ln>
                        <a:solidFill>
                          <a:schemeClr val="tx1"/>
                        </a:solidFill>
                        <a:effectLst/>
                        <a:latin typeface="Times New Roman" panose="02020603050405020304" pitchFamily="18" charset="0"/>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kern="1200" cap="none" normalizeH="0" baseline="0" dirty="0">
                          <a:ln>
                            <a:noFill/>
                          </a:ln>
                          <a:solidFill>
                            <a:srgbClr val="7030A0"/>
                          </a:solidFill>
                          <a:effectLst/>
                          <a:latin typeface="Times New Roman" panose="02020603050405020304" pitchFamily="18" charset="0"/>
                          <a:ea typeface="+mn-ea"/>
                          <a:cs typeface="+mn-cs"/>
                        </a:rPr>
                        <a:t>Division</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924537">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0" i="0" u="none" strike="noStrike" cap="none" normalizeH="0" baseline="0">
                          <a:ln>
                            <a:noFill/>
                          </a:ln>
                          <a:solidFill>
                            <a:schemeClr val="tx1"/>
                          </a:solidFill>
                          <a:effectLst/>
                          <a:latin typeface="Times New Roman" panose="02020603050405020304" pitchFamily="18" charset="0"/>
                        </a:rPr>
                        <a:t>Typical graph problem</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0" i="0" u="none" strike="noStrike" cap="none" normalizeH="0" baseline="0" dirty="0">
                          <a:ln>
                            <a:noFill/>
                          </a:ln>
                          <a:solidFill>
                            <a:schemeClr val="tx1"/>
                          </a:solidFill>
                          <a:effectLst/>
                          <a:latin typeface="Times New Roman" panose="02020603050405020304" pitchFamily="18" charset="0"/>
                        </a:rPr>
                        <a:t>Number of vertices and/or edges</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kern="1200" cap="none" normalizeH="0" baseline="0" dirty="0">
                          <a:ln>
                            <a:noFill/>
                          </a:ln>
                          <a:solidFill>
                            <a:srgbClr val="7030A0"/>
                          </a:solidFill>
                          <a:effectLst/>
                          <a:latin typeface="Times New Roman" panose="02020603050405020304" pitchFamily="18" charset="0"/>
                          <a:ea typeface="+mn-ea"/>
                          <a:cs typeface="+mn-cs"/>
                        </a:rPr>
                        <a:t>Visiting</a:t>
                      </a:r>
                      <a:r>
                        <a:rPr kumimoji="1" lang="en-US" altLang="en-US" sz="2000" b="0" i="0" u="none" strike="noStrike" cap="none" normalizeH="0" baseline="0" dirty="0">
                          <a:ln>
                            <a:noFill/>
                          </a:ln>
                          <a:solidFill>
                            <a:schemeClr val="tx1"/>
                          </a:solidFill>
                          <a:effectLst/>
                          <a:latin typeface="Times New Roman" panose="02020603050405020304" pitchFamily="18" charset="0"/>
                        </a:rPr>
                        <a:t> a vertex or </a:t>
                      </a:r>
                      <a:r>
                        <a:rPr kumimoji="1" lang="en-US" altLang="en-US" sz="2000" b="1" i="0" u="none" strike="noStrike" kern="1200" cap="none" normalizeH="0" baseline="0" dirty="0">
                          <a:ln>
                            <a:noFill/>
                          </a:ln>
                          <a:solidFill>
                            <a:srgbClr val="7030A0"/>
                          </a:solidFill>
                          <a:effectLst/>
                          <a:latin typeface="Times New Roman" panose="02020603050405020304" pitchFamily="18" charset="0"/>
                          <a:ea typeface="+mn-ea"/>
                          <a:cs typeface="+mn-cs"/>
                        </a:rPr>
                        <a:t>traversing</a:t>
                      </a:r>
                      <a:r>
                        <a:rPr kumimoji="1" lang="en-US" altLang="en-US" sz="2000" b="0" i="0" u="none" strike="noStrike" cap="none" normalizeH="0" baseline="0" dirty="0">
                          <a:ln>
                            <a:noFill/>
                          </a:ln>
                          <a:solidFill>
                            <a:schemeClr val="tx1"/>
                          </a:solidFill>
                          <a:effectLst/>
                          <a:latin typeface="Times New Roman" panose="02020603050405020304" pitchFamily="18" charset="0"/>
                        </a:rPr>
                        <a:t> an edge</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55875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87997"/>
            <a:ext cx="11065008" cy="1000274"/>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Basic Operation Count Worst, Best and Average Cases</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11</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09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For some algorithms, the time efficiency can be different for different inputs of the same size </a:t>
            </a:r>
            <a:r>
              <a:rPr lang="en-US" altLang="en-US" sz="1800" dirty="0"/>
              <a:t>(due to difference in basic operation count)</a:t>
            </a:r>
            <a:endParaRPr lang="en-US" altLang="en-US" sz="2400" dirty="0"/>
          </a:p>
          <a:p>
            <a:pPr lvl="1">
              <a:defRPr/>
            </a:pPr>
            <a:r>
              <a:rPr lang="en-US" altLang="en-US" sz="2400" dirty="0"/>
              <a:t>Worst case:      </a:t>
            </a:r>
            <a:r>
              <a:rPr lang="en-US" altLang="en-US" sz="2400" dirty="0" err="1"/>
              <a:t>C</a:t>
            </a:r>
            <a:r>
              <a:rPr lang="en-US" altLang="en-US" sz="2000" dirty="0" err="1"/>
              <a:t>worst</a:t>
            </a:r>
            <a:r>
              <a:rPr lang="en-US" altLang="en-US" sz="2400" dirty="0"/>
              <a:t>(n) – maximum over inputs of size n</a:t>
            </a:r>
          </a:p>
          <a:p>
            <a:pPr lvl="1">
              <a:defRPr/>
            </a:pPr>
            <a:r>
              <a:rPr lang="en-US" altLang="en-US" sz="2400" dirty="0"/>
              <a:t>Best case:        </a:t>
            </a:r>
            <a:r>
              <a:rPr lang="en-US" altLang="en-US" sz="2400" dirty="0" err="1"/>
              <a:t>C</a:t>
            </a:r>
            <a:r>
              <a:rPr lang="en-US" altLang="en-US" sz="2000" dirty="0" err="1"/>
              <a:t>best</a:t>
            </a:r>
            <a:r>
              <a:rPr lang="en-US" altLang="en-US" sz="2400" dirty="0"/>
              <a:t>(n) – minimum over inputs of size n</a:t>
            </a:r>
          </a:p>
          <a:p>
            <a:pPr lvl="1">
              <a:defRPr/>
            </a:pPr>
            <a:r>
              <a:rPr lang="en-US" altLang="en-US" sz="2400" dirty="0"/>
              <a:t>Average case:  </a:t>
            </a:r>
            <a:r>
              <a:rPr lang="en-US" altLang="en-US" sz="2400" dirty="0" err="1"/>
              <a:t>C</a:t>
            </a:r>
            <a:r>
              <a:rPr lang="en-US" altLang="en-US" sz="2000" dirty="0" err="1"/>
              <a:t>avg</a:t>
            </a:r>
            <a:r>
              <a:rPr lang="en-US" altLang="en-US" sz="2400" dirty="0"/>
              <a:t>(n) – average over inputs of size n</a:t>
            </a:r>
          </a:p>
          <a:p>
            <a:pPr>
              <a:defRPr/>
            </a:pPr>
            <a:endParaRPr lang="en-US" altLang="en-US" sz="2800" dirty="0"/>
          </a:p>
          <a:p>
            <a:pPr>
              <a:defRPr/>
            </a:pPr>
            <a:r>
              <a:rPr lang="en-US" altLang="en-US" sz="2800" dirty="0"/>
              <a:t>Average refers to basic operation count required for an input </a:t>
            </a:r>
            <a:r>
              <a:rPr lang="en-US" altLang="en-US" sz="1800" dirty="0"/>
              <a:t>(of size n)</a:t>
            </a:r>
            <a:r>
              <a:rPr lang="en-US" altLang="en-US" sz="2800" dirty="0"/>
              <a:t>, on average</a:t>
            </a:r>
          </a:p>
          <a:p>
            <a:pPr lvl="1">
              <a:defRPr/>
            </a:pPr>
            <a:r>
              <a:rPr lang="en-US" altLang="en-US" sz="2400" dirty="0"/>
              <a:t>NOT the average of worst and best cases</a:t>
            </a:r>
          </a:p>
        </p:txBody>
      </p:sp>
    </p:spTree>
    <p:extLst>
      <p:ext uri="{BB962C8B-B14F-4D97-AF65-F5344CB8AC3E}">
        <p14:creationId xmlns:p14="http://schemas.microsoft.com/office/powerpoint/2010/main" val="4144016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Sequential/Linear Search</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12</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86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lvl="1">
              <a:defRPr/>
            </a:pPr>
            <a:r>
              <a:rPr lang="en-US" altLang="en-US" sz="2400" dirty="0"/>
              <a:t>Worst case: </a:t>
            </a:r>
          </a:p>
          <a:p>
            <a:pPr lvl="1">
              <a:defRPr/>
            </a:pPr>
            <a:r>
              <a:rPr lang="en-US" altLang="en-US" sz="2400" dirty="0"/>
              <a:t>Best case: </a:t>
            </a:r>
          </a:p>
          <a:p>
            <a:pPr lvl="1">
              <a:defRPr/>
            </a:pPr>
            <a:r>
              <a:rPr lang="en-US" altLang="en-US" sz="2400" dirty="0"/>
              <a:t>Average case: </a:t>
            </a:r>
            <a:endParaRPr lang="en-US" altLang="en-US" sz="2000" dirty="0"/>
          </a:p>
        </p:txBody>
      </p:sp>
      <p:pic>
        <p:nvPicPr>
          <p:cNvPr id="2" name="Picture 4" descr="2_1a">
            <a:extLst>
              <a:ext uri="{FF2B5EF4-FFF2-40B4-BE49-F238E27FC236}">
                <a16:creationId xmlns:a16="http://schemas.microsoft.com/office/drawing/2014/main" id="{98D7182A-ABB0-0A03-BA86-EBD5ECA415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685800" y="1219200"/>
            <a:ext cx="7391400" cy="3281363"/>
          </a:xfrm>
          <a:prstGeom prst="rect">
            <a:avLst/>
          </a:prstGeom>
          <a:solidFill>
            <a:schemeClr val="tx1"/>
          </a:solidFill>
          <a:extLst>
            <a:ext uri="{91240B29-F687-4F45-9708-019B960494DF}">
              <a14:hiddenLine xmlns:a14="http://schemas.microsoft.com/office/drawing/2010/main" w="9525">
                <a:solidFill>
                  <a:srgbClr val="000000"/>
                </a:solidFill>
                <a:miter lim="800000"/>
                <a:headEnd/>
                <a:tailEnd/>
              </a14:hiddenLine>
            </a:ext>
          </a:extLst>
        </p:spPr>
      </p:pic>
      <p:sp>
        <p:nvSpPr>
          <p:cNvPr id="4" name="Text Box 6">
            <a:extLst>
              <a:ext uri="{FF2B5EF4-FFF2-40B4-BE49-F238E27FC236}">
                <a16:creationId xmlns:a16="http://schemas.microsoft.com/office/drawing/2014/main" id="{32318957-FF3B-8DA9-3A41-5CB36F652C5B}"/>
              </a:ext>
            </a:extLst>
          </p:cNvPr>
          <p:cNvSpPr txBox="1">
            <a:spLocks noChangeArrowheads="1"/>
          </p:cNvSpPr>
          <p:nvPr/>
        </p:nvSpPr>
        <p:spPr bwMode="auto">
          <a:xfrm>
            <a:off x="2895600" y="4724400"/>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FontTx/>
              <a:buNone/>
            </a:pPr>
            <a:r>
              <a:rPr kumimoji="0" lang="en-US" altLang="en-US" b="0" dirty="0">
                <a:solidFill>
                  <a:schemeClr val="tx1"/>
                </a:solidFill>
              </a:rPr>
              <a:t>    n comparisons</a:t>
            </a:r>
          </a:p>
        </p:txBody>
      </p:sp>
      <p:sp>
        <p:nvSpPr>
          <p:cNvPr id="5" name="Text Box 7">
            <a:extLst>
              <a:ext uri="{FF2B5EF4-FFF2-40B4-BE49-F238E27FC236}">
                <a16:creationId xmlns:a16="http://schemas.microsoft.com/office/drawing/2014/main" id="{3078C2F8-D620-B9DB-5DBC-6492FFBD601A}"/>
              </a:ext>
            </a:extLst>
          </p:cNvPr>
          <p:cNvSpPr txBox="1">
            <a:spLocks noChangeArrowheads="1"/>
          </p:cNvSpPr>
          <p:nvPr/>
        </p:nvSpPr>
        <p:spPr bwMode="auto">
          <a:xfrm>
            <a:off x="2514600" y="5181600"/>
            <a:ext cx="561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50000"/>
              </a:spcBef>
              <a:buClrTx/>
              <a:buSzTx/>
              <a:buFontTx/>
              <a:buNone/>
            </a:pPr>
            <a:r>
              <a:rPr kumimoji="0" lang="en-US" altLang="en-US" b="0" dirty="0">
                <a:solidFill>
                  <a:schemeClr val="tx1"/>
                </a:solidFill>
              </a:rPr>
              <a:t>1 comparison, assuming K is in A</a:t>
            </a:r>
          </a:p>
        </p:txBody>
      </p:sp>
      <p:sp>
        <p:nvSpPr>
          <p:cNvPr id="7" name="Text Box 8">
            <a:extLst>
              <a:ext uri="{FF2B5EF4-FFF2-40B4-BE49-F238E27FC236}">
                <a16:creationId xmlns:a16="http://schemas.microsoft.com/office/drawing/2014/main" id="{20E745A2-1660-F064-6048-55712FE38A28}"/>
              </a:ext>
            </a:extLst>
          </p:cNvPr>
          <p:cNvSpPr txBox="1">
            <a:spLocks noChangeArrowheads="1"/>
          </p:cNvSpPr>
          <p:nvPr/>
        </p:nvSpPr>
        <p:spPr bwMode="auto">
          <a:xfrm>
            <a:off x="3048000" y="5638800"/>
            <a:ext cx="5384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FontTx/>
              <a:buNone/>
            </a:pPr>
            <a:r>
              <a:rPr kumimoji="0" lang="en-US" altLang="en-US" b="0" dirty="0">
                <a:solidFill>
                  <a:schemeClr val="tx1"/>
                </a:solidFill>
              </a:rPr>
              <a:t>  (n+1)/2 comparisons, assuming K is in A</a:t>
            </a:r>
          </a:p>
        </p:txBody>
      </p:sp>
      <p:sp>
        <p:nvSpPr>
          <p:cNvPr id="8" name="Text Box 16">
            <a:extLst>
              <a:ext uri="{FF2B5EF4-FFF2-40B4-BE49-F238E27FC236}">
                <a16:creationId xmlns:a16="http://schemas.microsoft.com/office/drawing/2014/main" id="{2A3D41F3-754B-6570-6C8C-B274EE1735E4}"/>
              </a:ext>
            </a:extLst>
          </p:cNvPr>
          <p:cNvSpPr txBox="1">
            <a:spLocks noChangeArrowheads="1"/>
          </p:cNvSpPr>
          <p:nvPr/>
        </p:nvSpPr>
        <p:spPr bwMode="auto">
          <a:xfrm>
            <a:off x="9067800" y="5029200"/>
            <a:ext cx="28448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FontTx/>
              <a:buNone/>
            </a:pPr>
            <a:r>
              <a:rPr kumimoji="0" lang="pt-BR" altLang="en-US" sz="2000" dirty="0">
                <a:solidFill>
                  <a:srgbClr val="FF6600"/>
                </a:solidFill>
              </a:rPr>
              <a:t>Based on the sum of natural numbers, (1+2+3+….+N)/</a:t>
            </a:r>
            <a:r>
              <a:rPr kumimoji="0" lang="pt-BR" altLang="en-US" sz="2000" b="0" dirty="0">
                <a:solidFill>
                  <a:srgbClr val="FF6600"/>
                </a:solidFill>
              </a:rPr>
              <a:t>N = </a:t>
            </a:r>
            <a:r>
              <a:rPr kumimoji="0" lang="pt-BR" altLang="en-US" sz="2000" dirty="0">
                <a:solidFill>
                  <a:srgbClr val="FF6600"/>
                </a:solidFill>
              </a:rPr>
              <a:t>(N(N+1)/2)/</a:t>
            </a:r>
            <a:r>
              <a:rPr kumimoji="0" lang="pt-BR" altLang="en-US" sz="2000" b="0" dirty="0">
                <a:solidFill>
                  <a:srgbClr val="FF6600"/>
                </a:solidFill>
              </a:rPr>
              <a:t>N = (N+1)/2</a:t>
            </a:r>
          </a:p>
        </p:txBody>
      </p:sp>
    </p:spTree>
    <p:extLst>
      <p:ext uri="{BB962C8B-B14F-4D97-AF65-F5344CB8AC3E}">
        <p14:creationId xmlns:p14="http://schemas.microsoft.com/office/powerpoint/2010/main" val="402390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Types of Formulas for Basic Operation Count</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13</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321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Exact formula</a:t>
            </a:r>
          </a:p>
          <a:p>
            <a:pPr lvl="1">
              <a:defRPr/>
            </a:pPr>
            <a:r>
              <a:rPr lang="en-US" altLang="en-US" sz="2400" dirty="0"/>
              <a:t>e.g., C(n) = n(n-1)/2</a:t>
            </a:r>
          </a:p>
          <a:p>
            <a:pPr>
              <a:defRPr/>
            </a:pPr>
            <a:endParaRPr lang="en-US" altLang="en-US" sz="1800" dirty="0"/>
          </a:p>
          <a:p>
            <a:pPr>
              <a:defRPr/>
            </a:pPr>
            <a:r>
              <a:rPr lang="en-US" altLang="en-US" sz="2800" dirty="0"/>
              <a:t>Formula </a:t>
            </a:r>
            <a:r>
              <a:rPr lang="en-US" altLang="en-US" sz="2800" i="1" dirty="0">
                <a:latin typeface="Baguet Script" panose="020B0604020202020204" pitchFamily="2" charset="0"/>
              </a:rPr>
              <a:t>indicating</a:t>
            </a:r>
            <a:r>
              <a:rPr lang="en-US" altLang="en-US" sz="2800" dirty="0"/>
              <a:t> </a:t>
            </a:r>
            <a:r>
              <a:rPr lang="en-US" altLang="en-US" sz="2800" b="1" dirty="0">
                <a:solidFill>
                  <a:srgbClr val="7030A0"/>
                </a:solidFill>
              </a:rPr>
              <a:t>order of growth </a:t>
            </a:r>
            <a:r>
              <a:rPr lang="en-US" altLang="en-US" sz="2800" dirty="0"/>
              <a:t>with specific multiplicative constant</a:t>
            </a:r>
          </a:p>
          <a:p>
            <a:pPr lvl="1">
              <a:defRPr/>
            </a:pPr>
            <a:r>
              <a:rPr lang="en-US" altLang="en-US" sz="2400" dirty="0"/>
              <a:t>e.g., C(n) ≈ 0.5n</a:t>
            </a:r>
            <a:r>
              <a:rPr lang="en-US" altLang="en-US" sz="2400" baseline="30000" dirty="0"/>
              <a:t>2</a:t>
            </a:r>
          </a:p>
          <a:p>
            <a:pPr>
              <a:defRPr/>
            </a:pPr>
            <a:endParaRPr lang="en-US" altLang="en-US" sz="1800" dirty="0"/>
          </a:p>
          <a:p>
            <a:pPr>
              <a:defRPr/>
            </a:pPr>
            <a:r>
              <a:rPr lang="en-US" altLang="en-US" sz="2800" dirty="0"/>
              <a:t>Formula </a:t>
            </a:r>
            <a:r>
              <a:rPr lang="en-US" altLang="en-US" sz="2800" i="1" dirty="0">
                <a:latin typeface="Baguet Script" panose="020B0604020202020204" pitchFamily="2" charset="0"/>
              </a:rPr>
              <a:t>indicating</a:t>
            </a:r>
            <a:r>
              <a:rPr lang="en-US" altLang="en-US" sz="2800" dirty="0"/>
              <a:t> </a:t>
            </a:r>
            <a:r>
              <a:rPr lang="en-US" altLang="en-US" sz="2800" b="1" dirty="0">
                <a:solidFill>
                  <a:srgbClr val="7030A0"/>
                </a:solidFill>
              </a:rPr>
              <a:t>order of growth </a:t>
            </a:r>
            <a:r>
              <a:rPr lang="en-US" altLang="en-US" sz="2800" dirty="0"/>
              <a:t>with unknown multiplicative constant</a:t>
            </a:r>
          </a:p>
          <a:p>
            <a:pPr lvl="1">
              <a:defRPr/>
            </a:pPr>
            <a:r>
              <a:rPr lang="en-US" altLang="en-US" sz="2400" dirty="0"/>
              <a:t>e.g., C(n) ≈ cn</a:t>
            </a:r>
            <a:r>
              <a:rPr lang="en-US" altLang="en-US" sz="2400" baseline="30000" dirty="0"/>
              <a:t>2</a:t>
            </a:r>
          </a:p>
        </p:txBody>
      </p:sp>
      <p:sp>
        <p:nvSpPr>
          <p:cNvPr id="2" name="Star: 5 Points 1">
            <a:extLst>
              <a:ext uri="{FF2B5EF4-FFF2-40B4-BE49-F238E27FC236}">
                <a16:creationId xmlns:a16="http://schemas.microsoft.com/office/drawing/2014/main" id="{81DBDC8E-0FE1-87D0-86AE-8C446D27BE2A}"/>
              </a:ext>
            </a:extLst>
          </p:cNvPr>
          <p:cNvSpPr/>
          <p:nvPr/>
        </p:nvSpPr>
        <p:spPr>
          <a:xfrm>
            <a:off x="3733800" y="3124200"/>
            <a:ext cx="1172833" cy="799007"/>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tar: 5 Points 3">
            <a:extLst>
              <a:ext uri="{FF2B5EF4-FFF2-40B4-BE49-F238E27FC236}">
                <a16:creationId xmlns:a16="http://schemas.microsoft.com/office/drawing/2014/main" id="{52CBA68C-4CC7-2258-AD06-4AB7566452EF}"/>
              </a:ext>
            </a:extLst>
          </p:cNvPr>
          <p:cNvSpPr/>
          <p:nvPr/>
        </p:nvSpPr>
        <p:spPr>
          <a:xfrm>
            <a:off x="3733800" y="4915993"/>
            <a:ext cx="1172833" cy="799007"/>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8159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53871"/>
            <a:ext cx="11065008" cy="468526"/>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200" b="1" dirty="0">
                <a:solidFill>
                  <a:srgbClr val="0070C0"/>
                </a:solidFill>
              </a:rPr>
              <a:t>Types of Formulas for Basic Operation Count. Contd.</a:t>
            </a:r>
            <a:endParaRPr sz="32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14</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357527"/>
            <a:ext cx="10896600" cy="5072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b="1" u="sng" dirty="0">
                <a:solidFill>
                  <a:srgbClr val="7030A0"/>
                </a:solidFill>
              </a:rPr>
              <a:t>Order of growth </a:t>
            </a:r>
            <a:r>
              <a:rPr lang="en-US" altLang="en-US" sz="2800" b="1" dirty="0">
                <a:solidFill>
                  <a:srgbClr val="7030A0"/>
                </a:solidFill>
              </a:rPr>
              <a:t>of an algorithm </a:t>
            </a:r>
            <a:r>
              <a:rPr lang="en-US" altLang="en-US" sz="2800" dirty="0"/>
              <a:t>indicates how slow/fast the algorithm will change if the input size is changed</a:t>
            </a:r>
          </a:p>
          <a:p>
            <a:pPr>
              <a:defRPr/>
            </a:pPr>
            <a:r>
              <a:rPr lang="en-US" altLang="en-US" sz="2800" dirty="0"/>
              <a:t>For example, if the order of growth is cn</a:t>
            </a:r>
            <a:r>
              <a:rPr lang="en-US" altLang="en-US" sz="2800" baseline="30000" dirty="0"/>
              <a:t>2</a:t>
            </a:r>
            <a:endParaRPr lang="en-US" altLang="en-US" sz="2800" dirty="0"/>
          </a:p>
          <a:p>
            <a:pPr lvl="1">
              <a:defRPr/>
            </a:pPr>
            <a:r>
              <a:rPr lang="en-US" altLang="en-US" sz="2400" dirty="0"/>
              <a:t>How much faster will the algorithm run on a computer that is twice as fast?</a:t>
            </a:r>
            <a:endParaRPr lang="en-US" altLang="en-US" sz="2000" dirty="0"/>
          </a:p>
          <a:p>
            <a:pPr lvl="1">
              <a:defRPr/>
            </a:pPr>
            <a:r>
              <a:rPr lang="en-US" altLang="en-US" sz="2400" dirty="0"/>
              <a:t>How much longer does it take to solve the problem with double input size?</a:t>
            </a:r>
            <a:endParaRPr lang="en-US" altLang="en-US" sz="2000" dirty="0"/>
          </a:p>
          <a:p>
            <a:pPr>
              <a:defRPr/>
            </a:pPr>
            <a:endParaRPr lang="en-US" altLang="en-US" sz="2800" dirty="0"/>
          </a:p>
          <a:p>
            <a:pPr>
              <a:defRPr/>
            </a:pPr>
            <a:r>
              <a:rPr lang="en-US" altLang="en-US" sz="2800" dirty="0"/>
              <a:t>taking into consideration that </a:t>
            </a:r>
          </a:p>
          <a:p>
            <a:pPr lvl="1">
              <a:defRPr/>
            </a:pPr>
            <a:r>
              <a:rPr lang="en-US" altLang="en-US" sz="2400" dirty="0"/>
              <a:t>for small values of n, the order of growth does not really matter</a:t>
            </a:r>
          </a:p>
          <a:p>
            <a:pPr lvl="1">
              <a:defRPr/>
            </a:pPr>
            <a:r>
              <a:rPr lang="en-US" altLang="en-US" sz="2400" dirty="0"/>
              <a:t>for large values of n, the order of growth </a:t>
            </a:r>
            <a:r>
              <a:rPr lang="en-US" altLang="en-US" sz="2400" b="1" dirty="0">
                <a:solidFill>
                  <a:srgbClr val="7030A0"/>
                </a:solidFill>
              </a:rPr>
              <a:t>is defined </a:t>
            </a:r>
            <a:r>
              <a:rPr lang="en-US" altLang="en-US" sz="2400" b="1" u="sng" dirty="0">
                <a:solidFill>
                  <a:srgbClr val="7030A0"/>
                </a:solidFill>
              </a:rPr>
              <a:t>within a constant multiple as n→∞</a:t>
            </a:r>
          </a:p>
          <a:p>
            <a:pPr>
              <a:defRPr/>
            </a:pPr>
            <a:endParaRPr lang="en-US" altLang="en-US" sz="2800" dirty="0"/>
          </a:p>
        </p:txBody>
      </p:sp>
    </p:spTree>
    <p:extLst>
      <p:ext uri="{BB962C8B-B14F-4D97-AF65-F5344CB8AC3E}">
        <p14:creationId xmlns:p14="http://schemas.microsoft.com/office/powerpoint/2010/main" val="1637983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53871"/>
            <a:ext cx="11065008" cy="468526"/>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200" b="1" dirty="0">
                <a:solidFill>
                  <a:srgbClr val="0070C0"/>
                </a:solidFill>
              </a:rPr>
              <a:t>Types of Formulas for Basic Operation Count. Contd.</a:t>
            </a:r>
            <a:endParaRPr sz="32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15</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357527"/>
            <a:ext cx="10896600" cy="544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b="1" u="sng" dirty="0">
                <a:solidFill>
                  <a:srgbClr val="7030A0"/>
                </a:solidFill>
              </a:rPr>
              <a:t>Order of growth </a:t>
            </a:r>
            <a:r>
              <a:rPr lang="en-US" altLang="en-US" sz="2800" b="1" dirty="0">
                <a:solidFill>
                  <a:srgbClr val="7030A0"/>
                </a:solidFill>
              </a:rPr>
              <a:t>of an algorithm </a:t>
            </a:r>
            <a:r>
              <a:rPr lang="en-US" altLang="en-US" sz="2800" dirty="0"/>
              <a:t>indicates how slow/fast the algorithm will change if the input size is changed</a:t>
            </a:r>
          </a:p>
          <a:p>
            <a:pPr>
              <a:defRPr/>
            </a:pPr>
            <a:r>
              <a:rPr lang="en-US" altLang="en-US" sz="2800" dirty="0"/>
              <a:t>For example, if the order of growth is cn</a:t>
            </a:r>
            <a:r>
              <a:rPr lang="en-US" altLang="en-US" sz="2800" baseline="30000" dirty="0"/>
              <a:t>2</a:t>
            </a:r>
            <a:endParaRPr lang="en-US" altLang="en-US" sz="2800" dirty="0"/>
          </a:p>
          <a:p>
            <a:pPr lvl="1">
              <a:defRPr/>
            </a:pPr>
            <a:r>
              <a:rPr lang="en-US" altLang="en-US" sz="2400" dirty="0"/>
              <a:t>How much faster will the algorithm run on a computer that is twice as fast?</a:t>
            </a:r>
          </a:p>
          <a:p>
            <a:pPr marL="457200" lvl="1" indent="0">
              <a:buNone/>
              <a:defRPr/>
            </a:pPr>
            <a:r>
              <a:rPr lang="en-AU" sz="2400" dirty="0"/>
              <a:t>     </a:t>
            </a:r>
            <a:r>
              <a:rPr lang="en-AU" sz="2400" u="sng" dirty="0"/>
              <a:t>T(n)=c/2​ n</a:t>
            </a:r>
            <a:r>
              <a:rPr lang="en-AU" sz="2400" u="sng" baseline="30000" dirty="0"/>
              <a:t>2</a:t>
            </a:r>
            <a:endParaRPr lang="en-US" altLang="en-US" sz="2400" u="sng" baseline="30000" dirty="0"/>
          </a:p>
          <a:p>
            <a:pPr lvl="1">
              <a:defRPr/>
            </a:pPr>
            <a:r>
              <a:rPr lang="en-US" altLang="en-US" sz="2400" dirty="0"/>
              <a:t>How much longer does it take to solve the problem with double input size?</a:t>
            </a:r>
            <a:endParaRPr lang="en-US" altLang="en-US" sz="2000" dirty="0"/>
          </a:p>
          <a:p>
            <a:pPr>
              <a:defRPr/>
            </a:pPr>
            <a:r>
              <a:rPr lang="en-AU" sz="1600" dirty="0"/>
              <a:t>         </a:t>
            </a:r>
            <a:r>
              <a:rPr lang="en-AU" sz="2400" u="sng" dirty="0">
                <a:solidFill>
                  <a:srgbClr val="000050"/>
                </a:solidFill>
              </a:rPr>
              <a:t>T(2n)=c(2n)</a:t>
            </a:r>
            <a:r>
              <a:rPr lang="en-AU" sz="2400" u="sng" baseline="30000" dirty="0">
                <a:solidFill>
                  <a:srgbClr val="000050"/>
                </a:solidFill>
              </a:rPr>
              <a:t>2</a:t>
            </a:r>
            <a:r>
              <a:rPr lang="en-AU" sz="2400" u="sng" dirty="0">
                <a:solidFill>
                  <a:srgbClr val="000050"/>
                </a:solidFill>
              </a:rPr>
              <a:t>=4cn</a:t>
            </a:r>
            <a:r>
              <a:rPr lang="en-AU" sz="2400" u="sng" baseline="30000" dirty="0">
                <a:solidFill>
                  <a:srgbClr val="000050"/>
                </a:solidFill>
              </a:rPr>
              <a:t>2</a:t>
            </a:r>
            <a:endParaRPr lang="en-US" altLang="en-US" sz="2400" u="sng" baseline="30000" dirty="0">
              <a:solidFill>
                <a:srgbClr val="000050"/>
              </a:solidFill>
            </a:endParaRPr>
          </a:p>
          <a:p>
            <a:pPr>
              <a:defRPr/>
            </a:pPr>
            <a:r>
              <a:rPr lang="en-US" altLang="en-US" sz="2800" dirty="0"/>
              <a:t>taking into consideration that </a:t>
            </a:r>
          </a:p>
          <a:p>
            <a:pPr lvl="1">
              <a:defRPr/>
            </a:pPr>
            <a:r>
              <a:rPr lang="en-US" altLang="en-US" sz="2400" dirty="0"/>
              <a:t>for small values of n, the order of growth does not really matter</a:t>
            </a:r>
          </a:p>
          <a:p>
            <a:pPr lvl="1">
              <a:defRPr/>
            </a:pPr>
            <a:r>
              <a:rPr lang="en-US" altLang="en-US" sz="2400" dirty="0"/>
              <a:t>for large values of n, the order of growth </a:t>
            </a:r>
            <a:r>
              <a:rPr lang="en-US" altLang="en-US" sz="2400" b="1" dirty="0">
                <a:solidFill>
                  <a:srgbClr val="7030A0"/>
                </a:solidFill>
              </a:rPr>
              <a:t>is defined </a:t>
            </a:r>
            <a:r>
              <a:rPr lang="en-US" altLang="en-US" sz="2400" b="1" u="sng" dirty="0">
                <a:solidFill>
                  <a:srgbClr val="7030A0"/>
                </a:solidFill>
              </a:rPr>
              <a:t>within a constant multiple as n→∞</a:t>
            </a:r>
          </a:p>
          <a:p>
            <a:pPr>
              <a:defRPr/>
            </a:pPr>
            <a:endParaRPr lang="en-US" altLang="en-US" sz="2800" dirty="0"/>
          </a:p>
        </p:txBody>
      </p:sp>
    </p:spTree>
    <p:extLst>
      <p:ext uri="{BB962C8B-B14F-4D97-AF65-F5344CB8AC3E}">
        <p14:creationId xmlns:p14="http://schemas.microsoft.com/office/powerpoint/2010/main" val="3892581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Values of Some Important Functions as n</a:t>
            </a:r>
            <a:r>
              <a:rPr lang="en-US" sz="3800" b="1" dirty="0">
                <a:solidFill>
                  <a:srgbClr val="00B050"/>
                </a:solidFill>
                <a:sym typeface="Wingdings" panose="05000000000000000000" pitchFamily="2" charset="2"/>
              </a:rPr>
              <a:t></a:t>
            </a:r>
            <a:r>
              <a:rPr lang="en-US" altLang="en-US" sz="4000" b="1" dirty="0">
                <a:solidFill>
                  <a:srgbClr val="00B050"/>
                </a:solidFill>
              </a:rPr>
              <a:t>∞</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16</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i="1" dirty="0">
                <a:latin typeface="Baguet Script" panose="020B0604020202020204" pitchFamily="2" charset="0"/>
              </a:rPr>
              <a:t>indicating</a:t>
            </a:r>
            <a:r>
              <a:rPr lang="en-US" altLang="en-US" sz="2800" dirty="0"/>
              <a:t> the order of growth</a:t>
            </a:r>
          </a:p>
        </p:txBody>
      </p:sp>
      <p:pic>
        <p:nvPicPr>
          <p:cNvPr id="2" name="Picture 4" descr="table2">
            <a:extLst>
              <a:ext uri="{FF2B5EF4-FFF2-40B4-BE49-F238E27FC236}">
                <a16:creationId xmlns:a16="http://schemas.microsoft.com/office/drawing/2014/main" id="{D909F799-DD85-38BB-0221-D71C38EDE806}"/>
              </a:ext>
            </a:extLst>
          </p:cNvPr>
          <p:cNvPicPr>
            <a:picLocks noGrp="1" noChangeAspect="1" noChangeArrowheads="1"/>
          </p:cNvPicPr>
          <p:nvPr>
            <p:ph idx="1"/>
          </p:nvPr>
        </p:nvPicPr>
        <p:blipFill>
          <a:blip r:embed="rId6">
            <a:extLst>
              <a:ext uri="{28A0092B-C50C-407E-A947-70E740481C1C}">
                <a14:useLocalDpi xmlns:a14="http://schemas.microsoft.com/office/drawing/2010/main" val="0"/>
              </a:ext>
            </a:extLst>
          </a:blip>
          <a:srcRect/>
          <a:stretch>
            <a:fillRect/>
          </a:stretch>
        </p:blipFill>
        <p:spPr>
          <a:xfrm>
            <a:off x="685800" y="1676400"/>
            <a:ext cx="10439400" cy="423902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9422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0000"/>
                </a:solidFill>
              </a:rPr>
              <a:t>Asymptotic Order of Growth of an Algorithm</a:t>
            </a:r>
            <a:endParaRPr sz="38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17</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407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A way of comparing functions that ignores small input sizes and constant factors </a:t>
            </a:r>
            <a:r>
              <a:rPr lang="en-US" altLang="en-US" sz="1800" dirty="0"/>
              <a:t>(because?)</a:t>
            </a:r>
          </a:p>
          <a:p>
            <a:pPr>
              <a:defRPr/>
            </a:pPr>
            <a:endParaRPr lang="en-US" altLang="en-US" sz="2000" dirty="0"/>
          </a:p>
          <a:p>
            <a:pPr>
              <a:defRPr/>
            </a:pPr>
            <a:r>
              <a:rPr lang="en-US" altLang="en-US" sz="2800" dirty="0"/>
              <a:t>t(n) is in O(g(n))</a:t>
            </a:r>
          </a:p>
          <a:p>
            <a:pPr lvl="1">
              <a:defRPr/>
            </a:pPr>
            <a:r>
              <a:rPr lang="en-US" altLang="en-US" sz="2400" dirty="0"/>
              <a:t>class of functions </a:t>
            </a:r>
            <a:r>
              <a:rPr lang="en-US" altLang="en-US" sz="2400" i="1" dirty="0"/>
              <a:t>t(n)</a:t>
            </a:r>
            <a:r>
              <a:rPr lang="en-US" altLang="en-US" sz="2400" dirty="0"/>
              <a:t> that grow </a:t>
            </a:r>
            <a:r>
              <a:rPr lang="en-US" altLang="en-US" sz="2400" b="1" u="sng" dirty="0">
                <a:solidFill>
                  <a:srgbClr val="7030A0"/>
                </a:solidFill>
              </a:rPr>
              <a:t>no faster</a:t>
            </a:r>
            <a:r>
              <a:rPr lang="en-US" altLang="en-US" sz="2400" b="1" dirty="0">
                <a:solidFill>
                  <a:srgbClr val="7030A0"/>
                </a:solidFill>
              </a:rPr>
              <a:t> </a:t>
            </a:r>
            <a:r>
              <a:rPr lang="en-US" altLang="en-US" sz="2400" dirty="0"/>
              <a:t>than </a:t>
            </a:r>
            <a:r>
              <a:rPr lang="en-US" altLang="en-US" sz="2400" i="1" dirty="0"/>
              <a:t>g(n)             (&lt;=)</a:t>
            </a:r>
          </a:p>
          <a:p>
            <a:pPr>
              <a:defRPr/>
            </a:pPr>
            <a:endParaRPr lang="en-US" altLang="en-US" sz="800" dirty="0"/>
          </a:p>
          <a:p>
            <a:pPr>
              <a:defRPr/>
            </a:pPr>
            <a:r>
              <a:rPr lang="en-US" altLang="en-US" sz="2800" dirty="0"/>
              <a:t>f(n) is in Ω(g(n)) - omega</a:t>
            </a:r>
          </a:p>
          <a:p>
            <a:pPr lvl="1">
              <a:defRPr/>
            </a:pPr>
            <a:r>
              <a:rPr lang="en-US" altLang="en-US" sz="2400" dirty="0"/>
              <a:t>class of functions </a:t>
            </a:r>
            <a:r>
              <a:rPr lang="en-US" altLang="en-US" sz="2400" i="1" dirty="0"/>
              <a:t>t(n)</a:t>
            </a:r>
            <a:r>
              <a:rPr lang="en-US" altLang="en-US" sz="2400" dirty="0"/>
              <a:t> that grow </a:t>
            </a:r>
            <a:r>
              <a:rPr lang="en-US" altLang="en-US" sz="2400" b="1" u="sng" dirty="0">
                <a:solidFill>
                  <a:srgbClr val="7030A0"/>
                </a:solidFill>
              </a:rPr>
              <a:t>at least as fast</a:t>
            </a:r>
            <a:r>
              <a:rPr lang="en-US" altLang="en-US" sz="2400" b="1" dirty="0">
                <a:solidFill>
                  <a:srgbClr val="7030A0"/>
                </a:solidFill>
              </a:rPr>
              <a:t> </a:t>
            </a:r>
            <a:r>
              <a:rPr lang="en-US" altLang="en-US" sz="2400" dirty="0"/>
              <a:t>as </a:t>
            </a:r>
            <a:r>
              <a:rPr lang="en-US" altLang="en-US" sz="2400" i="1" dirty="0"/>
              <a:t>g(n)       (&gt;=)</a:t>
            </a:r>
          </a:p>
          <a:p>
            <a:pPr>
              <a:defRPr/>
            </a:pPr>
            <a:r>
              <a:rPr lang="en-US" altLang="en-US" sz="2800" dirty="0"/>
              <a:t>t(n) is in Θ(g(n)) - theta</a:t>
            </a:r>
          </a:p>
          <a:p>
            <a:pPr lvl="1">
              <a:defRPr/>
            </a:pPr>
            <a:r>
              <a:rPr lang="en-US" altLang="en-US" sz="2400" dirty="0"/>
              <a:t>class of functions </a:t>
            </a:r>
            <a:r>
              <a:rPr lang="en-US" altLang="en-US" sz="2400" i="1" dirty="0"/>
              <a:t>t(n)</a:t>
            </a:r>
            <a:r>
              <a:rPr lang="en-US" altLang="en-US" sz="2400" dirty="0"/>
              <a:t> that grow </a:t>
            </a:r>
            <a:r>
              <a:rPr lang="en-US" altLang="en-US" sz="2400" b="1" u="sng" dirty="0">
                <a:solidFill>
                  <a:srgbClr val="7030A0"/>
                </a:solidFill>
              </a:rPr>
              <a:t>at same rate</a:t>
            </a:r>
            <a:r>
              <a:rPr lang="en-US" altLang="en-US" sz="2400" b="1" dirty="0">
                <a:solidFill>
                  <a:srgbClr val="7030A0"/>
                </a:solidFill>
              </a:rPr>
              <a:t> </a:t>
            </a:r>
            <a:r>
              <a:rPr lang="en-US" altLang="en-US" sz="2400" dirty="0"/>
              <a:t>as </a:t>
            </a:r>
            <a:r>
              <a:rPr lang="en-US" altLang="en-US" sz="2400" i="1" dirty="0"/>
              <a:t>g(n)            (=)</a:t>
            </a:r>
          </a:p>
          <a:p>
            <a:pPr>
              <a:defRPr/>
            </a:pPr>
            <a:endParaRPr lang="en-US" altLang="en-US" sz="800" dirty="0"/>
          </a:p>
        </p:txBody>
      </p:sp>
    </p:spTree>
    <p:extLst>
      <p:ext uri="{BB962C8B-B14F-4D97-AF65-F5344CB8AC3E}">
        <p14:creationId xmlns:p14="http://schemas.microsoft.com/office/powerpoint/2010/main" val="4055294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O-notation</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18</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936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Definition</a:t>
            </a:r>
          </a:p>
          <a:p>
            <a:pPr lvl="1">
              <a:defRPr/>
            </a:pPr>
            <a:r>
              <a:rPr lang="en-US" altLang="en-US" sz="2400" dirty="0"/>
              <a:t>t(n) is in O(g(n)), denoted </a:t>
            </a:r>
            <a:r>
              <a:rPr lang="en-US" altLang="en-US" sz="2400" b="1" dirty="0"/>
              <a:t>t(n) </a:t>
            </a:r>
            <a:r>
              <a:rPr lang="en-US" altLang="en-US" sz="2400" b="1" i="1" dirty="0">
                <a:sym typeface="Symbol" panose="05050102010706020507" pitchFamily="18" charset="2"/>
              </a:rPr>
              <a:t> </a:t>
            </a:r>
            <a:r>
              <a:rPr lang="en-US" altLang="en-US" sz="2400" b="1" dirty="0"/>
              <a:t>O(g(n))</a:t>
            </a:r>
            <a:r>
              <a:rPr lang="en-US" altLang="en-US" sz="2400" dirty="0"/>
              <a:t>, if t(n) is </a:t>
            </a:r>
            <a:r>
              <a:rPr lang="en-US" altLang="en-US" sz="2400" b="1" u="sng" dirty="0">
                <a:solidFill>
                  <a:srgbClr val="7030A0"/>
                </a:solidFill>
              </a:rPr>
              <a:t>bounded above</a:t>
            </a:r>
            <a:r>
              <a:rPr lang="en-US" altLang="en-US" sz="2400" b="1" dirty="0">
                <a:solidFill>
                  <a:srgbClr val="7030A0"/>
                </a:solidFill>
              </a:rPr>
              <a:t> </a:t>
            </a:r>
            <a:r>
              <a:rPr lang="en-US" altLang="en-US" sz="2400" dirty="0"/>
              <a:t>by some </a:t>
            </a:r>
            <a:r>
              <a:rPr lang="en-US" altLang="en-US" sz="2400" b="1" u="sng" dirty="0">
                <a:solidFill>
                  <a:srgbClr val="7030A0"/>
                </a:solidFill>
              </a:rPr>
              <a:t>constant multiple</a:t>
            </a:r>
            <a:r>
              <a:rPr lang="en-US" altLang="en-US" sz="2400" dirty="0"/>
              <a:t> of g(n) </a:t>
            </a:r>
            <a:r>
              <a:rPr lang="en-US" altLang="en-US" sz="2400" b="1" u="sng" dirty="0">
                <a:solidFill>
                  <a:srgbClr val="7030A0"/>
                </a:solidFill>
              </a:rPr>
              <a:t>for all large n</a:t>
            </a:r>
            <a:r>
              <a:rPr lang="en-US" altLang="en-US" sz="2400" dirty="0"/>
              <a:t>, i.e., there exist some positive constant c and some non-negative integer n</a:t>
            </a:r>
            <a:r>
              <a:rPr lang="en-US" altLang="en-US" sz="2400" baseline="-25000" dirty="0"/>
              <a:t>0</a:t>
            </a:r>
            <a:r>
              <a:rPr lang="en-US" altLang="en-US" sz="2400" dirty="0"/>
              <a:t>                                                                        such that </a:t>
            </a:r>
            <a:r>
              <a:rPr lang="en-US" altLang="en-US" sz="2400" b="1" dirty="0"/>
              <a:t>t(n) ≤ c g(n) for every n ≥ n</a:t>
            </a:r>
            <a:r>
              <a:rPr lang="en-US" altLang="en-US" sz="2400" b="1" baseline="-25000" dirty="0"/>
              <a:t>0</a:t>
            </a:r>
            <a:r>
              <a:rPr lang="en-US" altLang="en-US" sz="2400" b="1" dirty="0"/>
              <a:t> </a:t>
            </a:r>
          </a:p>
          <a:p>
            <a:pPr marL="457200" lvl="1" indent="0">
              <a:buNone/>
              <a:defRPr/>
            </a:pPr>
            <a:endParaRPr lang="en-US" altLang="en-US" sz="2400" b="1" dirty="0"/>
          </a:p>
          <a:p>
            <a:pPr>
              <a:defRPr/>
            </a:pPr>
            <a:r>
              <a:rPr lang="en-US" altLang="en-US" sz="2800" dirty="0"/>
              <a:t>Examples</a:t>
            </a:r>
          </a:p>
          <a:p>
            <a:pPr lvl="1">
              <a:defRPr/>
            </a:pPr>
            <a:r>
              <a:rPr lang="en-US" altLang="en-US" sz="2400" dirty="0"/>
              <a:t>10</a:t>
            </a:r>
            <a:r>
              <a:rPr lang="en-US" altLang="en-US" sz="2400" i="1" dirty="0"/>
              <a:t>n</a:t>
            </a:r>
            <a:r>
              <a:rPr lang="en-US" altLang="en-US" sz="2400" dirty="0"/>
              <a:t> </a:t>
            </a:r>
            <a:r>
              <a:rPr lang="en-US" altLang="en-US" sz="2400" b="0" i="1" dirty="0">
                <a:sym typeface="Symbol" panose="05050102010706020507" pitchFamily="18" charset="2"/>
              </a:rPr>
              <a:t> </a:t>
            </a:r>
            <a:r>
              <a:rPr lang="en-US" altLang="en-US" sz="2400" dirty="0"/>
              <a:t>O(</a:t>
            </a:r>
            <a:r>
              <a:rPr lang="en-US" altLang="en-US" sz="2400" i="1" dirty="0"/>
              <a:t>n</a:t>
            </a:r>
            <a:r>
              <a:rPr lang="en-US" altLang="en-US" sz="2400" baseline="30000" dirty="0"/>
              <a:t>2</a:t>
            </a:r>
            <a:r>
              <a:rPr lang="en-US" altLang="en-US" sz="2400" dirty="0"/>
              <a:t>)</a:t>
            </a:r>
          </a:p>
          <a:p>
            <a:pPr lvl="2">
              <a:defRPr/>
            </a:pPr>
            <a:r>
              <a:rPr lang="pt-BR" altLang="en-US" sz="2000" dirty="0"/>
              <a:t>10n ≤ </a:t>
            </a:r>
            <a:r>
              <a:rPr lang="pt-BR" altLang="en-US" sz="2000" dirty="0">
                <a:highlight>
                  <a:srgbClr val="FFFF00"/>
                </a:highlight>
              </a:rPr>
              <a:t>10</a:t>
            </a:r>
            <a:r>
              <a:rPr lang="pt-BR" altLang="en-US" sz="2000" dirty="0"/>
              <a:t>n</a:t>
            </a:r>
            <a:r>
              <a:rPr lang="pt-BR" altLang="en-US" sz="2000" baseline="30000" dirty="0"/>
              <a:t>2</a:t>
            </a:r>
            <a:r>
              <a:rPr lang="pt-BR" altLang="en-US" sz="2000" dirty="0"/>
              <a:t>  for n ≥ </a:t>
            </a:r>
            <a:r>
              <a:rPr lang="pt-BR" altLang="en-US" sz="2000" dirty="0">
                <a:highlight>
                  <a:srgbClr val="FFFF00"/>
                </a:highlight>
              </a:rPr>
              <a:t>1</a:t>
            </a:r>
            <a:r>
              <a:rPr lang="pt-BR" altLang="en-US" sz="2000" dirty="0"/>
              <a:t>  or 10n ≤ n</a:t>
            </a:r>
            <a:r>
              <a:rPr lang="pt-BR" altLang="en-US" sz="2000" baseline="30000" dirty="0"/>
              <a:t>2</a:t>
            </a:r>
            <a:r>
              <a:rPr lang="pt-BR" altLang="en-US" sz="2000" dirty="0"/>
              <a:t>  for n ≥ 10</a:t>
            </a:r>
            <a:endParaRPr lang="en-US" altLang="en-US" sz="2000" dirty="0"/>
          </a:p>
          <a:p>
            <a:pPr lvl="1">
              <a:defRPr/>
            </a:pPr>
            <a:r>
              <a:rPr lang="en-US" altLang="en-US" sz="2400" dirty="0"/>
              <a:t>5</a:t>
            </a:r>
            <a:r>
              <a:rPr lang="en-US" altLang="en-US" sz="2400" i="1" dirty="0"/>
              <a:t>n</a:t>
            </a:r>
            <a:r>
              <a:rPr lang="en-US" altLang="en-US" sz="2400" dirty="0"/>
              <a:t>+20 </a:t>
            </a:r>
            <a:r>
              <a:rPr lang="en-US" altLang="en-US" sz="2400" b="0" i="1" dirty="0">
                <a:sym typeface="Symbol" panose="05050102010706020507" pitchFamily="18" charset="2"/>
              </a:rPr>
              <a:t> </a:t>
            </a:r>
            <a:r>
              <a:rPr lang="en-US" altLang="en-US" sz="2400" dirty="0"/>
              <a:t>O(</a:t>
            </a:r>
            <a:r>
              <a:rPr lang="en-US" altLang="en-US" sz="2400" i="1" dirty="0"/>
              <a:t>n</a:t>
            </a:r>
            <a:r>
              <a:rPr lang="en-US" altLang="en-US" sz="2400" dirty="0"/>
              <a:t>)</a:t>
            </a:r>
          </a:p>
          <a:p>
            <a:pPr lvl="2">
              <a:defRPr/>
            </a:pPr>
            <a:r>
              <a:rPr lang="en-US" altLang="en-US" sz="2000" dirty="0"/>
              <a:t>5n+20 ≤ 10n for n ≥ 4</a:t>
            </a:r>
          </a:p>
          <a:p>
            <a:pPr lvl="2">
              <a:defRPr/>
            </a:pPr>
            <a:endParaRPr lang="en-US" altLang="en-US" sz="2000" dirty="0"/>
          </a:p>
        </p:txBody>
      </p:sp>
      <p:pic>
        <p:nvPicPr>
          <p:cNvPr id="5" name="Picture 4">
            <a:extLst>
              <a:ext uri="{FF2B5EF4-FFF2-40B4-BE49-F238E27FC236}">
                <a16:creationId xmlns:a16="http://schemas.microsoft.com/office/drawing/2014/main" id="{A93D62B2-9F86-39D9-1168-439AC3AF9B26}"/>
              </a:ext>
            </a:extLst>
          </p:cNvPr>
          <p:cNvPicPr>
            <a:picLocks noChangeAspect="1"/>
          </p:cNvPicPr>
          <p:nvPr/>
        </p:nvPicPr>
        <p:blipFill>
          <a:blip r:embed="rId6"/>
          <a:stretch>
            <a:fillRect/>
          </a:stretch>
        </p:blipFill>
        <p:spPr>
          <a:xfrm>
            <a:off x="7395379" y="2632453"/>
            <a:ext cx="4491821" cy="3723898"/>
          </a:xfrm>
          <a:prstGeom prst="rect">
            <a:avLst/>
          </a:prstGeom>
        </p:spPr>
      </p:pic>
      <p:sp>
        <p:nvSpPr>
          <p:cNvPr id="8" name="Text Box 16">
            <a:extLst>
              <a:ext uri="{FF2B5EF4-FFF2-40B4-BE49-F238E27FC236}">
                <a16:creationId xmlns:a16="http://schemas.microsoft.com/office/drawing/2014/main" id="{531CBDEB-2C0E-2AB1-327E-0F5FCBC31C98}"/>
              </a:ext>
            </a:extLst>
          </p:cNvPr>
          <p:cNvSpPr txBox="1">
            <a:spLocks noChangeArrowheads="1"/>
          </p:cNvSpPr>
          <p:nvPr/>
        </p:nvSpPr>
        <p:spPr bwMode="auto">
          <a:xfrm>
            <a:off x="8945880" y="4953000"/>
            <a:ext cx="29413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FontTx/>
              <a:buNone/>
            </a:pPr>
            <a:r>
              <a:rPr kumimoji="0" lang="en-US" altLang="en-US" sz="1600" b="0" dirty="0">
                <a:solidFill>
                  <a:srgbClr val="FF6600"/>
                </a:solidFill>
              </a:rPr>
              <a:t>order of growth of  t(n) ≤ order  of growth of g(n) within a constant multiple</a:t>
            </a:r>
          </a:p>
        </p:txBody>
      </p:sp>
    </p:spTree>
    <p:extLst>
      <p:ext uri="{BB962C8B-B14F-4D97-AF65-F5344CB8AC3E}">
        <p14:creationId xmlns:p14="http://schemas.microsoft.com/office/powerpoint/2010/main" val="2685331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altLang="en-US" sz="3800" b="1" dirty="0">
                <a:solidFill>
                  <a:srgbClr val="FFC000"/>
                </a:solidFill>
                <a:sym typeface="Symbol" panose="05050102010706020507" pitchFamily="18" charset="2"/>
              </a:rPr>
              <a:t></a:t>
            </a:r>
            <a:r>
              <a:rPr lang="en-US" sz="3800" b="1" dirty="0">
                <a:solidFill>
                  <a:srgbClr val="FFC000"/>
                </a:solidFill>
              </a:rPr>
              <a:t>-notation</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19</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277600" cy="475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Definition</a:t>
            </a:r>
          </a:p>
          <a:p>
            <a:pPr lvl="1">
              <a:defRPr/>
            </a:pPr>
            <a:r>
              <a:rPr lang="en-US" altLang="en-US" sz="2400" dirty="0"/>
              <a:t>t(n) is in </a:t>
            </a:r>
            <a:r>
              <a:rPr lang="en-US" altLang="en-US" sz="2400" dirty="0">
                <a:sym typeface="Symbol" panose="05050102010706020507" pitchFamily="18" charset="2"/>
              </a:rPr>
              <a:t></a:t>
            </a:r>
            <a:r>
              <a:rPr lang="en-US" altLang="en-US" sz="2400" dirty="0"/>
              <a:t>(g(n)), denoted </a:t>
            </a:r>
            <a:r>
              <a:rPr lang="en-US" altLang="en-US" sz="2400" b="1" dirty="0"/>
              <a:t>t(n) </a:t>
            </a:r>
            <a:r>
              <a:rPr lang="en-US" altLang="en-US" sz="2400" b="1" i="1" dirty="0">
                <a:sym typeface="Symbol" panose="05050102010706020507" pitchFamily="18" charset="2"/>
              </a:rPr>
              <a:t> </a:t>
            </a:r>
            <a:r>
              <a:rPr lang="en-US" altLang="en-US" sz="2400" dirty="0">
                <a:sym typeface="Symbol" panose="05050102010706020507" pitchFamily="18" charset="2"/>
              </a:rPr>
              <a:t></a:t>
            </a:r>
            <a:r>
              <a:rPr lang="en-US" altLang="en-US" sz="2400" b="1" dirty="0"/>
              <a:t>(g(n))</a:t>
            </a:r>
            <a:r>
              <a:rPr lang="en-US" altLang="en-US" sz="2400" dirty="0"/>
              <a:t>, if t(n) is </a:t>
            </a:r>
            <a:r>
              <a:rPr lang="en-US" altLang="en-US" sz="2400" b="1" u="sng" dirty="0">
                <a:solidFill>
                  <a:srgbClr val="7030A0"/>
                </a:solidFill>
              </a:rPr>
              <a:t>bounded below</a:t>
            </a:r>
            <a:r>
              <a:rPr lang="en-US" altLang="en-US" sz="2400" dirty="0">
                <a:solidFill>
                  <a:srgbClr val="7030A0"/>
                </a:solidFill>
              </a:rPr>
              <a:t> </a:t>
            </a:r>
            <a:r>
              <a:rPr lang="en-US" altLang="en-US" sz="2400" dirty="0"/>
              <a:t>by some </a:t>
            </a:r>
            <a:r>
              <a:rPr lang="en-US" altLang="en-US" sz="2400" b="1" u="sng" dirty="0">
                <a:solidFill>
                  <a:srgbClr val="7030A0"/>
                </a:solidFill>
              </a:rPr>
              <a:t>constant multiple</a:t>
            </a:r>
            <a:r>
              <a:rPr lang="en-US" altLang="en-US" sz="2400" dirty="0">
                <a:solidFill>
                  <a:srgbClr val="7030A0"/>
                </a:solidFill>
              </a:rPr>
              <a:t> </a:t>
            </a:r>
            <a:r>
              <a:rPr lang="en-US" altLang="en-US" sz="2400" dirty="0"/>
              <a:t>of g(n) </a:t>
            </a:r>
            <a:r>
              <a:rPr lang="en-US" altLang="en-US" sz="2400" b="1" u="sng" dirty="0">
                <a:solidFill>
                  <a:srgbClr val="7030A0"/>
                </a:solidFill>
              </a:rPr>
              <a:t>for all large n</a:t>
            </a:r>
            <a:r>
              <a:rPr lang="en-US" altLang="en-US" sz="2400" dirty="0"/>
              <a:t>, i.e., there exist some positive constant c and some non-negative integer n</a:t>
            </a:r>
            <a:r>
              <a:rPr lang="en-US" altLang="en-US" sz="2400" baseline="-25000" dirty="0"/>
              <a:t>0</a:t>
            </a:r>
            <a:r>
              <a:rPr lang="en-US" altLang="en-US" sz="2400" dirty="0"/>
              <a:t>                                                                          such that </a:t>
            </a:r>
            <a:r>
              <a:rPr lang="en-US" altLang="en-US" sz="2400" b="1" dirty="0"/>
              <a:t>t(n) ≥ c g(n) for every n ≥ n</a:t>
            </a:r>
            <a:r>
              <a:rPr lang="en-US" altLang="en-US" sz="2400" b="1" baseline="-25000" dirty="0"/>
              <a:t>0</a:t>
            </a:r>
            <a:r>
              <a:rPr lang="en-US" altLang="en-US" sz="2400" b="1" dirty="0"/>
              <a:t> </a:t>
            </a:r>
          </a:p>
          <a:p>
            <a:pPr marL="457200" lvl="1" indent="0">
              <a:buNone/>
              <a:defRPr/>
            </a:pPr>
            <a:endParaRPr lang="en-US" altLang="en-US" sz="2400" b="1" dirty="0"/>
          </a:p>
          <a:p>
            <a:pPr>
              <a:defRPr/>
            </a:pPr>
            <a:r>
              <a:rPr lang="en-US" altLang="en-US" sz="2800" dirty="0"/>
              <a:t>Exercises: prove the following</a:t>
            </a:r>
          </a:p>
          <a:p>
            <a:pPr lvl="1">
              <a:lnSpc>
                <a:spcPct val="150000"/>
              </a:lnSpc>
              <a:defRPr/>
            </a:pPr>
            <a:r>
              <a:rPr lang="en-US" altLang="en-US" sz="2400" b="0" dirty="0">
                <a:cs typeface="Times New Roman" panose="02020603050405020304" pitchFamily="18" charset="0"/>
              </a:rPr>
              <a:t>10</a:t>
            </a:r>
            <a:r>
              <a:rPr lang="en-US" altLang="en-US" sz="2400" b="0" i="1" dirty="0">
                <a:cs typeface="Times New Roman" panose="02020603050405020304" pitchFamily="18" charset="0"/>
              </a:rPr>
              <a:t>n</a:t>
            </a:r>
            <a:r>
              <a:rPr lang="en-US" altLang="en-US" sz="2400" b="0" i="1" baseline="30000" dirty="0">
                <a:cs typeface="Times New Roman" panose="02020603050405020304" pitchFamily="18" charset="0"/>
              </a:rPr>
              <a:t>2</a:t>
            </a:r>
            <a:r>
              <a:rPr lang="en-US" altLang="en-US" sz="2400" b="0" i="1" dirty="0">
                <a:cs typeface="Times New Roman" panose="02020603050405020304" pitchFamily="18" charset="0"/>
              </a:rPr>
              <a:t> </a:t>
            </a:r>
            <a:r>
              <a:rPr lang="en-US" altLang="en-US" sz="2400" b="0" i="1" dirty="0">
                <a:sym typeface="Symbol" panose="05050102010706020507" pitchFamily="18" charset="2"/>
              </a:rPr>
              <a:t></a:t>
            </a:r>
            <a:r>
              <a:rPr lang="en-US" altLang="en-US" sz="2400" b="0" dirty="0">
                <a:cs typeface="Times New Roman" panose="02020603050405020304" pitchFamily="18" charset="0"/>
              </a:rPr>
              <a:t> </a:t>
            </a:r>
            <a:r>
              <a:rPr lang="en-US" altLang="en-US" sz="2400" b="0" dirty="0">
                <a:sym typeface="Symbol" panose="05050102010706020507" pitchFamily="18" charset="2"/>
              </a:rPr>
              <a:t></a:t>
            </a:r>
            <a:r>
              <a:rPr lang="en-US" altLang="en-US" sz="2400" b="0" dirty="0">
                <a:cs typeface="Times New Roman" panose="02020603050405020304" pitchFamily="18" charset="0"/>
              </a:rPr>
              <a:t>(</a:t>
            </a:r>
            <a:r>
              <a:rPr lang="en-US" altLang="en-US" sz="2400" b="0" i="1" dirty="0">
                <a:cs typeface="Times New Roman" panose="02020603050405020304" pitchFamily="18" charset="0"/>
              </a:rPr>
              <a:t>n</a:t>
            </a:r>
            <a:r>
              <a:rPr lang="en-US" altLang="en-US" sz="2400" b="0" baseline="30000" dirty="0">
                <a:cs typeface="Times New Roman" panose="02020603050405020304" pitchFamily="18" charset="0"/>
              </a:rPr>
              <a:t>2</a:t>
            </a:r>
            <a:r>
              <a:rPr lang="en-US" altLang="en-US" sz="2400" b="0" dirty="0">
                <a:cs typeface="Times New Roman" panose="02020603050405020304" pitchFamily="18" charset="0"/>
              </a:rPr>
              <a:t>)</a:t>
            </a:r>
          </a:p>
          <a:p>
            <a:pPr lvl="1">
              <a:lnSpc>
                <a:spcPct val="150000"/>
              </a:lnSpc>
              <a:defRPr/>
            </a:pPr>
            <a:r>
              <a:rPr lang="en-US" altLang="en-US" sz="2400" b="0" dirty="0">
                <a:cs typeface="Times New Roman" panose="02020603050405020304" pitchFamily="18" charset="0"/>
              </a:rPr>
              <a:t>0.3</a:t>
            </a:r>
            <a:r>
              <a:rPr lang="en-US" altLang="en-US" sz="2400" b="0" i="1" dirty="0">
                <a:cs typeface="Times New Roman" panose="02020603050405020304" pitchFamily="18" charset="0"/>
              </a:rPr>
              <a:t>n</a:t>
            </a:r>
            <a:r>
              <a:rPr lang="en-US" altLang="en-US" sz="2400" b="0" i="1" baseline="30000" dirty="0">
                <a:cs typeface="Times New Roman" panose="02020603050405020304" pitchFamily="18" charset="0"/>
              </a:rPr>
              <a:t>2</a:t>
            </a:r>
            <a:r>
              <a:rPr lang="en-US" altLang="en-US" sz="2400" b="0" i="1" dirty="0">
                <a:cs typeface="Times New Roman" panose="02020603050405020304" pitchFamily="18" charset="0"/>
              </a:rPr>
              <a:t> - 2n</a:t>
            </a:r>
            <a:r>
              <a:rPr lang="en-US" altLang="en-US" sz="2400" b="0" dirty="0">
                <a:cs typeface="Times New Roman" panose="02020603050405020304" pitchFamily="18" charset="0"/>
              </a:rPr>
              <a:t> </a:t>
            </a:r>
            <a:r>
              <a:rPr lang="en-US" altLang="en-US" sz="2400" b="0" i="1" dirty="0">
                <a:sym typeface="Symbol" panose="05050102010706020507" pitchFamily="18" charset="2"/>
              </a:rPr>
              <a:t></a:t>
            </a:r>
            <a:r>
              <a:rPr lang="en-US" altLang="en-US" sz="2400" b="0" dirty="0">
                <a:cs typeface="Times New Roman" panose="02020603050405020304" pitchFamily="18" charset="0"/>
              </a:rPr>
              <a:t> </a:t>
            </a:r>
            <a:r>
              <a:rPr lang="en-US" altLang="en-US" sz="2400" b="0" dirty="0">
                <a:sym typeface="Symbol" panose="05050102010706020507" pitchFamily="18" charset="2"/>
              </a:rPr>
              <a:t></a:t>
            </a:r>
            <a:r>
              <a:rPr lang="en-US" altLang="en-US" sz="2400" b="0" dirty="0">
                <a:cs typeface="Times New Roman" panose="02020603050405020304" pitchFamily="18" charset="0"/>
              </a:rPr>
              <a:t>(</a:t>
            </a:r>
            <a:r>
              <a:rPr lang="en-US" altLang="en-US" sz="2400" b="0" i="1" dirty="0">
                <a:cs typeface="Times New Roman" panose="02020603050405020304" pitchFamily="18" charset="0"/>
              </a:rPr>
              <a:t>n</a:t>
            </a:r>
            <a:r>
              <a:rPr lang="en-US" altLang="en-US" sz="2400" b="0" baseline="30000" dirty="0">
                <a:cs typeface="Times New Roman" panose="02020603050405020304" pitchFamily="18" charset="0"/>
              </a:rPr>
              <a:t>2</a:t>
            </a:r>
            <a:r>
              <a:rPr lang="en-US" altLang="en-US" sz="2400" b="0" dirty="0">
                <a:cs typeface="Times New Roman" panose="02020603050405020304" pitchFamily="18" charset="0"/>
              </a:rPr>
              <a:t>)</a:t>
            </a:r>
          </a:p>
          <a:p>
            <a:pPr lvl="1">
              <a:lnSpc>
                <a:spcPct val="150000"/>
              </a:lnSpc>
              <a:defRPr/>
            </a:pPr>
            <a:r>
              <a:rPr lang="en-US" altLang="en-US" sz="2400" b="0" dirty="0">
                <a:cs typeface="Times New Roman" panose="02020603050405020304" pitchFamily="18" charset="0"/>
              </a:rPr>
              <a:t>0.1</a:t>
            </a:r>
            <a:r>
              <a:rPr lang="en-US" altLang="en-US" sz="2400" b="0" i="1" dirty="0">
                <a:cs typeface="Times New Roman" panose="02020603050405020304" pitchFamily="18" charset="0"/>
              </a:rPr>
              <a:t>n</a:t>
            </a:r>
            <a:r>
              <a:rPr lang="en-US" altLang="en-US" sz="2400" b="0" i="1" baseline="30000" dirty="0">
                <a:cs typeface="Times New Roman" panose="02020603050405020304" pitchFamily="18" charset="0"/>
              </a:rPr>
              <a:t>3</a:t>
            </a:r>
            <a:r>
              <a:rPr lang="en-US" altLang="en-US" sz="2400" b="0" i="1" dirty="0">
                <a:cs typeface="Times New Roman" panose="02020603050405020304" pitchFamily="18" charset="0"/>
              </a:rPr>
              <a:t> </a:t>
            </a:r>
            <a:r>
              <a:rPr lang="en-US" altLang="en-US" sz="2400" b="0" i="1" dirty="0">
                <a:sym typeface="Symbol" panose="05050102010706020507" pitchFamily="18" charset="2"/>
              </a:rPr>
              <a:t></a:t>
            </a:r>
            <a:r>
              <a:rPr lang="en-US" altLang="en-US" sz="2400" b="0" dirty="0">
                <a:cs typeface="Times New Roman" panose="02020603050405020304" pitchFamily="18" charset="0"/>
              </a:rPr>
              <a:t> </a:t>
            </a:r>
            <a:r>
              <a:rPr lang="en-US" altLang="en-US" sz="2400" b="0" dirty="0">
                <a:sym typeface="Symbol" panose="05050102010706020507" pitchFamily="18" charset="2"/>
              </a:rPr>
              <a:t></a:t>
            </a:r>
            <a:r>
              <a:rPr lang="en-US" altLang="en-US" sz="2400" b="0" dirty="0">
                <a:cs typeface="Times New Roman" panose="02020603050405020304" pitchFamily="18" charset="0"/>
              </a:rPr>
              <a:t>(</a:t>
            </a:r>
            <a:r>
              <a:rPr lang="en-US" altLang="en-US" sz="2400" b="0" i="1" dirty="0">
                <a:cs typeface="Times New Roman" panose="02020603050405020304" pitchFamily="18" charset="0"/>
              </a:rPr>
              <a:t>n</a:t>
            </a:r>
            <a:r>
              <a:rPr lang="en-US" altLang="en-US" sz="2400" b="0" baseline="30000" dirty="0">
                <a:cs typeface="Times New Roman" panose="02020603050405020304" pitchFamily="18" charset="0"/>
              </a:rPr>
              <a:t>2</a:t>
            </a:r>
            <a:r>
              <a:rPr lang="en-US" altLang="en-US" sz="2400" b="0" dirty="0">
                <a:cs typeface="Times New Roman" panose="02020603050405020304" pitchFamily="18" charset="0"/>
              </a:rPr>
              <a:t>)</a:t>
            </a:r>
          </a:p>
        </p:txBody>
      </p:sp>
      <p:pic>
        <p:nvPicPr>
          <p:cNvPr id="2" name="Picture 1">
            <a:extLst>
              <a:ext uri="{FF2B5EF4-FFF2-40B4-BE49-F238E27FC236}">
                <a16:creationId xmlns:a16="http://schemas.microsoft.com/office/drawing/2014/main" id="{2DB5AB9A-6C9B-6060-719E-ADEEFFC457C9}"/>
              </a:ext>
            </a:extLst>
          </p:cNvPr>
          <p:cNvPicPr>
            <a:picLocks noChangeAspect="1"/>
          </p:cNvPicPr>
          <p:nvPr/>
        </p:nvPicPr>
        <p:blipFill>
          <a:blip r:embed="rId6"/>
          <a:stretch>
            <a:fillRect/>
          </a:stretch>
        </p:blipFill>
        <p:spPr>
          <a:xfrm>
            <a:off x="7395379" y="2667000"/>
            <a:ext cx="4491821" cy="3626875"/>
          </a:xfrm>
          <a:prstGeom prst="rect">
            <a:avLst/>
          </a:prstGeom>
        </p:spPr>
      </p:pic>
    </p:spTree>
    <p:extLst>
      <p:ext uri="{BB962C8B-B14F-4D97-AF65-F5344CB8AC3E}">
        <p14:creationId xmlns:p14="http://schemas.microsoft.com/office/powerpoint/2010/main" val="4088666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altLang="en-US" sz="3800" b="1" dirty="0">
                <a:solidFill>
                  <a:srgbClr val="FFC000"/>
                </a:solidFill>
                <a:sym typeface="Symbol" panose="05050102010706020507" pitchFamily="18" charset="2"/>
              </a:rPr>
              <a:t></a:t>
            </a:r>
            <a:r>
              <a:rPr lang="en-US" sz="3800" b="1" dirty="0">
                <a:solidFill>
                  <a:srgbClr val="FFC000"/>
                </a:solidFill>
              </a:rPr>
              <a:t>-notation</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20</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277600" cy="5126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Definition</a:t>
            </a:r>
          </a:p>
          <a:p>
            <a:pPr lvl="1">
              <a:defRPr/>
            </a:pPr>
            <a:r>
              <a:rPr lang="en-US" altLang="en-US" sz="2400" dirty="0"/>
              <a:t>t(n) is in </a:t>
            </a:r>
            <a:r>
              <a:rPr lang="en-US" altLang="en-US" sz="2400" dirty="0">
                <a:cs typeface="Times New Roman" panose="02020603050405020304" pitchFamily="18" charset="0"/>
                <a:sym typeface="Symbol" panose="05050102010706020507" pitchFamily="18" charset="2"/>
              </a:rPr>
              <a:t></a:t>
            </a:r>
            <a:r>
              <a:rPr lang="en-US" altLang="en-US" sz="2400" dirty="0"/>
              <a:t>(g(n)), denoted </a:t>
            </a:r>
            <a:r>
              <a:rPr lang="en-US" altLang="en-US" sz="2400" b="1" dirty="0"/>
              <a:t>t(n) </a:t>
            </a:r>
            <a:r>
              <a:rPr lang="en-US" altLang="en-US" sz="2400" b="1" i="1" dirty="0">
                <a:sym typeface="Symbol" panose="05050102010706020507" pitchFamily="18" charset="2"/>
              </a:rPr>
              <a:t> </a:t>
            </a:r>
            <a:r>
              <a:rPr lang="en-US" altLang="en-US" sz="2400" dirty="0">
                <a:cs typeface="Times New Roman" panose="02020603050405020304" pitchFamily="18" charset="0"/>
                <a:sym typeface="Symbol" panose="05050102010706020507" pitchFamily="18" charset="2"/>
              </a:rPr>
              <a:t></a:t>
            </a:r>
            <a:r>
              <a:rPr lang="en-US" altLang="en-US" sz="2400" b="1" dirty="0"/>
              <a:t>(g(n))</a:t>
            </a:r>
            <a:r>
              <a:rPr lang="en-US" altLang="en-US" sz="2400" dirty="0"/>
              <a:t>, if t(n) is </a:t>
            </a:r>
            <a:r>
              <a:rPr lang="en-US" altLang="en-US" sz="2400" b="1" u="sng" dirty="0">
                <a:solidFill>
                  <a:srgbClr val="7030A0"/>
                </a:solidFill>
              </a:rPr>
              <a:t>bounded both above and below</a:t>
            </a:r>
            <a:r>
              <a:rPr lang="en-US" altLang="en-US" sz="2400" dirty="0"/>
              <a:t> by some </a:t>
            </a:r>
            <a:r>
              <a:rPr lang="en-US" altLang="en-US" sz="2400" b="1" u="sng" dirty="0">
                <a:solidFill>
                  <a:srgbClr val="7030A0"/>
                </a:solidFill>
              </a:rPr>
              <a:t>constant multiples</a:t>
            </a:r>
            <a:r>
              <a:rPr lang="en-US" altLang="en-US" sz="2400" b="1" dirty="0">
                <a:solidFill>
                  <a:srgbClr val="7030A0"/>
                </a:solidFill>
              </a:rPr>
              <a:t> </a:t>
            </a:r>
            <a:r>
              <a:rPr lang="en-US" altLang="en-US" sz="2400" dirty="0"/>
              <a:t>of g(n) for all large n, i.e., there exist some positive constants c</a:t>
            </a:r>
            <a:r>
              <a:rPr lang="en-US" altLang="en-US" sz="2400" baseline="-25000" dirty="0"/>
              <a:t>1</a:t>
            </a:r>
            <a:r>
              <a:rPr lang="en-US" altLang="en-US" sz="2400" dirty="0"/>
              <a:t> and c</a:t>
            </a:r>
            <a:r>
              <a:rPr lang="en-US" altLang="en-US" sz="2400" baseline="-25000" dirty="0"/>
              <a:t>2</a:t>
            </a:r>
            <a:r>
              <a:rPr lang="en-US" altLang="en-US" sz="2400" dirty="0"/>
              <a:t> and                                                               some non-negative integer n</a:t>
            </a:r>
            <a:r>
              <a:rPr lang="en-US" altLang="en-US" sz="2400" baseline="-25000" dirty="0"/>
              <a:t>0 </a:t>
            </a:r>
            <a:r>
              <a:rPr lang="en-US" altLang="en-US" sz="2400" dirty="0"/>
              <a:t>such that                                                               </a:t>
            </a:r>
            <a:r>
              <a:rPr lang="en-US" altLang="en-US" sz="2400" b="1" dirty="0"/>
              <a:t>c</a:t>
            </a:r>
            <a:r>
              <a:rPr lang="en-US" altLang="en-US" sz="2400" b="1" baseline="-25000" dirty="0"/>
              <a:t>2</a:t>
            </a:r>
            <a:r>
              <a:rPr lang="en-US" altLang="en-US" sz="2400" b="1" dirty="0"/>
              <a:t> g(n) ≤ t(n) ≤ c</a:t>
            </a:r>
            <a:r>
              <a:rPr lang="en-US" altLang="en-US" sz="2400" b="1" baseline="-25000" dirty="0"/>
              <a:t>1</a:t>
            </a:r>
            <a:r>
              <a:rPr lang="en-US" altLang="en-US" sz="2400" b="1" dirty="0"/>
              <a:t> g(n) for every n ≥ n</a:t>
            </a:r>
            <a:r>
              <a:rPr lang="en-US" altLang="en-US" sz="2400" b="1" baseline="-25000" dirty="0"/>
              <a:t>0</a:t>
            </a:r>
            <a:r>
              <a:rPr lang="en-US" altLang="en-US" sz="2400" b="1" dirty="0"/>
              <a:t> </a:t>
            </a:r>
          </a:p>
          <a:p>
            <a:pPr marL="457200" lvl="1" indent="0">
              <a:buNone/>
              <a:defRPr/>
            </a:pPr>
            <a:endParaRPr lang="en-US" altLang="en-US" sz="2400" b="1" dirty="0"/>
          </a:p>
          <a:p>
            <a:pPr>
              <a:defRPr/>
            </a:pPr>
            <a:r>
              <a:rPr lang="en-US" altLang="en-US" sz="2800" dirty="0"/>
              <a:t>Exercises: prove the following</a:t>
            </a:r>
          </a:p>
          <a:p>
            <a:pPr lvl="1">
              <a:lnSpc>
                <a:spcPct val="150000"/>
              </a:lnSpc>
              <a:defRPr/>
            </a:pPr>
            <a:r>
              <a:rPr lang="pt-BR" altLang="en-US" sz="2400" b="0" dirty="0">
                <a:cs typeface="Times New Roman" panose="02020603050405020304" pitchFamily="18" charset="0"/>
              </a:rPr>
              <a:t>10n</a:t>
            </a:r>
            <a:r>
              <a:rPr lang="pt-BR" altLang="en-US" sz="2400" b="0" baseline="30000" dirty="0">
                <a:cs typeface="Times New Roman" panose="02020603050405020304" pitchFamily="18" charset="0"/>
              </a:rPr>
              <a:t>2</a:t>
            </a:r>
            <a:r>
              <a:rPr lang="pt-BR" altLang="en-US" sz="2400" b="0" dirty="0">
                <a:cs typeface="Times New Roman" panose="02020603050405020304" pitchFamily="18" charset="0"/>
              </a:rPr>
              <a:t> </a:t>
            </a:r>
            <a:r>
              <a:rPr lang="en-US" altLang="en-US" sz="2400" b="1" i="1" dirty="0">
                <a:sym typeface="Symbol" panose="05050102010706020507" pitchFamily="18" charset="2"/>
              </a:rPr>
              <a:t> </a:t>
            </a:r>
            <a:r>
              <a:rPr lang="en-US" altLang="en-US" sz="2400" dirty="0">
                <a:cs typeface="Times New Roman" panose="02020603050405020304" pitchFamily="18" charset="0"/>
                <a:sym typeface="Symbol" panose="05050102010706020507" pitchFamily="18" charset="2"/>
              </a:rPr>
              <a:t></a:t>
            </a:r>
            <a:r>
              <a:rPr lang="pt-BR" altLang="en-US" sz="2400" b="0" dirty="0">
                <a:cs typeface="Times New Roman" panose="02020603050405020304" pitchFamily="18" charset="0"/>
              </a:rPr>
              <a:t>(n</a:t>
            </a:r>
            <a:r>
              <a:rPr lang="pt-BR" altLang="en-US" sz="2400" b="0" baseline="30000" dirty="0">
                <a:cs typeface="Times New Roman" panose="02020603050405020304" pitchFamily="18" charset="0"/>
              </a:rPr>
              <a:t>2</a:t>
            </a:r>
            <a:r>
              <a:rPr lang="pt-BR" altLang="en-US" sz="2400" b="0" dirty="0">
                <a:cs typeface="Times New Roman" panose="02020603050405020304" pitchFamily="18" charset="0"/>
              </a:rPr>
              <a:t>)</a:t>
            </a:r>
          </a:p>
          <a:p>
            <a:pPr lvl="1">
              <a:lnSpc>
                <a:spcPct val="150000"/>
              </a:lnSpc>
              <a:defRPr/>
            </a:pPr>
            <a:r>
              <a:rPr lang="pt-BR" altLang="en-US" sz="2400" b="0" dirty="0">
                <a:cs typeface="Times New Roman" panose="02020603050405020304" pitchFamily="18" charset="0"/>
              </a:rPr>
              <a:t>0.3n</a:t>
            </a:r>
            <a:r>
              <a:rPr lang="pt-BR" altLang="en-US" sz="2400" b="0" baseline="30000" dirty="0">
                <a:cs typeface="Times New Roman" panose="02020603050405020304" pitchFamily="18" charset="0"/>
              </a:rPr>
              <a:t>2</a:t>
            </a:r>
            <a:r>
              <a:rPr lang="pt-BR" altLang="en-US" sz="2400" b="0" dirty="0">
                <a:cs typeface="Times New Roman" panose="02020603050405020304" pitchFamily="18" charset="0"/>
              </a:rPr>
              <a:t> - 2n </a:t>
            </a:r>
            <a:r>
              <a:rPr lang="en-US" altLang="en-US" sz="2400" b="1" i="1" dirty="0">
                <a:sym typeface="Symbol" panose="05050102010706020507" pitchFamily="18" charset="2"/>
              </a:rPr>
              <a:t> </a:t>
            </a:r>
            <a:r>
              <a:rPr lang="en-US" altLang="en-US" sz="2400" dirty="0">
                <a:cs typeface="Times New Roman" panose="02020603050405020304" pitchFamily="18" charset="0"/>
                <a:sym typeface="Symbol" panose="05050102010706020507" pitchFamily="18" charset="2"/>
              </a:rPr>
              <a:t></a:t>
            </a:r>
            <a:r>
              <a:rPr lang="pt-BR" altLang="en-US" sz="2400" b="0" dirty="0">
                <a:cs typeface="Times New Roman" panose="02020603050405020304" pitchFamily="18" charset="0"/>
              </a:rPr>
              <a:t>(n</a:t>
            </a:r>
            <a:r>
              <a:rPr lang="pt-BR" altLang="en-US" sz="2400" b="0" baseline="30000" dirty="0">
                <a:cs typeface="Times New Roman" panose="02020603050405020304" pitchFamily="18" charset="0"/>
              </a:rPr>
              <a:t>2</a:t>
            </a:r>
            <a:r>
              <a:rPr lang="pt-BR" altLang="en-US" sz="2400" b="0" dirty="0">
                <a:cs typeface="Times New Roman" panose="02020603050405020304" pitchFamily="18" charset="0"/>
              </a:rPr>
              <a:t>)</a:t>
            </a:r>
          </a:p>
          <a:p>
            <a:pPr lvl="1">
              <a:lnSpc>
                <a:spcPct val="150000"/>
              </a:lnSpc>
              <a:defRPr/>
            </a:pPr>
            <a:r>
              <a:rPr lang="pt-BR" altLang="en-US" sz="2400" b="0" dirty="0">
                <a:cs typeface="Times New Roman" panose="02020603050405020304" pitchFamily="18" charset="0"/>
              </a:rPr>
              <a:t>(1/2)n(n+1) </a:t>
            </a:r>
            <a:r>
              <a:rPr lang="en-US" altLang="en-US" sz="2400" b="1" i="1" dirty="0">
                <a:sym typeface="Symbol" panose="05050102010706020507" pitchFamily="18" charset="2"/>
              </a:rPr>
              <a:t> </a:t>
            </a:r>
            <a:r>
              <a:rPr lang="en-US" altLang="en-US" sz="2400" dirty="0">
                <a:cs typeface="Times New Roman" panose="02020603050405020304" pitchFamily="18" charset="0"/>
                <a:sym typeface="Symbol" panose="05050102010706020507" pitchFamily="18" charset="2"/>
              </a:rPr>
              <a:t></a:t>
            </a:r>
            <a:r>
              <a:rPr lang="pt-BR" altLang="en-US" sz="2400" b="0" dirty="0">
                <a:cs typeface="Times New Roman" panose="02020603050405020304" pitchFamily="18" charset="0"/>
              </a:rPr>
              <a:t>(n</a:t>
            </a:r>
            <a:r>
              <a:rPr lang="pt-BR" altLang="en-US" sz="2400" b="0" baseline="30000" dirty="0">
                <a:cs typeface="Times New Roman" panose="02020603050405020304" pitchFamily="18" charset="0"/>
              </a:rPr>
              <a:t>2</a:t>
            </a:r>
            <a:r>
              <a:rPr lang="pt-BR" altLang="en-US" sz="2400" b="0" dirty="0">
                <a:cs typeface="Times New Roman" panose="02020603050405020304" pitchFamily="18" charset="0"/>
              </a:rPr>
              <a:t>)</a:t>
            </a:r>
            <a:endParaRPr lang="en-US" altLang="en-US" sz="2400" b="0" dirty="0">
              <a:cs typeface="Times New Roman" panose="02020603050405020304" pitchFamily="18" charset="0"/>
            </a:endParaRPr>
          </a:p>
        </p:txBody>
      </p:sp>
      <p:pic>
        <p:nvPicPr>
          <p:cNvPr id="10" name="Picture 9">
            <a:extLst>
              <a:ext uri="{FF2B5EF4-FFF2-40B4-BE49-F238E27FC236}">
                <a16:creationId xmlns:a16="http://schemas.microsoft.com/office/drawing/2014/main" id="{698D24C4-4FFD-E767-7F9D-CF4E10EBDA3E}"/>
              </a:ext>
            </a:extLst>
          </p:cNvPr>
          <p:cNvPicPr>
            <a:picLocks noChangeAspect="1"/>
          </p:cNvPicPr>
          <p:nvPr/>
        </p:nvPicPr>
        <p:blipFill>
          <a:blip r:embed="rId6"/>
          <a:stretch>
            <a:fillRect/>
          </a:stretch>
        </p:blipFill>
        <p:spPr>
          <a:xfrm>
            <a:off x="7399301" y="2552338"/>
            <a:ext cx="4487899" cy="3848462"/>
          </a:xfrm>
          <a:prstGeom prst="rect">
            <a:avLst/>
          </a:prstGeom>
        </p:spPr>
      </p:pic>
    </p:spTree>
    <p:extLst>
      <p:ext uri="{BB962C8B-B14F-4D97-AF65-F5344CB8AC3E}">
        <p14:creationId xmlns:p14="http://schemas.microsoft.com/office/powerpoint/2010/main" val="3718879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Summary of Notations</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21</a:t>
            </a:fld>
            <a:endParaRPr lang="en-US" dirty="0"/>
          </a:p>
        </p:txBody>
      </p:sp>
      <p:sp>
        <p:nvSpPr>
          <p:cNvPr id="18" name="Oval 2">
            <a:extLst>
              <a:ext uri="{FF2B5EF4-FFF2-40B4-BE49-F238E27FC236}">
                <a16:creationId xmlns:a16="http://schemas.microsoft.com/office/drawing/2014/main" id="{9B6BE3BA-ADB4-ED18-0713-97DD31D392AB}"/>
              </a:ext>
            </a:extLst>
          </p:cNvPr>
          <p:cNvSpPr>
            <a:spLocks noChangeArrowheads="1"/>
          </p:cNvSpPr>
          <p:nvPr/>
        </p:nvSpPr>
        <p:spPr bwMode="auto">
          <a:xfrm>
            <a:off x="2346325" y="1676400"/>
            <a:ext cx="1143000" cy="2438400"/>
          </a:xfrm>
          <a:prstGeom prst="ellipse">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en-US" altLang="en-US" b="0">
              <a:solidFill>
                <a:schemeClr val="tx1"/>
              </a:solidFill>
            </a:endParaRPr>
          </a:p>
        </p:txBody>
      </p:sp>
      <p:sp>
        <p:nvSpPr>
          <p:cNvPr id="19" name="Oval 3">
            <a:extLst>
              <a:ext uri="{FF2B5EF4-FFF2-40B4-BE49-F238E27FC236}">
                <a16:creationId xmlns:a16="http://schemas.microsoft.com/office/drawing/2014/main" id="{5621F37F-59FE-D86B-3B96-02E63641AFF0}"/>
              </a:ext>
            </a:extLst>
          </p:cNvPr>
          <p:cNvSpPr>
            <a:spLocks noChangeArrowheads="1"/>
          </p:cNvSpPr>
          <p:nvPr/>
        </p:nvSpPr>
        <p:spPr bwMode="auto">
          <a:xfrm>
            <a:off x="2422525" y="3200400"/>
            <a:ext cx="1143000" cy="2438400"/>
          </a:xfrm>
          <a:prstGeom prst="ellipse">
            <a:avLst/>
          </a:prstGeom>
          <a:noFill/>
          <a:ln w="2857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FontTx/>
              <a:buNone/>
            </a:pPr>
            <a:endParaRPr kumimoji="0" lang="en-US" altLang="en-US" b="0">
              <a:solidFill>
                <a:schemeClr val="tx1"/>
              </a:solidFill>
            </a:endParaRPr>
          </a:p>
        </p:txBody>
      </p:sp>
      <p:sp>
        <p:nvSpPr>
          <p:cNvPr id="20" name="Rectangle 4">
            <a:extLst>
              <a:ext uri="{FF2B5EF4-FFF2-40B4-BE49-F238E27FC236}">
                <a16:creationId xmlns:a16="http://schemas.microsoft.com/office/drawing/2014/main" id="{10B08B1B-9722-B212-12D9-3F924C9E17C0}"/>
              </a:ext>
            </a:extLst>
          </p:cNvPr>
          <p:cNvSpPr>
            <a:spLocks noChangeArrowheads="1"/>
          </p:cNvSpPr>
          <p:nvPr/>
        </p:nvSpPr>
        <p:spPr bwMode="auto">
          <a:xfrm>
            <a:off x="4708525" y="2209800"/>
            <a:ext cx="5476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r>
              <a:rPr kumimoji="0" lang="en-US" altLang="en-US" sz="1800" b="0" dirty="0">
                <a:solidFill>
                  <a:srgbClr val="00B050"/>
                </a:solidFill>
                <a:latin typeface="Tahoma" panose="020B0604030504040204" pitchFamily="34" charset="0"/>
                <a:sym typeface="Symbol" panose="05050102010706020507" pitchFamily="18" charset="2"/>
              </a:rPr>
              <a:t></a:t>
            </a:r>
            <a:r>
              <a:rPr kumimoji="0" lang="en-US" altLang="en-US" sz="1800" b="0" dirty="0">
                <a:solidFill>
                  <a:srgbClr val="00B050"/>
                </a:solidFill>
                <a:latin typeface="Tahoma" panose="020B0604030504040204" pitchFamily="34" charset="0"/>
              </a:rPr>
              <a:t>(g(n)), </a:t>
            </a:r>
            <a:r>
              <a:rPr kumimoji="0" lang="en-US" altLang="en-US" sz="1800" b="0" dirty="0">
                <a:solidFill>
                  <a:schemeClr val="tx1"/>
                </a:solidFill>
                <a:latin typeface="Tahoma" panose="020B0604030504040204" pitchFamily="34" charset="0"/>
              </a:rPr>
              <a:t>functions that grow </a:t>
            </a:r>
            <a:r>
              <a:rPr kumimoji="0" lang="en-US" altLang="en-US" sz="1800" b="0" u="sng" dirty="0">
                <a:solidFill>
                  <a:schemeClr val="tx1"/>
                </a:solidFill>
                <a:latin typeface="Tahoma" panose="020B0604030504040204" pitchFamily="34" charset="0"/>
              </a:rPr>
              <a:t>at least as fast as</a:t>
            </a:r>
            <a:r>
              <a:rPr kumimoji="0" lang="en-US" altLang="en-US" sz="1800" b="0" dirty="0">
                <a:solidFill>
                  <a:schemeClr val="tx1"/>
                </a:solidFill>
                <a:latin typeface="Tahoma" panose="020B0604030504040204" pitchFamily="34" charset="0"/>
              </a:rPr>
              <a:t> g(n) </a:t>
            </a:r>
            <a:endParaRPr kumimoji="0" lang="en-CA" altLang="en-US" sz="1800" b="0" dirty="0">
              <a:solidFill>
                <a:schemeClr val="tx1"/>
              </a:solidFill>
              <a:latin typeface="Tahoma" panose="020B0604030504040204" pitchFamily="34" charset="0"/>
            </a:endParaRPr>
          </a:p>
        </p:txBody>
      </p:sp>
      <p:sp>
        <p:nvSpPr>
          <p:cNvPr id="21" name="Line 5">
            <a:extLst>
              <a:ext uri="{FF2B5EF4-FFF2-40B4-BE49-F238E27FC236}">
                <a16:creationId xmlns:a16="http://schemas.microsoft.com/office/drawing/2014/main" id="{B96DB2C7-F4D9-B91F-A9E7-CB3E29CD37BB}"/>
              </a:ext>
            </a:extLst>
          </p:cNvPr>
          <p:cNvSpPr>
            <a:spLocks noChangeShapeType="1"/>
          </p:cNvSpPr>
          <p:nvPr/>
        </p:nvSpPr>
        <p:spPr bwMode="auto">
          <a:xfrm>
            <a:off x="3657600" y="2362200"/>
            <a:ext cx="1066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 name="Rectangle 6">
            <a:extLst>
              <a:ext uri="{FF2B5EF4-FFF2-40B4-BE49-F238E27FC236}">
                <a16:creationId xmlns:a16="http://schemas.microsoft.com/office/drawing/2014/main" id="{5AA2F8F4-A10E-16A9-DBE2-5F2ACDD7E7AD}"/>
              </a:ext>
            </a:extLst>
          </p:cNvPr>
          <p:cNvSpPr>
            <a:spLocks noChangeArrowheads="1"/>
          </p:cNvSpPr>
          <p:nvPr/>
        </p:nvSpPr>
        <p:spPr bwMode="auto">
          <a:xfrm>
            <a:off x="4567238" y="3200400"/>
            <a:ext cx="5719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r>
              <a:rPr kumimoji="0" lang="en-US" altLang="en-US" b="0">
                <a:solidFill>
                  <a:schemeClr val="tx1"/>
                </a:solidFill>
                <a:latin typeface="Tahoma" panose="020B0604030504040204" pitchFamily="34" charset="0"/>
                <a:sym typeface="Symbol" panose="05050102010706020507" pitchFamily="18" charset="2"/>
              </a:rPr>
              <a:t></a:t>
            </a:r>
            <a:r>
              <a:rPr kumimoji="0" lang="en-US" altLang="en-US" sz="1800" b="0">
                <a:solidFill>
                  <a:schemeClr val="tx1"/>
                </a:solidFill>
                <a:latin typeface="Tahoma" panose="020B0604030504040204" pitchFamily="34" charset="0"/>
              </a:rPr>
              <a:t>(g(n)), functions that grow </a:t>
            </a:r>
            <a:r>
              <a:rPr kumimoji="0" lang="en-US" altLang="en-US" sz="1800" b="0" u="sng">
                <a:solidFill>
                  <a:schemeClr val="tx1"/>
                </a:solidFill>
                <a:latin typeface="Tahoma" panose="020B0604030504040204" pitchFamily="34" charset="0"/>
              </a:rPr>
              <a:t>at the same rate as</a:t>
            </a:r>
            <a:r>
              <a:rPr kumimoji="0" lang="en-US" altLang="en-US" sz="1800" b="0">
                <a:solidFill>
                  <a:schemeClr val="tx1"/>
                </a:solidFill>
                <a:latin typeface="Tahoma" panose="020B0604030504040204" pitchFamily="34" charset="0"/>
              </a:rPr>
              <a:t> g(n) </a:t>
            </a:r>
            <a:endParaRPr kumimoji="0" lang="en-CA" altLang="en-US" sz="1800" b="0">
              <a:solidFill>
                <a:schemeClr val="tx1"/>
              </a:solidFill>
              <a:latin typeface="Tahoma" panose="020B0604030504040204" pitchFamily="34" charset="0"/>
            </a:endParaRPr>
          </a:p>
        </p:txBody>
      </p:sp>
      <p:sp>
        <p:nvSpPr>
          <p:cNvPr id="23" name="Line 7">
            <a:extLst>
              <a:ext uri="{FF2B5EF4-FFF2-40B4-BE49-F238E27FC236}">
                <a16:creationId xmlns:a16="http://schemas.microsoft.com/office/drawing/2014/main" id="{CA4CD23C-EFC4-137A-2E72-2612132766ED}"/>
              </a:ext>
            </a:extLst>
          </p:cNvPr>
          <p:cNvSpPr>
            <a:spLocks noChangeShapeType="1"/>
          </p:cNvSpPr>
          <p:nvPr/>
        </p:nvSpPr>
        <p:spPr bwMode="auto">
          <a:xfrm>
            <a:off x="3505200" y="3505200"/>
            <a:ext cx="1066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Rectangle 8">
            <a:extLst>
              <a:ext uri="{FF2B5EF4-FFF2-40B4-BE49-F238E27FC236}">
                <a16:creationId xmlns:a16="http://schemas.microsoft.com/office/drawing/2014/main" id="{BBDD2640-2B06-58B0-9CA3-50B1EF3D37F9}"/>
              </a:ext>
            </a:extLst>
          </p:cNvPr>
          <p:cNvSpPr>
            <a:spLocks noChangeArrowheads="1"/>
          </p:cNvSpPr>
          <p:nvPr/>
        </p:nvSpPr>
        <p:spPr bwMode="auto">
          <a:xfrm>
            <a:off x="4708525" y="4646613"/>
            <a:ext cx="5111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r>
              <a:rPr kumimoji="0" lang="en-US" altLang="en-US" sz="1800" b="0" dirty="0">
                <a:solidFill>
                  <a:srgbClr val="7030A0"/>
                </a:solidFill>
                <a:latin typeface="Tahoma" panose="020B0604030504040204" pitchFamily="34" charset="0"/>
                <a:sym typeface="Symbol" panose="05050102010706020507" pitchFamily="18" charset="2"/>
              </a:rPr>
              <a:t>O</a:t>
            </a:r>
            <a:r>
              <a:rPr kumimoji="0" lang="en-US" altLang="en-US" sz="1800" b="0" dirty="0">
                <a:solidFill>
                  <a:srgbClr val="7030A0"/>
                </a:solidFill>
                <a:latin typeface="Tahoma" panose="020B0604030504040204" pitchFamily="34" charset="0"/>
              </a:rPr>
              <a:t>(g(n)), </a:t>
            </a:r>
            <a:r>
              <a:rPr kumimoji="0" lang="en-US" altLang="en-US" sz="1800" b="0" dirty="0">
                <a:solidFill>
                  <a:schemeClr val="tx1"/>
                </a:solidFill>
                <a:latin typeface="Tahoma" panose="020B0604030504040204" pitchFamily="34" charset="0"/>
              </a:rPr>
              <a:t>functions that grow </a:t>
            </a:r>
            <a:r>
              <a:rPr kumimoji="0" lang="en-US" altLang="en-US" sz="1800" b="0" u="sng" dirty="0">
                <a:solidFill>
                  <a:schemeClr val="tx1"/>
                </a:solidFill>
                <a:latin typeface="Tahoma" panose="020B0604030504040204" pitchFamily="34" charset="0"/>
              </a:rPr>
              <a:t>no faster than</a:t>
            </a:r>
            <a:r>
              <a:rPr kumimoji="0" lang="en-US" altLang="en-US" sz="1800" b="0" dirty="0">
                <a:solidFill>
                  <a:schemeClr val="tx1"/>
                </a:solidFill>
                <a:latin typeface="Tahoma" panose="020B0604030504040204" pitchFamily="34" charset="0"/>
              </a:rPr>
              <a:t> g(n) </a:t>
            </a:r>
            <a:endParaRPr kumimoji="0" lang="en-CA" altLang="en-US" sz="1800" b="0" dirty="0">
              <a:solidFill>
                <a:schemeClr val="tx1"/>
              </a:solidFill>
              <a:latin typeface="Tahoma" panose="020B0604030504040204" pitchFamily="34" charset="0"/>
            </a:endParaRPr>
          </a:p>
        </p:txBody>
      </p:sp>
      <p:sp>
        <p:nvSpPr>
          <p:cNvPr id="25" name="Line 9">
            <a:extLst>
              <a:ext uri="{FF2B5EF4-FFF2-40B4-BE49-F238E27FC236}">
                <a16:creationId xmlns:a16="http://schemas.microsoft.com/office/drawing/2014/main" id="{3948C175-6A1B-5AA1-FDD4-EB9E87727E62}"/>
              </a:ext>
            </a:extLst>
          </p:cNvPr>
          <p:cNvSpPr>
            <a:spLocks noChangeShapeType="1"/>
          </p:cNvSpPr>
          <p:nvPr/>
        </p:nvSpPr>
        <p:spPr bwMode="auto">
          <a:xfrm>
            <a:off x="3657600" y="4800600"/>
            <a:ext cx="1066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Text Box 10">
            <a:extLst>
              <a:ext uri="{FF2B5EF4-FFF2-40B4-BE49-F238E27FC236}">
                <a16:creationId xmlns:a16="http://schemas.microsoft.com/office/drawing/2014/main" id="{45B6D107-9F6F-725C-A4CF-B2593F3D1447}"/>
              </a:ext>
            </a:extLst>
          </p:cNvPr>
          <p:cNvSpPr txBox="1">
            <a:spLocks noChangeArrowheads="1"/>
          </p:cNvSpPr>
          <p:nvPr/>
        </p:nvSpPr>
        <p:spPr bwMode="auto">
          <a:xfrm>
            <a:off x="2667000" y="3505200"/>
            <a:ext cx="6127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r>
              <a:rPr kumimoji="0" lang="en-US" altLang="en-US" sz="1800" b="0">
                <a:solidFill>
                  <a:schemeClr val="tx1"/>
                </a:solidFill>
                <a:latin typeface="Tahoma" panose="020B0604030504040204" pitchFamily="34" charset="0"/>
              </a:rPr>
              <a:t>g(n)</a:t>
            </a:r>
            <a:endParaRPr kumimoji="0" lang="en-CA" altLang="en-US" sz="1800" b="0">
              <a:solidFill>
                <a:schemeClr val="tx1"/>
              </a:solidFill>
              <a:latin typeface="Tahoma" panose="020B0604030504040204" pitchFamily="34" charset="0"/>
            </a:endParaRPr>
          </a:p>
        </p:txBody>
      </p:sp>
      <p:sp>
        <p:nvSpPr>
          <p:cNvPr id="27" name="Text Box 11">
            <a:extLst>
              <a:ext uri="{FF2B5EF4-FFF2-40B4-BE49-F238E27FC236}">
                <a16:creationId xmlns:a16="http://schemas.microsoft.com/office/drawing/2014/main" id="{88AD1281-5AA8-93CD-0F70-5A022D53B24B}"/>
              </a:ext>
            </a:extLst>
          </p:cNvPr>
          <p:cNvSpPr txBox="1">
            <a:spLocks noChangeArrowheads="1"/>
          </p:cNvSpPr>
          <p:nvPr/>
        </p:nvSpPr>
        <p:spPr bwMode="auto">
          <a:xfrm>
            <a:off x="6613525" y="1785938"/>
            <a:ext cx="62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r>
              <a:rPr kumimoji="0" lang="en-US" altLang="en-US" b="0">
                <a:solidFill>
                  <a:schemeClr val="tx1"/>
                </a:solidFill>
                <a:latin typeface="Tahoma" panose="020B0604030504040204" pitchFamily="34" charset="0"/>
              </a:rPr>
              <a:t>&gt;=</a:t>
            </a:r>
            <a:endParaRPr kumimoji="0" lang="en-CA" altLang="en-US" b="0">
              <a:solidFill>
                <a:schemeClr val="tx1"/>
              </a:solidFill>
              <a:latin typeface="Tahoma" panose="020B0604030504040204" pitchFamily="34" charset="0"/>
            </a:endParaRPr>
          </a:p>
        </p:txBody>
      </p:sp>
      <p:sp>
        <p:nvSpPr>
          <p:cNvPr id="28" name="Text Box 12">
            <a:extLst>
              <a:ext uri="{FF2B5EF4-FFF2-40B4-BE49-F238E27FC236}">
                <a16:creationId xmlns:a16="http://schemas.microsoft.com/office/drawing/2014/main" id="{D65A7777-EF28-4C9E-775D-CD9CAD4388F9}"/>
              </a:ext>
            </a:extLst>
          </p:cNvPr>
          <p:cNvSpPr txBox="1">
            <a:spLocks noChangeArrowheads="1"/>
          </p:cNvSpPr>
          <p:nvPr/>
        </p:nvSpPr>
        <p:spPr bwMode="auto">
          <a:xfrm>
            <a:off x="6705600" y="4191000"/>
            <a:ext cx="62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r>
              <a:rPr kumimoji="0" lang="en-US" altLang="en-US" b="0">
                <a:solidFill>
                  <a:schemeClr val="tx1"/>
                </a:solidFill>
                <a:latin typeface="Tahoma" panose="020B0604030504040204" pitchFamily="34" charset="0"/>
              </a:rPr>
              <a:t>&lt;=</a:t>
            </a:r>
            <a:endParaRPr kumimoji="0" lang="en-CA" altLang="en-US" b="0">
              <a:solidFill>
                <a:schemeClr val="tx1"/>
              </a:solidFill>
              <a:latin typeface="Tahoma" panose="020B0604030504040204" pitchFamily="34" charset="0"/>
            </a:endParaRPr>
          </a:p>
        </p:txBody>
      </p:sp>
      <p:sp>
        <p:nvSpPr>
          <p:cNvPr id="29" name="Text Box 13">
            <a:extLst>
              <a:ext uri="{FF2B5EF4-FFF2-40B4-BE49-F238E27FC236}">
                <a16:creationId xmlns:a16="http://schemas.microsoft.com/office/drawing/2014/main" id="{1B195F21-7E35-035E-A307-3AD3611B85A9}"/>
              </a:ext>
            </a:extLst>
          </p:cNvPr>
          <p:cNvSpPr txBox="1">
            <a:spLocks noChangeArrowheads="1"/>
          </p:cNvSpPr>
          <p:nvPr/>
        </p:nvSpPr>
        <p:spPr bwMode="auto">
          <a:xfrm>
            <a:off x="6705600" y="2819400"/>
            <a:ext cx="40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eaLnBrk="1" hangingPunct="1">
              <a:spcBef>
                <a:spcPct val="0"/>
              </a:spcBef>
              <a:buClrTx/>
              <a:buSzTx/>
              <a:buFontTx/>
              <a:buNone/>
            </a:pPr>
            <a:r>
              <a:rPr kumimoji="0" lang="en-US" altLang="en-US" b="0">
                <a:solidFill>
                  <a:schemeClr val="tx1"/>
                </a:solidFill>
                <a:latin typeface="Tahoma" panose="020B0604030504040204" pitchFamily="34" charset="0"/>
              </a:rPr>
              <a:t>=</a:t>
            </a:r>
            <a:endParaRPr kumimoji="0" lang="en-CA" altLang="en-US" b="0">
              <a:solidFill>
                <a:schemeClr val="tx1"/>
              </a:solidFill>
              <a:latin typeface="Tahoma" panose="020B0604030504040204" pitchFamily="34" charset="0"/>
            </a:endParaRPr>
          </a:p>
        </p:txBody>
      </p:sp>
    </p:spTree>
    <p:extLst>
      <p:ext uri="{BB962C8B-B14F-4D97-AF65-F5344CB8AC3E}">
        <p14:creationId xmlns:p14="http://schemas.microsoft.com/office/powerpoint/2010/main" val="999598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Basic Asymptotic Efficiency Classes</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22</a:t>
            </a:fld>
            <a:endParaRPr lang="en-US" dirty="0"/>
          </a:p>
        </p:txBody>
      </p:sp>
      <p:graphicFrame>
        <p:nvGraphicFramePr>
          <p:cNvPr id="5" name="Group 39">
            <a:extLst>
              <a:ext uri="{FF2B5EF4-FFF2-40B4-BE49-F238E27FC236}">
                <a16:creationId xmlns:a16="http://schemas.microsoft.com/office/drawing/2014/main" id="{57B3EDCB-F759-86D1-1016-FBB81697A3C1}"/>
              </a:ext>
            </a:extLst>
          </p:cNvPr>
          <p:cNvGraphicFramePr>
            <a:graphicFrameLocks noGrp="1"/>
          </p:cNvGraphicFramePr>
          <p:nvPr/>
        </p:nvGraphicFramePr>
        <p:xfrm>
          <a:off x="2484504" y="1120776"/>
          <a:ext cx="7010400" cy="4953000"/>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rPr>
                        <a:t>constant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log </a:t>
                      </a:r>
                      <a:r>
                        <a:rPr kumimoji="1" lang="en-US" altLang="en-US" sz="2400" b="0" i="1"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n</a:t>
                      </a:r>
                      <a:endPar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rPr>
                        <a:t>logarithmic</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1"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linear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1"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n </a:t>
                      </a:r>
                      <a:r>
                        <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log </a:t>
                      </a:r>
                      <a:r>
                        <a:rPr kumimoji="1" lang="en-US" altLang="en-US" sz="2400" b="0" i="1"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1"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rPr>
                        <a:t>n-</a:t>
                      </a:r>
                      <a:r>
                        <a:rPr kumimoji="1" lang="en-US" altLang="en-US" sz="2400" b="0" i="0"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rPr>
                        <a:t>log</a:t>
                      </a:r>
                      <a:r>
                        <a:rPr kumimoji="1" lang="en-US" altLang="en-US" sz="2400" b="0" i="1"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rPr>
                        <a:t>-n </a:t>
                      </a:r>
                      <a:r>
                        <a:rPr kumimoji="1" lang="en-US" altLang="en-US" sz="2400" b="0" i="0" u="none" strike="noStrike" kern="1200"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ea typeface="+mn-ea"/>
                          <a:cs typeface="+mn-cs"/>
                        </a:rPr>
                        <a:t>(l</a:t>
                      </a:r>
                      <a:r>
                        <a:rPr kumimoji="1" lang="en-US" sz="2400" b="0" i="0" u="none" strike="noStrike" kern="1200"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ea typeface="+mn-ea"/>
                          <a:cs typeface="+mn-cs"/>
                        </a:rPr>
                        <a:t>inearithmic</a:t>
                      </a:r>
                      <a:r>
                        <a:rPr kumimoji="1" lang="en-US" altLang="en-US" sz="2400" b="0" i="0" u="none" strike="noStrike" kern="1200"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ea typeface="+mn-ea"/>
                          <a:cs typeface="+mn-cs"/>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1"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n</a:t>
                      </a:r>
                      <a:r>
                        <a:rPr kumimoji="1" lang="en-US" altLang="en-US" sz="2400" b="0" i="0" u="none" strike="noStrike" cap="none" normalizeH="0" baseline="30000">
                          <a:ln>
                            <a:noFill/>
                          </a:ln>
                          <a:solidFill>
                            <a:schemeClr val="tx1"/>
                          </a:solidFill>
                          <a:effectLst>
                            <a:outerShdw blurRad="38100" dist="38100" dir="2700000" algn="tl">
                              <a:srgbClr val="000000"/>
                            </a:outerShdw>
                          </a:effectLst>
                          <a:latin typeface="Times New Roman" panose="02020603050405020304" pitchFamily="18" charset="0"/>
                        </a:rPr>
                        <a:t>2</a:t>
                      </a:r>
                      <a:endPar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rPr>
                        <a:t>quadratic</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1"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n</a:t>
                      </a:r>
                      <a:r>
                        <a:rPr kumimoji="1" lang="en-US" altLang="en-US" sz="2400" b="0" i="0" u="none" strike="noStrike" cap="none" normalizeH="0" baseline="30000">
                          <a:ln>
                            <a:noFill/>
                          </a:ln>
                          <a:solidFill>
                            <a:schemeClr val="tx1"/>
                          </a:solidFill>
                          <a:effectLst>
                            <a:outerShdw blurRad="38100" dist="38100" dir="2700000" algn="tl">
                              <a:srgbClr val="000000"/>
                            </a:outerShdw>
                          </a:effectLst>
                          <a:latin typeface="Times New Roman" panose="02020603050405020304" pitchFamily="18" charset="0"/>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cubic</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2</a:t>
                      </a:r>
                      <a:r>
                        <a:rPr kumimoji="1" lang="en-US" altLang="en-US" sz="2400" b="0" i="1" u="none" strike="noStrike" cap="none" normalizeH="0" baseline="30000">
                          <a:ln>
                            <a:noFill/>
                          </a:ln>
                          <a:solidFill>
                            <a:schemeClr val="tx1"/>
                          </a:solidFill>
                          <a:effectLst>
                            <a:outerShdw blurRad="38100" dist="38100" dir="2700000" algn="tl">
                              <a:srgbClr val="000000"/>
                            </a:outerShdw>
                          </a:effectLst>
                          <a:latin typeface="Times New Roman" panose="02020603050405020304" pitchFamily="18" charset="0"/>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exponential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1"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n</a:t>
                      </a:r>
                      <a:r>
                        <a:rPr kumimoji="1" lang="en-US" altLang="en-US" sz="2400" b="0" i="0" u="none" strike="noStrike" cap="none" normalizeH="0" baseline="0">
                          <a:ln>
                            <a:noFill/>
                          </a:ln>
                          <a:solidFill>
                            <a:schemeClr val="tx1"/>
                          </a:solidFill>
                          <a:effectLst>
                            <a:outerShdw blurRad="38100" dist="38100" dir="2700000" algn="tl">
                              <a:srgbClr val="000000"/>
                            </a:outerShdw>
                          </a:effectLst>
                          <a:latin typeface="Times New Roman" panose="02020603050405020304" pitchFamily="18" charset="0"/>
                        </a:rPr>
                        <a:t>!</a:t>
                      </a:r>
                      <a:endParaRPr kumimoji="1" lang="en-US" altLang="en-US" sz="2400" b="0" i="0" u="none" strike="noStrike" cap="none" normalizeH="0" baseline="30000">
                        <a:ln>
                          <a:noFill/>
                        </a:ln>
                        <a:solidFill>
                          <a:schemeClr val="tx1"/>
                        </a:solidFill>
                        <a:effectLst>
                          <a:outerShdw blurRad="38100" dist="38100" dir="2700000" algn="tl">
                            <a:srgbClr val="000000"/>
                          </a:outerShdw>
                        </a:effectLst>
                        <a:latin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400" b="0" i="0" u="none" strike="noStrike" cap="none" normalizeH="0" baseline="0" dirty="0">
                          <a:ln>
                            <a:noFill/>
                          </a:ln>
                          <a:solidFill>
                            <a:schemeClr val="tx1"/>
                          </a:solidFill>
                          <a:effectLst>
                            <a:outerShdw blurRad="38100" dist="38100" dir="2700000" algn="tl">
                              <a:srgbClr val="000000"/>
                            </a:outerShdw>
                          </a:effectLst>
                          <a:latin typeface="Times New Roman" panose="02020603050405020304" pitchFamily="18" charset="0"/>
                        </a:rPr>
                        <a:t>factorial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97771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Basic Asymptotic Efficiency Classes,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23</a:t>
            </a:fld>
            <a:endParaRPr lang="en-US" dirty="0"/>
          </a:p>
        </p:txBody>
      </p:sp>
      <p:pic>
        <p:nvPicPr>
          <p:cNvPr id="2" name="Picture 1">
            <a:extLst>
              <a:ext uri="{FF2B5EF4-FFF2-40B4-BE49-F238E27FC236}">
                <a16:creationId xmlns:a16="http://schemas.microsoft.com/office/drawing/2014/main" id="{28C563C2-7183-4852-F306-0561C2DFA6D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990600"/>
            <a:ext cx="7021588" cy="5365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4086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More on Asymptotic Order of Growth, Contd.</a:t>
            </a:r>
            <a:endParaRPr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24</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90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All </a:t>
            </a:r>
            <a:r>
              <a:rPr lang="en-US" altLang="en-US" sz="2800" b="1" dirty="0"/>
              <a:t>polynomials</a:t>
            </a:r>
            <a:r>
              <a:rPr lang="en-US" altLang="en-US" sz="2800" dirty="0"/>
              <a:t> of the same degree k belong to the same class    </a:t>
            </a:r>
          </a:p>
          <a:p>
            <a:pPr>
              <a:defRPr/>
            </a:pPr>
            <a:endParaRPr lang="en-US" altLang="en-US" sz="2800" dirty="0"/>
          </a:p>
          <a:p>
            <a:pPr>
              <a:defRPr/>
            </a:pPr>
            <a:endParaRPr lang="en-US" altLang="en-US" sz="1600" dirty="0"/>
          </a:p>
          <a:p>
            <a:pPr>
              <a:defRPr/>
            </a:pPr>
            <a:r>
              <a:rPr lang="en-US" altLang="en-US" sz="2800" dirty="0"/>
              <a:t>All </a:t>
            </a:r>
            <a:r>
              <a:rPr lang="en-US" altLang="en-US" sz="2800" b="1" dirty="0"/>
              <a:t>logarithmic</a:t>
            </a:r>
            <a:r>
              <a:rPr lang="en-US" altLang="en-US" sz="2800" dirty="0"/>
              <a:t> functions </a:t>
            </a:r>
            <a:r>
              <a:rPr lang="en-US" altLang="en-US" sz="2800" dirty="0" err="1"/>
              <a:t>log</a:t>
            </a:r>
            <a:r>
              <a:rPr lang="en-US" altLang="en-US" sz="2800" baseline="-25000" dirty="0" err="1"/>
              <a:t>a</a:t>
            </a:r>
            <a:r>
              <a:rPr lang="en-US" altLang="en-US" sz="2800" dirty="0"/>
              <a:t> </a:t>
            </a:r>
            <a:r>
              <a:rPr lang="en-US" altLang="en-US" sz="2800" i="1" dirty="0"/>
              <a:t>n</a:t>
            </a:r>
            <a:r>
              <a:rPr lang="en-US" altLang="en-US" sz="2800" dirty="0"/>
              <a:t> belong to the same class </a:t>
            </a:r>
            <a:r>
              <a:rPr lang="en-US" altLang="en-US" sz="2800" b="0" dirty="0">
                <a:sym typeface="Symbol" panose="05050102010706020507" pitchFamily="18" charset="2"/>
              </a:rPr>
              <a:t></a:t>
            </a:r>
            <a:r>
              <a:rPr lang="en-US" altLang="en-US" sz="2800" dirty="0"/>
              <a:t>(log </a:t>
            </a:r>
            <a:r>
              <a:rPr lang="en-US" altLang="en-US" sz="2800" i="1" dirty="0"/>
              <a:t>n</a:t>
            </a:r>
            <a:r>
              <a:rPr lang="en-US" altLang="en-US" sz="2800" dirty="0"/>
              <a:t>) no matter what the logarithm’s base a &gt; 1 is because  </a:t>
            </a:r>
          </a:p>
          <a:p>
            <a:pPr>
              <a:defRPr/>
            </a:pPr>
            <a:endParaRPr lang="en-US" altLang="en-US" sz="2800" dirty="0"/>
          </a:p>
          <a:p>
            <a:pPr>
              <a:defRPr/>
            </a:pPr>
            <a:endParaRPr lang="en-US" altLang="en-US" sz="800" dirty="0"/>
          </a:p>
          <a:p>
            <a:pPr>
              <a:defRPr/>
            </a:pPr>
            <a:endParaRPr lang="en-US" altLang="en-US" sz="600" dirty="0"/>
          </a:p>
          <a:p>
            <a:pPr>
              <a:defRPr/>
            </a:pPr>
            <a:endParaRPr lang="en-US" altLang="en-US" sz="100" dirty="0"/>
          </a:p>
          <a:p>
            <a:pPr>
              <a:defRPr/>
            </a:pPr>
            <a:r>
              <a:rPr lang="en-US" altLang="en-US" sz="2800" b="1" dirty="0"/>
              <a:t>Exponential</a:t>
            </a:r>
            <a:r>
              <a:rPr lang="en-US" altLang="en-US" sz="2800" dirty="0"/>
              <a:t> functions a</a:t>
            </a:r>
            <a:r>
              <a:rPr lang="en-US" altLang="en-US" sz="2800" baseline="30000" dirty="0"/>
              <a:t>n</a:t>
            </a:r>
            <a:r>
              <a:rPr lang="en-US" altLang="en-US" sz="2800" dirty="0"/>
              <a:t> can have different orders of growth for different a’s</a:t>
            </a:r>
          </a:p>
          <a:p>
            <a:pPr>
              <a:defRPr/>
            </a:pPr>
            <a:endParaRPr lang="en-US" altLang="en-US" sz="1050" dirty="0"/>
          </a:p>
          <a:p>
            <a:pPr>
              <a:defRPr/>
            </a:pPr>
            <a:br>
              <a:rPr lang="en-US" altLang="en-US" sz="2800" dirty="0"/>
            </a:br>
            <a:endParaRPr lang="en-US" altLang="en-US" sz="800" dirty="0"/>
          </a:p>
        </p:txBody>
      </p:sp>
      <p:graphicFrame>
        <p:nvGraphicFramePr>
          <p:cNvPr id="2" name="Object 4">
            <a:extLst>
              <a:ext uri="{FF2B5EF4-FFF2-40B4-BE49-F238E27FC236}">
                <a16:creationId xmlns:a16="http://schemas.microsoft.com/office/drawing/2014/main" id="{B8248668-4F6D-FC64-EE96-21E12EB3CADF}"/>
              </a:ext>
            </a:extLst>
          </p:cNvPr>
          <p:cNvGraphicFramePr>
            <a:graphicFrameLocks noChangeAspect="1"/>
          </p:cNvGraphicFramePr>
          <p:nvPr>
            <p:extLst>
              <p:ext uri="{D42A27DB-BD31-4B8C-83A1-F6EECF244321}">
                <p14:modId xmlns:p14="http://schemas.microsoft.com/office/powerpoint/2010/main" val="4236540317"/>
              </p:ext>
            </p:extLst>
          </p:nvPr>
        </p:nvGraphicFramePr>
        <p:xfrm>
          <a:off x="2743200" y="3505200"/>
          <a:ext cx="2971800" cy="495300"/>
        </p:xfrm>
        <a:graphic>
          <a:graphicData uri="http://schemas.openxmlformats.org/presentationml/2006/ole">
            <mc:AlternateContent xmlns:mc="http://schemas.openxmlformats.org/markup-compatibility/2006">
              <mc:Choice xmlns:v="urn:schemas-microsoft-com:vml" Requires="v">
                <p:oleObj name="Equation" r:id="rId6" imgW="1371600" imgH="228600" progId="Equation.3">
                  <p:embed/>
                </p:oleObj>
              </mc:Choice>
              <mc:Fallback>
                <p:oleObj name="Equation" r:id="rId6" imgW="1371600" imgH="228600" progId="Equation.3">
                  <p:embed/>
                  <p:pic>
                    <p:nvPicPr>
                      <p:cNvPr id="2" name="Object 4">
                        <a:extLst>
                          <a:ext uri="{FF2B5EF4-FFF2-40B4-BE49-F238E27FC236}">
                            <a16:creationId xmlns:a16="http://schemas.microsoft.com/office/drawing/2014/main" id="{B8248668-4F6D-FC64-EE96-21E12EB3CA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3505200"/>
                        <a:ext cx="29718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 name="Picture 4">
            <a:extLst>
              <a:ext uri="{FF2B5EF4-FFF2-40B4-BE49-F238E27FC236}">
                <a16:creationId xmlns:a16="http://schemas.microsoft.com/office/drawing/2014/main" id="{F3E2D32D-5548-3018-2FE0-F791712D6F75}"/>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40000" contrast="40000"/>
                    </a14:imgEffect>
                  </a14:imgLayer>
                </a14:imgProps>
              </a:ext>
            </a:extLst>
          </a:blip>
          <a:stretch>
            <a:fillRect/>
          </a:stretch>
        </p:blipFill>
        <p:spPr>
          <a:xfrm>
            <a:off x="3716404" y="1772597"/>
            <a:ext cx="4546600" cy="519250"/>
          </a:xfrm>
          <a:prstGeom prst="rect">
            <a:avLst/>
          </a:prstGeom>
        </p:spPr>
      </p:pic>
      <p:pic>
        <p:nvPicPr>
          <p:cNvPr id="8" name="Picture 7">
            <a:extLst>
              <a:ext uri="{FF2B5EF4-FFF2-40B4-BE49-F238E27FC236}">
                <a16:creationId xmlns:a16="http://schemas.microsoft.com/office/drawing/2014/main" id="{466F12F2-9F6A-F596-9D23-A467323AEB55}"/>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40000" contrast="40000"/>
                    </a14:imgEffect>
                  </a14:imgLayer>
                </a14:imgProps>
              </a:ext>
            </a:extLst>
          </a:blip>
          <a:stretch>
            <a:fillRect/>
          </a:stretch>
        </p:blipFill>
        <p:spPr>
          <a:xfrm>
            <a:off x="838200" y="5330562"/>
            <a:ext cx="9479524" cy="646331"/>
          </a:xfrm>
          <a:prstGeom prst="rect">
            <a:avLst/>
          </a:prstGeom>
        </p:spPr>
      </p:pic>
      <p:sp>
        <p:nvSpPr>
          <p:cNvPr id="7" name="TextBox 6">
            <a:extLst>
              <a:ext uri="{FF2B5EF4-FFF2-40B4-BE49-F238E27FC236}">
                <a16:creationId xmlns:a16="http://schemas.microsoft.com/office/drawing/2014/main" id="{4531E531-780C-1D0B-C859-FE36768E90C0}"/>
              </a:ext>
            </a:extLst>
          </p:cNvPr>
          <p:cNvSpPr txBox="1"/>
          <p:nvPr/>
        </p:nvSpPr>
        <p:spPr>
          <a:xfrm>
            <a:off x="5989704" y="3621909"/>
            <a:ext cx="2959100" cy="646331"/>
          </a:xfrm>
          <a:prstGeom prst="rect">
            <a:avLst/>
          </a:prstGeom>
          <a:noFill/>
        </p:spPr>
        <p:txBody>
          <a:bodyPr wrap="square" rtlCol="0">
            <a:spAutoFit/>
          </a:bodyPr>
          <a:lstStyle/>
          <a:p>
            <a:r>
              <a:rPr lang="en-US" b="1" dirty="0" err="1">
                <a:solidFill>
                  <a:srgbClr val="7030A0"/>
                </a:solidFill>
              </a:rPr>
              <a:t>log</a:t>
            </a:r>
            <a:r>
              <a:rPr lang="en-US" b="1" baseline="-25000" dirty="0" err="1">
                <a:solidFill>
                  <a:srgbClr val="7030A0"/>
                </a:solidFill>
              </a:rPr>
              <a:t>b</a:t>
            </a:r>
            <a:r>
              <a:rPr lang="en-US" b="1" dirty="0" err="1">
                <a:solidFill>
                  <a:srgbClr val="7030A0"/>
                </a:solidFill>
              </a:rPr>
              <a:t>a</a:t>
            </a:r>
            <a:r>
              <a:rPr lang="en-US" b="1" dirty="0">
                <a:solidFill>
                  <a:srgbClr val="7030A0"/>
                </a:solidFill>
              </a:rPr>
              <a:t> is a constant</a:t>
            </a:r>
          </a:p>
          <a:p>
            <a:endParaRPr lang="en-US" dirty="0"/>
          </a:p>
        </p:txBody>
      </p:sp>
      <p:sp>
        <p:nvSpPr>
          <p:cNvPr id="11" name="Star: 5 Points 10">
            <a:extLst>
              <a:ext uri="{FF2B5EF4-FFF2-40B4-BE49-F238E27FC236}">
                <a16:creationId xmlns:a16="http://schemas.microsoft.com/office/drawing/2014/main" id="{4AE6083E-8145-5BA9-4BAA-EFDC7ACA087B}"/>
              </a:ext>
            </a:extLst>
          </p:cNvPr>
          <p:cNvSpPr/>
          <p:nvPr/>
        </p:nvSpPr>
        <p:spPr>
          <a:xfrm>
            <a:off x="8458200" y="1626139"/>
            <a:ext cx="1172833" cy="799007"/>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5819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295747"/>
            <a:ext cx="11065008" cy="584775"/>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a:defRPr/>
            </a:pPr>
            <a:r>
              <a:rPr lang="en-US" altLang="en-US" sz="3800" b="1" dirty="0">
                <a:solidFill>
                  <a:srgbClr val="FFC000"/>
                </a:solidFill>
              </a:rPr>
              <a:t>Useful Summation Formulas and Rules</a:t>
            </a:r>
            <a:endParaRPr lang="en-US" altLang="en-US" sz="3800" dirty="0">
              <a:solidFill>
                <a:srgbClr val="FFC000"/>
              </a:solidFill>
            </a:endParaRPr>
          </a:p>
        </p:txBody>
      </p:sp>
      <p:sp>
        <p:nvSpPr>
          <p:cNvPr id="4" name="Slide Number Placeholder 2">
            <a:extLst>
              <a:ext uri="{FF2B5EF4-FFF2-40B4-BE49-F238E27FC236}">
                <a16:creationId xmlns:a16="http://schemas.microsoft.com/office/drawing/2014/main" id="{AA33F216-665D-1C74-B899-7A98CB4E1C37}"/>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fld id="{C65781BD-3F4D-4CA7-A858-CE94DEA3B426}" type="slidenum">
              <a:rPr lang="en-US" smtClean="0"/>
              <a:pPr algn="r"/>
              <a:t>25</a:t>
            </a:fld>
            <a:endParaRPr lang="en-US" dirty="0"/>
          </a:p>
        </p:txBody>
      </p:sp>
      <p:pic>
        <p:nvPicPr>
          <p:cNvPr id="8" name="Picture 7">
            <a:extLst>
              <a:ext uri="{FF2B5EF4-FFF2-40B4-BE49-F238E27FC236}">
                <a16:creationId xmlns:a16="http://schemas.microsoft.com/office/drawing/2014/main" id="{3C148C2E-4289-E8DC-50F3-9A180AA40839}"/>
              </a:ext>
            </a:extLst>
          </p:cNvPr>
          <p:cNvPicPr>
            <a:picLocks noChangeAspect="1"/>
          </p:cNvPicPr>
          <p:nvPr/>
        </p:nvPicPr>
        <p:blipFill>
          <a:blip r:embed="rId3"/>
          <a:stretch>
            <a:fillRect/>
          </a:stretch>
        </p:blipFill>
        <p:spPr>
          <a:xfrm>
            <a:off x="491489" y="1143000"/>
            <a:ext cx="11115099" cy="5011214"/>
          </a:xfrm>
          <a:prstGeom prst="rect">
            <a:avLst/>
          </a:prstGeom>
        </p:spPr>
      </p:pic>
    </p:spTree>
    <p:extLst>
      <p:ext uri="{BB962C8B-B14F-4D97-AF65-F5344CB8AC3E}">
        <p14:creationId xmlns:p14="http://schemas.microsoft.com/office/powerpoint/2010/main" val="652180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C000"/>
                </a:solidFill>
              </a:rPr>
              <a:t>Important Definitions and Theorems</a:t>
            </a:r>
            <a:endParaRPr lang="en-US"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26</a:t>
            </a:fld>
            <a:endParaRPr lang="en-US" dirty="0"/>
          </a:p>
        </p:txBody>
      </p:sp>
      <p:sp>
        <p:nvSpPr>
          <p:cNvPr id="4" name="object 7">
            <a:extLst>
              <a:ext uri="{FF2B5EF4-FFF2-40B4-BE49-F238E27FC236}">
                <a16:creationId xmlns:a16="http://schemas.microsoft.com/office/drawing/2014/main" id="{5CCA2728-CDCB-8D02-2C9F-C9CDAE21E818}"/>
              </a:ext>
            </a:extLst>
          </p:cNvPr>
          <p:cNvSpPr txBox="1">
            <a:spLocks/>
          </p:cNvSpPr>
          <p:nvPr/>
        </p:nvSpPr>
        <p:spPr bwMode="auto">
          <a:xfrm>
            <a:off x="457200" y="1228384"/>
            <a:ext cx="11430000" cy="456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90000"/>
              </a:lnSpc>
              <a:defRPr/>
            </a:pPr>
            <a:r>
              <a:rPr lang="en-US" altLang="en-US" sz="2800" i="1" dirty="0">
                <a:latin typeface="Times New Roman" panose="02020603050405020304" pitchFamily="18" charset="0"/>
                <a:cs typeface="Times New Roman" panose="02020603050405020304" pitchFamily="18" charset="0"/>
              </a:rPr>
              <a:t>f(n)</a:t>
            </a:r>
            <a:r>
              <a:rPr lang="en-US" altLang="en-US" sz="2800" dirty="0"/>
              <a:t> is called </a:t>
            </a:r>
            <a:r>
              <a:rPr lang="en-US" altLang="en-US" sz="2800" b="1" u="sng" dirty="0">
                <a:solidFill>
                  <a:srgbClr val="7030A0"/>
                </a:solidFill>
              </a:rPr>
              <a:t>eventually nondecreasing</a:t>
            </a:r>
            <a:r>
              <a:rPr lang="en-US" altLang="en-US" sz="2800" b="1" u="sng" dirty="0"/>
              <a:t> </a:t>
            </a:r>
            <a:r>
              <a:rPr lang="en-US" altLang="en-US" sz="2800" dirty="0"/>
              <a:t>if </a:t>
            </a:r>
          </a:p>
          <a:p>
            <a:pPr lvl="1">
              <a:lnSpc>
                <a:spcPct val="90000"/>
              </a:lnSpc>
              <a:defRPr/>
            </a:pPr>
            <a:r>
              <a:rPr lang="en-US" altLang="en-US" sz="2400" i="1" dirty="0">
                <a:latin typeface="Times New Roman" panose="02020603050405020304" pitchFamily="18" charset="0"/>
                <a:cs typeface="Times New Roman" panose="02020603050405020304" pitchFamily="18" charset="0"/>
              </a:rPr>
              <a:t>f(n) </a:t>
            </a:r>
            <a:r>
              <a:rPr lang="en-US" altLang="en-US" sz="2400" dirty="0"/>
              <a:t>is a nonnegative function</a:t>
            </a:r>
          </a:p>
          <a:p>
            <a:pPr lvl="1">
              <a:lnSpc>
                <a:spcPct val="90000"/>
              </a:lnSpc>
              <a:defRPr/>
            </a:pPr>
            <a:r>
              <a:rPr lang="en-US" altLang="en-US" sz="2400" dirty="0"/>
              <a:t>defined on the set of natural numbers</a:t>
            </a:r>
          </a:p>
          <a:p>
            <a:pPr lvl="1">
              <a:lnSpc>
                <a:spcPct val="90000"/>
              </a:lnSpc>
              <a:defRPr/>
            </a:pPr>
            <a:r>
              <a:rPr lang="en-US" altLang="en-US" sz="2400" dirty="0"/>
              <a:t>and </a:t>
            </a:r>
          </a:p>
          <a:p>
            <a:pPr lvl="1">
              <a:lnSpc>
                <a:spcPct val="90000"/>
              </a:lnSpc>
              <a:defRPr/>
            </a:pPr>
            <a:endParaRPr lang="en-US" altLang="en-US" sz="2400" dirty="0"/>
          </a:p>
          <a:p>
            <a:pPr lvl="1">
              <a:lnSpc>
                <a:spcPct val="90000"/>
              </a:lnSpc>
              <a:defRPr/>
            </a:pPr>
            <a:endParaRPr lang="en-US" altLang="en-US" sz="2400" dirty="0"/>
          </a:p>
          <a:p>
            <a:pPr>
              <a:lnSpc>
                <a:spcPct val="90000"/>
              </a:lnSpc>
              <a:defRPr/>
            </a:pPr>
            <a:r>
              <a:rPr lang="en-US" sz="2800" dirty="0"/>
              <a:t>The vast majority of functions we encounter in the analysis of algorithms are eventually nondecreasing</a:t>
            </a:r>
          </a:p>
          <a:p>
            <a:pPr lvl="1">
              <a:lnSpc>
                <a:spcPct val="90000"/>
              </a:lnSpc>
              <a:defRPr/>
            </a:pPr>
            <a:r>
              <a:rPr lang="en-US" sz="2400" dirty="0"/>
              <a:t>Most of them are, in fact, nondecreasing on their entire domains</a:t>
            </a:r>
            <a:endParaRPr lang="en-US" altLang="en-US" sz="2400" dirty="0"/>
          </a:p>
          <a:p>
            <a:pPr lvl="1">
              <a:lnSpc>
                <a:spcPct val="90000"/>
              </a:lnSpc>
              <a:defRPr/>
            </a:pPr>
            <a:endParaRPr lang="en-US" altLang="en-US" sz="2400" dirty="0"/>
          </a:p>
          <a:p>
            <a:pPr marL="457200" lvl="1" indent="0">
              <a:lnSpc>
                <a:spcPct val="90000"/>
              </a:lnSpc>
              <a:buNone/>
              <a:defRPr/>
            </a:pPr>
            <a:endParaRPr lang="en-US" altLang="en-US" sz="2400" dirty="0"/>
          </a:p>
        </p:txBody>
      </p:sp>
      <p:pic>
        <p:nvPicPr>
          <p:cNvPr id="5" name="Picture 4">
            <a:extLst>
              <a:ext uri="{FF2B5EF4-FFF2-40B4-BE49-F238E27FC236}">
                <a16:creationId xmlns:a16="http://schemas.microsoft.com/office/drawing/2014/main" id="{C5E19DF6-304C-3583-B09B-222290D74242}"/>
              </a:ext>
            </a:extLst>
          </p:cNvPr>
          <p:cNvPicPr>
            <a:picLocks noChangeAspect="1"/>
          </p:cNvPicPr>
          <p:nvPr/>
        </p:nvPicPr>
        <p:blipFill>
          <a:blip r:embed="rId6"/>
          <a:stretch>
            <a:fillRect/>
          </a:stretch>
        </p:blipFill>
        <p:spPr>
          <a:xfrm>
            <a:off x="1981200" y="2563504"/>
            <a:ext cx="6077587" cy="919851"/>
          </a:xfrm>
          <a:prstGeom prst="rect">
            <a:avLst/>
          </a:prstGeom>
        </p:spPr>
      </p:pic>
    </p:spTree>
    <p:extLst>
      <p:ext uri="{BB962C8B-B14F-4D97-AF65-F5344CB8AC3E}">
        <p14:creationId xmlns:p14="http://schemas.microsoft.com/office/powerpoint/2010/main" val="1008542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Important Definitions and Theorems, Contd.</a:t>
            </a:r>
            <a:endParaRPr lang="en-US"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27</a:t>
            </a:fld>
            <a:endParaRPr lang="en-US" dirty="0"/>
          </a:p>
        </p:txBody>
      </p:sp>
      <p:sp>
        <p:nvSpPr>
          <p:cNvPr id="4" name="object 7">
            <a:extLst>
              <a:ext uri="{FF2B5EF4-FFF2-40B4-BE49-F238E27FC236}">
                <a16:creationId xmlns:a16="http://schemas.microsoft.com/office/drawing/2014/main" id="{5CCA2728-CDCB-8D02-2C9F-C9CDAE21E818}"/>
              </a:ext>
            </a:extLst>
          </p:cNvPr>
          <p:cNvSpPr txBox="1">
            <a:spLocks/>
          </p:cNvSpPr>
          <p:nvPr/>
        </p:nvSpPr>
        <p:spPr bwMode="auto">
          <a:xfrm>
            <a:off x="457200" y="1228384"/>
            <a:ext cx="6324600" cy="442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90000"/>
              </a:lnSpc>
              <a:defRPr/>
            </a:pPr>
            <a:r>
              <a:rPr lang="en-US" altLang="en-US" sz="2800" i="1" dirty="0">
                <a:latin typeface="Times New Roman" panose="02020603050405020304" pitchFamily="18" charset="0"/>
                <a:cs typeface="Times New Roman" panose="02020603050405020304" pitchFamily="18" charset="0"/>
              </a:rPr>
              <a:t>f(n) </a:t>
            </a:r>
            <a:r>
              <a:rPr lang="en-US" altLang="en-US" sz="2800" dirty="0"/>
              <a:t>is called </a:t>
            </a:r>
            <a:r>
              <a:rPr lang="en-US" altLang="en-US" sz="2800" b="1" u="sng" dirty="0">
                <a:solidFill>
                  <a:srgbClr val="7030A0"/>
                </a:solidFill>
              </a:rPr>
              <a:t>smooth</a:t>
            </a:r>
            <a:r>
              <a:rPr lang="en-US" altLang="en-US" sz="2800" b="1" dirty="0"/>
              <a:t> </a:t>
            </a:r>
            <a:r>
              <a:rPr lang="en-US" altLang="en-US" sz="2800" dirty="0"/>
              <a:t>if</a:t>
            </a:r>
          </a:p>
          <a:p>
            <a:pPr lvl="1">
              <a:lnSpc>
                <a:spcPct val="90000"/>
              </a:lnSpc>
              <a:defRPr/>
            </a:pPr>
            <a:r>
              <a:rPr lang="en-US" altLang="en-US" sz="2400" dirty="0"/>
              <a:t>it is eventually non decreasing</a:t>
            </a:r>
          </a:p>
          <a:p>
            <a:pPr lvl="1">
              <a:lnSpc>
                <a:spcPct val="90000"/>
              </a:lnSpc>
              <a:defRPr/>
            </a:pPr>
            <a:r>
              <a:rPr lang="en-US" altLang="en-US" sz="2400" dirty="0"/>
              <a:t>and </a:t>
            </a:r>
          </a:p>
          <a:p>
            <a:pPr lvl="1">
              <a:lnSpc>
                <a:spcPct val="90000"/>
              </a:lnSpc>
              <a:defRPr/>
            </a:pPr>
            <a:endParaRPr lang="en-US" altLang="en-US" sz="2400" dirty="0"/>
          </a:p>
          <a:p>
            <a:pPr lvl="1">
              <a:lnSpc>
                <a:spcPct val="90000"/>
              </a:lnSpc>
              <a:defRPr/>
            </a:pPr>
            <a:endParaRPr lang="en-US" altLang="en-US" sz="2400" dirty="0"/>
          </a:p>
          <a:p>
            <a:pPr>
              <a:lnSpc>
                <a:spcPct val="90000"/>
              </a:lnSpc>
              <a:defRPr/>
            </a:pPr>
            <a:r>
              <a:rPr lang="en-US" sz="2800" dirty="0"/>
              <a:t>Functions which do not grow too fast are smooth</a:t>
            </a:r>
          </a:p>
          <a:p>
            <a:pPr lvl="1">
              <a:lnSpc>
                <a:spcPct val="90000"/>
              </a:lnSpc>
              <a:defRPr/>
            </a:pPr>
            <a:r>
              <a:rPr lang="en-US" sz="2400" b="1" dirty="0">
                <a:solidFill>
                  <a:srgbClr val="7030A0"/>
                </a:solidFill>
              </a:rPr>
              <a:t>1, log n, n, n log n, and n</a:t>
            </a:r>
            <a:r>
              <a:rPr lang="en-US" sz="2400" b="1" baseline="30000" dirty="0">
                <a:solidFill>
                  <a:srgbClr val="7030A0"/>
                </a:solidFill>
              </a:rPr>
              <a:t>α</a:t>
            </a:r>
            <a:r>
              <a:rPr lang="en-US" sz="2400" b="1" dirty="0">
                <a:solidFill>
                  <a:srgbClr val="7030A0"/>
                </a:solidFill>
              </a:rPr>
              <a:t> where α ≥ 0 are smooth</a:t>
            </a:r>
          </a:p>
          <a:p>
            <a:pPr lvl="1">
              <a:lnSpc>
                <a:spcPct val="90000"/>
              </a:lnSpc>
              <a:defRPr/>
            </a:pPr>
            <a:endParaRPr lang="en-US" altLang="en-US" sz="2400" b="1" dirty="0">
              <a:solidFill>
                <a:srgbClr val="7030A0"/>
              </a:solidFill>
            </a:endParaRPr>
          </a:p>
          <a:p>
            <a:pPr lvl="1">
              <a:lnSpc>
                <a:spcPct val="90000"/>
              </a:lnSpc>
              <a:defRPr/>
            </a:pPr>
            <a:endParaRPr lang="en-US" altLang="en-US" sz="2400" b="1" dirty="0">
              <a:solidFill>
                <a:srgbClr val="7030A0"/>
              </a:solidFill>
            </a:endParaRPr>
          </a:p>
        </p:txBody>
      </p:sp>
      <p:pic>
        <p:nvPicPr>
          <p:cNvPr id="7" name="Picture 6">
            <a:extLst>
              <a:ext uri="{FF2B5EF4-FFF2-40B4-BE49-F238E27FC236}">
                <a16:creationId xmlns:a16="http://schemas.microsoft.com/office/drawing/2014/main" id="{3571931B-B4B9-6895-C5AA-C1A1DEA610F8}"/>
              </a:ext>
            </a:extLst>
          </p:cNvPr>
          <p:cNvPicPr>
            <a:picLocks noChangeAspect="1"/>
          </p:cNvPicPr>
          <p:nvPr/>
        </p:nvPicPr>
        <p:blipFill>
          <a:blip r:embed="rId6"/>
          <a:stretch>
            <a:fillRect/>
          </a:stretch>
        </p:blipFill>
        <p:spPr>
          <a:xfrm>
            <a:off x="2286000" y="2209800"/>
            <a:ext cx="2557346" cy="609600"/>
          </a:xfrm>
          <a:prstGeom prst="rect">
            <a:avLst/>
          </a:prstGeom>
        </p:spPr>
      </p:pic>
      <p:pic>
        <p:nvPicPr>
          <p:cNvPr id="11" name="Picture 10">
            <a:extLst>
              <a:ext uri="{FF2B5EF4-FFF2-40B4-BE49-F238E27FC236}">
                <a16:creationId xmlns:a16="http://schemas.microsoft.com/office/drawing/2014/main" id="{6E27CB28-25D7-098B-7685-D36D5BC42380}"/>
              </a:ext>
            </a:extLst>
          </p:cNvPr>
          <p:cNvPicPr>
            <a:picLocks noChangeAspect="1"/>
          </p:cNvPicPr>
          <p:nvPr/>
        </p:nvPicPr>
        <p:blipFill>
          <a:blip r:embed="rId7"/>
          <a:stretch>
            <a:fillRect/>
          </a:stretch>
        </p:blipFill>
        <p:spPr>
          <a:xfrm>
            <a:off x="7270127" y="2743200"/>
            <a:ext cx="4252081" cy="3390900"/>
          </a:xfrm>
          <a:prstGeom prst="rect">
            <a:avLst/>
          </a:prstGeom>
        </p:spPr>
      </p:pic>
    </p:spTree>
    <p:extLst>
      <p:ext uri="{BB962C8B-B14F-4D97-AF65-F5344CB8AC3E}">
        <p14:creationId xmlns:p14="http://schemas.microsoft.com/office/powerpoint/2010/main" val="3215879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Important Definitions and Theorems, Contd.</a:t>
            </a:r>
            <a:endParaRPr lang="en-US" sz="3800" b="1" spc="-18" dirty="0">
              <a:solidFill>
                <a:srgbClr val="FFC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28</a:t>
            </a:fld>
            <a:endParaRPr lang="en-US" dirty="0"/>
          </a:p>
        </p:txBody>
      </p:sp>
      <p:sp>
        <p:nvSpPr>
          <p:cNvPr id="4" name="object 7">
            <a:extLst>
              <a:ext uri="{FF2B5EF4-FFF2-40B4-BE49-F238E27FC236}">
                <a16:creationId xmlns:a16="http://schemas.microsoft.com/office/drawing/2014/main" id="{5CCA2728-CDCB-8D02-2C9F-C9CDAE21E818}"/>
              </a:ext>
            </a:extLst>
          </p:cNvPr>
          <p:cNvSpPr txBox="1">
            <a:spLocks/>
          </p:cNvSpPr>
          <p:nvPr/>
        </p:nvSpPr>
        <p:spPr bwMode="auto">
          <a:xfrm>
            <a:off x="457200" y="1295400"/>
            <a:ext cx="11430000" cy="527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90000"/>
              </a:lnSpc>
              <a:defRPr/>
            </a:pPr>
            <a:r>
              <a:rPr lang="en-US" altLang="en-US" sz="2800" dirty="0"/>
              <a:t>The</a:t>
            </a:r>
            <a:r>
              <a:rPr lang="en-US" altLang="en-US" sz="2800" b="1" dirty="0"/>
              <a:t> </a:t>
            </a:r>
            <a:r>
              <a:rPr lang="en-US" altLang="en-US" sz="2800" b="1" dirty="0">
                <a:solidFill>
                  <a:srgbClr val="7030A0"/>
                </a:solidFill>
              </a:rPr>
              <a:t>Smoothness Rule</a:t>
            </a:r>
          </a:p>
          <a:p>
            <a:pPr lvl="1">
              <a:lnSpc>
                <a:spcPct val="90000"/>
              </a:lnSpc>
              <a:defRPr/>
            </a:pPr>
            <a:r>
              <a:rPr lang="en-US" altLang="en-US" sz="2400" dirty="0"/>
              <a:t>If 	</a:t>
            </a:r>
            <a:r>
              <a:rPr lang="en-US" altLang="en-US" sz="2400" i="1" dirty="0">
                <a:latin typeface="Times New Roman" panose="02020603050405020304" pitchFamily="18" charset="0"/>
                <a:cs typeface="Times New Roman" panose="02020603050405020304" pitchFamily="18" charset="0"/>
              </a:rPr>
              <a:t> T(n) </a:t>
            </a:r>
            <a:r>
              <a:rPr lang="en-US" altLang="en-US" sz="2400" dirty="0"/>
              <a:t>is </a:t>
            </a:r>
            <a:r>
              <a:rPr lang="en-US" altLang="en-US" sz="2400" u="sng" dirty="0"/>
              <a:t>eventually nondecreasing </a:t>
            </a:r>
            <a:r>
              <a:rPr lang="en-US" altLang="en-US" sz="1800" dirty="0"/>
              <a:t>(such as the vast majority of functions we encounter in the analysis of algorithms</a:t>
            </a:r>
            <a:r>
              <a:rPr lang="en-US" altLang="en-US" sz="1800" dirty="0">
                <a:solidFill>
                  <a:schemeClr val="tx1"/>
                </a:solidFill>
              </a:rPr>
              <a:t>)</a:t>
            </a:r>
            <a:endParaRPr lang="en-US" altLang="en-US" sz="3200" dirty="0">
              <a:solidFill>
                <a:schemeClr val="tx1"/>
              </a:solidFill>
            </a:endParaRPr>
          </a:p>
          <a:p>
            <a:pPr lvl="1">
              <a:lnSpc>
                <a:spcPct val="90000"/>
              </a:lnSpc>
              <a:defRPr/>
            </a:pPr>
            <a:r>
              <a:rPr lang="en-US" altLang="en-US" sz="2400" dirty="0"/>
              <a:t>and 	</a:t>
            </a:r>
            <a:r>
              <a:rPr lang="en-US" altLang="en-US" sz="2400" i="1" dirty="0">
                <a:latin typeface="Times New Roman" panose="02020603050405020304" pitchFamily="18" charset="0"/>
                <a:cs typeface="Times New Roman" panose="02020603050405020304" pitchFamily="18" charset="0"/>
              </a:rPr>
              <a:t> g(n) </a:t>
            </a:r>
            <a:r>
              <a:rPr lang="en-US" altLang="en-US" sz="2400" dirty="0"/>
              <a:t>is a </a:t>
            </a:r>
            <a:r>
              <a:rPr lang="en-US" altLang="en-US" sz="2400" u="sng" dirty="0"/>
              <a:t>smooth</a:t>
            </a:r>
            <a:r>
              <a:rPr lang="en-US" altLang="en-US" sz="2400" dirty="0"/>
              <a:t> function </a:t>
            </a:r>
            <a:r>
              <a:rPr lang="en-US" altLang="en-US" sz="1800" dirty="0"/>
              <a:t>(such as </a:t>
            </a:r>
            <a:r>
              <a:rPr lang="en-US" sz="1800" dirty="0">
                <a:solidFill>
                  <a:schemeClr val="tx1"/>
                </a:solidFill>
              </a:rPr>
              <a:t>1, log n, n, n log n, and n</a:t>
            </a:r>
            <a:r>
              <a:rPr lang="en-US" sz="1800" baseline="30000" dirty="0">
                <a:solidFill>
                  <a:schemeClr val="tx1"/>
                </a:solidFill>
              </a:rPr>
              <a:t>α</a:t>
            </a:r>
            <a:r>
              <a:rPr lang="en-US" sz="1800" dirty="0">
                <a:solidFill>
                  <a:schemeClr val="tx1"/>
                </a:solidFill>
              </a:rPr>
              <a:t> where α ≥ 0</a:t>
            </a:r>
            <a:r>
              <a:rPr lang="en-US" altLang="en-US" sz="1800" dirty="0">
                <a:solidFill>
                  <a:schemeClr val="tx1"/>
                </a:solidFill>
              </a:rPr>
              <a:t>)</a:t>
            </a:r>
            <a:endParaRPr lang="en-US" altLang="en-US" sz="2400" dirty="0"/>
          </a:p>
          <a:p>
            <a:pPr lvl="1">
              <a:lnSpc>
                <a:spcPct val="90000"/>
              </a:lnSpc>
              <a:defRPr/>
            </a:pPr>
            <a:r>
              <a:rPr lang="en-US" altLang="en-US" sz="2400" dirty="0"/>
              <a:t>and	</a:t>
            </a:r>
          </a:p>
          <a:p>
            <a:pPr marL="457200" lvl="1" indent="0">
              <a:lnSpc>
                <a:spcPct val="90000"/>
              </a:lnSpc>
              <a:buNone/>
              <a:defRPr/>
            </a:pPr>
            <a:r>
              <a:rPr lang="en-US" altLang="en-US" dirty="0"/>
              <a:t>		</a:t>
            </a:r>
            <a:r>
              <a:rPr lang="en-US" altLang="en-US" i="1" dirty="0">
                <a:latin typeface="Times New Roman" panose="02020603050405020304" pitchFamily="18" charset="0"/>
                <a:ea typeface="Tahoma" panose="020B0604030504040204" pitchFamily="34" charset="0"/>
                <a:cs typeface="Times New Roman" panose="02020603050405020304" pitchFamily="18" charset="0"/>
              </a:rPr>
              <a:t>T(n) </a:t>
            </a:r>
            <a:r>
              <a:rPr lang="en-US" altLang="en-US" i="1" dirty="0">
                <a:latin typeface="Times New Roman" panose="02020603050405020304" pitchFamily="18" charset="0"/>
                <a:ea typeface="Tahoma" panose="020B0604030504040204" pitchFamily="34" charset="0"/>
                <a:cs typeface="Times New Roman" panose="02020603050405020304" pitchFamily="18" charset="0"/>
                <a:sym typeface="Symbol" panose="05050102010706020507" pitchFamily="18" charset="2"/>
              </a:rPr>
              <a:t> (g(n)) for n = b</a:t>
            </a:r>
            <a:r>
              <a:rPr lang="en-US" altLang="en-US" i="1" baseline="30000" dirty="0">
                <a:latin typeface="Times New Roman" panose="02020603050405020304" pitchFamily="18" charset="0"/>
                <a:ea typeface="Tahoma" panose="020B0604030504040204" pitchFamily="34" charset="0"/>
                <a:cs typeface="Times New Roman" panose="02020603050405020304" pitchFamily="18" charset="0"/>
                <a:sym typeface="Symbol" panose="05050102010706020507" pitchFamily="18" charset="2"/>
              </a:rPr>
              <a:t>k</a:t>
            </a:r>
            <a:r>
              <a:rPr lang="en-US" altLang="en-US" i="1" dirty="0">
                <a:latin typeface="Times New Roman" panose="02020603050405020304" pitchFamily="18" charset="0"/>
                <a:ea typeface="Tahoma" panose="020B0604030504040204" pitchFamily="34" charset="0"/>
                <a:cs typeface="Times New Roman" panose="02020603050405020304" pitchFamily="18" charset="0"/>
                <a:sym typeface="Symbol" panose="05050102010706020507" pitchFamily="18" charset="2"/>
              </a:rPr>
              <a:t>, b≥2</a:t>
            </a:r>
          </a:p>
          <a:p>
            <a:pPr lvl="1">
              <a:lnSpc>
                <a:spcPct val="90000"/>
              </a:lnSpc>
              <a:defRPr/>
            </a:pPr>
            <a:r>
              <a:rPr lang="en-US" altLang="en-US" sz="2400" dirty="0">
                <a:sym typeface="Symbol" panose="05050102010706020507" pitchFamily="18" charset="2"/>
              </a:rPr>
              <a:t>then</a:t>
            </a:r>
          </a:p>
          <a:p>
            <a:pPr marL="457200" lvl="1" indent="0">
              <a:lnSpc>
                <a:spcPct val="90000"/>
              </a:lnSpc>
              <a:buNone/>
              <a:defRPr/>
            </a:pPr>
            <a:r>
              <a:rPr lang="en-US" altLang="en-US" sz="2800" dirty="0"/>
              <a:t>		</a:t>
            </a:r>
            <a:r>
              <a:rPr lang="en-US" altLang="en-US" i="1" dirty="0">
                <a:latin typeface="Times New Roman" panose="02020603050405020304" pitchFamily="18" charset="0"/>
                <a:ea typeface="Tahoma" panose="020B0604030504040204" pitchFamily="34" charset="0"/>
                <a:cs typeface="Times New Roman" panose="02020603050405020304" pitchFamily="18" charset="0"/>
              </a:rPr>
              <a:t>T(n) </a:t>
            </a:r>
            <a:r>
              <a:rPr lang="en-US" altLang="en-US" i="1" dirty="0">
                <a:latin typeface="Times New Roman" panose="02020603050405020304" pitchFamily="18" charset="0"/>
                <a:ea typeface="Tahoma" panose="020B0604030504040204" pitchFamily="34" charset="0"/>
                <a:cs typeface="Times New Roman" panose="02020603050405020304" pitchFamily="18" charset="0"/>
                <a:sym typeface="Symbol" panose="05050102010706020507" pitchFamily="18" charset="2"/>
              </a:rPr>
              <a:t> (g(n)) for any n</a:t>
            </a:r>
          </a:p>
          <a:p>
            <a:pPr marL="457200" lvl="1" indent="0">
              <a:lnSpc>
                <a:spcPct val="90000"/>
              </a:lnSpc>
              <a:buNone/>
              <a:defRPr/>
            </a:pPr>
            <a:endParaRPr lang="en-US" altLang="en-US" sz="2800" i="1" dirty="0">
              <a:latin typeface="Times New Roman" panose="02020603050405020304" pitchFamily="18" charset="0"/>
              <a:ea typeface="Tahoma" panose="020B0604030504040204" pitchFamily="34" charset="0"/>
              <a:cs typeface="Times New Roman" panose="02020603050405020304" pitchFamily="18" charset="0"/>
              <a:sym typeface="Symbol" panose="05050102010706020507" pitchFamily="18" charset="2"/>
            </a:endParaRPr>
          </a:p>
          <a:p>
            <a:pPr>
              <a:lnSpc>
                <a:spcPct val="90000"/>
              </a:lnSpc>
              <a:defRPr/>
            </a:pPr>
            <a:endParaRPr lang="en-US" altLang="en-US" sz="1800" dirty="0"/>
          </a:p>
          <a:p>
            <a:pPr marL="0" indent="0">
              <a:lnSpc>
                <a:spcPct val="90000"/>
              </a:lnSpc>
              <a:buNone/>
              <a:defRPr/>
            </a:pPr>
            <a:endParaRPr lang="en-US" altLang="en-US" sz="2000" dirty="0"/>
          </a:p>
          <a:p>
            <a:pPr marL="0" indent="0">
              <a:lnSpc>
                <a:spcPct val="90000"/>
              </a:lnSpc>
              <a:buNone/>
              <a:defRPr/>
            </a:pPr>
            <a:endParaRPr lang="en-US" altLang="en-US" sz="2000" dirty="0"/>
          </a:p>
          <a:p>
            <a:pPr>
              <a:lnSpc>
                <a:spcPct val="90000"/>
              </a:lnSpc>
              <a:defRPr/>
            </a:pPr>
            <a:r>
              <a:rPr lang="en-US" altLang="en-US" sz="2800" dirty="0"/>
              <a:t>Similar results hold for the O and Ω notations</a:t>
            </a:r>
          </a:p>
        </p:txBody>
      </p:sp>
      <p:sp>
        <p:nvSpPr>
          <p:cNvPr id="11" name="TextBox 5">
            <a:extLst>
              <a:ext uri="{FF2B5EF4-FFF2-40B4-BE49-F238E27FC236}">
                <a16:creationId xmlns:a16="http://schemas.microsoft.com/office/drawing/2014/main" id="{4C2DF683-54F7-177A-B7B7-EE12F1500E86}"/>
              </a:ext>
            </a:extLst>
          </p:cNvPr>
          <p:cNvSpPr txBox="1">
            <a:spLocks noChangeArrowheads="1"/>
          </p:cNvSpPr>
          <p:nvPr/>
        </p:nvSpPr>
        <p:spPr bwMode="auto">
          <a:xfrm>
            <a:off x="7010400" y="3436203"/>
            <a:ext cx="45118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 typeface="Monotype Sorts" pitchFamily="2" charset="2"/>
              <a:buNone/>
            </a:pPr>
            <a:r>
              <a:rPr kumimoji="0" lang="en-US" altLang="ko-KR" dirty="0">
                <a:solidFill>
                  <a:srgbClr val="7030A0"/>
                </a:solidFill>
              </a:rPr>
              <a:t>we can prove for </a:t>
            </a:r>
            <a:r>
              <a:rPr kumimoji="0" lang="en-US" altLang="ko-KR" i="1" dirty="0">
                <a:solidFill>
                  <a:srgbClr val="7030A0"/>
                </a:solidFill>
              </a:rPr>
              <a:t>n = b</a:t>
            </a:r>
            <a:r>
              <a:rPr kumimoji="0" lang="en-US" altLang="ko-KR" i="1" baseline="30000" dirty="0">
                <a:solidFill>
                  <a:srgbClr val="7030A0"/>
                </a:solidFill>
              </a:rPr>
              <a:t>k</a:t>
            </a:r>
            <a:r>
              <a:rPr kumimoji="0" lang="en-US" altLang="ko-KR" i="1" dirty="0">
                <a:solidFill>
                  <a:srgbClr val="7030A0"/>
                </a:solidFill>
              </a:rPr>
              <a:t> (</a:t>
            </a:r>
            <a:r>
              <a:rPr kumimoji="0" lang="en-US" altLang="ko-KR" dirty="0">
                <a:solidFill>
                  <a:srgbClr val="7030A0"/>
                </a:solidFill>
              </a:rPr>
              <a:t>such as n = </a:t>
            </a:r>
            <a:r>
              <a:rPr kumimoji="0" lang="en-US" altLang="ko-KR" i="1" dirty="0">
                <a:solidFill>
                  <a:srgbClr val="7030A0"/>
                </a:solidFill>
              </a:rPr>
              <a:t>2</a:t>
            </a:r>
            <a:r>
              <a:rPr kumimoji="0" lang="en-US" altLang="ko-KR" i="1" baseline="30000" dirty="0">
                <a:solidFill>
                  <a:srgbClr val="7030A0"/>
                </a:solidFill>
              </a:rPr>
              <a:t>k</a:t>
            </a:r>
            <a:r>
              <a:rPr kumimoji="0" lang="en-US" altLang="ko-KR" dirty="0">
                <a:solidFill>
                  <a:srgbClr val="7030A0"/>
                </a:solidFill>
              </a:rPr>
              <a:t>), and generalize to any n</a:t>
            </a:r>
          </a:p>
        </p:txBody>
      </p:sp>
    </p:spTree>
    <p:extLst>
      <p:ext uri="{BB962C8B-B14F-4D97-AF65-F5344CB8AC3E}">
        <p14:creationId xmlns:p14="http://schemas.microsoft.com/office/powerpoint/2010/main" val="2164600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3300"/>
                </a:solidFill>
              </a:rPr>
              <a:t>Time Efficiency of Non-Recursive Algorithms</a:t>
            </a:r>
            <a:endParaRPr sz="3800" b="1" spc="-18" dirty="0">
              <a:solidFill>
                <a:srgbClr val="FF33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29</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b="1" dirty="0"/>
              <a:t>General Plan for Analysis</a:t>
            </a:r>
          </a:p>
          <a:p>
            <a:pPr lvl="1">
              <a:defRPr/>
            </a:pPr>
            <a:r>
              <a:rPr lang="en-US" altLang="en-US" sz="2400" dirty="0"/>
              <a:t>Decide on parameter </a:t>
            </a:r>
            <a:r>
              <a:rPr lang="en-US" altLang="en-US" sz="2400" i="1" dirty="0"/>
              <a:t>n</a:t>
            </a:r>
            <a:r>
              <a:rPr lang="en-US" altLang="en-US" sz="2400" dirty="0"/>
              <a:t> indicating </a:t>
            </a:r>
            <a:r>
              <a:rPr lang="en-US" altLang="en-US" sz="2400" b="1" u="sng" dirty="0">
                <a:solidFill>
                  <a:srgbClr val="7030A0"/>
                </a:solidFill>
              </a:rPr>
              <a:t>input size</a:t>
            </a:r>
          </a:p>
          <a:p>
            <a:pPr lvl="1">
              <a:defRPr/>
            </a:pPr>
            <a:r>
              <a:rPr lang="en-US" altLang="en-US" sz="2400" dirty="0"/>
              <a:t>Identify algorithm’s </a:t>
            </a:r>
            <a:r>
              <a:rPr lang="en-US" altLang="en-US" sz="2400" b="1" u="sng" dirty="0">
                <a:solidFill>
                  <a:srgbClr val="7030A0"/>
                </a:solidFill>
              </a:rPr>
              <a:t>basic operation</a:t>
            </a:r>
          </a:p>
          <a:p>
            <a:pPr lvl="1">
              <a:defRPr/>
            </a:pPr>
            <a:r>
              <a:rPr lang="en-US" altLang="en-US" sz="2400" dirty="0"/>
              <a:t>Determine </a:t>
            </a:r>
            <a:r>
              <a:rPr lang="en-US" altLang="en-US" sz="2400" b="1" u="sng" dirty="0">
                <a:solidFill>
                  <a:srgbClr val="7030A0"/>
                </a:solidFill>
              </a:rPr>
              <a:t>worst</a:t>
            </a:r>
            <a:r>
              <a:rPr lang="en-US" altLang="en-US" sz="2400" dirty="0"/>
              <a:t>, </a:t>
            </a:r>
            <a:r>
              <a:rPr lang="en-US" altLang="en-US" sz="2400" b="1" u="sng" dirty="0">
                <a:solidFill>
                  <a:srgbClr val="7030A0"/>
                </a:solidFill>
              </a:rPr>
              <a:t>average</a:t>
            </a:r>
            <a:r>
              <a:rPr lang="en-US" altLang="en-US" sz="2400" dirty="0"/>
              <a:t>, and </a:t>
            </a:r>
            <a:r>
              <a:rPr lang="en-US" altLang="en-US" sz="2400" b="1" u="sng" dirty="0">
                <a:solidFill>
                  <a:srgbClr val="7030A0"/>
                </a:solidFill>
              </a:rPr>
              <a:t>best</a:t>
            </a:r>
            <a:r>
              <a:rPr lang="en-US" altLang="en-US" sz="2400" dirty="0"/>
              <a:t> cases for input of size </a:t>
            </a:r>
            <a:r>
              <a:rPr lang="en-US" altLang="en-US" sz="2400" i="1" dirty="0"/>
              <a:t>n</a:t>
            </a:r>
          </a:p>
          <a:p>
            <a:pPr lvl="1">
              <a:defRPr/>
            </a:pPr>
            <a:r>
              <a:rPr lang="en-US" altLang="en-US" sz="2400" dirty="0"/>
              <a:t>Set up a sum for the number of times the basic operation is executed </a:t>
            </a:r>
            <a:r>
              <a:rPr lang="en-US" altLang="en-US" sz="2400" b="1" u="sng" dirty="0">
                <a:solidFill>
                  <a:srgbClr val="7030A0"/>
                </a:solidFill>
              </a:rPr>
              <a:t>(basic operation count)</a:t>
            </a:r>
          </a:p>
          <a:p>
            <a:pPr lvl="1">
              <a:defRPr/>
            </a:pPr>
            <a:r>
              <a:rPr lang="en-US" altLang="en-US" sz="2400" dirty="0"/>
              <a:t>Simplify the sum using standard formulas and rules (see Appendix A) </a:t>
            </a:r>
          </a:p>
        </p:txBody>
      </p:sp>
    </p:spTree>
    <p:extLst>
      <p:ext uri="{BB962C8B-B14F-4D97-AF65-F5344CB8AC3E}">
        <p14:creationId xmlns:p14="http://schemas.microsoft.com/office/powerpoint/2010/main" val="3697381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1: Maximum Element</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30</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56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r>
              <a:rPr lang="en-US" altLang="en-US" sz="2800" dirty="0"/>
              <a:t>C(n) = </a:t>
            </a:r>
            <a:r>
              <a:rPr kumimoji="1" lang="en-US" altLang="en-US" sz="2800" b="1" dirty="0">
                <a:effectLst>
                  <a:outerShdw blurRad="38100" dist="38100" dir="2700000" algn="tl">
                    <a:srgbClr val="000000"/>
                  </a:outerShdw>
                </a:effectLst>
                <a:sym typeface="Symbol" panose="05050102010706020507" pitchFamily="18" charset="2"/>
              </a:rPr>
              <a:t></a:t>
            </a:r>
            <a:r>
              <a:rPr kumimoji="1" lang="en-US" altLang="en-US" sz="2800" b="1" i="1" baseline="-25000" dirty="0">
                <a:effectLst>
                  <a:outerShdw blurRad="38100" dist="38100" dir="2700000" algn="tl">
                    <a:srgbClr val="000000"/>
                  </a:outerShdw>
                </a:effectLst>
                <a:sym typeface="Symbol" panose="05050102010706020507" pitchFamily="18" charset="2"/>
              </a:rPr>
              <a:t>1</a:t>
            </a:r>
            <a:r>
              <a:rPr kumimoji="1" lang="en-US" altLang="en-US" sz="2800" b="1" baseline="-25000" dirty="0">
                <a:effectLst>
                  <a:outerShdw blurRad="38100" dist="38100" dir="2700000" algn="tl">
                    <a:srgbClr val="000000"/>
                  </a:outerShdw>
                </a:effectLst>
                <a:sym typeface="Symbol" panose="05050102010706020507" pitchFamily="18" charset="2"/>
              </a:rPr>
              <a:t></a:t>
            </a:r>
            <a:r>
              <a:rPr kumimoji="1" lang="en-US" altLang="en-US" sz="2800" b="1" i="1" baseline="-25000" dirty="0">
                <a:effectLst>
                  <a:outerShdw blurRad="38100" dist="38100" dir="2700000" algn="tl">
                    <a:srgbClr val="000000"/>
                  </a:outerShdw>
                </a:effectLst>
                <a:sym typeface="Symbol" panose="05050102010706020507" pitchFamily="18" charset="2"/>
              </a:rPr>
              <a:t>i</a:t>
            </a:r>
            <a:r>
              <a:rPr kumimoji="1" lang="en-US" altLang="en-US" sz="2800" b="1" baseline="-25000" dirty="0">
                <a:effectLst>
                  <a:outerShdw blurRad="38100" dist="38100" dir="2700000" algn="tl">
                    <a:srgbClr val="000000"/>
                  </a:outerShdw>
                </a:effectLst>
                <a:sym typeface="Symbol" panose="05050102010706020507" pitchFamily="18" charset="2"/>
              </a:rPr>
              <a:t></a:t>
            </a:r>
            <a:r>
              <a:rPr kumimoji="1" lang="en-US" altLang="en-US" sz="2800" b="1" i="1" baseline="-25000" dirty="0">
                <a:effectLst>
                  <a:outerShdw blurRad="38100" dist="38100" dir="2700000" algn="tl">
                    <a:srgbClr val="000000"/>
                  </a:outerShdw>
                </a:effectLst>
                <a:sym typeface="Symbol" panose="05050102010706020507" pitchFamily="18" charset="2"/>
              </a:rPr>
              <a:t>n-1</a:t>
            </a:r>
            <a:r>
              <a:rPr kumimoji="1" lang="en-US" altLang="en-US" sz="2800" b="1" i="1" dirty="0">
                <a:effectLst>
                  <a:outerShdw blurRad="38100" dist="38100" dir="2700000" algn="tl">
                    <a:srgbClr val="000000"/>
                  </a:outerShdw>
                </a:effectLst>
                <a:sym typeface="Symbol" panose="05050102010706020507" pitchFamily="18" charset="2"/>
              </a:rPr>
              <a:t> 1 = n-1 </a:t>
            </a:r>
            <a:r>
              <a:rPr kumimoji="0" lang="en-US" altLang="en-US" sz="2800" b="0" dirty="0">
                <a:sym typeface="Symbol" panose="05050102010706020507" pitchFamily="18" charset="2"/>
              </a:rPr>
              <a:t></a:t>
            </a:r>
            <a:r>
              <a:rPr kumimoji="1" lang="en-US" altLang="en-US" sz="2800" b="1" i="1" dirty="0">
                <a:effectLst>
                  <a:outerShdw blurRad="38100" dist="38100" dir="2700000" algn="tl">
                    <a:srgbClr val="000000"/>
                  </a:outerShdw>
                </a:effectLst>
                <a:sym typeface="Symbol" panose="05050102010706020507" pitchFamily="18" charset="2"/>
              </a:rPr>
              <a:t> </a:t>
            </a:r>
            <a:r>
              <a:rPr kumimoji="1" lang="en-US" altLang="en-US" sz="2800" b="1" dirty="0">
                <a:effectLst>
                  <a:outerShdw blurRad="38100" dist="38100" dir="2700000" algn="tl">
                    <a:srgbClr val="000000"/>
                  </a:outerShdw>
                </a:effectLst>
                <a:sym typeface="Symbol" panose="05050102010706020507" pitchFamily="18" charset="2"/>
              </a:rPr>
              <a:t>(</a:t>
            </a:r>
            <a:r>
              <a:rPr kumimoji="1" lang="en-US" altLang="en-US" sz="2800" b="1" i="1" dirty="0">
                <a:effectLst>
                  <a:outerShdw blurRad="38100" dist="38100" dir="2700000" algn="tl">
                    <a:srgbClr val="000000"/>
                  </a:outerShdw>
                </a:effectLst>
                <a:sym typeface="Symbol" panose="05050102010706020507" pitchFamily="18" charset="2"/>
              </a:rPr>
              <a:t>n</a:t>
            </a:r>
            <a:r>
              <a:rPr kumimoji="1" lang="en-US" altLang="en-US" sz="2800" b="1" dirty="0">
                <a:effectLst>
                  <a:outerShdw blurRad="38100" dist="38100" dir="2700000" algn="tl">
                    <a:srgbClr val="000000"/>
                  </a:outerShdw>
                </a:effectLst>
                <a:sym typeface="Symbol" panose="05050102010706020507" pitchFamily="18" charset="2"/>
              </a:rPr>
              <a:t>)</a:t>
            </a:r>
            <a:r>
              <a:rPr kumimoji="1" lang="en-US" altLang="en-US" sz="2800" dirty="0">
                <a:sym typeface="Symbol" panose="05050102010706020507" pitchFamily="18" charset="2"/>
              </a:rPr>
              <a:t>  comparisons</a:t>
            </a:r>
          </a:p>
          <a:p>
            <a:pPr>
              <a:defRPr/>
            </a:pPr>
            <a:endParaRPr lang="en-US" altLang="en-US" sz="2800" dirty="0"/>
          </a:p>
        </p:txBody>
      </p:sp>
      <p:pic>
        <p:nvPicPr>
          <p:cNvPr id="2" name="Picture 4" descr="2_3a">
            <a:extLst>
              <a:ext uri="{FF2B5EF4-FFF2-40B4-BE49-F238E27FC236}">
                <a16:creationId xmlns:a16="http://schemas.microsoft.com/office/drawing/2014/main" id="{B5C8EE96-6F72-4E0F-65D8-D753388410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691630" y="1090943"/>
            <a:ext cx="8077200" cy="3381375"/>
          </a:xfrm>
          <a:prstGeom prst="rect">
            <a:avLst/>
          </a:prstGeom>
          <a:solidFill>
            <a:schemeClr val="tx1"/>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3171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2: Element Uniqueness Problem</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31</a:t>
            </a:fld>
            <a:endParaRPr lang="en-US" dirty="0"/>
          </a:p>
        </p:txBody>
      </p:sp>
      <mc:AlternateContent xmlns:mc="http://schemas.openxmlformats.org/markup-compatibility/2006" xmlns:a14="http://schemas.microsoft.com/office/drawing/2010/main">
        <mc:Choice Requires="a14">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228600" y="1227500"/>
                <a:ext cx="11734800" cy="440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r>
                  <a:rPr lang="en-US" altLang="en-US" sz="2000" dirty="0"/>
                  <a:t>C(n) = </a:t>
                </a:r>
                <a14:m>
                  <m:oMath xmlns:m="http://schemas.openxmlformats.org/officeDocument/2006/math">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0</m:t>
                        </m:r>
                      </m:sub>
                      <m:sup>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2</m:t>
                        </m:r>
                      </m:sup>
                      <m:e>
                        <m:d>
                          <m:dPr>
                            <m:ctrlPr>
                              <a:rPr lang="en-US" sz="2000" b="0" i="1" smtClean="0">
                                <a:latin typeface="Cambria Math" panose="02040503050406030204" pitchFamily="18" charset="0"/>
                              </a:rPr>
                            </m:ctrlPr>
                          </m:dPr>
                          <m:e>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1</m:t>
                                </m:r>
                              </m:sup>
                              <m:e>
                                <m:r>
                                  <a:rPr lang="en-US" sz="2000" b="0" i="1" smtClean="0">
                                    <a:latin typeface="Cambria Math" panose="02040503050406030204" pitchFamily="18" charset="0"/>
                                  </a:rPr>
                                  <m:t>1</m:t>
                                </m:r>
                              </m:e>
                            </m:nary>
                          </m:e>
                        </m:d>
                      </m:e>
                    </m:nary>
                    <m:r>
                      <m:rPr>
                        <m:aln/>
                      </m:rP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0</m:t>
                        </m:r>
                      </m:sub>
                      <m:sup>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2</m:t>
                        </m:r>
                      </m:sup>
                      <m:e>
                        <m:d>
                          <m:dPr>
                            <m:ctrlPr>
                              <a:rPr lang="en-US" sz="2000" b="0" i="1" smtClean="0">
                                <a:latin typeface="Cambria Math" panose="02040503050406030204" pitchFamily="18" charset="0"/>
                              </a:rPr>
                            </m:ctrlPr>
                          </m:dPr>
                          <m:e>
                            <m:r>
                              <a:rPr lang="en-AU"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1</m:t>
                            </m:r>
                            <m:r>
                              <a:rPr lang="en-US" sz="2000" b="0" i="1" smtClean="0">
                                <a:latin typeface="Cambria Math" panose="02040503050406030204" pitchFamily="18" charset="0"/>
                              </a:rPr>
                              <m:t>)−</m:t>
                            </m:r>
                            <m:d>
                              <m:dPr>
                                <m:ctrlPr>
                                  <a:rPr lang="en-AU" sz="2000" b="0" i="1" smtClean="0">
                                    <a:latin typeface="Cambria Math" panose="02040503050406030204" pitchFamily="18" charset="0"/>
                                  </a:rPr>
                                </m:ctrlPr>
                              </m:dPr>
                              <m:e>
                                <m:r>
                                  <a:rPr lang="en-US" sz="2000" b="0" i="1" smtClean="0">
                                    <a:latin typeface="Cambria Math" panose="02040503050406030204" pitchFamily="18" charset="0"/>
                                  </a:rPr>
                                  <m:t>𝑖</m:t>
                                </m:r>
                                <m:r>
                                  <a:rPr lang="en-AU" sz="2000" b="0" i="1" smtClean="0">
                                    <a:latin typeface="Cambria Math" panose="02040503050406030204" pitchFamily="18" charset="0"/>
                                  </a:rPr>
                                  <m:t>+</m:t>
                                </m:r>
                                <m:r>
                                  <a:rPr lang="en-US" sz="2000" b="0" i="1" smtClean="0">
                                    <a:latin typeface="Cambria Math" panose="02040503050406030204" pitchFamily="18" charset="0"/>
                                  </a:rPr>
                                  <m:t>1</m:t>
                                </m:r>
                              </m:e>
                            </m:d>
                            <m:r>
                              <a:rPr lang="en-AU" sz="2000" b="0" i="1" smtClean="0">
                                <a:latin typeface="Cambria Math" panose="02040503050406030204" pitchFamily="18" charset="0"/>
                              </a:rPr>
                              <m:t>+</m:t>
                            </m:r>
                            <m:r>
                              <a:rPr lang="en-AU" sz="2000" b="0" i="1" smtClean="0">
                                <a:latin typeface="Cambria Math" panose="02040503050406030204" pitchFamily="18" charset="0"/>
                              </a:rPr>
                              <m:t>1</m:t>
                            </m:r>
                          </m:e>
                        </m:d>
                        <m:r>
                          <a:rPr lang="en-AU" sz="2000" b="0" i="1" smtClean="0">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0</m:t>
                            </m:r>
                          </m:sub>
                          <m:sup>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2</m:t>
                            </m:r>
                          </m:sup>
                          <m:e>
                            <m:d>
                              <m:dPr>
                                <m:ctrlPr>
                                  <a:rPr lang="en-US" sz="2000" i="1">
                                    <a:latin typeface="Cambria Math" panose="02040503050406030204" pitchFamily="18" charset="0"/>
                                  </a:rPr>
                                </m:ctrlPr>
                              </m:dPr>
                              <m:e>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1</m:t>
                                </m:r>
                              </m:e>
                            </m:d>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1</m:t>
                                </m:r>
                              </m:e>
                            </m:d>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2</m:t>
                                </m:r>
                              </m:e>
                            </m:d>
                            <m:r>
                              <a:rPr lang="en-US" sz="2000" i="1">
                                <a:latin typeface="Cambria Math" panose="02040503050406030204" pitchFamily="18" charset="0"/>
                              </a:rPr>
                              <m:t>+…+</m:t>
                            </m:r>
                            <m:r>
                              <a:rPr lang="en-US" sz="2000" i="1">
                                <a:latin typeface="Cambria Math" panose="02040503050406030204" pitchFamily="18" charset="0"/>
                              </a:rPr>
                              <m:t>1</m:t>
                            </m:r>
                          </m:e>
                        </m:nary>
                        <m:r>
                          <a:rPr lang="en-US" sz="2000" b="0" i="1" smtClean="0">
                            <a:latin typeface="Cambria Math" panose="02040503050406030204" pitchFamily="18" charset="0"/>
                          </a:rPr>
                          <m:t>=</m:t>
                        </m:r>
                      </m:e>
                    </m:nary>
                  </m:oMath>
                </a14:m>
                <a:br>
                  <a:rPr lang="en-US" sz="2000" b="0" dirty="0">
                    <a:ea typeface="Cambria Math" panose="02040503050406030204" pitchFamily="18" charset="0"/>
                  </a:rPr>
                </a:br>
                <a14:m>
                  <m:oMath xmlns:m="http://schemas.openxmlformats.org/officeDocument/2006/math">
                    <m:r>
                      <m:rPr>
                        <m:aln/>
                      </m:rPr>
                      <a:rPr lang="en-US"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𝑛</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1</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𝑛</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1</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1</m:t>
                    </m:r>
                    <m:r>
                      <a:rPr lang="en-AU" sz="2000" b="0"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2</m:t>
                    </m:r>
                    <m:r>
                      <a:rPr lang="en-AU"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𝑛</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m:t>
                    </m:r>
                  </m:oMath>
                </a14:m>
                <a:r>
                  <a:rPr lang="en-US" sz="2000" b="0" dirty="0">
                    <a:ea typeface="Cambria Math" panose="02040503050406030204" pitchFamily="18" charset="0"/>
                  </a:rPr>
                  <a:t> </a:t>
                </a:r>
                <a:r>
                  <a:rPr lang="en-US" altLang="en-US" sz="2000" dirty="0">
                    <a:sym typeface="Symbol" panose="05050102010706020507" pitchFamily="18" charset="2"/>
                  </a:rPr>
                  <a:t></a:t>
                </a:r>
                <a:r>
                  <a:rPr lang="en-US" sz="2000" b="0" dirty="0">
                    <a:ea typeface="Cambria Math" panose="02040503050406030204" pitchFamily="18" charset="0"/>
                  </a:rPr>
                  <a:t> </a:t>
                </a:r>
                <a14:m>
                  <m:oMath xmlns:m="http://schemas.openxmlformats.org/officeDocument/2006/math">
                    <m:r>
                      <a:rPr lang="en-US" sz="2000" b="0" i="1" smtClean="0">
                        <a:latin typeface="Cambria Math" panose="02040503050406030204" pitchFamily="18" charset="0"/>
                        <a:ea typeface="Cambria Math" panose="02040503050406030204" pitchFamily="18" charset="0"/>
                      </a:rPr>
                      <m:t>𝜃</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𝑛</m:t>
                        </m:r>
                      </m:e>
                      <m:sup>
                        <m:r>
                          <a:rPr lang="en-US" sz="2000" b="0" i="1" smtClean="0">
                            <a:latin typeface="Cambria Math" panose="02040503050406030204" pitchFamily="18" charset="0"/>
                            <a:ea typeface="Cambria Math" panose="02040503050406030204" pitchFamily="18" charset="0"/>
                          </a:rPr>
                          <m:t>2</m:t>
                        </m:r>
                      </m:sup>
                    </m:sSup>
                  </m:oMath>
                </a14:m>
                <a:r>
                  <a:rPr lang="en-US" sz="2000" dirty="0"/>
                  <a:t>) </a:t>
                </a:r>
                <a:r>
                  <a:rPr lang="en-US" sz="2800" u="sng" dirty="0"/>
                  <a:t>in the worst case</a:t>
                </a:r>
                <a:endParaRPr lang="en-US" altLang="en-US" sz="2800" u="sng" dirty="0"/>
              </a:p>
            </p:txBody>
          </p:sp>
        </mc:Choice>
        <mc:Fallback xmlns="">
          <p:sp>
            <p:nvSpPr>
              <p:cNvPr id="9" name="object 7">
                <a:extLst>
                  <a:ext uri="{FF2B5EF4-FFF2-40B4-BE49-F238E27FC236}">
                    <a16:creationId xmlns:a16="http://schemas.microsoft.com/office/drawing/2014/main" id="{ACB0B48A-560D-4839-8006-6097D80F76DB}"/>
                  </a:ext>
                </a:extLst>
              </p:cNvPr>
              <p:cNvSpPr txBox="1">
                <a:spLocks noRot="1" noChangeAspect="1" noMove="1" noResize="1" noEditPoints="1" noAdjustHandles="1" noChangeArrowheads="1" noChangeShapeType="1" noTextEdit="1"/>
              </p:cNvSpPr>
              <p:nvPr/>
            </p:nvSpPr>
            <p:spPr bwMode="auto">
              <a:xfrm>
                <a:off x="228600" y="1227500"/>
                <a:ext cx="11734800" cy="4403000"/>
              </a:xfrm>
              <a:prstGeom prst="rect">
                <a:avLst/>
              </a:prstGeom>
              <a:blipFill>
                <a:blip r:embed="rId6"/>
                <a:stretch>
                  <a:fillRect l="-108" r="-324" b="-63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4" descr="2_3b">
            <a:extLst>
              <a:ext uri="{FF2B5EF4-FFF2-40B4-BE49-F238E27FC236}">
                <a16:creationId xmlns:a16="http://schemas.microsoft.com/office/drawing/2014/main" id="{DA796163-3F99-70A7-8529-D72C3E83F867}"/>
              </a:ext>
            </a:extLst>
          </p:cNvPr>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a:xfrm>
            <a:off x="609600" y="1295400"/>
            <a:ext cx="8153400" cy="3257550"/>
          </a:xfrm>
          <a:solidFill>
            <a:schemeClr val="tx1"/>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8491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3: Matrix Multiplication</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32</a:t>
            </a:fld>
            <a:endParaRPr lang="en-US" dirty="0"/>
          </a:p>
        </p:txBody>
      </p:sp>
      <mc:AlternateContent xmlns:mc="http://schemas.openxmlformats.org/markup-compatibility/2006" xmlns:a14="http://schemas.microsoft.com/office/drawing/2010/main">
        <mc:Choice Requires="a14">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517263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sz="2800" i="1" dirty="0">
                  <a:latin typeface="Cambria Math" panose="02040503050406030204" pitchFamily="18" charset="0"/>
                </a:endParaRPr>
              </a:p>
              <a:p>
                <a:pPr>
                  <a:defRPr/>
                </a:pPr>
                <a14:m>
                  <m:oMath xmlns:m="http://schemas.openxmlformats.org/officeDocument/2006/math">
                    <m:r>
                      <a:rPr lang="en-US" sz="2800" i="1">
                        <a:latin typeface="Cambria Math" panose="02040503050406030204" pitchFamily="18" charset="0"/>
                      </a:rPr>
                      <m:t>𝐶</m:t>
                    </m:r>
                    <m:d>
                      <m:dPr>
                        <m:ctrlPr>
                          <a:rPr lang="en-US" sz="2800" i="1">
                            <a:latin typeface="Cambria Math" panose="02040503050406030204" pitchFamily="18" charset="0"/>
                          </a:rPr>
                        </m:ctrlPr>
                      </m:dPr>
                      <m:e>
                        <m:r>
                          <a:rPr lang="en-US" sz="2800" i="1">
                            <a:latin typeface="Cambria Math" panose="02040503050406030204" pitchFamily="18" charset="0"/>
                          </a:rPr>
                          <m:t>𝑛</m:t>
                        </m:r>
                      </m:e>
                    </m:d>
                    <m:r>
                      <a:rPr lang="en-US" sz="2800" i="1">
                        <a:latin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0</m:t>
                        </m:r>
                      </m:sub>
                      <m:sup>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1</m:t>
                        </m:r>
                      </m:sup>
                      <m:e>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0</m:t>
                            </m:r>
                          </m:sub>
                          <m:sup>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1</m:t>
                            </m:r>
                          </m:sup>
                          <m:e>
                            <m:nary>
                              <m:naryPr>
                                <m:chr m:val="∑"/>
                                <m:ctrlPr>
                                  <a:rPr lang="en-US" sz="2800" i="1">
                                    <a:latin typeface="Cambria Math" panose="02040503050406030204" pitchFamily="18" charset="0"/>
                                  </a:rPr>
                                </m:ctrlPr>
                              </m:naryPr>
                              <m:sub>
                                <m:r>
                                  <a:rPr lang="en-US" sz="2800" b="0" i="1" smtClean="0">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0</m:t>
                                </m:r>
                              </m:sub>
                              <m:sup>
                                <m:r>
                                  <a:rPr lang="en-US" sz="2800" i="1">
                                    <a:latin typeface="Cambria Math" panose="02040503050406030204" pitchFamily="18" charset="0"/>
                                  </a:rPr>
                                  <m:t>𝑛</m:t>
                                </m:r>
                                <m:r>
                                  <a:rPr lang="en-US" sz="2800" b="0" i="1" smtClean="0">
                                    <a:latin typeface="Cambria Math" panose="02040503050406030204" pitchFamily="18" charset="0"/>
                                  </a:rPr>
                                  <m:t>−</m:t>
                                </m:r>
                                <m:r>
                                  <a:rPr lang="en-US" sz="2800" b="0" i="1" smtClean="0">
                                    <a:latin typeface="Cambria Math" panose="02040503050406030204" pitchFamily="18" charset="0"/>
                                  </a:rPr>
                                  <m:t>1</m:t>
                                </m:r>
                              </m:sup>
                              <m:e>
                                <m:r>
                                  <a:rPr lang="en-US" sz="2800" i="1">
                                    <a:latin typeface="Cambria Math" panose="02040503050406030204" pitchFamily="18" charset="0"/>
                                  </a:rPr>
                                  <m:t>1</m:t>
                                </m:r>
                              </m:e>
                            </m:nary>
                          </m:e>
                        </m:nary>
                      </m:e>
                    </m:nary>
                    <m:r>
                      <m:rPr>
                        <m:aln/>
                      </m:rPr>
                      <a:rPr lang="en-US" sz="2800" i="1">
                        <a:latin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0</m:t>
                        </m:r>
                      </m:sub>
                      <m:sup>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1</m:t>
                        </m:r>
                      </m:sup>
                      <m:e>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0</m:t>
                            </m:r>
                          </m:sub>
                          <m:sup>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1</m:t>
                            </m:r>
                          </m:sup>
                          <m:e>
                            <m:r>
                              <a:rPr lang="en-US" sz="2800" i="1">
                                <a:latin typeface="Cambria Math" panose="02040503050406030204" pitchFamily="18" charset="0"/>
                              </a:rPr>
                              <m:t>𝑛</m:t>
                            </m:r>
                          </m:e>
                        </m:nary>
                      </m:e>
                    </m:nary>
                    <m:r>
                      <m:rPr>
                        <m:aln/>
                      </m:rPr>
                      <a:rPr lang="en-US" sz="2800" i="1">
                        <a:latin typeface="Cambria Math" panose="02040503050406030204" pitchFamily="18" charset="0"/>
                        <a:ea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0</m:t>
                        </m:r>
                      </m:sub>
                      <m:sup>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1</m:t>
                        </m:r>
                      </m:sup>
                      <m:e>
                        <m:sSup>
                          <m:sSupPr>
                            <m:ctrlPr>
                              <a:rPr lang="en-US" sz="2800" i="1">
                                <a:latin typeface="Cambria Math" panose="02040503050406030204" pitchFamily="18" charset="0"/>
                              </a:rPr>
                            </m:ctrlPr>
                          </m:sSupPr>
                          <m:e>
                            <m:r>
                              <a:rPr lang="en-US" sz="2800" i="1">
                                <a:latin typeface="Cambria Math" panose="02040503050406030204" pitchFamily="18" charset="0"/>
                              </a:rPr>
                              <m:t>𝑛</m:t>
                            </m:r>
                          </m:e>
                          <m:sup>
                            <m:r>
                              <a:rPr lang="en-US" sz="2800" i="1">
                                <a:latin typeface="Cambria Math" panose="02040503050406030204" pitchFamily="18" charset="0"/>
                              </a:rPr>
                              <m:t>2</m:t>
                            </m:r>
                          </m:sup>
                        </m:sSup>
                      </m:e>
                    </m:nary>
                    <m:r>
                      <m:rPr>
                        <m:aln/>
                      </m:rP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𝑛</m:t>
                        </m:r>
                      </m:e>
                      <m:sup>
                        <m:r>
                          <a:rPr lang="en-US" sz="2800" i="1">
                            <a:latin typeface="Cambria Math" panose="02040503050406030204" pitchFamily="18" charset="0"/>
                          </a:rPr>
                          <m:t>3</m:t>
                        </m:r>
                      </m:sup>
                    </m:sSup>
                  </m:oMath>
                </a14:m>
                <a:r>
                  <a:rPr lang="en-US" sz="2800" dirty="0"/>
                  <a:t> multiplications</a:t>
                </a:r>
              </a:p>
              <a:p>
                <a:pPr marL="0" indent="0">
                  <a:buNone/>
                  <a:defRPr/>
                </a:pPr>
                <a:r>
                  <a:rPr lang="en-US" sz="2800" dirty="0">
                    <a:latin typeface="+mj-lt"/>
                  </a:rPr>
                  <a:t>                                                                               also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3</m:t>
                        </m:r>
                      </m:sup>
                    </m:sSup>
                  </m:oMath>
                </a14:m>
                <a:r>
                  <a:rPr lang="en-US" sz="2800" dirty="0">
                    <a:latin typeface="+mj-lt"/>
                  </a:rPr>
                  <a:t> additions</a:t>
                </a:r>
              </a:p>
            </p:txBody>
          </p:sp>
        </mc:Choice>
        <mc:Fallback xmlns="">
          <p:sp>
            <p:nvSpPr>
              <p:cNvPr id="9" name="object 7">
                <a:extLst>
                  <a:ext uri="{FF2B5EF4-FFF2-40B4-BE49-F238E27FC236}">
                    <a16:creationId xmlns:a16="http://schemas.microsoft.com/office/drawing/2014/main" id="{ACB0B48A-560D-4839-8006-6097D80F76DB}"/>
                  </a:ext>
                </a:extLst>
              </p:cNvPr>
              <p:cNvSpPr txBox="1">
                <a:spLocks noRot="1" noChangeAspect="1" noMove="1" noResize="1" noEditPoints="1" noAdjustHandles="1" noChangeArrowheads="1" noChangeShapeType="1" noTextEdit="1"/>
              </p:cNvSpPr>
              <p:nvPr/>
            </p:nvSpPr>
            <p:spPr bwMode="auto">
              <a:xfrm>
                <a:off x="457200" y="1228384"/>
                <a:ext cx="11430000" cy="5172634"/>
              </a:xfrm>
              <a:prstGeom prst="rect">
                <a:avLst/>
              </a:prstGeom>
              <a:blipFill>
                <a:blip r:embed="rId6"/>
                <a:stretch>
                  <a:fillRect r="-1332" b="-88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5" name="Content Placeholder 4" descr="2_3c">
            <a:extLst>
              <a:ext uri="{FF2B5EF4-FFF2-40B4-BE49-F238E27FC236}">
                <a16:creationId xmlns:a16="http://schemas.microsoft.com/office/drawing/2014/main" id="{37E50B23-543B-7131-05CE-A76E004DF187}"/>
              </a:ext>
            </a:extLst>
          </p:cNvPr>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a:xfrm>
            <a:off x="533400" y="1166812"/>
            <a:ext cx="8305800" cy="3862388"/>
          </a:xfrm>
          <a:solidFill>
            <a:schemeClr val="tx1"/>
          </a:solidFill>
          <a:ln>
            <a:solidFill>
              <a:schemeClr val="tx1"/>
            </a:solidFill>
            <a:miter lim="800000"/>
            <a:headEnd/>
            <a:tailEnd/>
          </a:ln>
        </p:spPr>
      </p:pic>
      <p:pic>
        <p:nvPicPr>
          <p:cNvPr id="2" name="Picture 1">
            <a:extLst>
              <a:ext uri="{FF2B5EF4-FFF2-40B4-BE49-F238E27FC236}">
                <a16:creationId xmlns:a16="http://schemas.microsoft.com/office/drawing/2014/main" id="{EE2BCDFE-DDFB-44B2-C820-0122B1B14F3E}"/>
              </a:ext>
            </a:extLst>
          </p:cNvPr>
          <p:cNvPicPr>
            <a:picLocks noChangeAspect="1"/>
          </p:cNvPicPr>
          <p:nvPr/>
        </p:nvPicPr>
        <p:blipFill>
          <a:blip r:embed="rId8"/>
          <a:srcRect l="26470" t="67255" r="36275"/>
          <a:stretch/>
        </p:blipFill>
        <p:spPr>
          <a:xfrm>
            <a:off x="6858000" y="2022647"/>
            <a:ext cx="4495800" cy="2743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71313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4: Counting Binary Digits (Bits)</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33</a:t>
            </a:fld>
            <a:endParaRPr lang="en-US" dirty="0"/>
          </a:p>
        </p:txBody>
      </p:sp>
      <mc:AlternateContent xmlns:mc="http://schemas.openxmlformats.org/markup-compatibility/2006" xmlns:a14="http://schemas.microsoft.com/office/drawing/2010/main">
        <mc:Choice Requires="a14">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510293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sz="100" i="1" dirty="0">
                  <a:latin typeface="Cambria Math" panose="02040503050406030204" pitchFamily="18" charset="0"/>
                </a:endParaRPr>
              </a:p>
              <a:p>
                <a14:m>
                  <m:oMath xmlns:m="http://schemas.openxmlformats.org/officeDocument/2006/math">
                    <m:r>
                      <m:rPr>
                        <m:nor/>
                      </m:rPr>
                      <a:rPr lang="en-US" sz="2800" i="1" dirty="0">
                        <a:latin typeface="Cambria Math" panose="02040503050406030204" pitchFamily="18" charset="0"/>
                      </a:rPr>
                      <m:t>Input</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size</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is</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n</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basic</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operation</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is</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division</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one</m:t>
                    </m:r>
                    <m:r>
                      <m:rPr>
                        <m:nor/>
                      </m:rPr>
                      <a:rPr lang="en-US" sz="2800" i="1" dirty="0">
                        <a:latin typeface="Cambria Math" panose="02040503050406030204" pitchFamily="18" charset="0"/>
                      </a:rPr>
                      <m:t> </m:t>
                    </m:r>
                    <m:r>
                      <m:rPr>
                        <m:nor/>
                      </m:rPr>
                      <a:rPr lang="en-US" sz="2800" i="1" dirty="0">
                        <a:latin typeface="Cambria Math" panose="02040503050406030204" pitchFamily="18" charset="0"/>
                      </a:rPr>
                      <m:t>case</m:t>
                    </m:r>
                  </m:oMath>
                </a14:m>
                <a:endParaRPr lang="en-US" sz="2800" i="1" dirty="0">
                  <a:latin typeface="Cambria Math" panose="02040503050406030204" pitchFamily="18" charset="0"/>
                </a:endParaRPr>
              </a:p>
              <a:p>
                <a:pPr>
                  <a:defRPr/>
                </a:pPr>
                <a14:m>
                  <m:oMath xmlns:m="http://schemas.openxmlformats.org/officeDocument/2006/math">
                    <m:r>
                      <a:rPr lang="en-US" sz="2800" i="1" smtClean="0">
                        <a:latin typeface="Cambria Math" panose="02040503050406030204" pitchFamily="18" charset="0"/>
                      </a:rPr>
                      <m:t>𝐼𝑡</m:t>
                    </m:r>
                    <m:r>
                      <a:rPr lang="en-US" sz="2800" i="1" smtClean="0">
                        <a:latin typeface="Cambria Math" panose="02040503050406030204" pitchFamily="18" charset="0"/>
                      </a:rPr>
                      <m:t> </m:t>
                    </m:r>
                    <m:r>
                      <a:rPr lang="en-US" sz="2800" i="1" smtClean="0">
                        <a:latin typeface="Cambria Math" panose="02040503050406030204" pitchFamily="18" charset="0"/>
                      </a:rPr>
                      <m:t>𝑐𝑎𝑛𝑛𝑜𝑡</m:t>
                    </m:r>
                    <m:r>
                      <a:rPr lang="en-US" sz="2800" i="1" smtClean="0">
                        <a:latin typeface="Cambria Math" panose="02040503050406030204" pitchFamily="18" charset="0"/>
                      </a:rPr>
                      <m:t> </m:t>
                    </m:r>
                    <m:r>
                      <a:rPr lang="en-US" sz="2800" i="1" smtClean="0">
                        <a:latin typeface="Cambria Math" panose="02040503050406030204" pitchFamily="18" charset="0"/>
                      </a:rPr>
                      <m:t>𝑏𝑒</m:t>
                    </m:r>
                    <m:r>
                      <a:rPr lang="en-US" sz="2800" i="1" smtClean="0">
                        <a:latin typeface="Cambria Math" panose="02040503050406030204" pitchFamily="18" charset="0"/>
                      </a:rPr>
                      <m:t> </m:t>
                    </m:r>
                    <m:r>
                      <a:rPr lang="en-US" sz="2800" i="1" smtClean="0">
                        <a:latin typeface="Cambria Math" panose="02040503050406030204" pitchFamily="18" charset="0"/>
                      </a:rPr>
                      <m:t>𝑖𝑛𝑣𝑒𝑠𝑡𝑖𝑔𝑎𝑡𝑒𝑑</m:t>
                    </m:r>
                    <m:r>
                      <a:rPr lang="en-US" sz="2800" i="1" smtClean="0">
                        <a:latin typeface="Cambria Math" panose="02040503050406030204" pitchFamily="18" charset="0"/>
                      </a:rPr>
                      <m:t> </m:t>
                    </m:r>
                    <m:r>
                      <a:rPr lang="en-US" sz="2800" i="1" smtClean="0">
                        <a:latin typeface="Cambria Math" panose="02040503050406030204" pitchFamily="18" charset="0"/>
                      </a:rPr>
                      <m:t>𝑡</m:t>
                    </m:r>
                    <m:r>
                      <a:rPr lang="en-US" sz="2800" i="1" smtClean="0">
                        <a:latin typeface="Cambria Math" panose="02040503050406030204" pitchFamily="18" charset="0"/>
                      </a:rPr>
                      <m:t>h</m:t>
                    </m:r>
                    <m:r>
                      <a:rPr lang="en-US" sz="2800" i="1" smtClean="0">
                        <a:latin typeface="Cambria Math" panose="02040503050406030204" pitchFamily="18" charset="0"/>
                      </a:rPr>
                      <m:t>𝑒</m:t>
                    </m:r>
                    <m:r>
                      <a:rPr lang="en-US" sz="2800" i="1" smtClean="0">
                        <a:latin typeface="Cambria Math" panose="02040503050406030204" pitchFamily="18" charset="0"/>
                      </a:rPr>
                      <m:t> </m:t>
                    </m:r>
                    <m:r>
                      <a:rPr lang="en-US" sz="2800" i="1" smtClean="0">
                        <a:latin typeface="Cambria Math" panose="02040503050406030204" pitchFamily="18" charset="0"/>
                      </a:rPr>
                      <m:t>𝑤𝑎𝑦</m:t>
                    </m:r>
                    <m:r>
                      <a:rPr lang="en-US" sz="2800" i="1" smtClean="0">
                        <a:latin typeface="Cambria Math" panose="02040503050406030204" pitchFamily="18" charset="0"/>
                      </a:rPr>
                      <m:t> </m:t>
                    </m:r>
                    <m:r>
                      <a:rPr lang="en-US" sz="2800" i="1" smtClean="0">
                        <a:latin typeface="Cambria Math" panose="02040503050406030204" pitchFamily="18" charset="0"/>
                      </a:rPr>
                      <m:t>𝑡</m:t>
                    </m:r>
                    <m:r>
                      <a:rPr lang="en-US" sz="2800" i="1" smtClean="0">
                        <a:latin typeface="Cambria Math" panose="02040503050406030204" pitchFamily="18" charset="0"/>
                      </a:rPr>
                      <m:t>h</m:t>
                    </m:r>
                    <m:r>
                      <a:rPr lang="en-US" sz="2800" i="1" smtClean="0">
                        <a:latin typeface="Cambria Math" panose="02040503050406030204" pitchFamily="18" charset="0"/>
                      </a:rPr>
                      <m:t>𝑒</m:t>
                    </m:r>
                    <m:r>
                      <a:rPr lang="en-US" sz="2800" i="1" smtClean="0">
                        <a:latin typeface="Cambria Math" panose="02040503050406030204" pitchFamily="18" charset="0"/>
                      </a:rPr>
                      <m:t> </m:t>
                    </m:r>
                    <m:r>
                      <a:rPr lang="en-US" sz="2800" i="1" smtClean="0">
                        <a:latin typeface="Cambria Math" panose="02040503050406030204" pitchFamily="18" charset="0"/>
                      </a:rPr>
                      <m:t>𝑝𝑟𝑒𝑣𝑖𝑜𝑢𝑠</m:t>
                    </m:r>
                    <m:r>
                      <a:rPr lang="en-US" sz="2800" i="1" smtClean="0">
                        <a:latin typeface="Cambria Math" panose="02040503050406030204" pitchFamily="18" charset="0"/>
                      </a:rPr>
                      <m:t> </m:t>
                    </m:r>
                    <m:r>
                      <a:rPr lang="en-US" sz="2800" i="1" smtClean="0">
                        <a:latin typeface="Cambria Math" panose="02040503050406030204" pitchFamily="18" charset="0"/>
                      </a:rPr>
                      <m:t>𝑒𝑥𝑎𝑚𝑝𝑙𝑒𝑠</m:t>
                    </m:r>
                    <m:r>
                      <a:rPr lang="en-US" sz="2800" i="1" smtClean="0">
                        <a:latin typeface="Cambria Math" panose="02040503050406030204" pitchFamily="18" charset="0"/>
                      </a:rPr>
                      <m:t> </m:t>
                    </m:r>
                    <m:r>
                      <a:rPr lang="en-US" sz="2800" i="1" smtClean="0">
                        <a:latin typeface="Cambria Math" panose="02040503050406030204" pitchFamily="18" charset="0"/>
                      </a:rPr>
                      <m:t>𝑎𝑟𝑒</m:t>
                    </m:r>
                  </m:oMath>
                </a14:m>
                <a:endParaRPr lang="en-AU" sz="2800" i="1" dirty="0">
                  <a:latin typeface="Cambria Math" panose="02040503050406030204" pitchFamily="18" charset="0"/>
                </a:endParaRPr>
              </a:p>
              <a:p>
                <a:pPr>
                  <a:defRPr/>
                </a:pPr>
                <a:endParaRPr lang="en-US" sz="2800" i="1" dirty="0">
                  <a:latin typeface="Cambria Math" panose="02040503050406030204" pitchFamily="18" charset="0"/>
                </a:endParaRPr>
              </a:p>
              <a:p>
                <a:pPr>
                  <a:defRPr/>
                </a:pPr>
                <a:endParaRPr lang="en-US" sz="2800" dirty="0">
                  <a:latin typeface="+mj-lt"/>
                </a:endParaRPr>
              </a:p>
            </p:txBody>
          </p:sp>
        </mc:Choice>
        <mc:Fallback xmlns="">
          <p:sp>
            <p:nvSpPr>
              <p:cNvPr id="9" name="object 7">
                <a:extLst>
                  <a:ext uri="{FF2B5EF4-FFF2-40B4-BE49-F238E27FC236}">
                    <a16:creationId xmlns:a16="http://schemas.microsoft.com/office/drawing/2014/main" id="{ACB0B48A-560D-4839-8006-6097D80F76DB}"/>
                  </a:ext>
                </a:extLst>
              </p:cNvPr>
              <p:cNvSpPr txBox="1">
                <a:spLocks noRot="1" noChangeAspect="1" noMove="1" noResize="1" noEditPoints="1" noAdjustHandles="1" noChangeArrowheads="1" noChangeShapeType="1" noTextEdit="1"/>
              </p:cNvSpPr>
              <p:nvPr/>
            </p:nvSpPr>
            <p:spPr bwMode="auto">
              <a:xfrm>
                <a:off x="457200" y="1228384"/>
                <a:ext cx="11430000" cy="5102935"/>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7" name="Picture 4" descr="2_3d">
            <a:extLst>
              <a:ext uri="{FF2B5EF4-FFF2-40B4-BE49-F238E27FC236}">
                <a16:creationId xmlns:a16="http://schemas.microsoft.com/office/drawing/2014/main" id="{61E33072-61CE-6843-AC92-6256023110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609600" y="1143000"/>
            <a:ext cx="8382000" cy="2955925"/>
          </a:xfrm>
          <a:prstGeom prst="rect">
            <a:avLst/>
          </a:prstGeom>
          <a:solidFill>
            <a:schemeClr val="tx1"/>
          </a:solidFill>
          <a:extLs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2" name="Text Box 6">
                <a:extLst>
                  <a:ext uri="{FF2B5EF4-FFF2-40B4-BE49-F238E27FC236}">
                    <a16:creationId xmlns:a16="http://schemas.microsoft.com/office/drawing/2014/main" id="{49BF6562-EE17-F9CD-466F-5F63A16DFDE6}"/>
                  </a:ext>
                </a:extLst>
              </p:cNvPr>
              <p:cNvSpPr txBox="1">
                <a:spLocks noChangeArrowheads="1"/>
              </p:cNvSpPr>
              <p:nvPr/>
            </p:nvSpPr>
            <p:spPr bwMode="auto">
              <a:xfrm>
                <a:off x="1143000" y="5205139"/>
                <a:ext cx="8991600" cy="1348061"/>
              </a:xfrm>
              <a:prstGeom prst="rect">
                <a:avLst/>
              </a:prstGeom>
              <a:noFill/>
              <a:ln>
                <a:noFill/>
              </a:ln>
              <a:effectLst/>
            </p:spPr>
            <p:txBody>
              <a:bodyPr wrap="square">
                <a:spAutoFit/>
              </a:bodyPr>
              <a:lstStyle/>
              <a:p>
                <a:pPr>
                  <a:lnSpc>
                    <a:spcPct val="80000"/>
                  </a:lnSpc>
                  <a:spcBef>
                    <a:spcPct val="50000"/>
                  </a:spcBef>
                  <a:defRPr/>
                </a:pPr>
                <a:r>
                  <a:rPr lang="en-US" altLang="en-US" sz="2400" dirty="0">
                    <a:solidFill>
                      <a:srgbClr val="FF9933"/>
                    </a:solidFill>
                  </a:rPr>
                  <a:t>The halving game</a:t>
                </a:r>
                <a:r>
                  <a:rPr lang="en-US" altLang="en-US" sz="2400" dirty="0">
                    <a:solidFill>
                      <a:schemeClr val="bg2"/>
                    </a:solidFill>
                  </a:rPr>
                  <a:t>: </a:t>
                </a:r>
                <a:r>
                  <a:rPr lang="en-US" altLang="en-US" sz="2400" dirty="0"/>
                  <a:t>Find minimum integer </a:t>
                </a:r>
                <a:r>
                  <a:rPr lang="en-US" altLang="en-US" sz="2400" i="1" dirty="0"/>
                  <a:t>i</a:t>
                </a:r>
                <a:r>
                  <a:rPr lang="en-US" altLang="en-US" sz="2400" dirty="0"/>
                  <a:t> such that </a:t>
                </a:r>
                <a14:m>
                  <m:oMath xmlns:m="http://schemas.openxmlformats.org/officeDocument/2006/math">
                    <m:d>
                      <m:dPr>
                        <m:begChr m:val="⌊"/>
                        <m:endChr m:val="⌋"/>
                        <m:ctrlPr>
                          <a:rPr lang="en-US" altLang="en-US" sz="2400" i="1" dirty="0" smtClean="0">
                            <a:latin typeface="Cambria Math" panose="02040503050406030204" pitchFamily="18" charset="0"/>
                          </a:rPr>
                        </m:ctrlPr>
                      </m:dPr>
                      <m:e>
                        <m:r>
                          <a:rPr lang="en-US" altLang="en-US" sz="2400" i="1" dirty="0">
                            <a:latin typeface="Cambria Math" panose="02040503050406030204" pitchFamily="18" charset="0"/>
                          </a:rPr>
                          <m:t>𝑛</m:t>
                        </m:r>
                        <m:r>
                          <a:rPr lang="en-US" altLang="en-US" sz="2400" i="1" dirty="0">
                            <a:latin typeface="Cambria Math" panose="02040503050406030204" pitchFamily="18" charset="0"/>
                          </a:rPr>
                          <m:t>/</m:t>
                        </m:r>
                        <m:r>
                          <a:rPr lang="en-US" altLang="en-US" sz="2400" i="1" dirty="0">
                            <a:latin typeface="Cambria Math" panose="02040503050406030204" pitchFamily="18" charset="0"/>
                          </a:rPr>
                          <m:t>2</m:t>
                        </m:r>
                        <m:r>
                          <a:rPr lang="en-US" altLang="en-US" sz="2400" i="1" baseline="30000" dirty="0">
                            <a:latin typeface="Cambria Math" panose="02040503050406030204" pitchFamily="18" charset="0"/>
                          </a:rPr>
                          <m:t>𝑖</m:t>
                        </m:r>
                      </m:e>
                    </m:d>
                    <m:r>
                      <a:rPr lang="en-US" altLang="en-US" sz="2400" i="1" dirty="0">
                        <a:latin typeface="Cambria Math" panose="02040503050406030204" pitchFamily="18" charset="0"/>
                      </a:rPr>
                      <m:t> </m:t>
                    </m:r>
                  </m:oMath>
                </a14:m>
                <a:r>
                  <a:rPr lang="en-US" altLang="en-US" sz="2400" b="1" i="1" dirty="0">
                    <a:effectLst>
                      <a:outerShdw blurRad="38100" dist="38100" dir="2700000" algn="tl">
                        <a:srgbClr val="000000"/>
                      </a:outerShdw>
                    </a:effectLst>
                    <a:sym typeface="Symbol" panose="05050102010706020507" pitchFamily="18" charset="2"/>
                  </a:rPr>
                  <a:t>≤ </a:t>
                </a:r>
                <a:r>
                  <a:rPr lang="en-US" altLang="en-US" sz="2400" i="1" dirty="0">
                    <a:effectLst>
                      <a:outerShdw blurRad="38100" dist="38100" dir="2700000" algn="tl">
                        <a:srgbClr val="000000"/>
                      </a:outerShdw>
                    </a:effectLst>
                    <a:sym typeface="Symbol" panose="05050102010706020507" pitchFamily="18" charset="2"/>
                  </a:rPr>
                  <a:t>1</a:t>
                </a:r>
              </a:p>
              <a:p>
                <a:pPr>
                  <a:lnSpc>
                    <a:spcPct val="80000"/>
                  </a:lnSpc>
                  <a:spcBef>
                    <a:spcPct val="50000"/>
                  </a:spcBef>
                  <a:defRPr/>
                </a:pPr>
                <a:r>
                  <a:rPr lang="en-US" altLang="en-US" sz="2400" b="1" i="1" dirty="0">
                    <a:effectLst>
                      <a:outerShdw blurRad="38100" dist="38100" dir="2700000" algn="tl">
                        <a:srgbClr val="000000"/>
                      </a:outerShdw>
                    </a:effectLst>
                    <a:sym typeface="Symbol" panose="05050102010706020507" pitchFamily="18" charset="2"/>
                  </a:rPr>
                  <a:t>	Answer:  </a:t>
                </a:r>
                <a:r>
                  <a:rPr lang="en-US" altLang="en-US" sz="2400" b="1" i="1" dirty="0" err="1">
                    <a:effectLst>
                      <a:outerShdw blurRad="38100" dist="38100" dir="2700000" algn="tl">
                        <a:srgbClr val="000000"/>
                      </a:outerShdw>
                    </a:effectLst>
                    <a:sym typeface="Symbol" panose="05050102010706020507" pitchFamily="18" charset="2"/>
                  </a:rPr>
                  <a:t>i</a:t>
                </a:r>
                <a:r>
                  <a:rPr lang="en-US" altLang="en-US" sz="2400" b="1" i="1" dirty="0">
                    <a:effectLst>
                      <a:outerShdw blurRad="38100" dist="38100" dir="2700000" algn="tl">
                        <a:srgbClr val="000000"/>
                      </a:outerShdw>
                    </a:effectLst>
                    <a:sym typeface="Symbol" panose="05050102010706020507" pitchFamily="18" charset="2"/>
                  </a:rPr>
                  <a:t> ≥ log n.     So, T(n) </a:t>
                </a:r>
                <a:r>
                  <a:rPr kumimoji="0" lang="en-US" altLang="en-US" sz="2400" b="0" dirty="0">
                    <a:sym typeface="Symbol" panose="05050102010706020507" pitchFamily="18" charset="2"/>
                  </a:rPr>
                  <a:t></a:t>
                </a:r>
                <a:r>
                  <a:rPr lang="en-US" altLang="en-US" sz="2400" b="1" i="1" dirty="0">
                    <a:effectLst>
                      <a:outerShdw blurRad="38100" dist="38100" dir="2700000" algn="tl">
                        <a:srgbClr val="000000"/>
                      </a:outerShdw>
                    </a:effectLst>
                    <a:sym typeface="Symbol" panose="05050102010706020507" pitchFamily="18" charset="2"/>
                  </a:rPr>
                  <a:t> </a:t>
                </a:r>
                <a:r>
                  <a:rPr kumimoji="1" lang="en-US" altLang="en-US" sz="2400" b="1" dirty="0">
                    <a:effectLst>
                      <a:outerShdw blurRad="38100" dist="38100" dir="2700000" algn="tl">
                        <a:srgbClr val="000000"/>
                      </a:outerShdw>
                    </a:effectLst>
                    <a:sym typeface="Symbol" panose="05050102010706020507" pitchFamily="18" charset="2"/>
                  </a:rPr>
                  <a:t>(</a:t>
                </a:r>
                <a:r>
                  <a:rPr kumimoji="1" lang="en-US" altLang="en-US" sz="2400" b="1" i="1" dirty="0">
                    <a:sym typeface="Symbol" panose="05050102010706020507" pitchFamily="18" charset="2"/>
                  </a:rPr>
                  <a:t>log n</a:t>
                </a:r>
                <a:r>
                  <a:rPr kumimoji="1" lang="en-US" altLang="en-US" sz="2400" b="1" dirty="0">
                    <a:sym typeface="Symbol" panose="05050102010706020507" pitchFamily="18" charset="2"/>
                  </a:rPr>
                  <a:t>)</a:t>
                </a:r>
                <a:r>
                  <a:rPr kumimoji="1" lang="en-US" altLang="en-US" sz="2400" dirty="0">
                    <a:sym typeface="Symbol" panose="05050102010706020507" pitchFamily="18" charset="2"/>
                  </a:rPr>
                  <a:t> divisions.</a:t>
                </a:r>
              </a:p>
              <a:p>
                <a:pPr>
                  <a:lnSpc>
                    <a:spcPct val="80000"/>
                  </a:lnSpc>
                  <a:spcBef>
                    <a:spcPct val="50000"/>
                  </a:spcBef>
                  <a:defRPr/>
                </a:pPr>
                <a:r>
                  <a:rPr kumimoji="1" lang="en-US" altLang="en-US" sz="2400" u="sng" dirty="0">
                    <a:sym typeface="Symbol" panose="05050102010706020507" pitchFamily="18" charset="2"/>
                  </a:rPr>
                  <a:t>Another solution: Use recurrence relations</a:t>
                </a:r>
              </a:p>
            </p:txBody>
          </p:sp>
        </mc:Choice>
        <mc:Fallback xmlns="">
          <p:sp>
            <p:nvSpPr>
              <p:cNvPr id="12" name="Text Box 6">
                <a:extLst>
                  <a:ext uri="{FF2B5EF4-FFF2-40B4-BE49-F238E27FC236}">
                    <a16:creationId xmlns:a16="http://schemas.microsoft.com/office/drawing/2014/main" id="{49BF6562-EE17-F9CD-466F-5F63A16DFDE6}"/>
                  </a:ext>
                </a:extLst>
              </p:cNvPr>
              <p:cNvSpPr txBox="1">
                <a:spLocks noRot="1" noChangeAspect="1" noMove="1" noResize="1" noEditPoints="1" noAdjustHandles="1" noChangeArrowheads="1" noChangeShapeType="1" noTextEdit="1"/>
              </p:cNvSpPr>
              <p:nvPr/>
            </p:nvSpPr>
            <p:spPr bwMode="auto">
              <a:xfrm>
                <a:off x="1143000" y="5205139"/>
                <a:ext cx="8991600" cy="1348061"/>
              </a:xfrm>
              <a:prstGeom prst="rect">
                <a:avLst/>
              </a:prstGeom>
              <a:blipFill>
                <a:blip r:embed="rId8"/>
                <a:stretch>
                  <a:fillRect l="-1128" t="-8411" b="-9346"/>
                </a:stretch>
              </a:blipFill>
              <a:ln>
                <a:noFill/>
              </a:ln>
              <a:effectLst/>
            </p:spPr>
            <p:txBody>
              <a:bodyPr/>
              <a:lstStyle/>
              <a:p>
                <a:r>
                  <a:rPr lang="en-US">
                    <a:noFill/>
                  </a:rPr>
                  <a:t> </a:t>
                </a:r>
              </a:p>
            </p:txBody>
          </p:sp>
        </mc:Fallback>
      </mc:AlternateContent>
      <p:sp>
        <p:nvSpPr>
          <p:cNvPr id="5" name="TextBox 4">
            <a:extLst>
              <a:ext uri="{FF2B5EF4-FFF2-40B4-BE49-F238E27FC236}">
                <a16:creationId xmlns:a16="http://schemas.microsoft.com/office/drawing/2014/main" id="{44F0A095-229A-F727-BA98-5B1BE699E162}"/>
              </a:ext>
            </a:extLst>
          </p:cNvPr>
          <p:cNvSpPr txBox="1"/>
          <p:nvPr/>
        </p:nvSpPr>
        <p:spPr>
          <a:xfrm>
            <a:off x="4038600" y="2362748"/>
            <a:ext cx="7848600" cy="1692771"/>
          </a:xfrm>
          <a:prstGeom prst="rect">
            <a:avLst/>
          </a:prstGeom>
          <a:noFill/>
        </p:spPr>
        <p:txBody>
          <a:bodyPr wrap="square" rtlCol="0">
            <a:spAutoFit/>
          </a:bodyPr>
          <a:lstStyle/>
          <a:p>
            <a:r>
              <a:rPr lang="en-US" b="1" dirty="0">
                <a:solidFill>
                  <a:srgbClr val="7030A0"/>
                </a:solidFill>
              </a:rPr>
              <a:t>For integer      1: </a:t>
            </a:r>
            <a:r>
              <a:rPr lang="en-US" sz="1600" b="1" dirty="0">
                <a:solidFill>
                  <a:srgbClr val="7030A0"/>
                </a:solidFill>
              </a:rPr>
              <a:t>0 division, </a:t>
            </a:r>
            <a:r>
              <a:rPr lang="en-US" sz="1600" b="1" u="sng" dirty="0">
                <a:solidFill>
                  <a:srgbClr val="7030A0"/>
                </a:solidFill>
              </a:rPr>
              <a:t>one bit</a:t>
            </a:r>
          </a:p>
          <a:p>
            <a:r>
              <a:rPr lang="en-US" b="1" dirty="0">
                <a:solidFill>
                  <a:srgbClr val="7030A0"/>
                </a:solidFill>
              </a:rPr>
              <a:t>For integers &gt; 1: </a:t>
            </a:r>
          </a:p>
          <a:p>
            <a:pPr marL="457200" indent="-168275">
              <a:buFont typeface="Arial" panose="020B0604020202020204" pitchFamily="34" charset="0"/>
              <a:buChar char="•"/>
            </a:pPr>
            <a:r>
              <a:rPr lang="en-US" sz="1600" b="1" dirty="0">
                <a:solidFill>
                  <a:srgbClr val="7030A0"/>
                </a:solidFill>
              </a:rPr>
              <a:t>add the initial bit</a:t>
            </a:r>
          </a:p>
          <a:p>
            <a:pPr marL="457200" indent="-168275">
              <a:buFont typeface="Arial" panose="020B0604020202020204" pitchFamily="34" charset="0"/>
              <a:buChar char="•"/>
            </a:pPr>
            <a:r>
              <a:rPr lang="en-US" sz="1600" b="1" dirty="0">
                <a:solidFill>
                  <a:srgbClr val="7030A0"/>
                </a:solidFill>
              </a:rPr>
              <a:t>add another bit and divide by two taking the floor (one bit per division)</a:t>
            </a:r>
          </a:p>
          <a:p>
            <a:pPr marL="288925"/>
            <a:r>
              <a:rPr lang="en-US" sz="1600" b="1" dirty="0">
                <a:solidFill>
                  <a:srgbClr val="7030A0"/>
                </a:solidFill>
              </a:rPr>
              <a:t>                 repeat until you get 1</a:t>
            </a:r>
          </a:p>
          <a:p>
            <a:pPr marL="457200" indent="-168275">
              <a:buFont typeface="Arial" panose="020B0604020202020204" pitchFamily="34" charset="0"/>
              <a:buChar char="•"/>
            </a:pPr>
            <a:r>
              <a:rPr lang="en-US" sz="1600" b="1" dirty="0" err="1">
                <a:solidFill>
                  <a:srgbClr val="7030A0"/>
                </a:solidFill>
              </a:rPr>
              <a:t>i</a:t>
            </a:r>
            <a:r>
              <a:rPr lang="en-US" sz="1600" b="1" dirty="0">
                <a:solidFill>
                  <a:srgbClr val="7030A0"/>
                </a:solidFill>
              </a:rPr>
              <a:t> divisions in total indicate a total of i+1 bits</a:t>
            </a:r>
            <a:endParaRPr lang="en-US" sz="1600" dirty="0"/>
          </a:p>
        </p:txBody>
      </p:sp>
    </p:spTree>
    <p:extLst>
      <p:ext uri="{BB962C8B-B14F-4D97-AF65-F5344CB8AC3E}">
        <p14:creationId xmlns:p14="http://schemas.microsoft.com/office/powerpoint/2010/main" val="819844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3300"/>
                </a:solidFill>
              </a:rPr>
              <a:t>Time Efficiency of Recursive Algorithms</a:t>
            </a:r>
            <a:endParaRPr sz="3800" b="1" spc="-18" dirty="0">
              <a:solidFill>
                <a:srgbClr val="FF33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34</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370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b="1" dirty="0"/>
              <a:t>General Plan for Analysis</a:t>
            </a:r>
          </a:p>
          <a:p>
            <a:pPr lvl="1">
              <a:defRPr/>
            </a:pPr>
            <a:r>
              <a:rPr lang="en-US" altLang="en-US" sz="2400" dirty="0"/>
              <a:t>Decide on a parameter indicating an input’s size.</a:t>
            </a:r>
            <a:br>
              <a:rPr lang="en-US" altLang="en-US" sz="2400" dirty="0"/>
            </a:br>
            <a:endParaRPr lang="en-US" altLang="en-US" sz="400" dirty="0"/>
          </a:p>
          <a:p>
            <a:pPr lvl="1">
              <a:defRPr/>
            </a:pPr>
            <a:r>
              <a:rPr lang="en-US" altLang="en-US" sz="2400" dirty="0"/>
              <a:t>Identify the algorithm’s basic operation. </a:t>
            </a:r>
            <a:br>
              <a:rPr lang="en-US" altLang="en-US" sz="2400" dirty="0"/>
            </a:br>
            <a:endParaRPr lang="en-US" altLang="en-US" sz="400" dirty="0"/>
          </a:p>
          <a:p>
            <a:pPr lvl="1">
              <a:defRPr/>
            </a:pPr>
            <a:r>
              <a:rPr lang="en-US" altLang="en-US" sz="2400" dirty="0"/>
              <a:t>Check whether the number of times the basic op. is executed may vary on different inputs of the same size (If it may, the worst, average, and best cases must be investigated separately)</a:t>
            </a:r>
            <a:br>
              <a:rPr lang="en-US" altLang="en-US" sz="2400" dirty="0"/>
            </a:br>
            <a:endParaRPr lang="en-US" altLang="en-US" sz="400" dirty="0"/>
          </a:p>
          <a:p>
            <a:pPr lvl="1">
              <a:defRPr/>
            </a:pPr>
            <a:r>
              <a:rPr lang="en-US" altLang="en-US" sz="2400" dirty="0"/>
              <a:t>Set up a </a:t>
            </a:r>
            <a:r>
              <a:rPr lang="en-US" altLang="en-US" sz="2400" b="1" u="sng" dirty="0">
                <a:solidFill>
                  <a:srgbClr val="7030A0"/>
                </a:solidFill>
              </a:rPr>
              <a:t>recurrence relation with an appropriate initial condition expressing the number of times the basic operation is executed</a:t>
            </a:r>
            <a:r>
              <a:rPr lang="en-US" altLang="en-US" sz="2400" dirty="0"/>
              <a:t>.</a:t>
            </a:r>
            <a:br>
              <a:rPr lang="en-US" altLang="en-US" sz="2400" dirty="0"/>
            </a:br>
            <a:endParaRPr lang="en-US" altLang="en-US" sz="400" dirty="0"/>
          </a:p>
          <a:p>
            <a:pPr lvl="1">
              <a:defRPr/>
            </a:pPr>
            <a:r>
              <a:rPr lang="en-US" altLang="en-US" sz="2400" dirty="0"/>
              <a:t>Solve the recurrence (or, at the very least, establish its solution’s order of growth) by </a:t>
            </a:r>
            <a:r>
              <a:rPr lang="en-US" altLang="en-US" sz="2400" b="1" u="sng" dirty="0">
                <a:solidFill>
                  <a:srgbClr val="7030A0"/>
                </a:solidFill>
              </a:rPr>
              <a:t>backward substitutions</a:t>
            </a:r>
            <a:r>
              <a:rPr lang="en-US" altLang="en-US" sz="2400" b="1" dirty="0"/>
              <a:t> </a:t>
            </a:r>
            <a:r>
              <a:rPr lang="en-US" altLang="en-US" sz="2400" dirty="0"/>
              <a:t>or another method.</a:t>
            </a:r>
          </a:p>
        </p:txBody>
      </p:sp>
    </p:spTree>
    <p:extLst>
      <p:ext uri="{BB962C8B-B14F-4D97-AF65-F5344CB8AC3E}">
        <p14:creationId xmlns:p14="http://schemas.microsoft.com/office/powerpoint/2010/main" val="35191846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1: Recursive Evaluation of n!</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35</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734800" cy="43827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Definition of </a:t>
            </a:r>
            <a:r>
              <a:rPr lang="en-US" altLang="en-US" sz="2800" i="1" dirty="0">
                <a:solidFill>
                  <a:schemeClr val="accent6"/>
                </a:solidFill>
              </a:rPr>
              <a:t>n </a:t>
            </a:r>
            <a:r>
              <a:rPr lang="en-US" altLang="en-US" sz="2800" dirty="0">
                <a:solidFill>
                  <a:schemeClr val="accent6"/>
                </a:solidFill>
              </a:rPr>
              <a:t>!</a:t>
            </a:r>
            <a:r>
              <a:rPr lang="en-US" altLang="en-US" sz="2800" dirty="0"/>
              <a:t> = 1 </a:t>
            </a:r>
            <a:r>
              <a:rPr lang="en-US" altLang="en-US" sz="2800" b="0" dirty="0">
                <a:sym typeface="Symbol" panose="05050102010706020507" pitchFamily="18" charset="2"/>
              </a:rPr>
              <a:t></a:t>
            </a:r>
            <a:r>
              <a:rPr lang="en-US" altLang="en-US" sz="2800" dirty="0"/>
              <a:t> 2 </a:t>
            </a:r>
            <a:r>
              <a:rPr lang="en-US" altLang="en-US" sz="2800" b="0" dirty="0">
                <a:sym typeface="Symbol" panose="05050102010706020507" pitchFamily="18" charset="2"/>
              </a:rPr>
              <a:t></a:t>
            </a:r>
            <a:r>
              <a:rPr lang="en-US" altLang="en-US" sz="2800" i="1" dirty="0"/>
              <a:t> … </a:t>
            </a:r>
            <a:r>
              <a:rPr lang="en-US" altLang="en-US" sz="2800" b="0" dirty="0">
                <a:sym typeface="Symbol" panose="05050102010706020507" pitchFamily="18" charset="2"/>
              </a:rPr>
              <a:t></a:t>
            </a:r>
            <a:r>
              <a:rPr lang="en-US" altLang="en-US" sz="2800" dirty="0"/>
              <a:t>(</a:t>
            </a:r>
            <a:r>
              <a:rPr lang="en-US" altLang="en-US" sz="2800" i="1" dirty="0"/>
              <a:t>n-</a:t>
            </a:r>
            <a:r>
              <a:rPr lang="en-US" altLang="en-US" sz="2800" dirty="0"/>
              <a:t>1) </a:t>
            </a:r>
            <a:r>
              <a:rPr lang="en-US" altLang="en-US" sz="2800" b="0" dirty="0">
                <a:sym typeface="Symbol" panose="05050102010706020507" pitchFamily="18" charset="2"/>
              </a:rPr>
              <a:t></a:t>
            </a:r>
            <a:r>
              <a:rPr lang="en-US" altLang="en-US" sz="2800" dirty="0"/>
              <a:t> </a:t>
            </a:r>
            <a:r>
              <a:rPr lang="en-US" altLang="en-US" sz="2800" i="1" dirty="0"/>
              <a:t>n</a:t>
            </a:r>
            <a:r>
              <a:rPr lang="en-US" altLang="en-US" sz="2800" dirty="0"/>
              <a:t>  for </a:t>
            </a:r>
            <a:r>
              <a:rPr lang="en-US" altLang="en-US" sz="2800" i="1" dirty="0"/>
              <a:t>n </a:t>
            </a:r>
            <a:r>
              <a:rPr lang="en-US" altLang="en-US" sz="2800" i="1" dirty="0">
                <a:latin typeface="Lucida Grande" pitchFamily="84" charset="0"/>
                <a:cs typeface="Times New Roman" panose="02020603050405020304" pitchFamily="18" charset="0"/>
              </a:rPr>
              <a:t>≥</a:t>
            </a:r>
            <a:r>
              <a:rPr lang="en-US" altLang="en-US" sz="2800" i="1" dirty="0">
                <a:cs typeface="Times New Roman" panose="02020603050405020304" pitchFamily="18" charset="0"/>
              </a:rPr>
              <a:t> </a:t>
            </a:r>
            <a:r>
              <a:rPr lang="en-US" altLang="en-US" sz="2800" dirty="0">
                <a:cs typeface="Times New Roman" panose="02020603050405020304" pitchFamily="18" charset="0"/>
              </a:rPr>
              <a:t>1  and  </a:t>
            </a:r>
            <a:r>
              <a:rPr lang="en-US" altLang="en-US" sz="2800" dirty="0">
                <a:solidFill>
                  <a:schemeClr val="accent6"/>
                </a:solidFill>
                <a:cs typeface="Times New Roman" panose="02020603050405020304" pitchFamily="18" charset="0"/>
              </a:rPr>
              <a:t>0!</a:t>
            </a:r>
            <a:r>
              <a:rPr lang="en-US" altLang="en-US" sz="2800" dirty="0">
                <a:cs typeface="Times New Roman" panose="02020603050405020304" pitchFamily="18" charset="0"/>
              </a:rPr>
              <a:t> = 1</a:t>
            </a:r>
          </a:p>
          <a:p>
            <a:pPr>
              <a:defRPr/>
            </a:pPr>
            <a:r>
              <a:rPr lang="en-US" altLang="en-US" sz="2800" dirty="0"/>
              <a:t>Recursive definition of </a:t>
            </a:r>
            <a:r>
              <a:rPr lang="en-US" altLang="en-US" sz="2800" i="1" dirty="0"/>
              <a:t>n</a:t>
            </a:r>
            <a:r>
              <a:rPr lang="en-US" altLang="en-US" sz="2800" dirty="0"/>
              <a:t>!:  </a:t>
            </a:r>
            <a:r>
              <a:rPr lang="en-US" altLang="en-US" sz="2800" i="1" dirty="0">
                <a:solidFill>
                  <a:schemeClr val="accent6"/>
                </a:solidFill>
              </a:rPr>
              <a:t>F</a:t>
            </a:r>
            <a:r>
              <a:rPr lang="en-US" altLang="en-US" sz="2800" dirty="0">
                <a:solidFill>
                  <a:schemeClr val="accent6"/>
                </a:solidFill>
              </a:rPr>
              <a:t>(</a:t>
            </a:r>
            <a:r>
              <a:rPr lang="en-US" altLang="en-US" sz="2800" i="1" dirty="0">
                <a:solidFill>
                  <a:schemeClr val="accent6"/>
                </a:solidFill>
              </a:rPr>
              <a:t>n</a:t>
            </a:r>
            <a:r>
              <a:rPr lang="en-US" altLang="en-US" sz="2800" dirty="0">
                <a:solidFill>
                  <a:schemeClr val="accent6"/>
                </a:solidFill>
              </a:rPr>
              <a:t>)</a:t>
            </a:r>
            <a:r>
              <a:rPr lang="en-US" altLang="en-US" sz="2800" dirty="0"/>
              <a:t> = </a:t>
            </a:r>
            <a:r>
              <a:rPr lang="en-US" altLang="en-US" sz="2800" i="1" dirty="0"/>
              <a:t>F</a:t>
            </a:r>
            <a:r>
              <a:rPr lang="en-US" altLang="en-US" sz="2800" dirty="0"/>
              <a:t>(</a:t>
            </a:r>
            <a:r>
              <a:rPr lang="en-US" altLang="en-US" sz="2800" i="1" dirty="0"/>
              <a:t>n-</a:t>
            </a:r>
            <a:r>
              <a:rPr lang="en-US" altLang="en-US" sz="2800" dirty="0"/>
              <a:t>1) </a:t>
            </a:r>
            <a:r>
              <a:rPr lang="en-US" altLang="en-US" sz="2800" b="0" dirty="0">
                <a:solidFill>
                  <a:srgbClr val="FF0000"/>
                </a:solidFill>
                <a:sym typeface="Symbol" panose="05050102010706020507" pitchFamily="18" charset="2"/>
              </a:rPr>
              <a:t></a:t>
            </a:r>
            <a:r>
              <a:rPr lang="en-US" altLang="en-US" sz="2800" dirty="0"/>
              <a:t> </a:t>
            </a:r>
            <a:r>
              <a:rPr lang="en-US" altLang="en-US" sz="2800" i="1" dirty="0"/>
              <a:t>n</a:t>
            </a:r>
            <a:r>
              <a:rPr lang="en-US" altLang="en-US" sz="2800" dirty="0"/>
              <a:t>  for </a:t>
            </a:r>
            <a:r>
              <a:rPr lang="en-US" altLang="en-US" sz="2800" i="1" dirty="0"/>
              <a:t>n </a:t>
            </a:r>
            <a:r>
              <a:rPr lang="en-US" altLang="en-US" sz="2800" i="1" dirty="0">
                <a:latin typeface="Lucida Grande" pitchFamily="84" charset="0"/>
                <a:cs typeface="Times New Roman" panose="02020603050405020304" pitchFamily="18" charset="0"/>
              </a:rPr>
              <a:t>≥</a:t>
            </a:r>
            <a:r>
              <a:rPr lang="en-US" altLang="en-US" sz="2800" i="1" dirty="0">
                <a:cs typeface="Times New Roman" panose="02020603050405020304" pitchFamily="18" charset="0"/>
              </a:rPr>
              <a:t> </a:t>
            </a:r>
            <a:r>
              <a:rPr lang="en-US" altLang="en-US" sz="2800" dirty="0">
                <a:cs typeface="Times New Roman" panose="02020603050405020304" pitchFamily="18" charset="0"/>
              </a:rPr>
              <a:t>1 and </a:t>
            </a:r>
            <a:r>
              <a:rPr lang="en-US" altLang="en-US" sz="2800" i="1" dirty="0">
                <a:solidFill>
                  <a:schemeClr val="accent6"/>
                </a:solidFill>
              </a:rPr>
              <a:t>F</a:t>
            </a:r>
            <a:r>
              <a:rPr lang="en-US" altLang="en-US" sz="2800" dirty="0">
                <a:solidFill>
                  <a:schemeClr val="accent6"/>
                </a:solidFill>
              </a:rPr>
              <a:t>(</a:t>
            </a:r>
            <a:r>
              <a:rPr lang="en-US" altLang="en-US" sz="2800" dirty="0">
                <a:solidFill>
                  <a:schemeClr val="accent6"/>
                </a:solidFill>
                <a:cs typeface="Times New Roman" panose="02020603050405020304" pitchFamily="18" charset="0"/>
              </a:rPr>
              <a:t>0)</a:t>
            </a:r>
            <a:r>
              <a:rPr lang="en-US" altLang="en-US" sz="2800" dirty="0">
                <a:cs typeface="Times New Roman" panose="02020603050405020304" pitchFamily="18" charset="0"/>
              </a:rPr>
              <a:t> = 1</a:t>
            </a:r>
            <a:endParaRPr lang="en-US" altLang="en-US" sz="2800" u="sng" dirty="0"/>
          </a:p>
          <a:p>
            <a:pPr>
              <a:lnSpc>
                <a:spcPct val="80000"/>
              </a:lnSpc>
              <a:buFont typeface="Monotype Sorts" pitchFamily="2" charset="2"/>
              <a:buNone/>
              <a:defRPr/>
            </a:pPr>
            <a:endParaRPr lang="en-US" altLang="en-US" sz="2400" b="0" dirty="0"/>
          </a:p>
          <a:p>
            <a:pPr marL="0" indent="0">
              <a:buNone/>
              <a:defRPr/>
            </a:pPr>
            <a:endParaRPr lang="en-US" altLang="en-US" sz="2800" dirty="0"/>
          </a:p>
          <a:p>
            <a:pPr marL="0" indent="0">
              <a:buNone/>
              <a:defRPr/>
            </a:pPr>
            <a:endParaRPr lang="en-US" altLang="en-US" sz="2800" dirty="0"/>
          </a:p>
          <a:p>
            <a:pPr marL="0" indent="0">
              <a:buNone/>
              <a:defRPr/>
            </a:pPr>
            <a:endParaRPr lang="en-US" altLang="en-US" sz="1400" dirty="0"/>
          </a:p>
          <a:p>
            <a:pPr lvl="1">
              <a:defRPr/>
            </a:pPr>
            <a:endParaRPr lang="en-US" altLang="en-US" sz="2400" b="1" dirty="0"/>
          </a:p>
          <a:p>
            <a:pPr lvl="1">
              <a:defRPr/>
            </a:pPr>
            <a:r>
              <a:rPr lang="en-US" altLang="en-US" sz="2400" b="1" dirty="0"/>
              <a:t>Size:						        </a:t>
            </a:r>
            <a:r>
              <a:rPr lang="en-US" altLang="en-US" sz="2400" dirty="0"/>
              <a:t>n</a:t>
            </a:r>
          </a:p>
          <a:p>
            <a:pPr lvl="1">
              <a:defRPr/>
            </a:pPr>
            <a:r>
              <a:rPr lang="en-US" altLang="en-US" sz="2400" b="1" dirty="0"/>
              <a:t>Basic operation:				        </a:t>
            </a:r>
            <a:r>
              <a:rPr lang="en-US" altLang="en-US" sz="2400" dirty="0"/>
              <a:t>multiplication</a:t>
            </a:r>
          </a:p>
          <a:p>
            <a:pPr lvl="1">
              <a:defRPr/>
            </a:pPr>
            <a:r>
              <a:rPr lang="en-US" altLang="en-US" sz="2400" b="1" dirty="0"/>
              <a:t>Recurrence relation </a:t>
            </a:r>
            <a:r>
              <a:rPr lang="en-US" altLang="en-US" sz="2400" dirty="0"/>
              <a:t>(</a:t>
            </a:r>
            <a:r>
              <a:rPr lang="en-US" altLang="en-US" sz="1100" dirty="0"/>
              <a:t>number of multiplications made by this algorithm</a:t>
            </a:r>
            <a:r>
              <a:rPr lang="en-US" altLang="en-US" sz="2400" dirty="0"/>
              <a:t>)</a:t>
            </a:r>
            <a:r>
              <a:rPr lang="en-US" altLang="en-US" sz="2400" b="1" dirty="0"/>
              <a:t>:</a:t>
            </a:r>
            <a:r>
              <a:rPr lang="en-US" altLang="en-US" sz="2400" dirty="0"/>
              <a:t> </a:t>
            </a:r>
            <a:r>
              <a:rPr lang="pt-BR" altLang="en-US" sz="2400" dirty="0"/>
              <a:t>M(n) = M(n-1) +</a:t>
            </a:r>
            <a:r>
              <a:rPr lang="pt-BR" altLang="en-US" sz="2400" dirty="0">
                <a:solidFill>
                  <a:srgbClr val="FF0000"/>
                </a:solidFill>
              </a:rPr>
              <a:t> 1</a:t>
            </a:r>
            <a:r>
              <a:rPr lang="pt-BR" altLang="en-US" sz="2400" dirty="0"/>
              <a:t> and M(0) = 0</a:t>
            </a:r>
            <a:endParaRPr lang="en-US" altLang="en-US" sz="2400" dirty="0"/>
          </a:p>
        </p:txBody>
      </p:sp>
      <p:pic>
        <p:nvPicPr>
          <p:cNvPr id="4" name="Picture 4" descr="2_4a">
            <a:extLst>
              <a:ext uri="{FF2B5EF4-FFF2-40B4-BE49-F238E27FC236}">
                <a16:creationId xmlns:a16="http://schemas.microsoft.com/office/drawing/2014/main" id="{12B4918E-CDE3-40EA-FAF1-CE25EA44D4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662354" y="2242941"/>
            <a:ext cx="4038602" cy="2083582"/>
          </a:xfrm>
          <a:prstGeom prst="rect">
            <a:avLst/>
          </a:prstGeom>
          <a:solidFill>
            <a:schemeClr val="tx1"/>
          </a:solidFill>
          <a:ln w="9525">
            <a:solidFill>
              <a:srgbClr val="000000"/>
            </a:solidFill>
            <a:miter lim="800000"/>
            <a:headEnd/>
            <a:tailEnd/>
          </a:ln>
        </p:spPr>
      </p:pic>
      <p:sp>
        <p:nvSpPr>
          <p:cNvPr id="5" name="TextBox 4">
            <a:extLst>
              <a:ext uri="{FF2B5EF4-FFF2-40B4-BE49-F238E27FC236}">
                <a16:creationId xmlns:a16="http://schemas.microsoft.com/office/drawing/2014/main" id="{BE36A2B7-7E52-4963-496B-3E48BB6BF3EE}"/>
              </a:ext>
            </a:extLst>
          </p:cNvPr>
          <p:cNvSpPr txBox="1"/>
          <p:nvPr/>
        </p:nvSpPr>
        <p:spPr>
          <a:xfrm>
            <a:off x="2886224" y="3612868"/>
            <a:ext cx="1868658" cy="646331"/>
          </a:xfrm>
          <a:prstGeom prst="rect">
            <a:avLst/>
          </a:prstGeom>
          <a:noFill/>
        </p:spPr>
        <p:txBody>
          <a:bodyPr wrap="square" rtlCol="0">
            <a:spAutoFit/>
          </a:bodyPr>
          <a:lstStyle/>
          <a:p>
            <a:r>
              <a:rPr lang="en-US" altLang="en-US" sz="1800" b="1" dirty="0">
                <a:solidFill>
                  <a:srgbClr val="7030A0"/>
                </a:solidFill>
              </a:rPr>
              <a:t>Base case</a:t>
            </a:r>
          </a:p>
          <a:p>
            <a:endParaRPr lang="en-US" dirty="0"/>
          </a:p>
        </p:txBody>
      </p:sp>
      <p:sp>
        <p:nvSpPr>
          <p:cNvPr id="7" name="TextBox 6">
            <a:extLst>
              <a:ext uri="{FF2B5EF4-FFF2-40B4-BE49-F238E27FC236}">
                <a16:creationId xmlns:a16="http://schemas.microsoft.com/office/drawing/2014/main" id="{863F1963-F7DB-845F-5C66-1EBE021352F9}"/>
              </a:ext>
            </a:extLst>
          </p:cNvPr>
          <p:cNvSpPr txBox="1"/>
          <p:nvPr/>
        </p:nvSpPr>
        <p:spPr>
          <a:xfrm>
            <a:off x="3766627" y="3957191"/>
            <a:ext cx="1868658" cy="369332"/>
          </a:xfrm>
          <a:prstGeom prst="rect">
            <a:avLst/>
          </a:prstGeom>
          <a:noFill/>
        </p:spPr>
        <p:txBody>
          <a:bodyPr wrap="square" rtlCol="0">
            <a:spAutoFit/>
          </a:bodyPr>
          <a:lstStyle/>
          <a:p>
            <a:r>
              <a:rPr lang="en-US" altLang="en-US" sz="1800" b="1" dirty="0">
                <a:solidFill>
                  <a:srgbClr val="7030A0"/>
                </a:solidFill>
              </a:rPr>
              <a:t>Recursive case</a:t>
            </a:r>
            <a:endParaRPr lang="en-US" dirty="0"/>
          </a:p>
        </p:txBody>
      </p:sp>
    </p:spTree>
    <p:extLst>
      <p:ext uri="{BB962C8B-B14F-4D97-AF65-F5344CB8AC3E}">
        <p14:creationId xmlns:p14="http://schemas.microsoft.com/office/powerpoint/2010/main" val="1926947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Example 1: Contd.</a:t>
            </a:r>
            <a:endParaRPr sz="38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36</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530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Solving the recurrence for M(n)</a:t>
            </a:r>
          </a:p>
          <a:p>
            <a:pPr lvl="1">
              <a:defRPr/>
            </a:pPr>
            <a:r>
              <a:rPr lang="en-US" altLang="en-US" sz="2400" dirty="0"/>
              <a:t>M(</a:t>
            </a:r>
            <a:r>
              <a:rPr lang="en-US" altLang="en-US" sz="2400" i="1" dirty="0"/>
              <a:t>n</a:t>
            </a:r>
            <a:r>
              <a:rPr lang="en-US" altLang="en-US" sz="2400" dirty="0"/>
              <a:t>) = M(</a:t>
            </a:r>
            <a:r>
              <a:rPr lang="en-US" altLang="en-US" sz="2400" i="1" dirty="0"/>
              <a:t>n</a:t>
            </a:r>
            <a:r>
              <a:rPr lang="en-US" altLang="en-US" sz="2400" dirty="0"/>
              <a:t>-1) + 1,  M(0) = 0</a:t>
            </a:r>
            <a:endParaRPr lang="en-US" altLang="en-US" sz="2000" dirty="0"/>
          </a:p>
          <a:p>
            <a:pPr lvl="1">
              <a:defRPr/>
            </a:pPr>
            <a:r>
              <a:rPr lang="pt-BR" altLang="en-US" sz="2400" dirty="0"/>
              <a:t>M(n) = M(n-1) + 1</a:t>
            </a:r>
          </a:p>
          <a:p>
            <a:pPr marL="457200" lvl="1" indent="0">
              <a:buNone/>
              <a:defRPr/>
            </a:pPr>
            <a:r>
              <a:rPr lang="pt-BR" altLang="en-US" sz="2400" dirty="0"/>
              <a:t>   	      = (M(n-2) + 1) + 1   =   M(n-2) + 2</a:t>
            </a:r>
          </a:p>
          <a:p>
            <a:pPr marL="457200" lvl="1" indent="0">
              <a:buNone/>
              <a:defRPr/>
            </a:pPr>
            <a:r>
              <a:rPr lang="pt-BR" altLang="en-US" sz="2400" dirty="0"/>
              <a:t>     	      = (M(n-3) + 1) + 2   =   M(n-3) + 3</a:t>
            </a:r>
          </a:p>
          <a:p>
            <a:pPr marL="457200" lvl="1" indent="0">
              <a:buNone/>
              <a:defRPr/>
            </a:pPr>
            <a:r>
              <a:rPr lang="pt-BR" altLang="en-US" sz="2400" dirty="0"/>
              <a:t>            …</a:t>
            </a:r>
          </a:p>
          <a:p>
            <a:pPr marL="457200" lvl="1" indent="0">
              <a:buNone/>
              <a:defRPr/>
            </a:pPr>
            <a:r>
              <a:rPr lang="pt-BR" altLang="en-US" sz="2400" dirty="0"/>
              <a:t>            = M(n-i) + </a:t>
            </a:r>
            <a:r>
              <a:rPr lang="pt-BR" altLang="en-US" sz="2400" dirty="0" err="1"/>
              <a:t>i</a:t>
            </a:r>
            <a:r>
              <a:rPr lang="pt-BR" altLang="en-US" sz="2400" dirty="0"/>
              <a:t>                   When </a:t>
            </a:r>
            <a:r>
              <a:rPr lang="pt-BR" altLang="en-US" sz="2400" dirty="0" err="1"/>
              <a:t>n-i</a:t>
            </a:r>
            <a:r>
              <a:rPr lang="pt-BR" altLang="en-US" sz="2400" dirty="0"/>
              <a:t>=0 =&gt;</a:t>
            </a:r>
            <a:r>
              <a:rPr lang="pt-BR" altLang="en-US" sz="2400" dirty="0" err="1"/>
              <a:t>i</a:t>
            </a:r>
            <a:r>
              <a:rPr lang="pt-BR" altLang="en-US" sz="2400" dirty="0"/>
              <a:t>=</a:t>
            </a:r>
            <a:r>
              <a:rPr lang="pt-BR" altLang="en-US" sz="2400" dirty="0" err="1"/>
              <a:t>n</a:t>
            </a:r>
            <a:endParaRPr lang="pt-BR" altLang="en-US" sz="2400" dirty="0"/>
          </a:p>
          <a:p>
            <a:pPr marL="457200" lvl="1" indent="0">
              <a:buNone/>
              <a:defRPr/>
            </a:pPr>
            <a:r>
              <a:rPr lang="pt-BR" altLang="en-US" sz="2400" dirty="0"/>
              <a:t>             =M(</a:t>
            </a:r>
            <a:r>
              <a:rPr lang="pt-BR" altLang="en-US" sz="2400" dirty="0" err="1"/>
              <a:t>n-n</a:t>
            </a:r>
            <a:r>
              <a:rPr lang="pt-BR" altLang="en-US" sz="2400" dirty="0"/>
              <a:t>) + </a:t>
            </a:r>
            <a:r>
              <a:rPr lang="pt-BR" altLang="en-US" sz="2400" dirty="0" err="1"/>
              <a:t>n</a:t>
            </a:r>
            <a:endParaRPr lang="pt-BR" altLang="en-US" sz="2400" dirty="0"/>
          </a:p>
          <a:p>
            <a:pPr marL="457200" lvl="1" indent="0">
              <a:buNone/>
              <a:defRPr/>
            </a:pPr>
            <a:r>
              <a:rPr lang="pt-BR" altLang="en-US" sz="2400" dirty="0"/>
              <a:t>            = M(0) + n</a:t>
            </a:r>
          </a:p>
          <a:p>
            <a:pPr marL="457200" lvl="1" indent="0">
              <a:buNone/>
              <a:defRPr/>
            </a:pPr>
            <a:r>
              <a:rPr lang="pt-BR" altLang="en-US" sz="2400" dirty="0"/>
              <a:t>            = n</a:t>
            </a:r>
          </a:p>
          <a:p>
            <a:pPr lvl="1">
              <a:defRPr/>
            </a:pPr>
            <a:r>
              <a:rPr lang="pt-BR" altLang="en-US" sz="2400" dirty="0"/>
              <a:t>The method is called </a:t>
            </a:r>
            <a:r>
              <a:rPr lang="pt-BR" altLang="en-US" sz="2400" b="1" dirty="0">
                <a:solidFill>
                  <a:srgbClr val="7030A0"/>
                </a:solidFill>
              </a:rPr>
              <a:t>backward substitution</a:t>
            </a:r>
            <a:endParaRPr lang="pt-BR" altLang="en-US" sz="2400" dirty="0"/>
          </a:p>
          <a:p>
            <a:pPr>
              <a:defRPr/>
            </a:pPr>
            <a:endParaRPr lang="en-US" altLang="en-US" sz="2400" dirty="0"/>
          </a:p>
        </p:txBody>
      </p:sp>
    </p:spTree>
    <p:extLst>
      <p:ext uri="{BB962C8B-B14F-4D97-AF65-F5344CB8AC3E}">
        <p14:creationId xmlns:p14="http://schemas.microsoft.com/office/powerpoint/2010/main" val="1738188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rgbClr val="FFFFFF"/>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3: Counting Binary Digits (Bits)</a:t>
            </a:r>
            <a:endParaRPr sz="3800" b="1" spc="-18" dirty="0">
              <a:solidFill>
                <a:srgbClr val="00B05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37</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050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a:p>
            <a:pPr>
              <a:defRPr/>
            </a:pPr>
            <a:endParaRPr lang="en-US" altLang="en-US" sz="2800" dirty="0"/>
          </a:p>
        </p:txBody>
      </p:sp>
      <p:pic>
        <p:nvPicPr>
          <p:cNvPr id="2" name="Picture 4" descr="2_4b">
            <a:extLst>
              <a:ext uri="{FF2B5EF4-FFF2-40B4-BE49-F238E27FC236}">
                <a16:creationId xmlns:a16="http://schemas.microsoft.com/office/drawing/2014/main" id="{8B81E73C-D979-5D43-C999-A0015ED8B4FE}"/>
              </a:ext>
            </a:extLst>
          </p:cNvPr>
          <p:cNvPicPr>
            <a:picLocks noGrp="1" noChangeAspect="1" noChangeArrowheads="1"/>
          </p:cNvPicPr>
          <p:nvPr>
            <p:ph sz="half" idx="1"/>
          </p:nvPr>
        </p:nvPicPr>
        <p:blipFill>
          <a:blip r:embed="rId6">
            <a:extLst>
              <a:ext uri="{28A0092B-C50C-407E-A947-70E740481C1C}">
                <a14:useLocalDpi xmlns:a14="http://schemas.microsoft.com/office/drawing/2010/main" val="0"/>
              </a:ext>
            </a:extLst>
          </a:blip>
          <a:srcRect/>
          <a:stretch>
            <a:fillRect/>
          </a:stretch>
        </p:blipFill>
        <p:spPr>
          <a:xfrm>
            <a:off x="685800" y="1295400"/>
            <a:ext cx="7162800" cy="1636713"/>
          </a:xfrm>
          <a:solidFill>
            <a:schemeClr val="tx1"/>
          </a:solidFill>
          <a:extLs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4F1876E5-AA76-AE29-33F9-964A91F8B223}"/>
              </a:ext>
            </a:extLst>
          </p:cNvPr>
          <p:cNvPicPr>
            <a:picLocks noChangeAspect="1"/>
          </p:cNvPicPr>
          <p:nvPr/>
        </p:nvPicPr>
        <p:blipFill>
          <a:blip r:embed="rId7"/>
          <a:stretch>
            <a:fillRect/>
          </a:stretch>
        </p:blipFill>
        <p:spPr>
          <a:xfrm>
            <a:off x="1346200" y="3143217"/>
            <a:ext cx="6400800" cy="2876583"/>
          </a:xfrm>
          <a:prstGeom prst="rect">
            <a:avLst/>
          </a:prstGeom>
        </p:spPr>
      </p:pic>
      <p:sp>
        <p:nvSpPr>
          <p:cNvPr id="4" name="TextBox 3">
            <a:extLst>
              <a:ext uri="{FF2B5EF4-FFF2-40B4-BE49-F238E27FC236}">
                <a16:creationId xmlns:a16="http://schemas.microsoft.com/office/drawing/2014/main" id="{AF39FBA5-C931-B31D-99AE-264EDCA2EFF8}"/>
              </a:ext>
            </a:extLst>
          </p:cNvPr>
          <p:cNvSpPr txBox="1"/>
          <p:nvPr/>
        </p:nvSpPr>
        <p:spPr>
          <a:xfrm>
            <a:off x="4445000" y="2539425"/>
            <a:ext cx="6604000" cy="584775"/>
          </a:xfrm>
          <a:prstGeom prst="rect">
            <a:avLst/>
          </a:prstGeom>
          <a:noFill/>
        </p:spPr>
        <p:txBody>
          <a:bodyPr wrap="square" rtlCol="0">
            <a:spAutoFit/>
          </a:bodyPr>
          <a:lstStyle/>
          <a:p>
            <a:r>
              <a:rPr lang="en-US" sz="1600" b="1" dirty="0">
                <a:solidFill>
                  <a:srgbClr val="7030A0"/>
                </a:solidFill>
              </a:rPr>
              <a:t>Input size is n, basic operation is addition of a bit, one case</a:t>
            </a:r>
          </a:p>
          <a:p>
            <a:endParaRPr lang="en-US" sz="1600" b="1" dirty="0">
              <a:solidFill>
                <a:srgbClr val="7030A0"/>
              </a:solidFill>
            </a:endParaRPr>
          </a:p>
        </p:txBody>
      </p:sp>
      <p:sp>
        <p:nvSpPr>
          <p:cNvPr id="7" name="TextBox 6">
            <a:extLst>
              <a:ext uri="{FF2B5EF4-FFF2-40B4-BE49-F238E27FC236}">
                <a16:creationId xmlns:a16="http://schemas.microsoft.com/office/drawing/2014/main" id="{F8BFC3EB-4CEA-2C7E-3A9F-82BFFD044958}"/>
              </a:ext>
            </a:extLst>
          </p:cNvPr>
          <p:cNvSpPr txBox="1"/>
          <p:nvPr/>
        </p:nvSpPr>
        <p:spPr>
          <a:xfrm>
            <a:off x="4824412" y="3647464"/>
            <a:ext cx="5791200" cy="369332"/>
          </a:xfrm>
          <a:prstGeom prst="rect">
            <a:avLst/>
          </a:prstGeom>
          <a:solidFill>
            <a:schemeClr val="bg1"/>
          </a:solidFill>
        </p:spPr>
        <p:txBody>
          <a:bodyPr wrap="square" rtlCol="0">
            <a:spAutoFit/>
          </a:bodyPr>
          <a:lstStyle/>
          <a:p>
            <a:r>
              <a:rPr lang="en-US" b="1" dirty="0">
                <a:solidFill>
                  <a:srgbClr val="7030A0"/>
                </a:solidFill>
              </a:rPr>
              <a:t>Trying to apply the smoothness rule n = 2</a:t>
            </a:r>
            <a:r>
              <a:rPr lang="en-US" b="1" baseline="30000" dirty="0">
                <a:solidFill>
                  <a:srgbClr val="7030A0"/>
                </a:solidFill>
              </a:rPr>
              <a:t>k</a:t>
            </a:r>
            <a:endParaRPr lang="en-US" b="1" dirty="0">
              <a:solidFill>
                <a:srgbClr val="7030A0"/>
              </a:solidFill>
            </a:endParaRPr>
          </a:p>
        </p:txBody>
      </p:sp>
      <p:sp>
        <p:nvSpPr>
          <p:cNvPr id="8" name="TextBox 7">
            <a:extLst>
              <a:ext uri="{FF2B5EF4-FFF2-40B4-BE49-F238E27FC236}">
                <a16:creationId xmlns:a16="http://schemas.microsoft.com/office/drawing/2014/main" id="{CABAA2EF-674F-870F-B19B-B49DC48B167E}"/>
              </a:ext>
            </a:extLst>
          </p:cNvPr>
          <p:cNvSpPr txBox="1"/>
          <p:nvPr/>
        </p:nvSpPr>
        <p:spPr>
          <a:xfrm>
            <a:off x="5410200" y="4866937"/>
            <a:ext cx="1905000" cy="338554"/>
          </a:xfrm>
          <a:prstGeom prst="rect">
            <a:avLst/>
          </a:prstGeom>
          <a:noFill/>
        </p:spPr>
        <p:txBody>
          <a:bodyPr wrap="square" rtlCol="0">
            <a:spAutoFit/>
          </a:bodyPr>
          <a:lstStyle/>
          <a:p>
            <a:r>
              <a:rPr lang="en-US" sz="1600" b="1" dirty="0">
                <a:solidFill>
                  <a:srgbClr val="7030A0"/>
                </a:solidFill>
              </a:rPr>
              <a:t>n = 2</a:t>
            </a:r>
            <a:r>
              <a:rPr lang="en-US" sz="1600" b="1" baseline="30000" dirty="0">
                <a:solidFill>
                  <a:srgbClr val="7030A0"/>
                </a:solidFill>
              </a:rPr>
              <a:t>k</a:t>
            </a:r>
            <a:r>
              <a:rPr lang="en-US" sz="1600" b="1" dirty="0">
                <a:solidFill>
                  <a:srgbClr val="7030A0"/>
                </a:solidFill>
              </a:rPr>
              <a:t>, k = log n</a:t>
            </a:r>
          </a:p>
        </p:txBody>
      </p:sp>
    </p:spTree>
    <p:extLst>
      <p:ext uri="{BB962C8B-B14F-4D97-AF65-F5344CB8AC3E}">
        <p14:creationId xmlns:p14="http://schemas.microsoft.com/office/powerpoint/2010/main" val="4034474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b="1" dirty="0">
                <a:solidFill>
                  <a:srgbClr val="0070C0"/>
                </a:solidFill>
              </a:rPr>
              <a:t>Complexity</a:t>
            </a:r>
            <a:r>
              <a:rPr lang="en-US" dirty="0">
                <a:solidFill>
                  <a:srgbClr val="0070C0"/>
                </a:solidFill>
              </a:rPr>
              <a:t> </a:t>
            </a:r>
            <a:r>
              <a:rPr lang="en-US" sz="3800" b="1" dirty="0">
                <a:solidFill>
                  <a:srgbClr val="0070C0"/>
                </a:solidFill>
              </a:rPr>
              <a:t>Classes</a:t>
            </a:r>
            <a:endParaRPr lang="ar-EG" sz="3800" b="1" dirty="0">
              <a:solidFill>
                <a:srgbClr val="0070C0"/>
              </a:solidFill>
            </a:endParaRPr>
          </a:p>
        </p:txBody>
      </p:sp>
      <p:sp>
        <p:nvSpPr>
          <p:cNvPr id="3" name="Content Placeholder 2"/>
          <p:cNvSpPr>
            <a:spLocks noGrp="1"/>
          </p:cNvSpPr>
          <p:nvPr>
            <p:ph idx="1"/>
          </p:nvPr>
        </p:nvSpPr>
        <p:spPr/>
        <p:txBody>
          <a:bodyPr>
            <a:normAutofit/>
          </a:bodyPr>
          <a:lstStyle/>
          <a:p>
            <a:pPr marL="457200" lvl="1" indent="-341313" algn="just">
              <a:spcBef>
                <a:spcPts val="500"/>
              </a:spcBef>
              <a:buFont typeface="Wingdings" pitchFamily="2" charset="2"/>
              <a:buChar char="§"/>
              <a:tabLst>
                <a:tab pos="457200" algn="l"/>
              </a:tabLst>
            </a:pPr>
            <a:r>
              <a:rPr lang="en-US" dirty="0"/>
              <a:t>Complexity classes: </a:t>
            </a:r>
            <a:endParaRPr lang="en-US" dirty="0">
              <a:solidFill>
                <a:srgbClr val="00B050"/>
              </a:solidFill>
            </a:endParaRPr>
          </a:p>
          <a:p>
            <a:pPr marL="857250" lvl="2" indent="-341313">
              <a:spcBef>
                <a:spcPts val="500"/>
              </a:spcBef>
              <a:buFont typeface="Wingdings" panose="05000000000000000000" pitchFamily="2" charset="2"/>
              <a:buChar char="ü"/>
              <a:tabLst>
                <a:tab pos="457200" algn="l"/>
              </a:tabLst>
              <a:defRPr/>
            </a:pPr>
            <a:r>
              <a:rPr lang="en-US" dirty="0"/>
              <a:t>P (polynomial)</a:t>
            </a:r>
          </a:p>
          <a:p>
            <a:pPr marL="857250" lvl="2" indent="-341313">
              <a:spcBef>
                <a:spcPts val="500"/>
              </a:spcBef>
              <a:buFont typeface="Wingdings" panose="05000000000000000000" pitchFamily="2" charset="2"/>
              <a:buChar char="ü"/>
              <a:tabLst>
                <a:tab pos="457200" algn="l"/>
              </a:tabLst>
              <a:defRPr/>
            </a:pPr>
            <a:r>
              <a:rPr lang="en-US" dirty="0"/>
              <a:t>NP (non-deterministic polynomial)</a:t>
            </a:r>
          </a:p>
          <a:p>
            <a:pPr marL="857250" lvl="2" indent="-341313">
              <a:spcBef>
                <a:spcPts val="500"/>
              </a:spcBef>
              <a:buFont typeface="Wingdings" panose="05000000000000000000" pitchFamily="2" charset="2"/>
              <a:buChar char="ü"/>
              <a:tabLst>
                <a:tab pos="457200" algn="l"/>
              </a:tabLst>
              <a:defRPr/>
            </a:pPr>
            <a:r>
              <a:rPr lang="en-US" dirty="0"/>
              <a:t>NP-complete</a:t>
            </a:r>
          </a:p>
          <a:p>
            <a:pPr marL="857250" lvl="2" indent="-341313">
              <a:spcBef>
                <a:spcPts val="500"/>
              </a:spcBef>
              <a:buFont typeface="Wingdings" panose="05000000000000000000" pitchFamily="2" charset="2"/>
              <a:buChar char="ü"/>
              <a:tabLst>
                <a:tab pos="457200" algn="l"/>
              </a:tabLst>
              <a:defRPr/>
            </a:pPr>
            <a:r>
              <a:rPr lang="en-US" dirty="0"/>
              <a:t>NP-hard</a:t>
            </a:r>
          </a:p>
          <a:p>
            <a:pPr marL="857250" lvl="2" indent="-341313">
              <a:spcBef>
                <a:spcPts val="500"/>
              </a:spcBef>
              <a:buFont typeface="Wingdings" panose="05000000000000000000" pitchFamily="2" charset="2"/>
              <a:buChar char="ü"/>
              <a:tabLst>
                <a:tab pos="457200" algn="l"/>
              </a:tabLst>
              <a:defRPr/>
            </a:pPr>
            <a:endParaRPr lang="en-US" b="1" dirty="0">
              <a:solidFill>
                <a:srgbClr val="7030A0"/>
              </a:solidFill>
            </a:endParaRPr>
          </a:p>
          <a:p>
            <a:pPr marL="457200" lvl="1" indent="-341313" algn="just">
              <a:spcBef>
                <a:spcPts val="500"/>
              </a:spcBef>
              <a:buFont typeface="Wingdings" pitchFamily="2" charset="2"/>
              <a:buChar char="§"/>
              <a:tabLst>
                <a:tab pos="457200" algn="l"/>
              </a:tabLst>
            </a:pPr>
            <a:endParaRPr lang="en-US" b="0" dirty="0"/>
          </a:p>
          <a:p>
            <a:pPr marL="457200" lvl="1" indent="-341313" algn="just">
              <a:spcBef>
                <a:spcPts val="500"/>
              </a:spcBef>
              <a:buFont typeface="Wingdings" pitchFamily="2" charset="2"/>
              <a:buChar char="§"/>
              <a:tabLst>
                <a:tab pos="457200" algn="l"/>
              </a:tabLst>
            </a:pPr>
            <a:endParaRPr lang="en-US" b="0" dirty="0"/>
          </a:p>
          <a:p>
            <a:pPr marL="457200" lvl="1" indent="-341313" algn="just">
              <a:spcBef>
                <a:spcPts val="500"/>
              </a:spcBef>
              <a:buFont typeface="Wingdings" pitchFamily="2" charset="2"/>
              <a:buChar char="§"/>
              <a:tabLst>
                <a:tab pos="457200" algn="l"/>
              </a:tabLst>
            </a:pPr>
            <a:endParaRPr lang="en-US" b="0" dirty="0"/>
          </a:p>
          <a:p>
            <a:pPr marL="457200" lvl="1" indent="-341313" algn="just">
              <a:spcBef>
                <a:spcPts val="500"/>
              </a:spcBef>
              <a:buFont typeface="Wingdings" pitchFamily="2" charset="2"/>
              <a:buChar char="§"/>
              <a:tabLst>
                <a:tab pos="457200" algn="l"/>
              </a:tabLst>
            </a:pPr>
            <a:endParaRPr lang="en-US" b="0" dirty="0"/>
          </a:p>
        </p:txBody>
      </p:sp>
      <p:sp>
        <p:nvSpPr>
          <p:cNvPr id="4" name="Footer Placeholder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Prof. Hanan Elazhary</a:t>
            </a:r>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95F05B-5D66-4F93-B888-BA1302D00BC9}" type="slidenum">
              <a:rPr lang="en-US" smtClean="0"/>
              <a:pPr/>
              <a:t>38</a:t>
            </a:fld>
            <a:endParaRPr lang="en-US"/>
          </a:p>
        </p:txBody>
      </p:sp>
      <p:sp>
        <p:nvSpPr>
          <p:cNvPr id="6" name="TextBox 2"/>
          <p:cNvSpPr txBox="1"/>
          <p:nvPr/>
        </p:nvSpPr>
        <p:spPr>
          <a:xfrm>
            <a:off x="2895600" y="6550223"/>
            <a:ext cx="9144000" cy="307777"/>
          </a:xfrm>
          <a:prstGeom prst="rect">
            <a:avLst/>
          </a:prstGeom>
          <a:noFill/>
        </p:spPr>
        <p:txBody>
          <a:bodyPr wrap="square" rtlCol="1">
            <a:spAutoFit/>
          </a:bodyPr>
          <a:lstStyle/>
          <a:p>
            <a:r>
              <a:rPr lang="en-US" sz="1400" dirty="0">
                <a:solidFill>
                  <a:schemeClr val="bg1">
                    <a:lumMod val="65000"/>
                  </a:schemeClr>
                </a:solidFill>
              </a:rPr>
              <a:t>Introduction to the design and analysis of algorithms, Levitin, 3</a:t>
            </a:r>
            <a:r>
              <a:rPr lang="en-US" sz="1400" baseline="30000" dirty="0">
                <a:solidFill>
                  <a:schemeClr val="bg1">
                    <a:lumMod val="65000"/>
                  </a:schemeClr>
                </a:solidFill>
              </a:rPr>
              <a:t>rd</a:t>
            </a:r>
            <a:r>
              <a:rPr lang="en-US" sz="1400" dirty="0">
                <a:solidFill>
                  <a:schemeClr val="bg1">
                    <a:lumMod val="65000"/>
                  </a:schemeClr>
                </a:solidFill>
              </a:rPr>
              <a:t> edition, 2011</a:t>
            </a:r>
            <a:endParaRPr lang="ar-EG" sz="1400" dirty="0">
              <a:solidFill>
                <a:schemeClr val="bg1">
                  <a:lumMod val="65000"/>
                </a:schemeClr>
              </a:solidFill>
            </a:endParaRPr>
          </a:p>
        </p:txBody>
      </p:sp>
    </p:spTree>
    <p:extLst>
      <p:ext uri="{BB962C8B-B14F-4D97-AF65-F5344CB8AC3E}">
        <p14:creationId xmlns:p14="http://schemas.microsoft.com/office/powerpoint/2010/main" val="571188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ADBABA-AD23-4E8E-ACD7-D9C2BBCED46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8" algn="ctr"/>
            <a:r>
              <a:rPr lang="en-US" sz="7200" b="1" dirty="0">
                <a:solidFill>
                  <a:srgbClr val="FF0000"/>
                </a:solidFill>
              </a:rPr>
              <a:t>Empirical Analysis of Time Efficiency</a:t>
            </a:r>
          </a:p>
        </p:txBody>
      </p:sp>
    </p:spTree>
    <p:extLst>
      <p:ext uri="{BB962C8B-B14F-4D97-AF65-F5344CB8AC3E}">
        <p14:creationId xmlns:p14="http://schemas.microsoft.com/office/powerpoint/2010/main" val="39880857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Empirical Analysis of Time Efficiency</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40</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Many algorithms cannot be analyzed mathematically</a:t>
            </a:r>
          </a:p>
          <a:p>
            <a:pPr lvl="1">
              <a:defRPr/>
            </a:pPr>
            <a:r>
              <a:rPr lang="en-US" altLang="en-US" sz="2400" dirty="0"/>
              <a:t>The alternative way is the Empirical Analysis</a:t>
            </a:r>
          </a:p>
          <a:p>
            <a:pPr>
              <a:defRPr/>
            </a:pPr>
            <a:endParaRPr lang="en-US" altLang="en-US" sz="800" dirty="0"/>
          </a:p>
          <a:p>
            <a:pPr>
              <a:defRPr/>
            </a:pPr>
            <a:r>
              <a:rPr lang="en-US" altLang="en-US" sz="2800" dirty="0"/>
              <a:t>The steps are:</a:t>
            </a:r>
          </a:p>
          <a:p>
            <a:pPr lvl="1">
              <a:defRPr/>
            </a:pPr>
            <a:r>
              <a:rPr lang="en-US" altLang="en-US" sz="2400" dirty="0"/>
              <a:t>Select a (typical) sample of inputs</a:t>
            </a:r>
          </a:p>
          <a:p>
            <a:pPr lvl="1">
              <a:defRPr/>
            </a:pPr>
            <a:r>
              <a:rPr lang="en-US" altLang="en-US" sz="2400" dirty="0"/>
              <a:t>Decide on the efficiency metric (running time or operation count)</a:t>
            </a:r>
          </a:p>
          <a:p>
            <a:pPr lvl="1">
              <a:defRPr/>
            </a:pPr>
            <a:r>
              <a:rPr lang="en-US" altLang="en-US" sz="2400" dirty="0"/>
              <a:t>Implement the algorithm</a:t>
            </a:r>
          </a:p>
          <a:p>
            <a:pPr lvl="1">
              <a:defRPr/>
            </a:pPr>
            <a:r>
              <a:rPr lang="en-US" altLang="en-US" sz="2400" dirty="0"/>
              <a:t>Run the code and record the observed data (running time or operation count)</a:t>
            </a:r>
          </a:p>
          <a:p>
            <a:pPr lvl="1">
              <a:defRPr/>
            </a:pPr>
            <a:r>
              <a:rPr lang="en-US" altLang="en-US" sz="2400" dirty="0"/>
              <a:t>Analyze the data</a:t>
            </a:r>
          </a:p>
        </p:txBody>
      </p:sp>
    </p:spTree>
    <p:extLst>
      <p:ext uri="{BB962C8B-B14F-4D97-AF65-F5344CB8AC3E}">
        <p14:creationId xmlns:p14="http://schemas.microsoft.com/office/powerpoint/2010/main" val="1732760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Empirical Analysis of Time Efficiency, Contd.</a:t>
            </a:r>
            <a:endParaRPr sz="40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41</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b="0" dirty="0"/>
              <a:t>The recorded time is usually inaccurate</a:t>
            </a:r>
          </a:p>
          <a:p>
            <a:pPr lvl="1">
              <a:defRPr/>
            </a:pPr>
            <a:r>
              <a:rPr lang="en-US" altLang="en-US" sz="2400" b="0" dirty="0"/>
              <a:t>In general, we repeat the experiment many times and take average (or median) value</a:t>
            </a:r>
          </a:p>
          <a:p>
            <a:pPr lvl="1">
              <a:defRPr/>
            </a:pPr>
            <a:endParaRPr lang="en-US" altLang="en-US" sz="2400" b="0" dirty="0"/>
          </a:p>
          <a:p>
            <a:pPr>
              <a:defRPr/>
            </a:pPr>
            <a:r>
              <a:rPr lang="en-US" altLang="en-US" sz="2800" b="0" dirty="0"/>
              <a:t>Empirical analysis is usually done on several inputs of different sizes</a:t>
            </a:r>
          </a:p>
          <a:p>
            <a:pPr lvl="1">
              <a:defRPr/>
            </a:pPr>
            <a:r>
              <a:rPr lang="en-US" altLang="en-US" sz="2400" b="0" dirty="0"/>
              <a:t>By measuring the time at inputs of size N, 2N, 3N, … and calculating their ratios, we can guess the efficiency class of the algorithm </a:t>
            </a:r>
            <a:r>
              <a:rPr lang="en-US" altLang="en-US" sz="1800" b="0" dirty="0"/>
              <a:t>(linear, logarithmic, etc.)</a:t>
            </a:r>
            <a:endParaRPr lang="en-US" altLang="en-US" sz="1600" b="0" dirty="0"/>
          </a:p>
        </p:txBody>
      </p:sp>
    </p:spTree>
    <p:extLst>
      <p:ext uri="{BB962C8B-B14F-4D97-AF65-F5344CB8AC3E}">
        <p14:creationId xmlns:p14="http://schemas.microsoft.com/office/powerpoint/2010/main" val="23394112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ADBABA-AD23-4E8E-ACD7-D9C2BBCED46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8" algn="ctr"/>
            <a:r>
              <a:rPr lang="en-US" sz="7200" b="1" dirty="0">
                <a:solidFill>
                  <a:srgbClr val="FF0000"/>
                </a:solidFill>
              </a:rPr>
              <a:t>Algorithm Visualization</a:t>
            </a:r>
          </a:p>
        </p:txBody>
      </p:sp>
    </p:spTree>
    <p:extLst>
      <p:ext uri="{BB962C8B-B14F-4D97-AF65-F5344CB8AC3E}">
        <p14:creationId xmlns:p14="http://schemas.microsoft.com/office/powerpoint/2010/main" val="36203516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Algorithm Visualization</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43</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1304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800" dirty="0"/>
              <a:t>Algorithm visualization uses </a:t>
            </a:r>
            <a:r>
              <a:rPr lang="en-US" altLang="en-US" sz="2800" b="1" dirty="0">
                <a:solidFill>
                  <a:srgbClr val="7030A0"/>
                </a:solidFill>
              </a:rPr>
              <a:t>static images </a:t>
            </a:r>
            <a:r>
              <a:rPr lang="en-US" altLang="en-US" sz="1800" dirty="0"/>
              <a:t>(static visualization)</a:t>
            </a:r>
            <a:r>
              <a:rPr lang="en-US" altLang="en-US" sz="1800" b="1" dirty="0">
                <a:solidFill>
                  <a:srgbClr val="7030A0"/>
                </a:solidFill>
              </a:rPr>
              <a:t> </a:t>
            </a:r>
            <a:r>
              <a:rPr lang="en-US" altLang="en-US" sz="2800" dirty="0"/>
              <a:t>or </a:t>
            </a:r>
            <a:r>
              <a:rPr lang="en-US" altLang="en-US" sz="2800" b="1" dirty="0">
                <a:solidFill>
                  <a:srgbClr val="7030A0"/>
                </a:solidFill>
              </a:rPr>
              <a:t>animations</a:t>
            </a:r>
            <a:r>
              <a:rPr lang="en-US" altLang="en-US" sz="2800" dirty="0"/>
              <a:t> </a:t>
            </a:r>
            <a:r>
              <a:rPr lang="en-US" altLang="en-US" sz="1800" dirty="0"/>
              <a:t>(dynamic visualization) </a:t>
            </a:r>
            <a:r>
              <a:rPr lang="en-US" altLang="en-US" sz="2800" dirty="0"/>
              <a:t>to show the performance of the algorithm</a:t>
            </a:r>
          </a:p>
          <a:p>
            <a:pPr>
              <a:defRPr/>
            </a:pPr>
            <a:endParaRPr lang="en-US" altLang="en-US" sz="2400" dirty="0">
              <a:solidFill>
                <a:schemeClr val="tx1"/>
              </a:solidFill>
            </a:endParaRPr>
          </a:p>
        </p:txBody>
      </p:sp>
      <p:pic>
        <p:nvPicPr>
          <p:cNvPr id="2" name="Picture 2">
            <a:extLst>
              <a:ext uri="{FF2B5EF4-FFF2-40B4-BE49-F238E27FC236}">
                <a16:creationId xmlns:a16="http://schemas.microsoft.com/office/drawing/2014/main" id="{0162A8E8-6D38-BC64-D0A5-5DF545E67C1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82800" y="2745571"/>
            <a:ext cx="1470025"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a:extLst>
              <a:ext uri="{FF2B5EF4-FFF2-40B4-BE49-F238E27FC236}">
                <a16:creationId xmlns:a16="http://schemas.microsoft.com/office/drawing/2014/main" id="{1538AADE-5F85-8730-1D17-2C8B1A156E4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81400" y="2745571"/>
            <a:ext cx="1457325"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5">
            <a:extLst>
              <a:ext uri="{FF2B5EF4-FFF2-40B4-BE49-F238E27FC236}">
                <a16:creationId xmlns:a16="http://schemas.microsoft.com/office/drawing/2014/main" id="{6215B418-D298-4203-3CC6-DDB18CA2101F}"/>
              </a:ext>
            </a:extLst>
          </p:cNvPr>
          <p:cNvSpPr txBox="1">
            <a:spLocks noChangeArrowheads="1"/>
          </p:cNvSpPr>
          <p:nvPr/>
        </p:nvSpPr>
        <p:spPr bwMode="auto">
          <a:xfrm>
            <a:off x="2159000" y="4421971"/>
            <a:ext cx="2971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Tx/>
              <a:buNone/>
            </a:pPr>
            <a:r>
              <a:rPr kumimoji="0" lang="en-US" altLang="en-US" b="0" dirty="0">
                <a:solidFill>
                  <a:schemeClr val="tx1"/>
                </a:solidFill>
              </a:rPr>
              <a:t>Initial and final states of a sorting algorithm using bar chart</a:t>
            </a:r>
          </a:p>
        </p:txBody>
      </p:sp>
      <p:pic>
        <p:nvPicPr>
          <p:cNvPr id="7" name="Picture 7">
            <a:extLst>
              <a:ext uri="{FF2B5EF4-FFF2-40B4-BE49-F238E27FC236}">
                <a16:creationId xmlns:a16="http://schemas.microsoft.com/office/drawing/2014/main" id="{3D0A9DC4-6547-8E54-4BEE-87D9B795E2F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21400" y="2758271"/>
            <a:ext cx="1481138" cy="122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a:extLst>
              <a:ext uri="{FF2B5EF4-FFF2-40B4-BE49-F238E27FC236}">
                <a16:creationId xmlns:a16="http://schemas.microsoft.com/office/drawing/2014/main" id="{97F3E5FD-0C82-36C3-C9CB-F77BD3146973}"/>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45400" y="2745571"/>
            <a:ext cx="1481138"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2">
            <a:extLst>
              <a:ext uri="{FF2B5EF4-FFF2-40B4-BE49-F238E27FC236}">
                <a16:creationId xmlns:a16="http://schemas.microsoft.com/office/drawing/2014/main" id="{51966E45-D9AB-44A2-9C3D-1311778C3E82}"/>
              </a:ext>
            </a:extLst>
          </p:cNvPr>
          <p:cNvSpPr txBox="1">
            <a:spLocks noChangeArrowheads="1"/>
          </p:cNvSpPr>
          <p:nvPr/>
        </p:nvSpPr>
        <p:spPr bwMode="auto">
          <a:xfrm>
            <a:off x="6089650" y="4404509"/>
            <a:ext cx="2971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FontTx/>
              <a:buNone/>
            </a:pPr>
            <a:r>
              <a:rPr kumimoji="0" lang="en-US" altLang="en-US" b="0">
                <a:solidFill>
                  <a:schemeClr val="tx1"/>
                </a:solidFill>
              </a:rPr>
              <a:t>Initial and final states of a sorting algorithm using scatter plot</a:t>
            </a:r>
          </a:p>
        </p:txBody>
      </p:sp>
      <p:sp>
        <p:nvSpPr>
          <p:cNvPr id="11" name="TextBox 10">
            <a:extLst>
              <a:ext uri="{FF2B5EF4-FFF2-40B4-BE49-F238E27FC236}">
                <a16:creationId xmlns:a16="http://schemas.microsoft.com/office/drawing/2014/main" id="{C63A4762-0874-1753-833D-357A9765AC9D}"/>
              </a:ext>
            </a:extLst>
          </p:cNvPr>
          <p:cNvSpPr txBox="1"/>
          <p:nvPr/>
        </p:nvSpPr>
        <p:spPr>
          <a:xfrm>
            <a:off x="2819400" y="6410980"/>
            <a:ext cx="9387840" cy="276999"/>
          </a:xfrm>
          <a:prstGeom prst="rect">
            <a:avLst/>
          </a:prstGeom>
          <a:noFill/>
        </p:spPr>
        <p:txBody>
          <a:bodyPr wrap="square" rtlCol="0">
            <a:spAutoFit/>
          </a:bodyPr>
          <a:lstStyle/>
          <a:p>
            <a:r>
              <a:rPr lang="en-US" sz="1200" b="1" dirty="0">
                <a:hlinkClick r:id="rId10"/>
              </a:rPr>
              <a:t>https://towardsdatascience.com/5-sorting-algorithms-in-python-c7ece9df5dd6</a:t>
            </a:r>
            <a:endParaRPr lang="en-US" sz="1200" dirty="0"/>
          </a:p>
        </p:txBody>
      </p:sp>
    </p:spTree>
    <p:extLst>
      <p:ext uri="{BB962C8B-B14F-4D97-AF65-F5344CB8AC3E}">
        <p14:creationId xmlns:p14="http://schemas.microsoft.com/office/powerpoint/2010/main" val="3658407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ADBABA-AD23-4E8E-ACD7-D9C2BBCED46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8" algn="ctr"/>
            <a:r>
              <a:rPr lang="en-US" sz="7200" b="1" dirty="0">
                <a:solidFill>
                  <a:srgbClr val="FF0000"/>
                </a:solidFill>
              </a:rPr>
              <a:t>Summary</a:t>
            </a:r>
          </a:p>
        </p:txBody>
      </p:sp>
    </p:spTree>
    <p:extLst>
      <p:ext uri="{BB962C8B-B14F-4D97-AF65-F5344CB8AC3E}">
        <p14:creationId xmlns:p14="http://schemas.microsoft.com/office/powerpoint/2010/main" val="18870362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Summary</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45</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065008"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sz="2100" dirty="0"/>
              <a:t>There are two kinds of algorithm efficiency: time efficiency and space efficiency. Time efficiency indicates how fast the algorithm runs; space efficiency deals with the extra space it requires.</a:t>
            </a:r>
          </a:p>
          <a:p>
            <a:pPr>
              <a:defRPr/>
            </a:pPr>
            <a:r>
              <a:rPr lang="en-US" sz="2100" dirty="0"/>
              <a:t>An algorithm’s time efficiency is principally measured as a function of its input size by counting the number of times its basic operation is executed. A basic operation is the operation that contributes the most to running time. Typically, it is the most time-consuming operation in the algorithm’s innermost loop.</a:t>
            </a:r>
          </a:p>
          <a:p>
            <a:pPr>
              <a:defRPr/>
            </a:pPr>
            <a:r>
              <a:rPr lang="en-US" sz="2100" dirty="0"/>
              <a:t>For some algorithms, the running time can differ considerably for inputs of the same size, leading to worst-case efficiency, average-case efficiency, and best-case efficiency.</a:t>
            </a:r>
          </a:p>
          <a:p>
            <a:pPr>
              <a:defRPr/>
            </a:pPr>
            <a:r>
              <a:rPr lang="en-US" sz="2100" dirty="0"/>
              <a:t>The established framework for analyzing time efficiency is primarily grounded in the order of growth of the algorithm’s running time as its input size goes to infinity.</a:t>
            </a:r>
          </a:p>
          <a:p>
            <a:pPr>
              <a:defRPr/>
            </a:pPr>
            <a:r>
              <a:rPr lang="en-US" sz="2100" dirty="0"/>
              <a:t>The notations O, Omega, and Theta are used to indicate and compare the asymptotic orders of growth of functions expressing algorithm efficiencies.</a:t>
            </a:r>
          </a:p>
          <a:p>
            <a:pPr>
              <a:defRPr/>
            </a:pPr>
            <a:r>
              <a:rPr lang="en-US" sz="2100" dirty="0"/>
              <a:t>The efficiencies of a large number of algorithms fall into the following few classes: constant, logarithmic, linear, linearithmic, quadratic, cubic, and exponential.</a:t>
            </a:r>
          </a:p>
        </p:txBody>
      </p:sp>
    </p:spTree>
    <p:extLst>
      <p:ext uri="{BB962C8B-B14F-4D97-AF65-F5344CB8AC3E}">
        <p14:creationId xmlns:p14="http://schemas.microsoft.com/office/powerpoint/2010/main" val="40409868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Summary, Contd.</a:t>
            </a:r>
            <a:endParaRPr sz="40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46</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125200" cy="4718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defRPr/>
            </a:pPr>
            <a:r>
              <a:rPr lang="en-US" altLang="en-US" sz="2100" dirty="0"/>
              <a:t>The main tool for analyzing the time efficiency of a non-recursive algorithm is to set up a </a:t>
            </a:r>
            <a:r>
              <a:rPr lang="en-US" altLang="en-US" sz="2100" i="1" dirty="0"/>
              <a:t>sum</a:t>
            </a:r>
            <a:r>
              <a:rPr lang="en-US" altLang="en-US" sz="2100" dirty="0"/>
              <a:t> </a:t>
            </a:r>
            <a:r>
              <a:rPr lang="en-US" altLang="en-US" sz="2100" dirty="0">
                <a:highlight>
                  <a:srgbClr val="FFFFFF"/>
                </a:highlight>
              </a:rPr>
              <a:t>expressing the number of executions of its basic operation and ascertain the sum’s order of growth.</a:t>
            </a:r>
          </a:p>
          <a:p>
            <a:pPr>
              <a:defRPr/>
            </a:pPr>
            <a:r>
              <a:rPr lang="en-US" altLang="en-US" sz="2100" dirty="0">
                <a:highlight>
                  <a:srgbClr val="FFFFFF"/>
                </a:highlight>
              </a:rPr>
              <a:t>The main tool for analyzing the time efficiency of a recursive algorithm is to set up a </a:t>
            </a:r>
            <a:r>
              <a:rPr lang="en-US" altLang="en-US" sz="2100" i="1" dirty="0">
                <a:highlight>
                  <a:srgbClr val="FFFFFF"/>
                </a:highlight>
              </a:rPr>
              <a:t>recurrence relation </a:t>
            </a:r>
            <a:r>
              <a:rPr lang="en-US" altLang="en-US" sz="2100" dirty="0">
                <a:highlight>
                  <a:srgbClr val="FFFFFF"/>
                </a:highlight>
              </a:rPr>
              <a:t>expressing the number of executions of its basic operation and ascertain the solution’s order of growth.</a:t>
            </a:r>
          </a:p>
          <a:p>
            <a:pPr>
              <a:defRPr/>
            </a:pPr>
            <a:r>
              <a:rPr lang="en-US" altLang="en-US" sz="2100" dirty="0">
                <a:highlight>
                  <a:srgbClr val="FFFFFF"/>
                </a:highlight>
              </a:rPr>
              <a:t>Empirical analysis of an algorithm is performed</a:t>
            </a:r>
            <a:r>
              <a:rPr lang="en-US" altLang="en-US" sz="2100" dirty="0"/>
              <a:t> by running a program implementing the algorithm on a sample of inputs and analyzing the data observed (the basic operation’s count or physical running time). This often involves generating pseudorandom numbers. The applicability to any algorithm is the principal strength of this approach; the dependence of results on the particular computer and instance sample is its main weakness.</a:t>
            </a:r>
          </a:p>
          <a:p>
            <a:pPr>
              <a:defRPr/>
            </a:pPr>
            <a:r>
              <a:rPr lang="en-US" altLang="en-US" sz="2100" dirty="0"/>
              <a:t>Algorithm visualization is the use of images to convey useful information about algorithms. The two principal variations of algorithm visualization are static algorithm visualization and dynamic algorithm visualization (also called algorithm animation).</a:t>
            </a:r>
          </a:p>
        </p:txBody>
      </p:sp>
    </p:spTree>
    <p:extLst>
      <p:ext uri="{BB962C8B-B14F-4D97-AF65-F5344CB8AC3E}">
        <p14:creationId xmlns:p14="http://schemas.microsoft.com/office/powerpoint/2010/main" val="3173060320"/>
      </p:ext>
    </p:extLst>
  </p:cSld>
  <p:clrMapOvr>
    <a:masterClrMapping/>
  </p:clrMapOvr>
</p:sld>
</file>

<file path=ppt/theme/theme1.xml><?xml version="1.0" encoding="utf-8"?>
<a:theme xmlns:a="http://schemas.openxmlformats.org/drawingml/2006/main" name="DataScienc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DataScience</Template>
  <TotalTime>10518</TotalTime>
  <Words>3491</Words>
  <Application>Microsoft Office PowerPoint</Application>
  <PresentationFormat>Widescreen</PresentationFormat>
  <Paragraphs>440</Paragraphs>
  <Slides>46</Slides>
  <Notes>42</Notes>
  <HiddenSlides>1</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46</vt:i4>
      </vt:variant>
    </vt:vector>
  </HeadingPairs>
  <TitlesOfParts>
    <vt:vector size="63" baseType="lpstr">
      <vt:lpstr>굴림</vt:lpstr>
      <vt:lpstr>Agency FB</vt:lpstr>
      <vt:lpstr>arial</vt:lpstr>
      <vt:lpstr>arial</vt:lpstr>
      <vt:lpstr>Baguet Script</vt:lpstr>
      <vt:lpstr>Calibri</vt:lpstr>
      <vt:lpstr>Cambria Math</vt:lpstr>
      <vt:lpstr>Google Sans</vt:lpstr>
      <vt:lpstr>Lucida Grande</vt:lpstr>
      <vt:lpstr>Monotype Sorts</vt:lpstr>
      <vt:lpstr>Symbol</vt:lpstr>
      <vt:lpstr>Tahoma</vt:lpstr>
      <vt:lpstr>Times New Roman</vt:lpstr>
      <vt:lpstr>Wingdings</vt:lpstr>
      <vt:lpstr>DataScience</vt:lpstr>
      <vt:lpstr>Custom Design</vt:lpstr>
      <vt:lpstr>Equation</vt:lpstr>
      <vt:lpstr>Topic 1</vt:lpstr>
      <vt:lpstr>What is an algorithm?</vt:lpstr>
      <vt:lpstr>What is an algorithm?, Contd.</vt:lpstr>
      <vt:lpstr>Historical Perspective</vt:lpstr>
      <vt:lpstr>Euclid’s Algorithm</vt:lpstr>
      <vt:lpstr>Euclid’s Algorithm, Contd.</vt:lpstr>
      <vt:lpstr>Analysis of Algorithms</vt:lpstr>
      <vt:lpstr>PowerPoint Presentation</vt:lpstr>
      <vt:lpstr>Theoretical Analysis of Time Efficiency</vt:lpstr>
      <vt:lpstr>Input Size and Basic Operation Examples</vt:lpstr>
      <vt:lpstr>Basic Operation Count Worst, Best and Average Cases</vt:lpstr>
      <vt:lpstr>Example: Sequential/Linear Search</vt:lpstr>
      <vt:lpstr>Types of Formulas for Basic Operation Count</vt:lpstr>
      <vt:lpstr>Types of Formulas for Basic Operation Count. Contd.</vt:lpstr>
      <vt:lpstr>Types of Formulas for Basic Operation Count. Contd.</vt:lpstr>
      <vt:lpstr>Values of Some Important Functions as n∞</vt:lpstr>
      <vt:lpstr>Asymptotic Order of Growth of an Algorithm</vt:lpstr>
      <vt:lpstr>O-notation</vt:lpstr>
      <vt:lpstr>-notation</vt:lpstr>
      <vt:lpstr>-notation</vt:lpstr>
      <vt:lpstr>Summary of Notations</vt:lpstr>
      <vt:lpstr>Basic Asymptotic Efficiency Classes</vt:lpstr>
      <vt:lpstr>Basic Asymptotic Efficiency Classes, Contd.</vt:lpstr>
      <vt:lpstr>More on Asymptotic Order of Growth, Contd.</vt:lpstr>
      <vt:lpstr>Useful Summation Formulas and Rules</vt:lpstr>
      <vt:lpstr>Important Definitions and Theorems</vt:lpstr>
      <vt:lpstr>Important Definitions and Theorems, Contd.</vt:lpstr>
      <vt:lpstr>Important Definitions and Theorems, Contd.</vt:lpstr>
      <vt:lpstr>Time Efficiency of Non-Recursive Algorithms</vt:lpstr>
      <vt:lpstr>Example 1: Maximum Element</vt:lpstr>
      <vt:lpstr>Example 2: Element Uniqueness Problem</vt:lpstr>
      <vt:lpstr>Example 3: Matrix Multiplication</vt:lpstr>
      <vt:lpstr>Example 4: Counting Binary Digits (Bits)</vt:lpstr>
      <vt:lpstr>Time Efficiency of Recursive Algorithms</vt:lpstr>
      <vt:lpstr>Example 1: Recursive Evaluation of n!</vt:lpstr>
      <vt:lpstr>Example 1: Contd.</vt:lpstr>
      <vt:lpstr>Example 3: Counting Binary Digits (Bits)</vt:lpstr>
      <vt:lpstr>Complexity Classes</vt:lpstr>
      <vt:lpstr>PowerPoint Presentation</vt:lpstr>
      <vt:lpstr>Empirical Analysis of Time Efficiency</vt:lpstr>
      <vt:lpstr>Empirical Analysis of Time Efficiency, Contd.</vt:lpstr>
      <vt:lpstr>PowerPoint Presentation</vt:lpstr>
      <vt:lpstr>Algorithm Visualization</vt:lpstr>
      <vt:lpstr>PowerPoint Presentation</vt:lpstr>
      <vt:lpstr>Summary</vt:lpstr>
      <vt:lpstr>Summary,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Jf</dc:creator>
  <cp:lastModifiedBy>ريان خالد علي عذيب</cp:lastModifiedBy>
  <cp:revision>392</cp:revision>
  <cp:lastPrinted>2019-09-01T09:07:45Z</cp:lastPrinted>
  <dcterms:created xsi:type="dcterms:W3CDTF">2015-03-22T23:49:48Z</dcterms:created>
  <dcterms:modified xsi:type="dcterms:W3CDTF">2026-02-07T16:51:05Z</dcterms:modified>
</cp:coreProperties>
</file>