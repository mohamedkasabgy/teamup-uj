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78" r:id="rId2"/>
  </p:sldMasterIdLst>
  <p:notesMasterIdLst>
    <p:notesMasterId r:id="rId34"/>
  </p:notesMasterIdLst>
  <p:handoutMasterIdLst>
    <p:handoutMasterId r:id="rId35"/>
  </p:handoutMasterIdLst>
  <p:sldIdLst>
    <p:sldId id="479" r:id="rId3"/>
    <p:sldId id="481" r:id="rId4"/>
    <p:sldId id="497" r:id="rId5"/>
    <p:sldId id="498" r:id="rId6"/>
    <p:sldId id="532" r:id="rId7"/>
    <p:sldId id="524" r:id="rId8"/>
    <p:sldId id="525" r:id="rId9"/>
    <p:sldId id="500" r:id="rId10"/>
    <p:sldId id="528" r:id="rId11"/>
    <p:sldId id="533" r:id="rId12"/>
    <p:sldId id="526" r:id="rId13"/>
    <p:sldId id="534" r:id="rId14"/>
    <p:sldId id="535" r:id="rId15"/>
    <p:sldId id="536" r:id="rId16"/>
    <p:sldId id="529" r:id="rId17"/>
    <p:sldId id="539" r:id="rId18"/>
    <p:sldId id="541" r:id="rId19"/>
    <p:sldId id="542" r:id="rId20"/>
    <p:sldId id="543" r:id="rId21"/>
    <p:sldId id="546" r:id="rId22"/>
    <p:sldId id="547" r:id="rId23"/>
    <p:sldId id="548" r:id="rId24"/>
    <p:sldId id="544" r:id="rId25"/>
    <p:sldId id="545" r:id="rId26"/>
    <p:sldId id="549" r:id="rId27"/>
    <p:sldId id="540" r:id="rId28"/>
    <p:sldId id="530" r:id="rId29"/>
    <p:sldId id="531" r:id="rId30"/>
    <p:sldId id="537" r:id="rId31"/>
    <p:sldId id="538" r:id="rId32"/>
    <p:sldId id="480" r:id="rId33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tthew Hayes" initials="" lastIdx="2" clrIdx="0"/>
  <p:cmAuthor id="1" name="Graeme Malcolm" initials="GM" lastIdx="9" clrIdx="1">
    <p:extLst>
      <p:ext uri="{19B8F6BF-5375-455C-9EA6-DF929625EA0E}">
        <p15:presenceInfo xmlns:p15="http://schemas.microsoft.com/office/powerpoint/2012/main" userId="S-1-5-21-2127521184-1604012920-1887927527-565654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3300"/>
    <a:srgbClr val="0000CC"/>
    <a:srgbClr val="5A8DE6"/>
    <a:srgbClr val="FFFFCC"/>
    <a:srgbClr val="FFFFFF"/>
    <a:srgbClr val="000066"/>
    <a:srgbClr val="BBAE54"/>
    <a:srgbClr val="000050"/>
    <a:srgbClr val="2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13" autoAdjust="0"/>
    <p:restoredTop sz="82329" autoAdjust="0"/>
  </p:normalViewPr>
  <p:slideViewPr>
    <p:cSldViewPr>
      <p:cViewPr varScale="1">
        <p:scale>
          <a:sx n="103" d="100"/>
          <a:sy n="103" d="100"/>
        </p:scale>
        <p:origin x="63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947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974"/>
    </p:cViewPr>
  </p:sorterViewPr>
  <p:notesViewPr>
    <p:cSldViewPr>
      <p:cViewPr varScale="1">
        <p:scale>
          <a:sx n="61" d="100"/>
          <a:sy n="61" d="100"/>
        </p:scale>
        <p:origin x="1632" y="38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260F0ECF-F84D-43BE-A58E-0DB2F99E2671}" type="datetimeFigureOut">
              <a:rPr lang="en-US" altLang="en-US"/>
              <a:pPr>
                <a:defRPr/>
              </a:pPr>
              <a:t>2/8/25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A312E49B-09D1-47A2-B871-8DE206184B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13037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FCC8B620-7FB1-4D4A-893E-5909C901B9B8}" type="datetimeFigureOut">
              <a:rPr lang="en-US" altLang="en-US"/>
              <a:pPr>
                <a:defRPr/>
              </a:pPr>
              <a:t>2/8/25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5929A2E2-B731-4145-A8A4-FEBDEFC5FF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179171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433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969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- With a pre-sorted array, the median can be conducted with efficiency O(1)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   In this case, sort the list: [1, 2, 3, 4, 5, 6, 7, 8, 9] to find the median, we are looking for the 5th smallest element (since ⌊9/2⌋=4 and lists are 0-indexed). Answer: The median :5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449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177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747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757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external as in cloud?</a:t>
            </a:r>
          </a:p>
        </p:txBody>
      </p:sp>
    </p:spTree>
    <p:extLst>
      <p:ext uri="{BB962C8B-B14F-4D97-AF65-F5344CB8AC3E}">
        <p14:creationId xmlns:p14="http://schemas.microsoft.com/office/powerpoint/2010/main" val="144310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Hashing is discussed in space-for-time. It is an example of representation change?</a:t>
            </a:r>
          </a:p>
        </p:txBody>
      </p:sp>
    </p:spTree>
    <p:extLst>
      <p:ext uri="{BB962C8B-B14F-4D97-AF65-F5344CB8AC3E}">
        <p14:creationId xmlns:p14="http://schemas.microsoft.com/office/powerpoint/2010/main" val="3854641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0" dirty="0">
                <a:cs typeface="Arial" charset="0"/>
              </a:rPr>
              <a:t>Binary search tree is </a:t>
            </a:r>
            <a:r>
              <a:rPr lang="en-US" altLang="en-US" sz="1200" b="1" dirty="0">
                <a:cs typeface="Arial" charset="0"/>
              </a:rPr>
              <a:t>ordered</a:t>
            </a:r>
          </a:p>
        </p:txBody>
      </p:sp>
    </p:spTree>
    <p:extLst>
      <p:ext uri="{BB962C8B-B14F-4D97-AF65-F5344CB8AC3E}">
        <p14:creationId xmlns:p14="http://schemas.microsoft.com/office/powerpoint/2010/main" val="2727952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3log</a:t>
            </a:r>
            <a:r>
              <a:rPr lang="en-AU" baseline="-25000" dirty="0"/>
              <a:t>2</a:t>
            </a:r>
            <a:r>
              <a:rPr lang="en-AU" dirty="0"/>
              <a:t>​n. This approximation considers that the tree remains relatively balanced over random insertions and deletions, even if it is not perfectly balanced.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31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baseline="0" dirty="0">
                <a:latin typeface="TimesTen-Roman"/>
              </a:rPr>
              <a:t>More precisely, the number of key comparisons needed for a search in a binary search tree built from </a:t>
            </a:r>
            <a:r>
              <a:rPr lang="en-US" sz="1200" b="0" i="1" u="none" strike="noStrike" baseline="0" dirty="0">
                <a:latin typeface="MTMI"/>
              </a:rPr>
              <a:t>n </a:t>
            </a:r>
            <a:r>
              <a:rPr lang="en-US" sz="1200" b="0" i="0" u="none" strike="noStrike" baseline="0" dirty="0">
                <a:latin typeface="TimesTen-Roman"/>
              </a:rPr>
              <a:t>random keys is about 2ln </a:t>
            </a:r>
            <a:r>
              <a:rPr lang="en-US" sz="1200" b="0" i="1" u="none" strike="noStrike" baseline="0" dirty="0">
                <a:latin typeface="MTMI"/>
              </a:rPr>
              <a:t>n </a:t>
            </a:r>
            <a:r>
              <a:rPr lang="en-US" sz="1200" b="0" i="0" u="none" strike="noStrike" baseline="0" dirty="0">
                <a:latin typeface="MTSYN"/>
              </a:rPr>
              <a:t>≈ </a:t>
            </a:r>
            <a:r>
              <a:rPr lang="en-US" sz="1200" b="0" i="0" u="none" strike="noStrike" baseline="0" dirty="0">
                <a:latin typeface="TimesTen-Roman"/>
              </a:rPr>
              <a:t>1</a:t>
            </a:r>
            <a:r>
              <a:rPr lang="en-US" sz="1200" b="0" i="1" u="none" strike="noStrike" baseline="0" dirty="0">
                <a:latin typeface="MTMI"/>
              </a:rPr>
              <a:t>.</a:t>
            </a:r>
            <a:r>
              <a:rPr lang="en-US" sz="1200" b="0" i="0" u="none" strike="noStrike" baseline="0" dirty="0">
                <a:latin typeface="TimesTen-Roman"/>
              </a:rPr>
              <a:t>39 log</a:t>
            </a:r>
            <a:r>
              <a:rPr lang="en-US" sz="1200" b="0" i="0" u="none" strike="noStrike" baseline="-25000" dirty="0">
                <a:latin typeface="TimesTen-Roman"/>
              </a:rPr>
              <a:t>2</a:t>
            </a:r>
            <a:r>
              <a:rPr lang="en-US" sz="1200" b="0" i="0" u="none" strike="noStrike" baseline="0" dirty="0">
                <a:latin typeface="TimesTen-Roman"/>
              </a:rPr>
              <a:t> </a:t>
            </a:r>
            <a:r>
              <a:rPr lang="en-US" sz="1200" b="0" i="1" u="none" strike="noStrike" baseline="0" dirty="0">
                <a:latin typeface="MTMI"/>
              </a:rPr>
              <a:t>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0759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153565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AVL trees were named after their inventors, Adelson-</a:t>
            </a:r>
            <a:r>
              <a:rPr lang="en-US" altLang="en-US" dirty="0" err="1"/>
              <a:t>Velskii</a:t>
            </a:r>
            <a:r>
              <a:rPr lang="en-US" altLang="en-US" dirty="0"/>
              <a:t> and Landis.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747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964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6279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2920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7591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3241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132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821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1568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1527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8091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These drawbacks have prevented AVL trees from becoming the standard structure for implementing dictionaries.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en-US" sz="1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+mn-ea"/>
                <a:sym typeface="Symbol" panose="05050102010706020507" pitchFamily="18" charset="2"/>
              </a:rPr>
              <a:t>N(h-1) + N(h-2)  N(h)</a:t>
            </a:r>
          </a:p>
        </p:txBody>
      </p:sp>
    </p:spTree>
    <p:extLst>
      <p:ext uri="{BB962C8B-B14F-4D97-AF65-F5344CB8AC3E}">
        <p14:creationId xmlns:p14="http://schemas.microsoft.com/office/powerpoint/2010/main" val="38129400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7472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1800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4106756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in both the worst and average cases</a:t>
            </a:r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33413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>
            <a:lvl1pPr>
              <a:defRPr sz="4000" b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75513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19200"/>
          </a:xfrm>
        </p:spPr>
        <p:txBody>
          <a:bodyPr/>
          <a:lstStyle>
            <a:lvl1pPr>
              <a:defRPr sz="3600" b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5262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48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8576"/>
            <a:ext cx="12192000" cy="1247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1202"/>
            <a:ext cx="5384800" cy="3916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2"/>
            <a:ext cx="5384800" cy="3916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8265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8576"/>
            <a:ext cx="12192000" cy="1247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1999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96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7856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8576"/>
            <a:ext cx="12192000" cy="1247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61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90602"/>
            <a:ext cx="2743200" cy="4906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90602"/>
            <a:ext cx="8026400" cy="4906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20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90600"/>
            <a:ext cx="109728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1202"/>
            <a:ext cx="5384800" cy="391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1"/>
            <a:ext cx="5384800" cy="188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14790"/>
            <a:ext cx="5384800" cy="1882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825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90600"/>
            <a:ext cx="109728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2"/>
            <a:ext cx="5384800" cy="391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6197600" y="1981202"/>
            <a:ext cx="5384800" cy="3916363"/>
          </a:xfrm>
        </p:spPr>
        <p:txBody>
          <a:bodyPr/>
          <a:lstStyle/>
          <a:p>
            <a:pPr lvl="0"/>
            <a:r>
              <a:rPr lang="en-US" noProof="0"/>
              <a:t>Click icon to add media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61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990602"/>
            <a:ext cx="10972800" cy="4906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595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A585E1-CF01-406D-858C-101913AACD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2728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BED28-CF36-4AE1-B3BC-441DDA300B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8390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AB5C3-E46F-47EA-B2C7-0537058F2B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15900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11607-FEDE-4B3C-B093-8F69E31FE0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591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3879A-5510-441C-AF5A-BB7EDDA569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30370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A0A3C-4E93-4AE8-9691-5880DE9519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6478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190B27-A95E-4E85-A968-48FC38C18B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96243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B2C8D-9373-4A5C-966D-3D5A3E53D1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9022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5217E3-9142-477F-B01F-5956A03AE7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8520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2FD06C-BD9A-4128-BB6C-2F9A3DB4FA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43557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FAFB62-30DA-4A3E-98AA-4C489BA2EE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6583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95400"/>
            <a:ext cx="10972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8575"/>
            <a:ext cx="12192000" cy="9906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92" r:id="rId1"/>
    <p:sldLayoutId id="2147484393" r:id="rId2"/>
    <p:sldLayoutId id="2147484373" r:id="rId3"/>
    <p:sldLayoutId id="2147484374" r:id="rId4"/>
    <p:sldLayoutId id="2147484394" r:id="rId5"/>
    <p:sldLayoutId id="2147484395" r:id="rId6"/>
    <p:sldLayoutId id="2147484396" r:id="rId7"/>
    <p:sldLayoutId id="2147484397" r:id="rId8"/>
    <p:sldLayoutId id="2147484375" r:id="rId9"/>
    <p:sldLayoutId id="2147484376" r:id="rId10"/>
    <p:sldLayoutId id="2147484377" r:id="rId11"/>
    <p:sldLayoutId id="2147484378" r:id="rId12"/>
    <p:sldLayoutId id="2147484379" r:id="rId13"/>
    <p:sldLayoutId id="2147484380" r:id="rId14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ＭＳ Ｐゴシック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17"/>
        </a:buBlip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SzPct val="65000"/>
        <a:buBlip>
          <a:blip r:embed="rId18"/>
        </a:buBlip>
        <a:defRPr sz="2800">
          <a:solidFill>
            <a:srgbClr val="000050"/>
          </a:solidFill>
          <a:latin typeface="+mn-lt"/>
          <a:ea typeface="ＭＳ Ｐゴシック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65000"/>
        <a:buBlip>
          <a:blip r:embed="rId19"/>
        </a:buBlip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BFDEB6E-1DDE-4718-956D-E92CB94A55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81" r:id="rId1"/>
    <p:sldLayoutId id="2147484382" r:id="rId2"/>
    <p:sldLayoutId id="2147484383" r:id="rId3"/>
    <p:sldLayoutId id="2147484384" r:id="rId4"/>
    <p:sldLayoutId id="2147484385" r:id="rId5"/>
    <p:sldLayoutId id="2147484386" r:id="rId6"/>
    <p:sldLayoutId id="2147484387" r:id="rId7"/>
    <p:sldLayoutId id="2147484388" r:id="rId8"/>
    <p:sldLayoutId id="2147484389" r:id="rId9"/>
    <p:sldLayoutId id="2147484390" r:id="rId10"/>
    <p:sldLayoutId id="214748439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Topic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CC"/>
                </a:solidFill>
              </a:rPr>
              <a:t>Transform and Conquer</a:t>
            </a:r>
          </a:p>
          <a:p>
            <a:r>
              <a:rPr lang="en-US" b="1" dirty="0">
                <a:solidFill>
                  <a:srgbClr val="00B050"/>
                </a:solidFill>
                <a:latin typeface="Agency FB" panose="020B0503020202020204" pitchFamily="34" charset="0"/>
              </a:rPr>
              <a:t>Prof. Hanan Elazhary</a:t>
            </a:r>
          </a:p>
          <a:p>
            <a:endParaRPr lang="en-US" b="1" dirty="0">
              <a:solidFill>
                <a:srgbClr val="0000CC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1DDC7D-9AC9-1A5F-C492-B67EF3D30262}"/>
              </a:ext>
            </a:extLst>
          </p:cNvPr>
          <p:cNvSpPr txBox="1"/>
          <p:nvPr/>
        </p:nvSpPr>
        <p:spPr>
          <a:xfrm>
            <a:off x="2819400" y="6410980"/>
            <a:ext cx="9387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Main source: </a:t>
            </a:r>
            <a:r>
              <a:rPr lang="en-US" sz="1200" dirty="0"/>
              <a:t>A. Levitin, Introduction to the Design and Analysis of Algorithms, 3</a:t>
            </a:r>
            <a:r>
              <a:rPr lang="en-US" sz="1200" baseline="30000" dirty="0"/>
              <a:t>rd</a:t>
            </a:r>
            <a:r>
              <a:rPr lang="en-US" sz="1200" dirty="0"/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val="314059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4000" b="1" dirty="0">
                <a:solidFill>
                  <a:srgbClr val="FF0000"/>
                </a:solidFill>
              </a:rPr>
              <a:t>Transform and Conquer</a:t>
            </a:r>
            <a:endParaRPr sz="4000" b="1" spc="-18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algn="r"/>
            <a:fld id="{C65781BD-3F4D-4CA7-A858-CE94DEA3B426}" type="slidenum">
              <a:rPr lang="en-US" smtClean="0"/>
              <a:pPr algn="r"/>
              <a:t>2</a:t>
            </a:fld>
            <a:endParaRPr lang="en-US"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286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FF6600"/>
              </a:buClr>
              <a:tabLst>
                <a:tab pos="465671" algn="l"/>
              </a:tabLst>
            </a:pPr>
            <a:r>
              <a:rPr lang="en-US" sz="2800" dirty="0">
                <a:cs typeface="Arial" charset="0"/>
              </a:rPr>
              <a:t>This algorithm design strategy solves a problem by a transformation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</a:pPr>
            <a:r>
              <a:rPr lang="en-US" sz="2400" dirty="0">
                <a:cs typeface="Arial" charset="0"/>
              </a:rPr>
              <a:t>to a simpler/more convenient instance of the same  problem (</a:t>
            </a:r>
            <a:r>
              <a:rPr lang="en-US" sz="2400" b="1" dirty="0">
                <a:solidFill>
                  <a:srgbClr val="7030A0"/>
                </a:solidFill>
                <a:cs typeface="Arial" charset="0"/>
              </a:rPr>
              <a:t>instance simplification</a:t>
            </a:r>
            <a:r>
              <a:rPr lang="en-US" sz="2400" dirty="0">
                <a:cs typeface="Arial" charset="0"/>
              </a:rPr>
              <a:t>) – </a:t>
            </a:r>
            <a:r>
              <a:rPr lang="en-US" sz="2400" b="1" dirty="0">
                <a:solidFill>
                  <a:srgbClr val="7030A0"/>
                </a:solidFill>
                <a:cs typeface="Arial" charset="0"/>
              </a:rPr>
              <a:t>presorting</a:t>
            </a:r>
            <a:r>
              <a:rPr lang="en-US" sz="2400" dirty="0">
                <a:cs typeface="Arial" charset="0"/>
              </a:rPr>
              <a:t> and </a:t>
            </a:r>
            <a:r>
              <a:rPr lang="en-US" sz="2400" b="1" dirty="0">
                <a:solidFill>
                  <a:srgbClr val="7030A0"/>
                </a:solidFill>
                <a:cs typeface="Arial" charset="0"/>
              </a:rPr>
              <a:t>balanced search trees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</a:pPr>
            <a:r>
              <a:rPr lang="en-US" sz="2400" dirty="0">
                <a:cs typeface="Arial" charset="0"/>
              </a:rPr>
              <a:t>to a different representation of the same instance (</a:t>
            </a:r>
            <a:r>
              <a:rPr lang="en-US" sz="2400" b="1" dirty="0">
                <a:solidFill>
                  <a:srgbClr val="00B050"/>
                </a:solidFill>
                <a:cs typeface="Arial" charset="0"/>
              </a:rPr>
              <a:t>representation change</a:t>
            </a:r>
            <a:r>
              <a:rPr lang="en-US" sz="2400" dirty="0">
                <a:cs typeface="Arial" charset="0"/>
              </a:rPr>
              <a:t>)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</a:pPr>
            <a:r>
              <a:rPr lang="en-US" sz="2400" dirty="0">
                <a:cs typeface="Arial" charset="0"/>
              </a:rPr>
              <a:t>to a different problem for which an algorithm is already available (</a:t>
            </a:r>
            <a:r>
              <a:rPr lang="en-US" sz="2400" b="1" dirty="0">
                <a:solidFill>
                  <a:srgbClr val="00B050"/>
                </a:solidFill>
                <a:cs typeface="Arial" charset="0"/>
              </a:rPr>
              <a:t>problem reduction</a:t>
            </a:r>
            <a:r>
              <a:rPr lang="en-US" sz="2400" dirty="0">
                <a:cs typeface="Arial" charset="0"/>
              </a:rPr>
              <a:t>) </a:t>
            </a:r>
            <a:br>
              <a:rPr lang="en-US" sz="2400" dirty="0">
                <a:cs typeface="Arial" charset="0"/>
              </a:rPr>
            </a:br>
            <a:endParaRPr lang="en-US" sz="2400" dirty="0">
              <a:cs typeface="Arial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F39C14-6E2E-DD79-3271-07DE32B959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806006"/>
            <a:ext cx="66675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0046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5ADBABA-AD23-4E8E-ACD7-D9C2BBCED4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Presorting</a:t>
            </a:r>
          </a:p>
        </p:txBody>
      </p:sp>
    </p:spTree>
    <p:extLst>
      <p:ext uri="{BB962C8B-B14F-4D97-AF65-F5344CB8AC3E}">
        <p14:creationId xmlns:p14="http://schemas.microsoft.com/office/powerpoint/2010/main" val="229881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4000" b="1" dirty="0">
                <a:solidFill>
                  <a:srgbClr val="FF0000"/>
                </a:solidFill>
              </a:rPr>
              <a:t>Presorting</a:t>
            </a:r>
            <a:endParaRPr sz="4000" b="1" spc="-18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algn="r"/>
            <a:fld id="{C65781BD-3F4D-4CA7-A858-CE94DEA3B426}" type="slidenum">
              <a:rPr lang="en-US" smtClean="0"/>
              <a:pPr algn="r"/>
              <a:t>4</a:t>
            </a:fld>
            <a:endParaRPr lang="en-US"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353800" cy="5155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</a:pPr>
            <a:r>
              <a:rPr lang="en-US" sz="2800" dirty="0">
                <a:cs typeface="Arial" charset="0"/>
              </a:rPr>
              <a:t>This is an example of </a:t>
            </a:r>
            <a:r>
              <a:rPr lang="en-US" sz="2800" b="1" dirty="0">
                <a:solidFill>
                  <a:srgbClr val="7030A0"/>
                </a:solidFill>
                <a:cs typeface="Arial" charset="0"/>
              </a:rPr>
              <a:t>instance simplification</a:t>
            </a:r>
          </a:p>
          <a:p>
            <a:pPr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</a:pPr>
            <a:endParaRPr lang="en-US" sz="800" b="1" dirty="0">
              <a:cs typeface="Arial" charset="0"/>
            </a:endParaRPr>
          </a:p>
          <a:p>
            <a:pPr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</a:pPr>
            <a:r>
              <a:rPr lang="en-US" sz="2800" dirty="0">
                <a:cs typeface="Arial" charset="0"/>
              </a:rPr>
              <a:t>Many problems involving lists are easier when the list is sorted</a:t>
            </a: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</a:pPr>
            <a:r>
              <a:rPr lang="en-US" sz="2400" dirty="0">
                <a:cs typeface="Arial" charset="0"/>
              </a:rPr>
              <a:t>computing the </a:t>
            </a:r>
            <a:r>
              <a:rPr lang="en-US" sz="2400" b="1" u="sng" dirty="0">
                <a:solidFill>
                  <a:srgbClr val="7030A0"/>
                </a:solidFill>
                <a:cs typeface="Arial" charset="0"/>
              </a:rPr>
              <a:t>median</a:t>
            </a:r>
            <a:r>
              <a:rPr lang="en-US" sz="2400" dirty="0">
                <a:cs typeface="Arial" charset="0"/>
              </a:rPr>
              <a:t> (selection problem, </a:t>
            </a:r>
            <a:r>
              <a:rPr lang="en-US" sz="1800" dirty="0">
                <a:cs typeface="Arial" charset="0"/>
              </a:rPr>
              <a:t>which is that of</a:t>
            </a:r>
            <a:r>
              <a:rPr lang="en-US" sz="2400" dirty="0">
                <a:cs typeface="Arial" charset="0"/>
              </a:rPr>
              <a:t> </a:t>
            </a:r>
            <a:r>
              <a:rPr lang="en-US" sz="1800" dirty="0">
                <a:cs typeface="Arial" charset="0"/>
              </a:rPr>
              <a:t>finding the k</a:t>
            </a:r>
            <a:r>
              <a:rPr lang="en-US" sz="1800" baseline="30000" dirty="0">
                <a:cs typeface="Arial" charset="0"/>
              </a:rPr>
              <a:t>th</a:t>
            </a:r>
            <a:r>
              <a:rPr lang="en-US" sz="1800" dirty="0">
                <a:cs typeface="Arial" charset="0"/>
              </a:rPr>
              <a:t> smallest element in a list of n numbers</a:t>
            </a:r>
            <a:r>
              <a:rPr lang="en-US" sz="2400" dirty="0">
                <a:cs typeface="Arial" charset="0"/>
              </a:rPr>
              <a:t>)</a:t>
            </a: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</a:pPr>
            <a:r>
              <a:rPr lang="en-US" sz="2400" dirty="0">
                <a:cs typeface="Arial" charset="0"/>
              </a:rPr>
              <a:t>computing the mode</a:t>
            </a: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</a:pPr>
            <a:r>
              <a:rPr lang="en-US" sz="2400" b="1" dirty="0">
                <a:solidFill>
                  <a:srgbClr val="7030A0"/>
                </a:solidFill>
                <a:cs typeface="Arial" charset="0"/>
              </a:rPr>
              <a:t>searching</a:t>
            </a: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</a:pPr>
            <a:r>
              <a:rPr lang="en-US" sz="2400" dirty="0">
                <a:cs typeface="Arial" charset="0"/>
              </a:rPr>
              <a:t>checking if all elements are distinct (element </a:t>
            </a:r>
            <a:r>
              <a:rPr lang="en-US" sz="2400" b="1" dirty="0">
                <a:solidFill>
                  <a:srgbClr val="7030A0"/>
                </a:solidFill>
                <a:cs typeface="Arial" charset="0"/>
              </a:rPr>
              <a:t>uniqueness</a:t>
            </a:r>
            <a:r>
              <a:rPr lang="en-US" sz="2400" dirty="0">
                <a:cs typeface="Arial" charset="0"/>
              </a:rPr>
              <a:t>)</a:t>
            </a:r>
          </a:p>
          <a:p>
            <a:pPr marL="457200" lvl="1" indent="0">
              <a:spcBef>
                <a:spcPts val="0"/>
              </a:spcBef>
              <a:buClr>
                <a:srgbClr val="FF6600"/>
              </a:buClr>
              <a:buNone/>
              <a:tabLst>
                <a:tab pos="465671" algn="l"/>
              </a:tabLst>
            </a:pPr>
            <a:endParaRPr lang="en-US" sz="800" dirty="0">
              <a:cs typeface="Arial" charset="0"/>
            </a:endParaRPr>
          </a:p>
          <a:p>
            <a:pPr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</a:pPr>
            <a:endParaRPr lang="en-US" sz="100" dirty="0">
              <a:cs typeface="Arial" charset="0"/>
            </a:endParaRPr>
          </a:p>
          <a:p>
            <a:pPr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</a:pPr>
            <a:r>
              <a:rPr lang="en-US" sz="2800" dirty="0">
                <a:cs typeface="Arial" charset="0"/>
              </a:rPr>
              <a:t>Additionally,</a:t>
            </a: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</a:pPr>
            <a:r>
              <a:rPr lang="en-US" sz="2400" dirty="0">
                <a:cs typeface="Arial" charset="0"/>
              </a:rPr>
              <a:t>Topological sorting helps solve some problems for directed acyclic graphs (DAGs)</a:t>
            </a: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</a:pPr>
            <a:r>
              <a:rPr lang="en-US" sz="2400" dirty="0">
                <a:cs typeface="Arial" charset="0"/>
              </a:rPr>
              <a:t>Presorting is used in many geometric algorithms </a:t>
            </a:r>
            <a:r>
              <a:rPr lang="en-US" sz="1800" dirty="0">
                <a:cs typeface="Arial" charset="0"/>
              </a:rPr>
              <a:t>(that deal with geometric objects such as points, lines, and polygons)</a:t>
            </a: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</a:pPr>
            <a:r>
              <a:rPr lang="en-US" sz="2400" dirty="0">
                <a:cs typeface="Arial" charset="0"/>
              </a:rPr>
              <a:t>Presorting is a special case of </a:t>
            </a:r>
            <a:r>
              <a:rPr lang="en-US" sz="2400" b="1" u="sng" dirty="0">
                <a:solidFill>
                  <a:srgbClr val="7030A0"/>
                </a:solidFill>
                <a:cs typeface="Arial" charset="0"/>
              </a:rPr>
              <a:t>preprocessing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D29526-7FC5-1882-33EF-012F6D2975F8}"/>
              </a:ext>
            </a:extLst>
          </p:cNvPr>
          <p:cNvSpPr txBox="1"/>
          <p:nvPr/>
        </p:nvSpPr>
        <p:spPr>
          <a:xfrm>
            <a:off x="10363200" y="2667000"/>
            <a:ext cx="1371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With a pre-sorted array, the median can be conducted with efficiency O(1)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34269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4000" b="1" dirty="0">
                <a:solidFill>
                  <a:srgbClr val="0070C0"/>
                </a:solidFill>
              </a:rPr>
              <a:t>Presorting, Contd.</a:t>
            </a:r>
            <a:endParaRPr sz="40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algn="r"/>
            <a:fld id="{C65781BD-3F4D-4CA7-A858-CE94DEA3B426}" type="slidenum">
              <a:rPr lang="en-US" smtClean="0"/>
              <a:pPr algn="r"/>
              <a:t>5</a:t>
            </a:fld>
            <a:endParaRPr lang="en-US"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353800" cy="3570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</a:pPr>
            <a:r>
              <a:rPr lang="en-US" sz="2800" dirty="0">
                <a:cs typeface="Arial" charset="0"/>
              </a:rPr>
              <a:t>How fast can we sort?</a:t>
            </a: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</a:pPr>
            <a:r>
              <a:rPr lang="en-US" altLang="en-US" sz="2400" dirty="0"/>
              <a:t>Efficiency of algorithms involving sorting depends on efficiency of sorting</a:t>
            </a:r>
          </a:p>
          <a:p>
            <a:pPr marL="290513" indent="-290513">
              <a:buNone/>
              <a:defRPr/>
            </a:pPr>
            <a:endParaRPr lang="en-US" altLang="en-US" sz="2000" dirty="0"/>
          </a:p>
          <a:p>
            <a:pPr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b="1" u="sng" dirty="0">
                <a:cs typeface="Arial" charset="0"/>
              </a:rPr>
              <a:t>Theorem</a:t>
            </a:r>
            <a:r>
              <a:rPr lang="en-US" altLang="en-US" sz="2800" dirty="0">
                <a:cs typeface="Arial" charset="0"/>
              </a:rPr>
              <a:t> </a:t>
            </a:r>
            <a:r>
              <a:rPr lang="en-US" altLang="en-US" sz="1800" dirty="0">
                <a:cs typeface="Arial" charset="0"/>
              </a:rPr>
              <a:t>(</a:t>
            </a:r>
            <a:r>
              <a:rPr lang="en-US" altLang="en-US" sz="1800" dirty="0"/>
              <a:t>see Sec. 11.2</a:t>
            </a:r>
            <a:r>
              <a:rPr lang="en-US" altLang="en-US" sz="1800" dirty="0">
                <a:cs typeface="Arial" charset="0"/>
              </a:rPr>
              <a:t>)</a:t>
            </a: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</a:t>
            </a:r>
            <a:r>
              <a:rPr lang="en-US" altLang="en-US" sz="2400" dirty="0"/>
              <a:t>log</a:t>
            </a:r>
            <a:r>
              <a:rPr lang="en-US" altLang="en-US" sz="2400" baseline="-25000" dirty="0"/>
              <a:t>2 </a:t>
            </a:r>
            <a:r>
              <a:rPr lang="en-US" altLang="en-US" sz="2400" i="1" dirty="0"/>
              <a:t>n</a:t>
            </a:r>
            <a:r>
              <a:rPr lang="en-US" altLang="en-US" sz="2400" dirty="0"/>
              <a:t>!</a:t>
            </a:r>
            <a:r>
              <a:rPr lang="en-US" altLang="en-US" sz="2400" dirty="0">
                <a:sym typeface="Symbol" panose="05050102010706020507" pitchFamily="18" charset="2"/>
              </a:rPr>
              <a:t>  </a:t>
            </a:r>
            <a:r>
              <a:rPr lang="en-US" altLang="en-US" sz="2400" b="1" i="1" dirty="0">
                <a:solidFill>
                  <a:srgbClr val="7030A0"/>
                </a:solidFill>
                <a:sym typeface="Symbol" panose="05050102010706020507" pitchFamily="18" charset="2"/>
              </a:rPr>
              <a:t>n </a:t>
            </a:r>
            <a:r>
              <a:rPr lang="en-US" altLang="en-US" sz="2400" b="1" dirty="0">
                <a:solidFill>
                  <a:srgbClr val="7030A0"/>
                </a:solidFill>
              </a:rPr>
              <a:t>log</a:t>
            </a:r>
            <a:r>
              <a:rPr lang="en-US" altLang="en-US" sz="2400" b="1" baseline="-25000" dirty="0">
                <a:solidFill>
                  <a:srgbClr val="7030A0"/>
                </a:solidFill>
              </a:rPr>
              <a:t>2 </a:t>
            </a:r>
            <a:r>
              <a:rPr lang="en-US" altLang="en-US" sz="2400" b="1" i="1" dirty="0">
                <a:solidFill>
                  <a:srgbClr val="7030A0"/>
                </a:solidFill>
              </a:rPr>
              <a:t>n  </a:t>
            </a:r>
            <a:r>
              <a:rPr lang="en-US" altLang="en-US" sz="2400" b="1" dirty="0">
                <a:solidFill>
                  <a:srgbClr val="7030A0"/>
                </a:solidFill>
              </a:rPr>
              <a:t>comparisons</a:t>
            </a:r>
            <a:r>
              <a:rPr lang="en-US" altLang="en-US" sz="2400" dirty="0"/>
              <a:t> are necessary </a:t>
            </a:r>
            <a:r>
              <a:rPr lang="en-US" altLang="en-US" sz="2400" b="1" dirty="0">
                <a:solidFill>
                  <a:srgbClr val="7030A0"/>
                </a:solidFill>
              </a:rPr>
              <a:t>in the worst case </a:t>
            </a:r>
            <a:r>
              <a:rPr lang="en-US" altLang="en-US" sz="2400" dirty="0"/>
              <a:t>to sort a list of size </a:t>
            </a:r>
            <a:r>
              <a:rPr lang="en-US" altLang="en-US" sz="2400" i="1" dirty="0"/>
              <a:t>n</a:t>
            </a:r>
            <a:r>
              <a:rPr lang="en-US" altLang="en-US" sz="2400" dirty="0"/>
              <a:t> by </a:t>
            </a:r>
            <a:r>
              <a:rPr lang="en-US" altLang="en-US" sz="2400" u="sng" dirty="0"/>
              <a:t>any</a:t>
            </a:r>
            <a:r>
              <a:rPr lang="en-US" altLang="en-US" sz="2400" dirty="0"/>
              <a:t> comparison-based algorithm</a:t>
            </a: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/>
          </a:p>
          <a:p>
            <a:pPr marL="342900" lvl="1" indent="-342900">
              <a:spcBef>
                <a:spcPts val="0"/>
              </a:spcBef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  <a:defRPr/>
            </a:pPr>
            <a:r>
              <a:rPr lang="en-US" altLang="en-US" dirty="0">
                <a:solidFill>
                  <a:schemeClr val="tx1"/>
                </a:solidFill>
                <a:cs typeface="Arial" charset="0"/>
                <a:sym typeface="Symbol" panose="05050102010706020507" pitchFamily="18" charset="2"/>
              </a:rPr>
              <a:t>About </a:t>
            </a:r>
            <a:r>
              <a:rPr lang="en-US" altLang="en-US" sz="2800" i="1" dirty="0">
                <a:solidFill>
                  <a:schemeClr val="tx1"/>
                </a:solidFill>
                <a:sym typeface="Symbol" panose="05050102010706020507" pitchFamily="18" charset="2"/>
              </a:rPr>
              <a:t>n </a:t>
            </a:r>
            <a:r>
              <a:rPr lang="en-US" altLang="en-US" sz="2800" dirty="0">
                <a:solidFill>
                  <a:schemeClr val="tx1"/>
                </a:solidFill>
              </a:rPr>
              <a:t>log</a:t>
            </a:r>
            <a:r>
              <a:rPr lang="en-US" altLang="en-US" sz="2800" baseline="-25000" dirty="0">
                <a:solidFill>
                  <a:schemeClr val="tx1"/>
                </a:solidFill>
              </a:rPr>
              <a:t>2 </a:t>
            </a:r>
            <a:r>
              <a:rPr lang="en-US" altLang="en-US" sz="2800" i="1" dirty="0">
                <a:solidFill>
                  <a:schemeClr val="tx1"/>
                </a:solidFill>
              </a:rPr>
              <a:t>n  </a:t>
            </a:r>
            <a:r>
              <a:rPr lang="en-US" altLang="en-US" sz="2800" dirty="0">
                <a:solidFill>
                  <a:schemeClr val="tx1"/>
                </a:solidFill>
              </a:rPr>
              <a:t>comparisons</a:t>
            </a:r>
            <a:r>
              <a:rPr lang="en-US" altLang="en-US" dirty="0">
                <a:solidFill>
                  <a:schemeClr val="tx1"/>
                </a:solidFill>
                <a:cs typeface="Arial" charset="0"/>
                <a:sym typeface="Symbol" panose="05050102010706020507" pitchFamily="18" charset="2"/>
              </a:rPr>
              <a:t> </a:t>
            </a:r>
            <a:r>
              <a:rPr lang="en-US" altLang="en-US" dirty="0">
                <a:solidFill>
                  <a:schemeClr val="tx1"/>
                </a:solidFill>
                <a:cs typeface="Arial" charset="0"/>
              </a:rPr>
              <a:t>are also sufficient to sort array of size n by mergesort</a:t>
            </a:r>
          </a:p>
        </p:txBody>
      </p:sp>
    </p:spTree>
    <p:extLst>
      <p:ext uri="{BB962C8B-B14F-4D97-AF65-F5344CB8AC3E}">
        <p14:creationId xmlns:p14="http://schemas.microsoft.com/office/powerpoint/2010/main" val="1629895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B050"/>
                </a:solidFill>
              </a:rPr>
              <a:t>Example 1: Searching with Presorting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985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Problem: Search for a given key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array A[0..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-1] </a:t>
            </a:r>
          </a:p>
          <a:p>
            <a:pPr marR="0" lvl="0" defTabSz="914400" latinLnBrk="0">
              <a:lnSpc>
                <a:spcPct val="100000"/>
              </a:lnSpc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Presorting-based algorithm</a:t>
            </a: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Stage 1: Sort the array by an efficient sorting algorithm </a:t>
            </a:r>
            <a:r>
              <a:rPr lang="en-US" altLang="en-US" sz="1800" dirty="0">
                <a:cs typeface="Arial" charset="0"/>
              </a:rPr>
              <a:t>(e.g., mergesort)</a:t>
            </a: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Stage 2: Apply binary search </a:t>
            </a:r>
            <a:r>
              <a:rPr lang="en-US" altLang="en-US" sz="1800" dirty="0">
                <a:cs typeface="Arial" charset="0"/>
              </a:rPr>
              <a:t>(considered best searching algorithm)</a:t>
            </a:r>
            <a:endParaRPr lang="en-US" altLang="en-US" sz="24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Efficiency </a:t>
            </a:r>
            <a:r>
              <a:rPr lang="en-US" altLang="en-US" sz="2000" dirty="0">
                <a:cs typeface="Arial" charset="0"/>
              </a:rPr>
              <a:t>(assuming most efficient sort)</a:t>
            </a:r>
            <a:endParaRPr lang="en-US" altLang="en-US" sz="2800" dirty="0">
              <a:cs typeface="Arial" charset="0"/>
            </a:endParaRP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Θ(log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Θ(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worst case </a:t>
            </a: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O(log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Θ(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generally</a:t>
            </a:r>
          </a:p>
          <a:p>
            <a:pPr marL="0" marR="0" lvl="0" indent="0" defTabSz="914400" latinLnBrk="0">
              <a:lnSpc>
                <a:spcPct val="100000"/>
              </a:lnSpc>
              <a:spcBef>
                <a:spcPts val="0"/>
              </a:spcBef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Good or bad?</a:t>
            </a: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Why do we have our dictionaries, telephone directories, etc. sorted?</a:t>
            </a:r>
            <a:br>
              <a:rPr lang="en-US" altLang="en-US" sz="2400" dirty="0">
                <a:cs typeface="Arial" charset="0"/>
              </a:rPr>
            </a:br>
            <a:endParaRPr lang="en-US" altLang="en-US" sz="2800" dirty="0"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DD1C3-49E7-1DD3-C872-2B6A8DC27B7C}"/>
              </a:ext>
            </a:extLst>
          </p:cNvPr>
          <p:cNvSpPr txBox="1"/>
          <p:nvPr/>
        </p:nvSpPr>
        <p:spPr>
          <a:xfrm>
            <a:off x="8001000" y="3499993"/>
            <a:ext cx="2987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Open Sans" panose="020B0606030504020204" pitchFamily="34" charset="0"/>
              </a:rPr>
              <a:t>w</a:t>
            </a:r>
            <a:r>
              <a:rPr lang="en-US" b="1" i="0" dirty="0">
                <a:solidFill>
                  <a:srgbClr val="7030A0"/>
                </a:solidFill>
                <a:effectLst/>
                <a:latin typeface="Open Sans" panose="020B0606030504020204" pitchFamily="34" charset="0"/>
              </a:rPr>
              <a:t>ith an already pre-sorted array, the search can be conducted with efficiency O(log </a:t>
            </a:r>
            <a:r>
              <a:rPr lang="en-US" b="1" i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i="0" dirty="0">
                <a:solidFill>
                  <a:srgbClr val="7030A0"/>
                </a:solidFill>
                <a:effectLst/>
                <a:latin typeface="Open Sans" panose="020B0606030504020204" pitchFamily="34" charset="0"/>
              </a:rPr>
              <a:t>)</a:t>
            </a:r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171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b="1" dirty="0">
                <a:solidFill>
                  <a:srgbClr val="00B050"/>
                </a:solidFill>
              </a:rPr>
              <a:t>Example 2: Element Uniqueness with Presorting</a:t>
            </a:r>
            <a:endParaRPr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5109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Problem: whether all elements of an array of size n are unique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800" dirty="0">
              <a:cs typeface="Arial" charset="0"/>
            </a:endParaRPr>
          </a:p>
          <a:p>
            <a:pPr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Presorting-based algorithm</a:t>
            </a: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Stage 1: Sort the array by an efficient sorting algorithm </a:t>
            </a:r>
            <a:r>
              <a:rPr lang="en-US" altLang="en-US" sz="1800" dirty="0">
                <a:cs typeface="Arial" charset="0"/>
              </a:rPr>
              <a:t>(e.g., mergesort)</a:t>
            </a: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Stage 2: Scan the array to check pairs of adjacent elements</a:t>
            </a:r>
          </a:p>
          <a:p>
            <a:pPr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Efficiency </a:t>
            </a:r>
            <a:r>
              <a:rPr lang="en-US" altLang="en-US" sz="2000" dirty="0">
                <a:cs typeface="Arial" charset="0"/>
              </a:rPr>
              <a:t>(assuming most efficient sort)</a:t>
            </a:r>
            <a:endParaRPr lang="en-US" altLang="en-US" sz="2800" dirty="0">
              <a:cs typeface="Arial" charset="0"/>
            </a:endParaRP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Θ(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Θ(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worst case </a:t>
            </a:r>
          </a:p>
          <a:p>
            <a:pPr lvl="1"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O(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Θ(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generally</a:t>
            </a:r>
          </a:p>
          <a:p>
            <a:pPr marL="457200" lvl="1" indent="0">
              <a:spcBef>
                <a:spcPts val="0"/>
              </a:spcBef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Remember that in Brute force algorithm, we compare all pairs of elements, and the efficiency is in O(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baseline="30000" dirty="0">
                <a:cs typeface="Arial" charset="0"/>
              </a:rPr>
              <a:t>2</a:t>
            </a:r>
            <a:r>
              <a:rPr lang="en-US" altLang="en-US" sz="2800" dirty="0">
                <a:cs typeface="Arial" charset="0"/>
              </a:rPr>
              <a:t>) </a:t>
            </a:r>
          </a:p>
          <a:p>
            <a:pPr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800" dirty="0">
              <a:cs typeface="Arial" charset="0"/>
            </a:endParaRPr>
          </a:p>
          <a:p>
            <a:pPr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Another algorithm?  Hashing, which works well on average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806654-639F-C461-4676-130271C97F13}"/>
              </a:ext>
            </a:extLst>
          </p:cNvPr>
          <p:cNvSpPr txBox="1"/>
          <p:nvPr/>
        </p:nvSpPr>
        <p:spPr>
          <a:xfrm>
            <a:off x="7391400" y="3429000"/>
            <a:ext cx="3533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Open Sans" panose="020B0606030504020204" pitchFamily="34" charset="0"/>
              </a:rPr>
              <a:t>w</a:t>
            </a:r>
            <a:r>
              <a:rPr lang="en-US" b="1" i="0" dirty="0">
                <a:solidFill>
                  <a:srgbClr val="7030A0"/>
                </a:solidFill>
                <a:effectLst/>
                <a:latin typeface="Open Sans" panose="020B0606030504020204" pitchFamily="34" charset="0"/>
              </a:rPr>
              <a:t>ith an already pre-sorted array, the element uniqueness problem can be solved with efficiency O(</a:t>
            </a:r>
            <a:r>
              <a:rPr lang="en-US" b="1" i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i="0" dirty="0">
                <a:solidFill>
                  <a:srgbClr val="7030A0"/>
                </a:solidFill>
                <a:effectLst/>
                <a:latin typeface="Open Sans" panose="020B0606030504020204" pitchFamily="34" charset="0"/>
              </a:rPr>
              <a:t>)</a:t>
            </a:r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817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5ADBABA-AD23-4E8E-ACD7-D9C2BBCED4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>
                <a:solidFill>
                  <a:srgbClr val="FF0000"/>
                </a:solidFill>
                <a:latin typeface="Arial"/>
              </a:rPr>
              <a:t>Searching</a:t>
            </a:r>
            <a:endParaRPr kumimoji="0" lang="en-US" sz="7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239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FF0000"/>
                </a:solidFill>
              </a:rPr>
              <a:t>Searching</a:t>
            </a:r>
            <a:endParaRPr sz="3800" b="1" spc="-18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487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altLang="en-US" sz="2800" b="1" dirty="0">
                <a:solidFill>
                  <a:srgbClr val="000000"/>
                </a:solidFill>
                <a:latin typeface="Arial"/>
              </a:rPr>
              <a:t>Problem: </a:t>
            </a:r>
            <a:r>
              <a:rPr lang="en-US" altLang="en-US" sz="2800" dirty="0">
                <a:solidFill>
                  <a:srgbClr val="000000"/>
                </a:solidFill>
                <a:latin typeface="Arial"/>
              </a:rPr>
              <a:t>Given a set S of keys and a search key K, find an occurrence of K in S, if any</a:t>
            </a:r>
            <a:br>
              <a:rPr lang="en-US" altLang="en-US" sz="2800" dirty="0">
                <a:solidFill>
                  <a:srgbClr val="000000"/>
                </a:solidFill>
                <a:latin typeface="Arial"/>
              </a:rPr>
            </a:br>
            <a:endParaRPr lang="en-US" altLang="en-US" sz="1200" dirty="0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r>
              <a:rPr lang="en-US" altLang="en-US" sz="2800" dirty="0">
                <a:solidFill>
                  <a:srgbClr val="000000"/>
                </a:solidFill>
                <a:latin typeface="Arial"/>
              </a:rPr>
              <a:t>Searching must be considered in the context of</a:t>
            </a:r>
          </a:p>
          <a:p>
            <a:pPr lvl="1"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File size (internal vs. external)</a:t>
            </a:r>
          </a:p>
          <a:p>
            <a:pPr lvl="1"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dynamics of data (static vs. dynamic)</a:t>
            </a:r>
          </a:p>
          <a:p>
            <a:pPr>
              <a:defRPr/>
            </a:pPr>
            <a:endParaRPr lang="en-US" altLang="en-US" sz="1200" dirty="0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r>
              <a:rPr lang="en-US" altLang="en-US" sz="2800" dirty="0">
                <a:solidFill>
                  <a:srgbClr val="000000"/>
                </a:solidFill>
                <a:latin typeface="Arial"/>
              </a:rPr>
              <a:t>Dictionary </a:t>
            </a:r>
            <a:r>
              <a:rPr lang="en-US" altLang="en-US" sz="2000" dirty="0">
                <a:solidFill>
                  <a:srgbClr val="000000"/>
                </a:solidFill>
                <a:latin typeface="Arial"/>
              </a:rPr>
              <a:t>(dynamic data) </a:t>
            </a:r>
            <a:r>
              <a:rPr lang="en-US" altLang="en-US" sz="2800" dirty="0">
                <a:solidFill>
                  <a:srgbClr val="000000"/>
                </a:solidFill>
                <a:latin typeface="Arial"/>
              </a:rPr>
              <a:t>operations</a:t>
            </a:r>
            <a:endParaRPr lang="en-US" altLang="en-US" sz="20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find (search)</a:t>
            </a:r>
          </a:p>
          <a:p>
            <a:pPr lvl="1"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insert</a:t>
            </a:r>
          </a:p>
          <a:p>
            <a:pPr lvl="1"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3942601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Searching,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5010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+mn-cs"/>
              </a:rPr>
              <a:t>Taxonomy of searching algorithms</a:t>
            </a:r>
          </a:p>
          <a:p>
            <a:pPr lvl="1">
              <a:defRPr/>
            </a:pPr>
            <a:r>
              <a:rPr lang="en-US" altLang="en-US" sz="2400" dirty="0">
                <a:cs typeface="Arial" charset="0"/>
              </a:rPr>
              <a:t>List searching (good for static data)</a:t>
            </a:r>
          </a:p>
          <a:p>
            <a:pPr lvl="2">
              <a:defRPr/>
            </a:pPr>
            <a:r>
              <a:rPr lang="en-US" altLang="en-US" sz="2000" dirty="0">
                <a:cs typeface="Arial" charset="0"/>
              </a:rPr>
              <a:t>sequential search</a:t>
            </a:r>
          </a:p>
          <a:p>
            <a:pPr lvl="2">
              <a:defRPr/>
            </a:pPr>
            <a:r>
              <a:rPr lang="en-US" altLang="en-US" sz="2000" dirty="0">
                <a:cs typeface="Arial" charset="0"/>
              </a:rPr>
              <a:t>binary search</a:t>
            </a:r>
          </a:p>
          <a:p>
            <a:pPr lvl="2">
              <a:defRPr/>
            </a:pPr>
            <a:r>
              <a:rPr lang="en-US" altLang="en-US" sz="2000" dirty="0">
                <a:cs typeface="Arial" charset="0"/>
              </a:rPr>
              <a:t>interpolation search</a:t>
            </a:r>
          </a:p>
          <a:p>
            <a:pPr lvl="1">
              <a:defRPr/>
            </a:pPr>
            <a:endParaRPr lang="en-US" altLang="en-US" sz="800" dirty="0">
              <a:cs typeface="Arial" charset="0"/>
            </a:endParaRPr>
          </a:p>
          <a:p>
            <a:pPr lvl="1">
              <a:defRPr/>
            </a:pPr>
            <a:r>
              <a:rPr lang="en-US" altLang="en-US" sz="2400" dirty="0">
                <a:cs typeface="Arial" charset="0"/>
              </a:rPr>
              <a:t>Tree searching (good for dynamic data)</a:t>
            </a:r>
          </a:p>
          <a:p>
            <a:pPr lvl="2">
              <a:defRPr/>
            </a:pPr>
            <a:r>
              <a:rPr lang="en-US" altLang="en-US" sz="2000" b="1" dirty="0">
                <a:solidFill>
                  <a:srgbClr val="7030A0"/>
                </a:solidFill>
                <a:cs typeface="Arial" charset="0"/>
              </a:rPr>
              <a:t>binary search trees</a:t>
            </a:r>
          </a:p>
          <a:p>
            <a:pPr lvl="2">
              <a:defRPr/>
            </a:pPr>
            <a:r>
              <a:rPr lang="en-US" altLang="en-US" sz="2000" b="1" dirty="0">
                <a:solidFill>
                  <a:srgbClr val="7030A0"/>
                </a:solidFill>
                <a:cs typeface="Arial" charset="0"/>
              </a:rPr>
              <a:t>binary balanced search trees</a:t>
            </a:r>
            <a:r>
              <a:rPr lang="en-US" altLang="en-US" sz="2000" dirty="0">
                <a:cs typeface="Arial" charset="0"/>
              </a:rPr>
              <a:t>: </a:t>
            </a:r>
            <a:r>
              <a:rPr lang="en-US" altLang="en-US" sz="2000" b="1" u="sng" dirty="0">
                <a:solidFill>
                  <a:srgbClr val="7030A0"/>
                </a:solidFill>
                <a:cs typeface="Arial" charset="0"/>
              </a:rPr>
              <a:t>AVL trees</a:t>
            </a:r>
            <a:r>
              <a:rPr lang="en-US" altLang="en-US" sz="2000" dirty="0">
                <a:cs typeface="Arial" charset="0"/>
              </a:rPr>
              <a:t>, red-black trees</a:t>
            </a:r>
          </a:p>
          <a:p>
            <a:pPr lvl="2">
              <a:defRPr/>
            </a:pPr>
            <a:r>
              <a:rPr lang="en-US" altLang="en-US" sz="2000" b="1" dirty="0">
                <a:solidFill>
                  <a:srgbClr val="7030A0"/>
                </a:solidFill>
                <a:cs typeface="Arial" charset="0"/>
              </a:rPr>
              <a:t>multiway balanced search trees</a:t>
            </a:r>
            <a:r>
              <a:rPr lang="en-US" altLang="en-US" sz="2000" dirty="0">
                <a:cs typeface="Arial" charset="0"/>
              </a:rPr>
              <a:t>: </a:t>
            </a:r>
            <a:r>
              <a:rPr lang="en-US" altLang="en-US" sz="2000" b="1" u="sng" dirty="0">
                <a:solidFill>
                  <a:srgbClr val="7030A0"/>
                </a:solidFill>
                <a:cs typeface="Arial" charset="0"/>
              </a:rPr>
              <a:t>2-3 trees</a:t>
            </a:r>
            <a:r>
              <a:rPr lang="en-US" altLang="en-US" sz="2000" dirty="0">
                <a:cs typeface="Arial" charset="0"/>
              </a:rPr>
              <a:t>, 2-3-4 trees, B-trees</a:t>
            </a:r>
          </a:p>
          <a:p>
            <a:pPr lvl="1">
              <a:defRPr/>
            </a:pPr>
            <a:endParaRPr lang="en-US" altLang="en-US" sz="800" dirty="0">
              <a:cs typeface="Arial" charset="0"/>
            </a:endParaRPr>
          </a:p>
          <a:p>
            <a:pPr lvl="1">
              <a:defRPr/>
            </a:pP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Hashing</a:t>
            </a:r>
            <a:r>
              <a:rPr lang="en-US" altLang="en-US" sz="2400" dirty="0">
                <a:cs typeface="Arial" charset="0"/>
              </a:rPr>
              <a:t> (good on average case) </a:t>
            </a:r>
            <a:endParaRPr lang="en-US" altLang="en-US" sz="1800" dirty="0">
              <a:cs typeface="Arial" charset="0"/>
            </a:endParaRPr>
          </a:p>
          <a:p>
            <a:pPr lvl="2">
              <a:defRPr/>
            </a:pPr>
            <a:r>
              <a:rPr lang="en-US" altLang="en-US" sz="2000" dirty="0">
                <a:cs typeface="Arial" charset="0"/>
              </a:rPr>
              <a:t>open hashing (separate chaining)</a:t>
            </a:r>
          </a:p>
          <a:p>
            <a:pPr lvl="2">
              <a:defRPr/>
            </a:pPr>
            <a:r>
              <a:rPr lang="en-US" altLang="en-US" sz="2000" dirty="0">
                <a:cs typeface="Arial" charset="0"/>
              </a:rPr>
              <a:t>closed hashing (open addressing)</a:t>
            </a:r>
          </a:p>
        </p:txBody>
      </p:sp>
    </p:spTree>
    <p:extLst>
      <p:ext uri="{BB962C8B-B14F-4D97-AF65-F5344CB8AC3E}">
        <p14:creationId xmlns:p14="http://schemas.microsoft.com/office/powerpoint/2010/main" val="2451066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FF0000"/>
                </a:solidFill>
              </a:rPr>
              <a:t>Binary Search Tree</a:t>
            </a:r>
            <a:endParaRPr sz="3800" b="1" spc="-18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5306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Tx/>
              <a:tabLst/>
              <a:defRPr/>
            </a:pPr>
            <a:r>
              <a:rPr lang="en-US" altLang="en-US" sz="2800" dirty="0">
                <a:solidFill>
                  <a:srgbClr val="000000"/>
                </a:solidFill>
                <a:latin typeface="Arial"/>
              </a:rPr>
              <a:t>Binary search tree</a:t>
            </a:r>
          </a:p>
          <a:p>
            <a:pPr lvl="1"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a number assigned to any vertex is </a:t>
            </a:r>
          </a:p>
          <a:p>
            <a:pPr lvl="1"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larger than all the numbers in its left subtree and </a:t>
            </a:r>
          </a:p>
          <a:p>
            <a:pPr lvl="1"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smaller than all the numbers in its right subtree</a:t>
            </a:r>
          </a:p>
          <a:p>
            <a:pPr lvl="1">
              <a:defRPr/>
            </a:pPr>
            <a:endParaRPr lang="en-US" altLang="en-US" sz="24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endParaRPr lang="en-US" altLang="en-US" sz="24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endParaRPr lang="en-US" altLang="en-US" sz="24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endParaRPr lang="en-US" altLang="en-US" sz="24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endParaRPr lang="en-US" altLang="en-US" sz="24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endParaRPr lang="en-US" altLang="en-US" sz="24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endParaRPr lang="en-US" altLang="en-US" sz="14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1800" dirty="0">
                <a:solidFill>
                  <a:schemeClr val="tx1"/>
                </a:solidFill>
                <a:cs typeface="Arial" charset="0"/>
              </a:rPr>
              <a:t>left subtree, root, right subtree</a:t>
            </a:r>
            <a:r>
              <a:rPr lang="en-US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en-US" altLang="en-US" sz="2400" dirty="0">
                <a:cs typeface="Times New Roman" panose="02020603050405020304" pitchFamily="18" charset="0"/>
              </a:rPr>
              <a:t> traversal produces sorted list</a:t>
            </a:r>
            <a:endParaRPr lang="en-US" altLang="en-US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428034A1-9ED2-1E9C-DA30-E4936D560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4853" y="5294393"/>
            <a:ext cx="411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</a:rPr>
              <a:t>Example: </a:t>
            </a:r>
            <a:r>
              <a:rPr lang="en-US" altLang="en-US" sz="2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</a:rPr>
              <a:t>5</a:t>
            </a:r>
            <a:r>
              <a:rPr lang="en-US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</a:rPr>
              <a:t>, 3, 1, 10, 12, 7, 9</a:t>
            </a:r>
            <a:endParaRPr lang="en-US" altLang="en-US" sz="2400" dirty="0">
              <a:solidFill>
                <a:srgbClr val="00B050"/>
              </a:solidFill>
              <a:latin typeface="Times New Roman" panose="02020603050405020304" pitchFamily="18" charset="0"/>
              <a:ea typeface="+mn-ea"/>
            </a:endParaRPr>
          </a:p>
        </p:txBody>
      </p:sp>
      <p:grpSp>
        <p:nvGrpSpPr>
          <p:cNvPr id="14" name="Group 37">
            <a:extLst>
              <a:ext uri="{FF2B5EF4-FFF2-40B4-BE49-F238E27FC236}">
                <a16:creationId xmlns:a16="http://schemas.microsoft.com/office/drawing/2014/main" id="{8E1E7332-7579-EA46-C48B-0962EABFB032}"/>
              </a:ext>
            </a:extLst>
          </p:cNvPr>
          <p:cNvGrpSpPr>
            <a:grpSpLocks/>
          </p:cNvGrpSpPr>
          <p:nvPr/>
        </p:nvGrpSpPr>
        <p:grpSpPr bwMode="auto">
          <a:xfrm>
            <a:off x="3398904" y="3299014"/>
            <a:ext cx="2590800" cy="1905000"/>
            <a:chOff x="3936" y="2448"/>
            <a:chExt cx="1728" cy="139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3B58ED8-0566-18BA-4FD0-C0EC90FE8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448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>
                  <a:solidFill>
                    <a:srgbClr val="001932"/>
                  </a:solidFill>
                  <a:ea typeface="+mn-ea"/>
                </a:rPr>
                <a:t>5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C791889-ABE9-EE0B-3371-D8FCAA3DB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880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>
                  <a:solidFill>
                    <a:srgbClr val="001932"/>
                  </a:solidFill>
                  <a:ea typeface="+mn-ea"/>
                </a:rPr>
                <a:t>3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535C4F3-DED7-4D71-9F7E-31F57D85A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2880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>
                  <a:solidFill>
                    <a:srgbClr val="001932"/>
                  </a:solidFill>
                  <a:ea typeface="+mn-ea"/>
                </a:rPr>
                <a:t>10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B635219-7DDA-E2CB-C45A-7A8C5DC5D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264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>
                  <a:solidFill>
                    <a:srgbClr val="001932"/>
                  </a:solidFill>
                  <a:ea typeface="+mn-ea"/>
                </a:rPr>
                <a:t>1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FC2FDAC-73BD-FEC1-D0E9-BB5FA0CE2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4" y="3264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>
                  <a:solidFill>
                    <a:srgbClr val="001932"/>
                  </a:solidFill>
                  <a:ea typeface="+mn-ea"/>
                </a:rPr>
                <a:t>12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4AEB481-F177-5C33-4FE9-0A1D83CF3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600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>
                  <a:solidFill>
                    <a:srgbClr val="001932"/>
                  </a:solidFill>
                  <a:ea typeface="+mn-ea"/>
                </a:rPr>
                <a:t>9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DCA5A50-E1A2-1E51-F41E-5656BD9E8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3264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>
                  <a:solidFill>
                    <a:srgbClr val="001932"/>
                  </a:solidFill>
                  <a:ea typeface="+mn-ea"/>
                </a:rPr>
                <a:t>7</a:t>
              </a:r>
            </a:p>
          </p:txBody>
        </p:sp>
        <p:cxnSp>
          <p:nvCxnSpPr>
            <p:cNvPr id="22" name="AutoShape 29">
              <a:extLst>
                <a:ext uri="{FF2B5EF4-FFF2-40B4-BE49-F238E27FC236}">
                  <a16:creationId xmlns:a16="http://schemas.microsoft.com/office/drawing/2014/main" id="{C0DC748C-0B82-21C3-8E7C-4A44D2003CB8}"/>
                </a:ext>
              </a:extLst>
            </p:cNvPr>
            <p:cNvCxnSpPr>
              <a:cxnSpLocks noChangeShapeType="1"/>
              <a:stCxn id="15" idx="3"/>
              <a:endCxn id="16" idx="7"/>
            </p:cNvCxnSpPr>
            <p:nvPr/>
          </p:nvCxnSpPr>
          <p:spPr bwMode="auto">
            <a:xfrm flipH="1">
              <a:off x="4381" y="2653"/>
              <a:ext cx="214" cy="262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AutoShape 32">
              <a:extLst>
                <a:ext uri="{FF2B5EF4-FFF2-40B4-BE49-F238E27FC236}">
                  <a16:creationId xmlns:a16="http://schemas.microsoft.com/office/drawing/2014/main" id="{1E2A856D-6A69-103A-C4DB-D496C9CFB0DA}"/>
                </a:ext>
              </a:extLst>
            </p:cNvPr>
            <p:cNvCxnSpPr>
              <a:cxnSpLocks noChangeShapeType="1"/>
              <a:stCxn id="16" idx="3"/>
              <a:endCxn id="18" idx="7"/>
            </p:cNvCxnSpPr>
            <p:nvPr/>
          </p:nvCxnSpPr>
          <p:spPr bwMode="auto">
            <a:xfrm flipH="1">
              <a:off x="4141" y="3085"/>
              <a:ext cx="70" cy="214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AutoShape 33">
              <a:extLst>
                <a:ext uri="{FF2B5EF4-FFF2-40B4-BE49-F238E27FC236}">
                  <a16:creationId xmlns:a16="http://schemas.microsoft.com/office/drawing/2014/main" id="{8FEC5A89-BF82-D684-A263-2DF439CC87DC}"/>
                </a:ext>
              </a:extLst>
            </p:cNvPr>
            <p:cNvCxnSpPr>
              <a:cxnSpLocks noChangeShapeType="1"/>
              <a:stCxn id="15" idx="5"/>
              <a:endCxn id="17" idx="1"/>
            </p:cNvCxnSpPr>
            <p:nvPr/>
          </p:nvCxnSpPr>
          <p:spPr bwMode="auto">
            <a:xfrm>
              <a:off x="4765" y="2653"/>
              <a:ext cx="406" cy="262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AutoShape 34">
              <a:extLst>
                <a:ext uri="{FF2B5EF4-FFF2-40B4-BE49-F238E27FC236}">
                  <a16:creationId xmlns:a16="http://schemas.microsoft.com/office/drawing/2014/main" id="{E39D4A0C-D9D9-9696-DECB-3779B1C62D17}"/>
                </a:ext>
              </a:extLst>
            </p:cNvPr>
            <p:cNvCxnSpPr>
              <a:cxnSpLocks noChangeShapeType="1"/>
              <a:stCxn id="17" idx="3"/>
              <a:endCxn id="21" idx="7"/>
            </p:cNvCxnSpPr>
            <p:nvPr/>
          </p:nvCxnSpPr>
          <p:spPr bwMode="auto">
            <a:xfrm flipH="1">
              <a:off x="4957" y="3085"/>
              <a:ext cx="214" cy="214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AutoShape 35">
              <a:extLst>
                <a:ext uri="{FF2B5EF4-FFF2-40B4-BE49-F238E27FC236}">
                  <a16:creationId xmlns:a16="http://schemas.microsoft.com/office/drawing/2014/main" id="{C237392C-19F5-897D-EE35-3D5A7ACCF799}"/>
                </a:ext>
              </a:extLst>
            </p:cNvPr>
            <p:cNvCxnSpPr>
              <a:cxnSpLocks noChangeShapeType="1"/>
              <a:stCxn id="21" idx="5"/>
              <a:endCxn id="20" idx="0"/>
            </p:cNvCxnSpPr>
            <p:nvPr/>
          </p:nvCxnSpPr>
          <p:spPr bwMode="auto">
            <a:xfrm>
              <a:off x="4957" y="3469"/>
              <a:ext cx="107" cy="131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AutoShape 36">
              <a:extLst>
                <a:ext uri="{FF2B5EF4-FFF2-40B4-BE49-F238E27FC236}">
                  <a16:creationId xmlns:a16="http://schemas.microsoft.com/office/drawing/2014/main" id="{10FC446A-CAF9-3C69-98A9-327BF57F8874}"/>
                </a:ext>
              </a:extLst>
            </p:cNvPr>
            <p:cNvCxnSpPr>
              <a:cxnSpLocks noChangeShapeType="1"/>
              <a:stCxn id="17" idx="5"/>
              <a:endCxn id="19" idx="0"/>
            </p:cNvCxnSpPr>
            <p:nvPr/>
          </p:nvCxnSpPr>
          <p:spPr bwMode="auto">
            <a:xfrm>
              <a:off x="5341" y="3085"/>
              <a:ext cx="203" cy="179"/>
            </a:xfrm>
            <a:prstGeom prst="straightConnector1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560274F-6F23-5D02-2126-B358A6C230B8}"/>
              </a:ext>
            </a:extLst>
          </p:cNvPr>
          <p:cNvSpPr txBox="1"/>
          <p:nvPr/>
        </p:nvSpPr>
        <p:spPr>
          <a:xfrm>
            <a:off x="8095809" y="4652590"/>
            <a:ext cx="3791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binary search tree property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E972C06-538E-6A4D-012C-8E36E6F9121B}"/>
              </a:ext>
            </a:extLst>
          </p:cNvPr>
          <p:cNvGrpSpPr/>
          <p:nvPr/>
        </p:nvGrpSpPr>
        <p:grpSpPr>
          <a:xfrm>
            <a:off x="8422745" y="1586761"/>
            <a:ext cx="2289175" cy="2832839"/>
            <a:chOff x="8422745" y="1586761"/>
            <a:chExt cx="2289175" cy="2832839"/>
          </a:xfrm>
        </p:grpSpPr>
        <p:sp>
          <p:nvSpPr>
            <p:cNvPr id="4" name="Line 5">
              <a:extLst>
                <a:ext uri="{FF2B5EF4-FFF2-40B4-BE49-F238E27FC236}">
                  <a16:creationId xmlns:a16="http://schemas.microsoft.com/office/drawing/2014/main" id="{B3D16ADA-4EF2-3DFF-2C9B-98D949DEB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94344" y="2196361"/>
              <a:ext cx="425450" cy="8382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sz="240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5" name="Line 6">
              <a:extLst>
                <a:ext uri="{FF2B5EF4-FFF2-40B4-BE49-F238E27FC236}">
                  <a16:creationId xmlns:a16="http://schemas.microsoft.com/office/drawing/2014/main" id="{CA005AAF-6AAE-320B-9A05-C5F9DC6CFA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915399" y="2196360"/>
              <a:ext cx="609068" cy="85164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sz="240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57822307-CD8E-996C-AE07-467C43B878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02055" y="1586761"/>
              <a:ext cx="1847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endParaRPr kumimoji="0" lang="en-US" altLang="en-US" sz="1800" b="0">
                <a:solidFill>
                  <a:srgbClr val="FFFFFF"/>
                </a:solidFill>
                <a:ea typeface="+mn-ea"/>
              </a:endParaRP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FB10DC84-180D-BAB4-F1C4-DAB5EAF0E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02055" y="3339361"/>
              <a:ext cx="1847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endParaRPr kumimoji="0" lang="en-US" altLang="en-US" sz="1800" b="0">
                <a:solidFill>
                  <a:srgbClr val="FFFFFF"/>
                </a:solidFill>
                <a:ea typeface="+mn-ea"/>
              </a:endParaRP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232C3F31-20B7-7177-4897-D8ED980051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73455" y="2196361"/>
              <a:ext cx="1847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endParaRPr kumimoji="0" lang="en-US" altLang="en-US" sz="1800" b="0">
                <a:solidFill>
                  <a:srgbClr val="FFFFFF"/>
                </a:solidFill>
                <a:ea typeface="+mn-ea"/>
              </a:endParaRPr>
            </a:p>
          </p:txBody>
        </p:sp>
        <p:sp>
          <p:nvSpPr>
            <p:cNvPr id="11" name="AutoShape 10">
              <a:extLst>
                <a:ext uri="{FF2B5EF4-FFF2-40B4-BE49-F238E27FC236}">
                  <a16:creationId xmlns:a16="http://schemas.microsoft.com/office/drawing/2014/main" id="{60F197BE-157A-E60E-5736-A20CC1E82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745" y="3048000"/>
              <a:ext cx="993775" cy="13716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 dirty="0">
                  <a:solidFill>
                    <a:srgbClr val="001932"/>
                  </a:solidFill>
                  <a:ea typeface="+mn-ea"/>
                </a:rPr>
                <a:t>&lt;</a:t>
              </a:r>
              <a:r>
                <a:rPr kumimoji="0" lang="en-US" altLang="en-US" b="0" i="1" dirty="0">
                  <a:solidFill>
                    <a:srgbClr val="001932"/>
                  </a:solidFill>
                  <a:ea typeface="+mn-ea"/>
                </a:rPr>
                <a:t>K</a:t>
              </a:r>
              <a:endParaRPr kumimoji="0" lang="en-US" altLang="en-US" b="0" dirty="0">
                <a:solidFill>
                  <a:srgbClr val="001932"/>
                </a:solidFill>
                <a:ea typeface="+mn-ea"/>
              </a:endParaRPr>
            </a:p>
          </p:txBody>
        </p:sp>
        <p:sp>
          <p:nvSpPr>
            <p:cNvPr id="12" name="AutoShape 11">
              <a:extLst>
                <a:ext uri="{FF2B5EF4-FFF2-40B4-BE49-F238E27FC236}">
                  <a16:creationId xmlns:a16="http://schemas.microsoft.com/office/drawing/2014/main" id="{4A30B354-CA40-9869-1DB8-9A96C7C3B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8145" y="3034561"/>
              <a:ext cx="993775" cy="13716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>
                  <a:solidFill>
                    <a:srgbClr val="001932"/>
                  </a:solidFill>
                  <a:ea typeface="+mn-ea"/>
                </a:rPr>
                <a:t>&gt;</a:t>
              </a:r>
              <a:r>
                <a:rPr kumimoji="0" lang="en-US" altLang="en-US" b="0" i="1">
                  <a:solidFill>
                    <a:srgbClr val="001932"/>
                  </a:solidFill>
                  <a:ea typeface="+mn-ea"/>
                </a:rPr>
                <a:t>K</a:t>
              </a:r>
              <a:endParaRPr kumimoji="0" lang="en-US" altLang="en-US" b="0">
                <a:solidFill>
                  <a:srgbClr val="001932"/>
                </a:solidFill>
                <a:ea typeface="+mn-ea"/>
              </a:endParaRPr>
            </a:p>
          </p:txBody>
        </p:sp>
        <p:sp>
          <p:nvSpPr>
            <p:cNvPr id="2" name="Oval 4">
              <a:extLst>
                <a:ext uri="{FF2B5EF4-FFF2-40B4-BE49-F238E27FC236}">
                  <a16:creationId xmlns:a16="http://schemas.microsoft.com/office/drawing/2014/main" id="{B5167D2A-0FD6-DC4E-8390-A219B408E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3344" y="1752600"/>
              <a:ext cx="496888" cy="5334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 i="1" dirty="0">
                  <a:solidFill>
                    <a:srgbClr val="001932"/>
                  </a:solidFill>
                  <a:ea typeface="+mn-ea"/>
                </a:rPr>
                <a:t>K</a:t>
              </a:r>
              <a:endParaRPr kumimoji="0" lang="en-US" altLang="en-US" b="0" dirty="0">
                <a:solidFill>
                  <a:srgbClr val="001932"/>
                </a:solidFill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90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Binary Search Tree, Contd.</a:t>
            </a:r>
            <a:endParaRPr sz="3800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3090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Tx/>
              <a:tabLst/>
              <a:defRPr/>
            </a:pPr>
            <a:r>
              <a:rPr lang="en-US" altLang="en-US" sz="2800" dirty="0">
                <a:solidFill>
                  <a:srgbClr val="000000"/>
                </a:solidFill>
                <a:latin typeface="Arial"/>
              </a:rPr>
              <a:t>It can be proved that the height of a binary search tree is as follows</a:t>
            </a:r>
          </a:p>
          <a:p>
            <a:pPr lvl="1">
              <a:defRPr/>
            </a:pPr>
            <a:endParaRPr lang="en-US" altLang="en-US" sz="24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endParaRPr lang="en-US" altLang="en-US" sz="24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based on whether the tree is balanced or unbalanced</a:t>
            </a:r>
          </a:p>
          <a:p>
            <a:pPr lvl="1"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and the height  average (random files) is about 3 </a:t>
            </a:r>
            <a:r>
              <a:rPr lang="en-US" altLang="en-US" sz="2400" dirty="0"/>
              <a:t>log</a:t>
            </a:r>
            <a:r>
              <a:rPr lang="en-US" altLang="en-US" sz="2400" baseline="-25000" dirty="0"/>
              <a:t>2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endParaRPr lang="en-US" altLang="en-US" sz="24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endParaRPr lang="en-US" altLang="en-US" sz="24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4B91297-95A2-34F5-C578-AAF1D0EBB3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800" y="1752600"/>
            <a:ext cx="3217570" cy="661988"/>
          </a:xfrm>
          <a:prstGeom prst="rect">
            <a:avLst/>
          </a:prstGeom>
        </p:spPr>
      </p:pic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10CF8861-11FD-CB0F-73EB-306595759C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112169"/>
              </p:ext>
            </p:extLst>
          </p:nvPr>
        </p:nvGraphicFramePr>
        <p:xfrm>
          <a:off x="5867400" y="3810000"/>
          <a:ext cx="4962525" cy="234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7" imgW="4962600" imgH="2343240" progId="Paint.Picture">
                  <p:embed/>
                </p:oleObj>
              </mc:Choice>
              <mc:Fallback>
                <p:oleObj name="Bitmap Image" r:id="rId7" imgW="4962600" imgH="23432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67400" y="3810000"/>
                        <a:ext cx="4962525" cy="2343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1411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Binary Search Tree, Contd.</a:t>
            </a:r>
            <a:endParaRPr sz="3800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71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Tx/>
              <a:tabLst/>
              <a:defRPr/>
            </a:pPr>
            <a:r>
              <a:rPr lang="en-US" altLang="en-US" sz="2800" dirty="0">
                <a:solidFill>
                  <a:srgbClr val="000000"/>
                </a:solidFill>
                <a:latin typeface="Arial"/>
              </a:rPr>
              <a:t>The basic operations are</a:t>
            </a:r>
            <a:endParaRPr lang="en-US" altLang="en-US" sz="24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Searching – </a:t>
            </a:r>
            <a:r>
              <a:rPr lang="en-US" altLang="en-US" sz="2400" dirty="0"/>
              <a:t>straightforward </a:t>
            </a:r>
            <a:r>
              <a:rPr lang="en-US" altLang="en-US" sz="1800" dirty="0"/>
              <a:t>(recursively)</a:t>
            </a:r>
          </a:p>
          <a:p>
            <a:pPr lvl="1"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Insertion – </a:t>
            </a:r>
            <a:r>
              <a:rPr lang="en-US" altLang="en-US" sz="2400" b="1" dirty="0">
                <a:solidFill>
                  <a:srgbClr val="7030A0"/>
                </a:solidFill>
              </a:rPr>
              <a:t>search</a:t>
            </a:r>
            <a:r>
              <a:rPr lang="en-US" altLang="en-US" sz="2400" dirty="0"/>
              <a:t> for key, insert at </a:t>
            </a:r>
            <a:r>
              <a:rPr lang="en-US" altLang="en-US" sz="2400" u="sng" dirty="0"/>
              <a:t>leaf</a:t>
            </a:r>
            <a:r>
              <a:rPr lang="en-US" altLang="en-US" sz="2400" dirty="0"/>
              <a:t> where search terminated</a:t>
            </a:r>
            <a:endParaRPr lang="en-US" altLang="en-US" sz="24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Deletion </a:t>
            </a:r>
            <a:r>
              <a:rPr lang="en-US" altLang="en-US" sz="1800" dirty="0">
                <a:solidFill>
                  <a:srgbClr val="000000"/>
                </a:solidFill>
                <a:latin typeface="Arial"/>
              </a:rPr>
              <a:t>(3 cases)</a:t>
            </a:r>
            <a:endParaRPr lang="en-US" altLang="en-US" sz="2400" dirty="0">
              <a:solidFill>
                <a:srgbClr val="000000"/>
              </a:solidFill>
              <a:latin typeface="Arial"/>
            </a:endParaRPr>
          </a:p>
          <a:p>
            <a:pPr lvl="2">
              <a:defRPr/>
            </a:pPr>
            <a:r>
              <a:rPr lang="en-US" altLang="en-US" sz="2200" dirty="0"/>
              <a:t>deleting key at a leaf</a:t>
            </a:r>
          </a:p>
          <a:p>
            <a:pPr lvl="2">
              <a:defRPr/>
            </a:pPr>
            <a:r>
              <a:rPr lang="en-US" altLang="en-US" sz="2200" dirty="0"/>
              <a:t>deleting key at node with single child</a:t>
            </a:r>
          </a:p>
          <a:p>
            <a:pPr lvl="2">
              <a:defRPr/>
            </a:pPr>
            <a:r>
              <a:rPr lang="en-US" altLang="en-US" sz="2200" dirty="0"/>
              <a:t>deleting key at node with two children</a:t>
            </a:r>
          </a:p>
          <a:p>
            <a:pPr lvl="1">
              <a:defRPr/>
            </a:pPr>
            <a:endParaRPr lang="en-US" altLang="en-US" sz="1800" dirty="0">
              <a:solidFill>
                <a:srgbClr val="000000"/>
              </a:solidFill>
              <a:latin typeface="Arial"/>
            </a:endParaRPr>
          </a:p>
          <a:p>
            <a:pPr marR="0" lvl="0" defTabSz="914400" latinLnBrk="0">
              <a:lnSpc>
                <a:spcPct val="100000"/>
              </a:lnSpc>
              <a:buClrTx/>
              <a:tabLst/>
              <a:defRPr/>
            </a:pPr>
            <a:r>
              <a:rPr lang="en-US" altLang="en-US" sz="2800" dirty="0">
                <a:solidFill>
                  <a:srgbClr val="000000"/>
                </a:solidFill>
                <a:latin typeface="Arial"/>
              </a:rPr>
              <a:t>The three operations depend on the tree height</a:t>
            </a:r>
          </a:p>
          <a:p>
            <a:pPr lvl="1"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worst case efficiency </a:t>
            </a:r>
            <a:r>
              <a:rPr lang="el-GR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sz="2400" dirty="0"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) </a:t>
            </a: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 lvl="1"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average case efficiency </a:t>
            </a:r>
            <a:r>
              <a:rPr lang="el-GR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sz="2400" dirty="0">
                <a:cs typeface="Times New Roman" panose="02020603050405020304" pitchFamily="18" charset="0"/>
              </a:rPr>
              <a:t>(log </a:t>
            </a:r>
            <a:r>
              <a:rPr lang="en-US" altLang="en-US" sz="2400" i="1" dirty="0"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)</a:t>
            </a:r>
            <a:endParaRPr lang="en-US" altLang="en-US" sz="2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3924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Binary Search Tree, Contd.</a:t>
            </a:r>
            <a:endParaRPr sz="3800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5096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Tx/>
              <a:tabLst/>
              <a:defRPr/>
            </a:pPr>
            <a:r>
              <a:rPr lang="en-US" altLang="en-US" sz="2800" dirty="0">
                <a:solidFill>
                  <a:srgbClr val="000000"/>
                </a:solidFill>
                <a:latin typeface="Arial"/>
              </a:rPr>
              <a:t>Attractiveness of binary search tree is marred by the bad (linear) worst-case efficiency</a:t>
            </a:r>
          </a:p>
          <a:p>
            <a:pPr>
              <a:spcBef>
                <a:spcPts val="0"/>
              </a:spcBef>
              <a:buClr>
                <a:srgbClr val="FF6600"/>
              </a:buClr>
              <a:tabLst>
                <a:tab pos="465671" algn="l"/>
              </a:tabLst>
            </a:pPr>
            <a:r>
              <a:rPr lang="en-US" altLang="en-US" sz="2800" dirty="0">
                <a:solidFill>
                  <a:srgbClr val="000000"/>
                </a:solidFill>
                <a:latin typeface="Arial"/>
              </a:rPr>
              <a:t>Two ideas to overcome it are as follows</a:t>
            </a:r>
          </a:p>
          <a:p>
            <a:pPr lvl="1">
              <a:defRPr/>
            </a:pPr>
            <a:r>
              <a:rPr lang="en-US" altLang="en-US" sz="2400" u="sng" dirty="0">
                <a:solidFill>
                  <a:srgbClr val="000000"/>
                </a:solidFill>
                <a:latin typeface="Arial"/>
              </a:rPr>
              <a:t>Balanced</a:t>
            </a: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en-US" sz="2400" u="sng" dirty="0">
                <a:solidFill>
                  <a:srgbClr val="000000"/>
                </a:solidFill>
                <a:latin typeface="Arial"/>
              </a:rPr>
              <a:t>binary</a:t>
            </a: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 search trees - rebalance binary search tree when a new insertion makes the tree </a:t>
            </a:r>
            <a:r>
              <a:rPr lang="en-US" alt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 unbalanced - </a:t>
            </a:r>
            <a:r>
              <a:rPr lang="en-US" sz="2000" dirty="0">
                <a:solidFill>
                  <a:schemeClr val="tx1"/>
                </a:solidFill>
                <a:cs typeface="Arial" charset="0"/>
              </a:rPr>
              <a:t>examples of </a:t>
            </a:r>
            <a:r>
              <a:rPr lang="en-US" sz="2000" b="1" dirty="0">
                <a:solidFill>
                  <a:srgbClr val="7030A0"/>
                </a:solidFill>
                <a:cs typeface="Arial" charset="0"/>
              </a:rPr>
              <a:t>instance simplification</a:t>
            </a:r>
            <a:endParaRPr lang="en-US" altLang="en-US" sz="20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defRPr/>
            </a:pPr>
            <a:r>
              <a:rPr lang="en-US" altLang="en-US" sz="2200" b="1" dirty="0">
                <a:solidFill>
                  <a:srgbClr val="7030A0"/>
                </a:solidFill>
                <a:latin typeface="Arial"/>
              </a:rPr>
              <a:t>AVL trees</a:t>
            </a:r>
          </a:p>
          <a:p>
            <a:pPr lvl="2">
              <a:defRPr/>
            </a:pPr>
            <a:r>
              <a:rPr lang="en-US" altLang="en-US" sz="2200" dirty="0">
                <a:solidFill>
                  <a:srgbClr val="000000"/>
                </a:solidFill>
                <a:latin typeface="Arial"/>
              </a:rPr>
              <a:t>red-black trees</a:t>
            </a:r>
          </a:p>
          <a:p>
            <a:pPr marL="914400" lvl="2" indent="0">
              <a:buNone/>
              <a:defRPr/>
            </a:pPr>
            <a:endParaRPr lang="en-US" altLang="en-US" sz="8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r>
              <a:rPr lang="en-US" altLang="en-US" sz="2400" u="sng" dirty="0">
                <a:solidFill>
                  <a:srgbClr val="000000"/>
                </a:solidFill>
                <a:latin typeface="Arial"/>
              </a:rPr>
              <a:t>Multiway</a:t>
            </a: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en-US" sz="2400" u="sng" dirty="0">
                <a:solidFill>
                  <a:srgbClr val="000000"/>
                </a:solidFill>
                <a:latin typeface="Arial"/>
              </a:rPr>
              <a:t>balanced</a:t>
            </a: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 search tree – allow more than one key in each node, but is perfectly balanced - </a:t>
            </a:r>
            <a:r>
              <a:rPr lang="en-US" sz="2000" dirty="0">
                <a:solidFill>
                  <a:schemeClr val="tx1"/>
                </a:solidFill>
                <a:cs typeface="Arial" charset="0"/>
              </a:rPr>
              <a:t>examples of </a:t>
            </a:r>
            <a:r>
              <a:rPr lang="en-US" sz="2000" b="1" dirty="0">
                <a:solidFill>
                  <a:srgbClr val="7030A0"/>
                </a:solidFill>
                <a:cs typeface="Arial" charset="0"/>
              </a:rPr>
              <a:t>representation change</a:t>
            </a:r>
            <a:endParaRPr lang="en-US" altLang="en-US" sz="2000" dirty="0">
              <a:solidFill>
                <a:srgbClr val="000000"/>
              </a:solidFill>
              <a:latin typeface="Arial"/>
            </a:endParaRPr>
          </a:p>
          <a:p>
            <a:pPr lvl="2">
              <a:defRPr/>
            </a:pPr>
            <a:r>
              <a:rPr lang="en-US" altLang="en-US" sz="2200" b="1" dirty="0">
                <a:solidFill>
                  <a:srgbClr val="7030A0"/>
                </a:solidFill>
                <a:latin typeface="Arial"/>
              </a:rPr>
              <a:t>2-3 trees</a:t>
            </a:r>
          </a:p>
          <a:p>
            <a:pPr lvl="2">
              <a:defRPr/>
            </a:pPr>
            <a:r>
              <a:rPr lang="en-US" altLang="en-US" sz="2200" dirty="0">
                <a:solidFill>
                  <a:srgbClr val="000000"/>
                </a:solidFill>
                <a:latin typeface="Arial"/>
              </a:rPr>
              <a:t>2-3-4 trees</a:t>
            </a:r>
          </a:p>
          <a:p>
            <a:pPr lvl="2">
              <a:defRPr/>
            </a:pPr>
            <a:r>
              <a:rPr lang="en-US" altLang="en-US" sz="2200" dirty="0">
                <a:solidFill>
                  <a:srgbClr val="000000"/>
                </a:solidFill>
                <a:latin typeface="Arial"/>
              </a:rPr>
              <a:t>B-trees</a:t>
            </a:r>
          </a:p>
        </p:txBody>
      </p:sp>
    </p:spTree>
    <p:extLst>
      <p:ext uri="{BB962C8B-B14F-4D97-AF65-F5344CB8AC3E}">
        <p14:creationId xmlns:p14="http://schemas.microsoft.com/office/powerpoint/2010/main" val="511963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FF0000"/>
                </a:solidFill>
              </a:rPr>
              <a:t>AVL Trees</a:t>
            </a:r>
            <a:endParaRPr sz="3800" b="1" spc="-18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396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altLang="en-US" sz="2800" dirty="0"/>
              <a:t>An </a:t>
            </a:r>
            <a:r>
              <a:rPr lang="en-US" altLang="en-US" sz="2800" b="1" dirty="0"/>
              <a:t>AVL tree</a:t>
            </a:r>
            <a:r>
              <a:rPr lang="en-US" altLang="en-US" sz="2800" dirty="0"/>
              <a:t> is a self-balancing binary search tree – </a:t>
            </a:r>
            <a:r>
              <a:rPr lang="en-US" altLang="en-US" sz="2800" b="1" dirty="0">
                <a:solidFill>
                  <a:srgbClr val="7030A0"/>
                </a:solidFill>
              </a:rPr>
              <a:t>balanced binary search tree</a:t>
            </a:r>
          </a:p>
          <a:p>
            <a:pPr lvl="1">
              <a:defRPr/>
            </a:pPr>
            <a:r>
              <a:rPr lang="en-US" sz="2400" dirty="0">
                <a:cs typeface="Arial" charset="0"/>
              </a:rPr>
              <a:t>It is an example of </a:t>
            </a:r>
            <a:r>
              <a:rPr lang="en-US" sz="2400" b="1" dirty="0">
                <a:solidFill>
                  <a:srgbClr val="7030A0"/>
                </a:solidFill>
                <a:cs typeface="Arial" charset="0"/>
              </a:rPr>
              <a:t>instance simplification</a:t>
            </a:r>
          </a:p>
          <a:p>
            <a:pPr marL="457200" lvl="1" indent="0">
              <a:buNone/>
              <a:defRPr/>
            </a:pPr>
            <a:endParaRPr lang="en-US" sz="2400" b="1" dirty="0">
              <a:solidFill>
                <a:srgbClr val="7030A0"/>
              </a:solidFill>
              <a:cs typeface="Arial" charset="0"/>
            </a:endParaRPr>
          </a:p>
          <a:p>
            <a:pPr>
              <a:defRPr/>
            </a:pPr>
            <a:r>
              <a:rPr lang="en-US" sz="2800" dirty="0">
                <a:cs typeface="Arial" charset="0"/>
              </a:rPr>
              <a:t>An AVL tree is </a:t>
            </a:r>
          </a:p>
          <a:p>
            <a:pPr lvl="1">
              <a:defRPr/>
            </a:pPr>
            <a:r>
              <a:rPr lang="en-US" sz="2400" dirty="0">
                <a:cs typeface="Arial" charset="0"/>
              </a:rPr>
              <a:t>a binary search tree in which</a:t>
            </a:r>
          </a:p>
          <a:p>
            <a:pPr lvl="1">
              <a:defRPr/>
            </a:pPr>
            <a:r>
              <a:rPr lang="en-US" sz="2400" dirty="0">
                <a:cs typeface="Arial" charset="0"/>
              </a:rPr>
              <a:t>the difference between the heights of the left and right subtrees of every node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factor</a:t>
            </a:r>
            <a:r>
              <a:rPr lang="en-US" sz="2400" dirty="0">
                <a:cs typeface="Arial" charset="0"/>
              </a:rPr>
              <a:t>) never exceeds 1 </a:t>
            </a:r>
            <a:r>
              <a:rPr lang="en-US" sz="1800" dirty="0">
                <a:cs typeface="Arial" charset="0"/>
              </a:rPr>
              <a:t>(</a:t>
            </a:r>
            <a:r>
              <a:rPr lang="en-US" sz="1800" b="0" i="0" u="none" strike="noStrike" baseline="0" dirty="0">
                <a:latin typeface="TimesTen-Roman"/>
              </a:rPr>
              <a:t>either 0 or +1 or </a:t>
            </a:r>
            <a:r>
              <a:rPr lang="en-US" sz="1800" b="0" i="0" u="none" strike="noStrike" baseline="0" dirty="0">
                <a:latin typeface="MTSYN"/>
              </a:rPr>
              <a:t>−</a:t>
            </a:r>
            <a:r>
              <a:rPr lang="en-US" sz="1800" b="0" i="0" u="none" strike="noStrike" baseline="0" dirty="0">
                <a:latin typeface="TimesTen-Roman"/>
              </a:rPr>
              <a:t>1</a:t>
            </a:r>
            <a:r>
              <a:rPr lang="en-US" sz="1800" dirty="0">
                <a:cs typeface="Arial" charset="0"/>
              </a:rPr>
              <a:t>)</a:t>
            </a:r>
          </a:p>
          <a:p>
            <a:pPr lvl="1">
              <a:defRPr/>
            </a:pPr>
            <a:r>
              <a:rPr lang="en-US" altLang="en-US" sz="2400" dirty="0"/>
              <a:t>with the height of an empty tree defined as -1</a:t>
            </a:r>
            <a:endParaRPr lang="en-US" sz="32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680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AVL Trees,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528B6-EBCA-7540-01C5-C70301AAD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752600"/>
            <a:ext cx="9280410" cy="44834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D51127-4FF3-D002-D32E-76A8B29EB3A6}"/>
              </a:ext>
            </a:extLst>
          </p:cNvPr>
          <p:cNvSpPr txBox="1"/>
          <p:nvPr/>
        </p:nvSpPr>
        <p:spPr>
          <a:xfrm>
            <a:off x="152400" y="9906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node 10 in (a): (left subtree height 3) – (right subtree height 2) =3-2= 1</a:t>
            </a:r>
          </a:p>
        </p:txBody>
      </p:sp>
    </p:spTree>
    <p:extLst>
      <p:ext uri="{BB962C8B-B14F-4D97-AF65-F5344CB8AC3E}">
        <p14:creationId xmlns:p14="http://schemas.microsoft.com/office/powerpoint/2010/main" val="1300999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AVL Trees,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altLang="en-US" sz="2800" dirty="0"/>
              <a:t>If an insertion of a new </a:t>
            </a:r>
            <a:r>
              <a:rPr lang="en-US" altLang="en-US" sz="2800" u="sng" dirty="0"/>
              <a:t>leaf</a:t>
            </a:r>
            <a:r>
              <a:rPr lang="en-US" altLang="en-US" sz="2800" dirty="0"/>
              <a:t> makes an AVL tree unbalanced, we transform the tree by a rotation</a:t>
            </a:r>
          </a:p>
          <a:p>
            <a:pPr lvl="1">
              <a:defRPr/>
            </a:pPr>
            <a:r>
              <a:rPr lang="en-US" altLang="en-US" sz="2400" dirty="0"/>
              <a:t>A rotation in an AVL tree is a local transformation of its subtree rooted at a node whose balance has become either +2 or −2</a:t>
            </a:r>
          </a:p>
          <a:p>
            <a:pPr lvl="1">
              <a:defRPr/>
            </a:pPr>
            <a:r>
              <a:rPr lang="en-US" altLang="en-US" sz="2400" dirty="0"/>
              <a:t>If there are several such nodes, we rotate the subtree rooted at the unbalanced node that is the closest to the newly inserted </a:t>
            </a:r>
            <a:r>
              <a:rPr lang="en-US" altLang="en-US" sz="2400" u="sng" dirty="0"/>
              <a:t>leaf</a:t>
            </a:r>
          </a:p>
          <a:p>
            <a:pPr marL="457200" lvl="1" indent="0">
              <a:buNone/>
              <a:defRPr/>
            </a:pPr>
            <a:endParaRPr lang="en-US" sz="800" dirty="0">
              <a:cs typeface="Arial" charset="0"/>
            </a:endParaRPr>
          </a:p>
          <a:p>
            <a:pPr>
              <a:defRPr/>
            </a:pPr>
            <a:r>
              <a:rPr lang="en-US" altLang="en-US" sz="2800" dirty="0"/>
              <a:t>There are 4 rotation types</a:t>
            </a:r>
          </a:p>
          <a:p>
            <a:pPr lvl="1">
              <a:defRPr/>
            </a:pPr>
            <a:r>
              <a:rPr lang="en-US" altLang="en-US" sz="2400" dirty="0"/>
              <a:t>single right rotation (R-rotation) – </a:t>
            </a:r>
            <a:r>
              <a:rPr lang="en-US" altLang="en-US" sz="1800" dirty="0"/>
              <a:t>in left left case</a:t>
            </a:r>
            <a:endParaRPr lang="en-US" altLang="en-US" sz="2400" dirty="0"/>
          </a:p>
          <a:p>
            <a:pPr lvl="1">
              <a:defRPr/>
            </a:pPr>
            <a:r>
              <a:rPr lang="en-US" sz="2400" dirty="0">
                <a:cs typeface="Arial" charset="0"/>
              </a:rPr>
              <a:t>single left rotation (L-rotation) – </a:t>
            </a:r>
            <a:r>
              <a:rPr lang="en-US" sz="1800" dirty="0"/>
              <a:t>in right right case</a:t>
            </a:r>
          </a:p>
          <a:p>
            <a:pPr lvl="1">
              <a:defRPr/>
            </a:pPr>
            <a:r>
              <a:rPr lang="en-US" sz="2400" dirty="0">
                <a:cs typeface="Arial" charset="0"/>
              </a:rPr>
              <a:t>double left-right rotation (LR-rotation) – </a:t>
            </a:r>
            <a:r>
              <a:rPr lang="en-US" sz="1800" dirty="0">
                <a:cs typeface="Arial" charset="0"/>
              </a:rPr>
              <a:t>in left right case</a:t>
            </a:r>
            <a:endParaRPr lang="en-US" sz="2400" dirty="0">
              <a:cs typeface="Arial" charset="0"/>
            </a:endParaRPr>
          </a:p>
          <a:p>
            <a:pPr lvl="1">
              <a:defRPr/>
            </a:pPr>
            <a:r>
              <a:rPr lang="en-US" sz="2400" dirty="0">
                <a:cs typeface="Arial" charset="0"/>
              </a:rPr>
              <a:t>double right-left rotation (RL-rotation) – </a:t>
            </a:r>
            <a:r>
              <a:rPr lang="en-US" sz="1800" dirty="0">
                <a:cs typeface="Arial" charset="0"/>
              </a:rPr>
              <a:t>in right left case</a:t>
            </a:r>
            <a:endParaRPr lang="en-US" sz="24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22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AVL Trees,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ED9EA5-B57F-7404-BCF5-6DA032903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19200"/>
            <a:ext cx="4495800" cy="2038251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34A53C-1DDE-68E6-A133-DEFC59B0D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7284" y="1219200"/>
            <a:ext cx="5209230" cy="203825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6901C2-60CC-68DE-C6B4-72CED74D89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429000"/>
            <a:ext cx="4495800" cy="212893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A1ED6F-1FD7-5B97-ECA1-A6E764E4EA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3407986"/>
            <a:ext cx="5177714" cy="2154614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D3ABE52-AE89-72AE-22B6-40263BE8796E}"/>
              </a:ext>
            </a:extLst>
          </p:cNvPr>
          <p:cNvSpPr txBox="1"/>
          <p:nvPr/>
        </p:nvSpPr>
        <p:spPr>
          <a:xfrm>
            <a:off x="1243045" y="1470054"/>
            <a:ext cx="924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94583B-E1F2-4FCF-1BF8-E0161A94F6A4}"/>
              </a:ext>
            </a:extLst>
          </p:cNvPr>
          <p:cNvSpPr txBox="1"/>
          <p:nvPr/>
        </p:nvSpPr>
        <p:spPr>
          <a:xfrm>
            <a:off x="6243387" y="1285388"/>
            <a:ext cx="924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43C351-9CA5-0398-D317-5B370D0B9F4B}"/>
              </a:ext>
            </a:extLst>
          </p:cNvPr>
          <p:cNvSpPr txBox="1"/>
          <p:nvPr/>
        </p:nvSpPr>
        <p:spPr>
          <a:xfrm>
            <a:off x="560471" y="4634839"/>
            <a:ext cx="924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54F474-7E86-1C7F-0300-AEB88D91DCC4}"/>
              </a:ext>
            </a:extLst>
          </p:cNvPr>
          <p:cNvSpPr txBox="1"/>
          <p:nvPr/>
        </p:nvSpPr>
        <p:spPr>
          <a:xfrm>
            <a:off x="965133" y="3469660"/>
            <a:ext cx="924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EB12F8-3424-55C0-0183-F39AC8D3E187}"/>
              </a:ext>
            </a:extLst>
          </p:cNvPr>
          <p:cNvSpPr txBox="1"/>
          <p:nvPr/>
        </p:nvSpPr>
        <p:spPr>
          <a:xfrm>
            <a:off x="6696924" y="4731603"/>
            <a:ext cx="924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9FD647-BA06-2CCC-3903-59773C08EE95}"/>
              </a:ext>
            </a:extLst>
          </p:cNvPr>
          <p:cNvSpPr txBox="1"/>
          <p:nvPr/>
        </p:nvSpPr>
        <p:spPr>
          <a:xfrm>
            <a:off x="6270789" y="3583599"/>
            <a:ext cx="924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89756F-DC77-8190-7376-14304A1CB11F}"/>
              </a:ext>
            </a:extLst>
          </p:cNvPr>
          <p:cNvSpPr txBox="1"/>
          <p:nvPr/>
        </p:nvSpPr>
        <p:spPr>
          <a:xfrm>
            <a:off x="1752600" y="2667000"/>
            <a:ext cx="922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in left-left case:                                                                   in right-right case:</a:t>
            </a:r>
          </a:p>
          <a:p>
            <a:r>
              <a:rPr lang="en-US" b="1" dirty="0">
                <a:solidFill>
                  <a:srgbClr val="7030A0"/>
                </a:solidFill>
              </a:rPr>
              <a:t>rotate the first left </a:t>
            </a:r>
            <a:r>
              <a:rPr lang="en-US" sz="1200" b="1" dirty="0">
                <a:solidFill>
                  <a:srgbClr val="7030A0"/>
                </a:solidFill>
              </a:rPr>
              <a:t>(R(3))</a:t>
            </a:r>
            <a:r>
              <a:rPr lang="en-US" sz="1400" b="1" dirty="0">
                <a:solidFill>
                  <a:srgbClr val="7030A0"/>
                </a:solidFill>
              </a:rPr>
              <a:t>                                                                           </a:t>
            </a:r>
            <a:r>
              <a:rPr lang="en-US" b="1" dirty="0">
                <a:solidFill>
                  <a:srgbClr val="7030A0"/>
                </a:solidFill>
              </a:rPr>
              <a:t>rotate the first right </a:t>
            </a:r>
            <a:r>
              <a:rPr lang="en-US" sz="1400" b="1" dirty="0">
                <a:solidFill>
                  <a:srgbClr val="7030A0"/>
                </a:solidFill>
              </a:rPr>
              <a:t>(L(1))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47092E-1BC8-D21D-9EB3-4931DD024E3E}"/>
              </a:ext>
            </a:extLst>
          </p:cNvPr>
          <p:cNvSpPr txBox="1"/>
          <p:nvPr/>
        </p:nvSpPr>
        <p:spPr>
          <a:xfrm>
            <a:off x="965133" y="5620026"/>
            <a:ext cx="10972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in left-right case:                                                            in right-left case:</a:t>
            </a:r>
          </a:p>
          <a:p>
            <a:r>
              <a:rPr lang="en-US" b="1" dirty="0">
                <a:solidFill>
                  <a:srgbClr val="7030A0"/>
                </a:solidFill>
              </a:rPr>
              <a:t>rotate the right </a:t>
            </a:r>
            <a:r>
              <a:rPr lang="en-US" sz="1100" b="1" dirty="0">
                <a:solidFill>
                  <a:srgbClr val="7030A0"/>
                </a:solidFill>
              </a:rPr>
              <a:t>(L(1))</a:t>
            </a:r>
            <a:r>
              <a:rPr lang="en-US" b="1" dirty="0">
                <a:solidFill>
                  <a:srgbClr val="7030A0"/>
                </a:solidFill>
              </a:rPr>
              <a:t> and then the left </a:t>
            </a:r>
            <a:r>
              <a:rPr lang="en-US" sz="1100" b="1" dirty="0">
                <a:solidFill>
                  <a:srgbClr val="7030A0"/>
                </a:solidFill>
              </a:rPr>
              <a:t>(R(3))</a:t>
            </a:r>
            <a:r>
              <a:rPr lang="en-US" b="1" dirty="0">
                <a:solidFill>
                  <a:srgbClr val="7030A0"/>
                </a:solidFill>
              </a:rPr>
              <a:t>                        rotate the left</a:t>
            </a:r>
            <a:r>
              <a:rPr lang="en-US" sz="1400" b="1" dirty="0">
                <a:solidFill>
                  <a:srgbClr val="7030A0"/>
                </a:solidFill>
              </a:rPr>
              <a:t> </a:t>
            </a:r>
            <a:r>
              <a:rPr lang="en-US" sz="1100" b="1" dirty="0">
                <a:solidFill>
                  <a:srgbClr val="7030A0"/>
                </a:solidFill>
              </a:rPr>
              <a:t>(R(3))</a:t>
            </a:r>
            <a:r>
              <a:rPr lang="en-US" sz="1400" b="1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and then the right </a:t>
            </a:r>
            <a:r>
              <a:rPr lang="en-US" sz="1100" b="1" dirty="0">
                <a:solidFill>
                  <a:srgbClr val="7030A0"/>
                </a:solidFill>
              </a:rPr>
              <a:t>(L(1))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" name="Arrow: Curved Down 1">
            <a:extLst>
              <a:ext uri="{FF2B5EF4-FFF2-40B4-BE49-F238E27FC236}">
                <a16:creationId xmlns:a16="http://schemas.microsoft.com/office/drawing/2014/main" id="{5112AB8C-2C5D-1F03-A3C1-CB8E8793506A}"/>
              </a:ext>
            </a:extLst>
          </p:cNvPr>
          <p:cNvSpPr/>
          <p:nvPr/>
        </p:nvSpPr>
        <p:spPr>
          <a:xfrm rot="2504272">
            <a:off x="1432621" y="1811045"/>
            <a:ext cx="840366" cy="49202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5A5EA0AE-F2EF-C5C5-A1D5-E99D34084D3A}"/>
              </a:ext>
            </a:extLst>
          </p:cNvPr>
          <p:cNvSpPr/>
          <p:nvPr/>
        </p:nvSpPr>
        <p:spPr>
          <a:xfrm rot="2504272">
            <a:off x="992058" y="3925523"/>
            <a:ext cx="840366" cy="492029"/>
          </a:xfrm>
          <a:prstGeom prst="curvedDownArrow">
            <a:avLst>
              <a:gd name="adj1" fmla="val 25000"/>
              <a:gd name="adj2" fmla="val 50000"/>
              <a:gd name="adj3" fmla="val 223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Arrow: Curved Down 7">
            <a:extLst>
              <a:ext uri="{FF2B5EF4-FFF2-40B4-BE49-F238E27FC236}">
                <a16:creationId xmlns:a16="http://schemas.microsoft.com/office/drawing/2014/main" id="{5DF11109-EC5B-2364-AD98-505D087C76C4}"/>
              </a:ext>
            </a:extLst>
          </p:cNvPr>
          <p:cNvSpPr/>
          <p:nvPr/>
        </p:nvSpPr>
        <p:spPr>
          <a:xfrm rot="2504272">
            <a:off x="5972594" y="4702580"/>
            <a:ext cx="840366" cy="49202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B1116C45-FCBE-CFDA-1294-5A01E7C5F4E4}"/>
              </a:ext>
            </a:extLst>
          </p:cNvPr>
          <p:cNvSpPr/>
          <p:nvPr/>
        </p:nvSpPr>
        <p:spPr>
          <a:xfrm rot="11171215">
            <a:off x="755844" y="4768962"/>
            <a:ext cx="1059510" cy="587551"/>
          </a:xfrm>
          <a:prstGeom prst="curvedUp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Curved Up 10">
            <a:extLst>
              <a:ext uri="{FF2B5EF4-FFF2-40B4-BE49-F238E27FC236}">
                <a16:creationId xmlns:a16="http://schemas.microsoft.com/office/drawing/2014/main" id="{0CE24E60-4E9D-463F-B2AA-F72980CAEC86}"/>
              </a:ext>
            </a:extLst>
          </p:cNvPr>
          <p:cNvSpPr/>
          <p:nvPr/>
        </p:nvSpPr>
        <p:spPr>
          <a:xfrm rot="8427844">
            <a:off x="5907964" y="3965061"/>
            <a:ext cx="662824" cy="381411"/>
          </a:xfrm>
          <a:prstGeom prst="curvedUp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Arrow: Curved Up 13">
            <a:extLst>
              <a:ext uri="{FF2B5EF4-FFF2-40B4-BE49-F238E27FC236}">
                <a16:creationId xmlns:a16="http://schemas.microsoft.com/office/drawing/2014/main" id="{71595DB3-444E-BD80-816B-1C21CEFBEA13}"/>
              </a:ext>
            </a:extLst>
          </p:cNvPr>
          <p:cNvSpPr/>
          <p:nvPr/>
        </p:nvSpPr>
        <p:spPr>
          <a:xfrm rot="8427844">
            <a:off x="5919902" y="1718980"/>
            <a:ext cx="749891" cy="382002"/>
          </a:xfrm>
          <a:prstGeom prst="curvedUp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143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AVL Trees,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139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altLang="en-US" sz="2800" dirty="0"/>
              <a:t>General Right rotation</a:t>
            </a:r>
            <a:endParaRPr lang="en-US" sz="2400" b="1" dirty="0">
              <a:solidFill>
                <a:srgbClr val="7030A0"/>
              </a:solidFill>
              <a:cs typeface="Arial" charset="0"/>
            </a:endParaRPr>
          </a:p>
          <a:p>
            <a:pPr marL="457200" lvl="1" indent="0">
              <a:buNone/>
              <a:defRPr/>
            </a:pPr>
            <a:endParaRPr lang="en-US" sz="2400" b="1" dirty="0">
              <a:solidFill>
                <a:srgbClr val="7030A0"/>
              </a:solidFill>
              <a:cs typeface="Arial" charset="0"/>
            </a:endParaRPr>
          </a:p>
          <a:p>
            <a:pPr>
              <a:defRPr/>
            </a:pPr>
            <a:endParaRPr lang="en-US" sz="2800" dirty="0">
              <a:cs typeface="Arial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F65604-9622-4B9A-2709-B0EBE89546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828800"/>
            <a:ext cx="8153400" cy="42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67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AVL Trees,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139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altLang="en-US" sz="2800" dirty="0"/>
              <a:t>General Left rotation</a:t>
            </a:r>
            <a:endParaRPr lang="en-US" sz="2400" b="1" dirty="0">
              <a:solidFill>
                <a:srgbClr val="7030A0"/>
              </a:solidFill>
              <a:cs typeface="Arial" charset="0"/>
            </a:endParaRPr>
          </a:p>
          <a:p>
            <a:pPr marL="457200" lvl="1" indent="0">
              <a:buNone/>
              <a:defRPr/>
            </a:pPr>
            <a:endParaRPr lang="en-US" sz="2400" b="1" dirty="0">
              <a:solidFill>
                <a:srgbClr val="7030A0"/>
              </a:solidFill>
              <a:cs typeface="Arial" charset="0"/>
            </a:endParaRPr>
          </a:p>
          <a:p>
            <a:pPr>
              <a:defRPr/>
            </a:pPr>
            <a:endParaRPr lang="en-US" sz="2800" dirty="0">
              <a:cs typeface="Arial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C143E5-AFB4-7A8D-8C5A-DC615A0C4D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915753"/>
            <a:ext cx="8031444" cy="370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33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AVL Trees,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139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altLang="en-US" sz="2800" dirty="0"/>
              <a:t>General Left-Right rotation</a:t>
            </a:r>
            <a:endParaRPr lang="en-US" sz="2400" b="1" dirty="0">
              <a:solidFill>
                <a:srgbClr val="7030A0"/>
              </a:solidFill>
              <a:cs typeface="Arial" charset="0"/>
            </a:endParaRPr>
          </a:p>
          <a:p>
            <a:pPr marL="457200" lvl="1" indent="0">
              <a:buNone/>
              <a:defRPr/>
            </a:pPr>
            <a:endParaRPr lang="en-US" sz="2400" b="1" dirty="0">
              <a:solidFill>
                <a:srgbClr val="7030A0"/>
              </a:solidFill>
              <a:cs typeface="Arial" charset="0"/>
            </a:endParaRPr>
          </a:p>
          <a:p>
            <a:pPr>
              <a:defRPr/>
            </a:pPr>
            <a:endParaRPr lang="en-US" sz="2800" dirty="0">
              <a:cs typeface="Arial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05DBD2-15B0-04FE-E49C-41B5AABD63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857332"/>
            <a:ext cx="9688644" cy="3772284"/>
          </a:xfrm>
          <a:prstGeom prst="rect">
            <a:avLst/>
          </a:prstGeom>
        </p:spPr>
      </p:pic>
      <p:sp>
        <p:nvSpPr>
          <p:cNvPr id="2" name="Arrow: Curved Down 1">
            <a:extLst>
              <a:ext uri="{FF2B5EF4-FFF2-40B4-BE49-F238E27FC236}">
                <a16:creationId xmlns:a16="http://schemas.microsoft.com/office/drawing/2014/main" id="{641B51CE-3BC3-4497-9B76-19FF61DF6A2C}"/>
              </a:ext>
            </a:extLst>
          </p:cNvPr>
          <p:cNvSpPr/>
          <p:nvPr/>
        </p:nvSpPr>
        <p:spPr>
          <a:xfrm rot="2504272">
            <a:off x="5332742" y="3056753"/>
            <a:ext cx="734676" cy="32081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Arrow: Curved Up 6">
            <a:extLst>
              <a:ext uri="{FF2B5EF4-FFF2-40B4-BE49-F238E27FC236}">
                <a16:creationId xmlns:a16="http://schemas.microsoft.com/office/drawing/2014/main" id="{6E0AE0DD-F298-3348-8F73-DB7DB5F97CB5}"/>
              </a:ext>
            </a:extLst>
          </p:cNvPr>
          <p:cNvSpPr/>
          <p:nvPr/>
        </p:nvSpPr>
        <p:spPr>
          <a:xfrm rot="8427844">
            <a:off x="1427860" y="3897019"/>
            <a:ext cx="749891" cy="382002"/>
          </a:xfrm>
          <a:prstGeom prst="curvedUp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12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AVL Trees,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139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altLang="en-US" sz="2800" dirty="0"/>
              <a:t>General Right-Left rotation</a:t>
            </a:r>
            <a:endParaRPr lang="en-US" sz="2400" b="1" dirty="0">
              <a:solidFill>
                <a:srgbClr val="7030A0"/>
              </a:solidFill>
              <a:cs typeface="Arial" charset="0"/>
            </a:endParaRPr>
          </a:p>
          <a:p>
            <a:pPr marL="457200" lvl="1" indent="0">
              <a:buNone/>
              <a:defRPr/>
            </a:pPr>
            <a:endParaRPr lang="en-US" sz="2400" b="1" dirty="0">
              <a:solidFill>
                <a:srgbClr val="7030A0"/>
              </a:solidFill>
              <a:cs typeface="Arial" charset="0"/>
            </a:endParaRPr>
          </a:p>
          <a:p>
            <a:pPr>
              <a:defRPr/>
            </a:pPr>
            <a:endParaRPr lang="en-US" sz="2800" dirty="0">
              <a:cs typeface="Arial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C26BF6-638C-2C4C-E6B1-E8DDC59DA4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927476"/>
            <a:ext cx="9877907" cy="3702140"/>
          </a:xfrm>
          <a:prstGeom prst="rect">
            <a:avLst/>
          </a:prstGeom>
        </p:spPr>
      </p:pic>
      <p:sp>
        <p:nvSpPr>
          <p:cNvPr id="2" name="Arrow: Curved Down 1">
            <a:extLst>
              <a:ext uri="{FF2B5EF4-FFF2-40B4-BE49-F238E27FC236}">
                <a16:creationId xmlns:a16="http://schemas.microsoft.com/office/drawing/2014/main" id="{DA13BC79-F8CE-76FB-0D12-7EF07B5C8CE1}"/>
              </a:ext>
            </a:extLst>
          </p:cNvPr>
          <p:cNvSpPr/>
          <p:nvPr/>
        </p:nvSpPr>
        <p:spPr>
          <a:xfrm rot="2504272">
            <a:off x="1461568" y="3961997"/>
            <a:ext cx="734676" cy="32081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BE9C9E85-B363-B50A-9E9F-3A8891CC66DF}"/>
              </a:ext>
            </a:extLst>
          </p:cNvPr>
          <p:cNvSpPr/>
          <p:nvPr/>
        </p:nvSpPr>
        <p:spPr>
          <a:xfrm rot="8427844">
            <a:off x="5310303" y="3201564"/>
            <a:ext cx="749891" cy="382002"/>
          </a:xfrm>
          <a:prstGeom prst="curvedUp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5898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AVL Trees,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5109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altLang="en-US" sz="2800" dirty="0"/>
              <a:t>Notice how we handled abandoned branches in the general case </a:t>
            </a:r>
            <a:r>
              <a:rPr lang="en-US" altLang="en-US" sz="2000" dirty="0"/>
              <a:t>(R-rotation for example)</a:t>
            </a:r>
          </a:p>
          <a:p>
            <a:pPr>
              <a:defRPr/>
            </a:pPr>
            <a:endParaRPr lang="en-US" sz="2800" dirty="0">
              <a:solidFill>
                <a:srgbClr val="7030A0"/>
              </a:solidFill>
              <a:cs typeface="Arial" charset="0"/>
            </a:endParaRPr>
          </a:p>
          <a:p>
            <a:pPr>
              <a:defRPr/>
            </a:pPr>
            <a:endParaRPr lang="en-US" sz="2800" dirty="0">
              <a:solidFill>
                <a:srgbClr val="7030A0"/>
              </a:solidFill>
              <a:cs typeface="Arial" charset="0"/>
            </a:endParaRPr>
          </a:p>
          <a:p>
            <a:pPr>
              <a:defRPr/>
            </a:pPr>
            <a:endParaRPr lang="en-US" sz="2800" dirty="0">
              <a:solidFill>
                <a:srgbClr val="7030A0"/>
              </a:solidFill>
              <a:cs typeface="Arial" charset="0"/>
            </a:endParaRPr>
          </a:p>
          <a:p>
            <a:pPr>
              <a:defRPr/>
            </a:pPr>
            <a:endParaRPr lang="en-US" sz="2800" dirty="0">
              <a:solidFill>
                <a:srgbClr val="7030A0"/>
              </a:solidFill>
              <a:cs typeface="Arial" charset="0"/>
            </a:endParaRPr>
          </a:p>
          <a:p>
            <a:pPr>
              <a:defRPr/>
            </a:pPr>
            <a:endParaRPr lang="en-US" sz="2800" dirty="0">
              <a:solidFill>
                <a:srgbClr val="7030A0"/>
              </a:solidFill>
              <a:cs typeface="Arial" charset="0"/>
            </a:endParaRPr>
          </a:p>
          <a:p>
            <a:pPr lvl="1">
              <a:defRPr/>
            </a:pPr>
            <a:endParaRPr lang="en-US" sz="2000" dirty="0">
              <a:solidFill>
                <a:srgbClr val="7030A0"/>
              </a:solidFill>
              <a:cs typeface="Arial" charset="0"/>
            </a:endParaRPr>
          </a:p>
          <a:p>
            <a:pPr lvl="1">
              <a:defRPr/>
            </a:pPr>
            <a:r>
              <a:rPr lang="en-US" sz="2000" dirty="0">
                <a:solidFill>
                  <a:srgbClr val="7030A0"/>
                </a:solidFill>
                <a:cs typeface="Arial" charset="0"/>
              </a:rPr>
              <a:t>When R-rotation is applied on </a:t>
            </a:r>
            <a:r>
              <a:rPr lang="en-US" sz="2000" b="1" u="sng" dirty="0">
                <a:solidFill>
                  <a:srgbClr val="7030A0"/>
                </a:solidFill>
                <a:cs typeface="Arial" charset="0"/>
              </a:rPr>
              <a:t>the link between r and C</a:t>
            </a:r>
            <a:r>
              <a:rPr lang="en-US" sz="2000" dirty="0">
                <a:solidFill>
                  <a:srgbClr val="7030A0"/>
                </a:solidFill>
                <a:cs typeface="Arial" charset="0"/>
              </a:rPr>
              <a:t>, node </a:t>
            </a:r>
            <a:r>
              <a:rPr lang="en-US" sz="2000" b="1" u="sng" dirty="0">
                <a:solidFill>
                  <a:srgbClr val="7030A0"/>
                </a:solidFill>
                <a:cs typeface="Arial" charset="0"/>
              </a:rPr>
              <a:t>r becomes the right-child of node C</a:t>
            </a:r>
            <a:r>
              <a:rPr lang="en-US" sz="2000" dirty="0">
                <a:solidFill>
                  <a:srgbClr val="7030A0"/>
                </a:solidFill>
                <a:cs typeface="Arial" charset="0"/>
              </a:rPr>
              <a:t> leaving </a:t>
            </a:r>
            <a:r>
              <a:rPr lang="en-US" sz="2000" b="1" u="sng" dirty="0">
                <a:solidFill>
                  <a:srgbClr val="7030A0"/>
                </a:solidFill>
                <a:cs typeface="Arial" charset="0"/>
              </a:rPr>
              <a:t>T2, which was the right-child of C </a:t>
            </a:r>
            <a:r>
              <a:rPr lang="en-US" sz="2000" dirty="0">
                <a:solidFill>
                  <a:srgbClr val="7030A0"/>
                </a:solidFill>
                <a:cs typeface="Arial" charset="0"/>
              </a:rPr>
              <a:t>before rotation, </a:t>
            </a:r>
            <a:r>
              <a:rPr lang="en-US" sz="2000" b="1" u="sng" dirty="0">
                <a:solidFill>
                  <a:srgbClr val="7030A0"/>
                </a:solidFill>
                <a:cs typeface="Arial" charset="0"/>
              </a:rPr>
              <a:t>abandoned</a:t>
            </a:r>
            <a:r>
              <a:rPr lang="en-US" sz="2000" dirty="0">
                <a:solidFill>
                  <a:srgbClr val="7030A0"/>
                </a:solidFill>
                <a:cs typeface="Arial" charset="0"/>
              </a:rPr>
              <a:t> </a:t>
            </a:r>
          </a:p>
          <a:p>
            <a:pPr lvl="1">
              <a:defRPr/>
            </a:pPr>
            <a:r>
              <a:rPr lang="en-US" sz="2000" dirty="0">
                <a:solidFill>
                  <a:srgbClr val="7030A0"/>
                </a:solidFill>
                <a:cs typeface="Arial" charset="0"/>
              </a:rPr>
              <a:t>This also leaves node </a:t>
            </a:r>
            <a:r>
              <a:rPr lang="en-US" sz="2000" b="1" u="sng" dirty="0">
                <a:solidFill>
                  <a:srgbClr val="7030A0"/>
                </a:solidFill>
                <a:cs typeface="Arial" charset="0"/>
              </a:rPr>
              <a:t>r</a:t>
            </a:r>
            <a:r>
              <a:rPr lang="en-US" sz="2000" dirty="0">
                <a:solidFill>
                  <a:srgbClr val="7030A0"/>
                </a:solidFill>
                <a:cs typeface="Arial" charset="0"/>
              </a:rPr>
              <a:t> without a left-child</a:t>
            </a:r>
          </a:p>
          <a:p>
            <a:pPr lvl="1">
              <a:defRPr/>
            </a:pPr>
            <a:r>
              <a:rPr lang="en-US" sz="2000" b="1" u="sng" dirty="0">
                <a:solidFill>
                  <a:srgbClr val="7030A0"/>
                </a:solidFill>
                <a:cs typeface="Arial" charset="0"/>
              </a:rPr>
              <a:t>T2 becomes left child of r</a:t>
            </a:r>
            <a:r>
              <a:rPr lang="en-US" sz="2000" dirty="0">
                <a:solidFill>
                  <a:srgbClr val="7030A0"/>
                </a:solidFill>
                <a:cs typeface="Arial" charset="0"/>
              </a:rPr>
              <a:t> and since T2 values are smaller than r, this is a legal operation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B60521-4282-4676-43E4-8E06553556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8600" y="1828800"/>
            <a:ext cx="6558657" cy="293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07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AVL Trees,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139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altLang="en-US" sz="2800" dirty="0"/>
              <a:t>Constructing an AVL tree example</a:t>
            </a:r>
            <a:endParaRPr lang="en-US" sz="2400" b="1" dirty="0">
              <a:solidFill>
                <a:srgbClr val="7030A0"/>
              </a:solidFill>
              <a:cs typeface="Arial" charset="0"/>
            </a:endParaRPr>
          </a:p>
          <a:p>
            <a:pPr marL="457200" lvl="1" indent="0">
              <a:buNone/>
              <a:defRPr/>
            </a:pPr>
            <a:endParaRPr lang="en-US" sz="2400" b="1" dirty="0">
              <a:solidFill>
                <a:srgbClr val="7030A0"/>
              </a:solidFill>
              <a:cs typeface="Arial" charset="0"/>
            </a:endParaRPr>
          </a:p>
          <a:p>
            <a:pPr>
              <a:defRPr/>
            </a:pPr>
            <a:endParaRPr lang="en-US" sz="2800" dirty="0">
              <a:cs typeface="Arial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9B268D-F160-E03D-7970-C5164F4C0B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1676400"/>
            <a:ext cx="8305800" cy="4309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AFA61A-0B14-A670-9708-4F1CE55F25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601" y="6105420"/>
            <a:ext cx="4876800" cy="2509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792018-D3BE-CC3B-E187-BD7EC83E0AAA}"/>
              </a:ext>
            </a:extLst>
          </p:cNvPr>
          <p:cNvSpPr txBox="1"/>
          <p:nvPr/>
        </p:nvSpPr>
        <p:spPr>
          <a:xfrm>
            <a:off x="6502401" y="2798222"/>
            <a:ext cx="528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in right-right case, rotate the first right (L) at unbalanced (5)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0ED3E9-AEE0-A517-45D9-C0418B1AA154}"/>
              </a:ext>
            </a:extLst>
          </p:cNvPr>
          <p:cNvSpPr txBox="1"/>
          <p:nvPr/>
        </p:nvSpPr>
        <p:spPr>
          <a:xfrm>
            <a:off x="4816608" y="5373806"/>
            <a:ext cx="670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in left-left case, rotate the first left (R) at unbalanced (5) which is closer to inserted 2</a:t>
            </a:r>
          </a:p>
        </p:txBody>
      </p:sp>
    </p:spTree>
    <p:extLst>
      <p:ext uri="{BB962C8B-B14F-4D97-AF65-F5344CB8AC3E}">
        <p14:creationId xmlns:p14="http://schemas.microsoft.com/office/powerpoint/2010/main" val="4115288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AVL Trees,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77A7A5-5AC8-BFF4-5929-4A8E9A1C6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77141"/>
            <a:ext cx="6831477" cy="52396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792018-D3BE-CC3B-E187-BD7EC83E0AAA}"/>
              </a:ext>
            </a:extLst>
          </p:cNvPr>
          <p:cNvSpPr txBox="1"/>
          <p:nvPr/>
        </p:nvSpPr>
        <p:spPr>
          <a:xfrm>
            <a:off x="2546252" y="2946528"/>
            <a:ext cx="8197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in left-right case, rotate the right</a:t>
            </a:r>
            <a:r>
              <a:rPr lang="en-US" sz="1400" b="1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(L) and then the left (R) at unbalanced (6)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0ED3E9-AEE0-A517-45D9-C0418B1AA154}"/>
              </a:ext>
            </a:extLst>
          </p:cNvPr>
          <p:cNvSpPr txBox="1"/>
          <p:nvPr/>
        </p:nvSpPr>
        <p:spPr>
          <a:xfrm>
            <a:off x="3657600" y="5654579"/>
            <a:ext cx="8494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in right-left case, rotate the left (R) and then the right (L) at unbalanced (6)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AFA61A-0B14-A670-9708-4F1CE55F2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1" y="6105420"/>
            <a:ext cx="4876800" cy="25093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D1D4014-D570-9152-F826-E65A526F3D2E}"/>
              </a:ext>
            </a:extLst>
          </p:cNvPr>
          <p:cNvSpPr txBox="1"/>
          <p:nvPr/>
        </p:nvSpPr>
        <p:spPr>
          <a:xfrm>
            <a:off x="1259275" y="2472127"/>
            <a:ext cx="924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AE6032-416C-7BAB-3422-3A2C38560BEB}"/>
              </a:ext>
            </a:extLst>
          </p:cNvPr>
          <p:cNvSpPr txBox="1"/>
          <p:nvPr/>
        </p:nvSpPr>
        <p:spPr>
          <a:xfrm>
            <a:off x="1298131" y="1034469"/>
            <a:ext cx="924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CF6917-75B5-FA73-9425-2975EB858DD1}"/>
              </a:ext>
            </a:extLst>
          </p:cNvPr>
          <p:cNvSpPr txBox="1"/>
          <p:nvPr/>
        </p:nvSpPr>
        <p:spPr>
          <a:xfrm>
            <a:off x="2956883" y="4394274"/>
            <a:ext cx="924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145F64-2A47-A076-EA54-F6A52808BD56}"/>
              </a:ext>
            </a:extLst>
          </p:cNvPr>
          <p:cNvSpPr txBox="1"/>
          <p:nvPr/>
        </p:nvSpPr>
        <p:spPr>
          <a:xfrm>
            <a:off x="3190374" y="5477300"/>
            <a:ext cx="924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R</a:t>
            </a:r>
          </a:p>
        </p:txBody>
      </p:sp>
      <p:sp>
        <p:nvSpPr>
          <p:cNvPr id="2" name="Arrow: Curved Down 1">
            <a:extLst>
              <a:ext uri="{FF2B5EF4-FFF2-40B4-BE49-F238E27FC236}">
                <a16:creationId xmlns:a16="http://schemas.microsoft.com/office/drawing/2014/main" id="{56944E66-EA22-7A9A-DF81-4842F9450DEB}"/>
              </a:ext>
            </a:extLst>
          </p:cNvPr>
          <p:cNvSpPr/>
          <p:nvPr/>
        </p:nvSpPr>
        <p:spPr>
          <a:xfrm rot="2504272">
            <a:off x="1335191" y="1516793"/>
            <a:ext cx="734676" cy="32081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EDC0C55F-45FB-B979-1BAB-A7C8BFF67E05}"/>
              </a:ext>
            </a:extLst>
          </p:cNvPr>
          <p:cNvSpPr/>
          <p:nvPr/>
        </p:nvSpPr>
        <p:spPr>
          <a:xfrm rot="2504272">
            <a:off x="2559807" y="5494172"/>
            <a:ext cx="734676" cy="32081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914DA5BC-6815-2607-21EB-9374CBB209ED}"/>
              </a:ext>
            </a:extLst>
          </p:cNvPr>
          <p:cNvSpPr/>
          <p:nvPr/>
        </p:nvSpPr>
        <p:spPr>
          <a:xfrm rot="8427844">
            <a:off x="1375950" y="2107040"/>
            <a:ext cx="820248" cy="377603"/>
          </a:xfrm>
          <a:prstGeom prst="curvedUp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Curved Up 10">
            <a:extLst>
              <a:ext uri="{FF2B5EF4-FFF2-40B4-BE49-F238E27FC236}">
                <a16:creationId xmlns:a16="http://schemas.microsoft.com/office/drawing/2014/main" id="{AD2F2646-B1C5-A67E-5977-28555926FDB9}"/>
              </a:ext>
            </a:extLst>
          </p:cNvPr>
          <p:cNvSpPr/>
          <p:nvPr/>
        </p:nvSpPr>
        <p:spPr>
          <a:xfrm rot="8427844">
            <a:off x="2508905" y="4816912"/>
            <a:ext cx="895957" cy="351899"/>
          </a:xfrm>
          <a:prstGeom prst="curvedUp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954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AVL Trees,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967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Tx/>
              <a:buBlip>
                <a:blip r:embed="rId3"/>
              </a:buBlip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+mn-cs"/>
              </a:rPr>
              <a:t>Analysis of AVL tree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/>
              <a:ea typeface="ＭＳ Ｐゴシック" charset="0"/>
              <a:cs typeface="Arial" charset="0"/>
            </a:endParaRPr>
          </a:p>
          <a:p>
            <a:pPr lvl="1">
              <a:lnSpc>
                <a:spcPct val="90000"/>
              </a:lnSpc>
              <a:defRPr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average height is 1.01 </a:t>
            </a:r>
            <a:r>
              <a:rPr lang="en-US" altLang="en-US" sz="2400" dirty="0"/>
              <a:t>log</a:t>
            </a:r>
            <a:r>
              <a:rPr lang="en-US" altLang="en-US" sz="2400" baseline="-25000" dirty="0"/>
              <a:t>2</a:t>
            </a:r>
            <a:r>
              <a:rPr lang="en-US" altLang="en-US" sz="2400" i="1" dirty="0"/>
              <a:t>n </a:t>
            </a:r>
            <a:r>
              <a:rPr lang="en-US" altLang="en-US" sz="2400" i="1" dirty="0">
                <a:cs typeface="Times New Roman" panose="02020603050405020304" pitchFamily="18" charset="0"/>
              </a:rPr>
              <a:t>+  </a:t>
            </a:r>
            <a:r>
              <a:rPr lang="en-US" altLang="en-US" sz="2400" dirty="0">
                <a:cs typeface="Times New Roman" panose="02020603050405020304" pitchFamily="18" charset="0"/>
              </a:rPr>
              <a:t>0.1 for large </a:t>
            </a:r>
            <a:r>
              <a:rPr lang="en-US" altLang="en-US" sz="2400" i="1" dirty="0">
                <a:cs typeface="Times New Roman" panose="02020603050405020304" pitchFamily="18" charset="0"/>
              </a:rPr>
              <a:t>n </a:t>
            </a:r>
            <a:r>
              <a:rPr lang="en-US" altLang="en-US" sz="1800" dirty="0">
                <a:cs typeface="Times New Roman" panose="02020603050405020304" pitchFamily="18" charset="0"/>
              </a:rPr>
              <a:t>(found empirically)</a:t>
            </a:r>
            <a:endParaRPr lang="en-US" altLang="en-US" sz="1800" i="1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Search and insertion are in O(</a:t>
            </a:r>
            <a:r>
              <a:rPr lang="en-US" altLang="en-US" sz="2400" dirty="0"/>
              <a:t>log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) 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Deletion is more complicated but is also in O(</a:t>
            </a:r>
            <a:r>
              <a:rPr lang="en-US" altLang="en-US" sz="2400" dirty="0"/>
              <a:t>log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)</a:t>
            </a:r>
            <a:br>
              <a:rPr lang="en-US" altLang="en-US" sz="2400" dirty="0">
                <a:cs typeface="Times New Roman" panose="02020603050405020304" pitchFamily="18" charset="0"/>
              </a:rPr>
            </a:br>
            <a:endParaRPr lang="en-US" altLang="en-US" sz="2400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en-US" sz="2800" dirty="0">
                <a:cs typeface="Times New Roman" panose="02020603050405020304" pitchFamily="18" charset="0"/>
              </a:rPr>
              <a:t>Disadvantages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frequent rotations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Complexity (the need to maintain balances for its nodes)</a:t>
            </a:r>
            <a:br>
              <a:rPr lang="en-US" altLang="en-US" sz="2400" dirty="0">
                <a:cs typeface="Times New Roman" panose="02020603050405020304" pitchFamily="18" charset="0"/>
              </a:rPr>
            </a:br>
            <a:endParaRPr lang="en-US" altLang="en-US" sz="2400" dirty="0">
              <a:cs typeface="Times New Roman" panose="02020603050405020304" pitchFamily="18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65000"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/>
              <a:ea typeface="ＭＳ Ｐゴシック" charset="0"/>
              <a:cs typeface="Arial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Tx/>
              <a:buBlip>
                <a:blip r:embed="rId3"/>
              </a:buBlip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79B983-A3DD-E35E-1DAB-D1A7C728E43E}"/>
              </a:ext>
            </a:extLst>
          </p:cNvPr>
          <p:cNvSpPr txBox="1"/>
          <p:nvPr/>
        </p:nvSpPr>
        <p:spPr>
          <a:xfrm>
            <a:off x="3429000" y="5605749"/>
            <a:ext cx="830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en-US" b="1" dirty="0">
                <a:solidFill>
                  <a:srgbClr val="7030A0"/>
                </a:solidFill>
              </a:rPr>
              <a:t>A similar idea to AVL trees is red-black trees (tolerates the height of one subtree being twice as large as that of the other subtree of the same node)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EFD19B-9FAD-CFDC-26DE-E25195DAB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364" y="1600200"/>
            <a:ext cx="5319184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635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FF0000"/>
                </a:solidFill>
              </a:rPr>
              <a:t>Multiway Search Trees</a:t>
            </a:r>
            <a:endParaRPr sz="3800" b="1" spc="-18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5084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altLang="en-US" sz="2800" b="1" dirty="0">
                <a:solidFill>
                  <a:srgbClr val="000000"/>
                </a:solidFill>
                <a:latin typeface="Arial"/>
              </a:rPr>
              <a:t>Multiway search tree – </a:t>
            </a: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a search tree which allows more than one key in each node</a:t>
            </a:r>
          </a:p>
          <a:p>
            <a:pPr>
              <a:defRPr/>
            </a:pPr>
            <a:endParaRPr lang="en-US" altLang="en-US" sz="800" dirty="0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An </a:t>
            </a:r>
            <a:r>
              <a:rPr lang="en-US" altLang="en-US" sz="24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b="1" dirty="0">
                <a:solidFill>
                  <a:srgbClr val="7030A0"/>
                </a:solidFill>
                <a:latin typeface="Arial"/>
              </a:rPr>
              <a:t>-</a:t>
            </a: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node contains </a:t>
            </a:r>
            <a:r>
              <a:rPr lang="en-US" altLang="en-US" sz="24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b="1" u="sng" dirty="0">
                <a:solidFill>
                  <a:srgbClr val="7030A0"/>
                </a:solidFill>
                <a:latin typeface="Arial"/>
              </a:rPr>
              <a:t>-1</a:t>
            </a: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 ordered keys and has </a:t>
            </a:r>
            <a:r>
              <a:rPr lang="en-US" altLang="en-US" sz="24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children</a:t>
            </a:r>
          </a:p>
          <a:p>
            <a:pPr lvl="1"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such that its keys divide the entire key range into </a:t>
            </a:r>
            <a:r>
              <a:rPr lang="en-US" altLang="en-US" sz="24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 intervals pointed to by the node’s links to its </a:t>
            </a:r>
            <a:r>
              <a:rPr lang="en-US" altLang="en-US" sz="24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 children</a:t>
            </a:r>
          </a:p>
          <a:p>
            <a:pPr lvl="1">
              <a:defRPr/>
            </a:pPr>
            <a:endParaRPr lang="en-US" altLang="en-US" sz="24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endParaRPr lang="en-US" altLang="en-US" sz="2400" dirty="0">
              <a:solidFill>
                <a:srgbClr val="000000"/>
              </a:solidFill>
              <a:latin typeface="Arial"/>
            </a:endParaRPr>
          </a:p>
          <a:p>
            <a:pPr marL="457200" lvl="1" indent="0">
              <a:buNone/>
              <a:defRPr/>
            </a:pPr>
            <a:endParaRPr lang="en-US" altLang="en-US" sz="24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endParaRPr lang="en-US" altLang="en-US" sz="24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endParaRPr lang="en-US" altLang="en-US" sz="24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endParaRPr lang="en-US" altLang="en-US" sz="1200" dirty="0">
              <a:solidFill>
                <a:srgbClr val="000000"/>
              </a:solidFill>
              <a:latin typeface="Arial"/>
            </a:endParaRPr>
          </a:p>
          <a:p>
            <a:pPr lvl="1"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and thus, every node in a classical binary search tree is a 2-node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ABD4B31-649B-FF22-4E23-D9AA58EAB488}"/>
              </a:ext>
            </a:extLst>
          </p:cNvPr>
          <p:cNvGrpSpPr/>
          <p:nvPr/>
        </p:nvGrpSpPr>
        <p:grpSpPr>
          <a:xfrm>
            <a:off x="5562600" y="3505200"/>
            <a:ext cx="5867400" cy="1998662"/>
            <a:chOff x="2971800" y="3640138"/>
            <a:chExt cx="5867400" cy="1998662"/>
          </a:xfrm>
        </p:grpSpPr>
        <p:sp>
          <p:nvSpPr>
            <p:cNvPr id="2" name="Oval 4">
              <a:extLst>
                <a:ext uri="{FF2B5EF4-FFF2-40B4-BE49-F238E27FC236}">
                  <a16:creationId xmlns:a16="http://schemas.microsoft.com/office/drawing/2014/main" id="{37A968C7-52BF-4BA7-AF04-3783802C4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3640138"/>
              <a:ext cx="3657600" cy="85566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 i="1" dirty="0">
                  <a:solidFill>
                    <a:srgbClr val="001932"/>
                  </a:solidFill>
                  <a:ea typeface="+mn-ea"/>
                </a:rPr>
                <a:t>k</a:t>
              </a:r>
              <a:r>
                <a:rPr kumimoji="0" lang="en-US" altLang="en-US" b="0" baseline="-25000" dirty="0">
                  <a:solidFill>
                    <a:srgbClr val="001932"/>
                  </a:solidFill>
                  <a:ea typeface="+mn-ea"/>
                </a:rPr>
                <a:t>1</a:t>
              </a:r>
              <a:r>
                <a:rPr kumimoji="0" lang="en-US" altLang="en-US" b="0" dirty="0">
                  <a:solidFill>
                    <a:srgbClr val="001932"/>
                  </a:solidFill>
                  <a:ea typeface="+mn-ea"/>
                </a:rPr>
                <a:t>  &lt;  </a:t>
              </a:r>
              <a:r>
                <a:rPr kumimoji="0" lang="en-US" altLang="en-US" b="0" i="1" dirty="0">
                  <a:solidFill>
                    <a:srgbClr val="001932"/>
                  </a:solidFill>
                  <a:ea typeface="+mn-ea"/>
                </a:rPr>
                <a:t>k</a:t>
              </a:r>
              <a:r>
                <a:rPr kumimoji="0" lang="en-US" altLang="en-US" b="0" baseline="-25000" dirty="0">
                  <a:solidFill>
                    <a:srgbClr val="001932"/>
                  </a:solidFill>
                  <a:ea typeface="+mn-ea"/>
                </a:rPr>
                <a:t>2</a:t>
              </a:r>
              <a:r>
                <a:rPr kumimoji="0" lang="en-US" altLang="en-US" b="0" i="1" baseline="-25000" dirty="0">
                  <a:solidFill>
                    <a:srgbClr val="001932"/>
                  </a:solidFill>
                  <a:ea typeface="+mn-ea"/>
                </a:rPr>
                <a:t>  </a:t>
              </a:r>
              <a:r>
                <a:rPr kumimoji="0" lang="en-US" altLang="en-US" b="0" i="1" dirty="0">
                  <a:solidFill>
                    <a:srgbClr val="001932"/>
                  </a:solidFill>
                  <a:ea typeface="+mn-ea"/>
                </a:rPr>
                <a:t>&lt; </a:t>
              </a:r>
              <a:r>
                <a:rPr kumimoji="0" lang="en-US" altLang="en-US" b="0" dirty="0">
                  <a:solidFill>
                    <a:srgbClr val="001932"/>
                  </a:solidFill>
                  <a:ea typeface="+mn-ea"/>
                </a:rPr>
                <a:t>… &lt;  </a:t>
              </a:r>
              <a:r>
                <a:rPr kumimoji="0" lang="en-US" altLang="en-US" b="0" i="1" dirty="0">
                  <a:solidFill>
                    <a:srgbClr val="001932"/>
                  </a:solidFill>
                  <a:ea typeface="+mn-ea"/>
                </a:rPr>
                <a:t>k</a:t>
              </a:r>
              <a:r>
                <a:rPr kumimoji="0" lang="en-US" altLang="en-US" b="0" baseline="-25000" dirty="0">
                  <a:solidFill>
                    <a:srgbClr val="001932"/>
                  </a:solidFill>
                  <a:ea typeface="+mn-ea"/>
                </a:rPr>
                <a:t>n-1</a:t>
              </a:r>
              <a:endParaRPr kumimoji="0" lang="en-US" altLang="en-US" b="0" baseline="-25000" dirty="0">
                <a:solidFill>
                  <a:srgbClr val="FFFFFF"/>
                </a:solidFill>
                <a:ea typeface="+mn-ea"/>
              </a:endParaRPr>
            </a:p>
          </p:txBody>
        </p:sp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C9C86A25-0C51-4F79-66BF-D7155F414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5029200"/>
              <a:ext cx="1066800" cy="6096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>
                  <a:solidFill>
                    <a:srgbClr val="001932"/>
                  </a:solidFill>
                  <a:ea typeface="+mn-ea"/>
                </a:rPr>
                <a:t>&lt; </a:t>
              </a:r>
              <a:r>
                <a:rPr kumimoji="0" lang="en-US" altLang="en-US" b="0" i="1">
                  <a:solidFill>
                    <a:srgbClr val="001932"/>
                  </a:solidFill>
                  <a:ea typeface="+mn-ea"/>
                </a:rPr>
                <a:t>k</a:t>
              </a:r>
              <a:r>
                <a:rPr kumimoji="0" lang="en-US" altLang="en-US" b="0" baseline="-25000">
                  <a:solidFill>
                    <a:srgbClr val="001932"/>
                  </a:solidFill>
                  <a:ea typeface="+mn-ea"/>
                </a:rPr>
                <a:t>1</a:t>
              </a:r>
              <a:endParaRPr kumimoji="0" lang="en-US" altLang="en-US" b="0" baseline="-25000">
                <a:solidFill>
                  <a:srgbClr val="FFFFFF"/>
                </a:solidFill>
                <a:ea typeface="+mn-ea"/>
              </a:endParaRPr>
            </a:p>
          </p:txBody>
        </p:sp>
        <p:sp>
          <p:nvSpPr>
            <p:cNvPr id="5" name="Oval 6">
              <a:extLst>
                <a:ext uri="{FF2B5EF4-FFF2-40B4-BE49-F238E27FC236}">
                  <a16:creationId xmlns:a16="http://schemas.microsoft.com/office/drawing/2014/main" id="{07E9985D-5397-AA7C-EB70-AE3D444E1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5029200"/>
              <a:ext cx="1295400" cy="6096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 dirty="0">
                  <a:solidFill>
                    <a:srgbClr val="001932"/>
                  </a:solidFill>
                  <a:ea typeface="+mn-ea"/>
                </a:rPr>
                <a:t>[</a:t>
              </a:r>
              <a:r>
                <a:rPr kumimoji="0" lang="en-US" altLang="en-US" b="0" i="1" dirty="0">
                  <a:solidFill>
                    <a:srgbClr val="001932"/>
                  </a:solidFill>
                  <a:ea typeface="+mn-ea"/>
                </a:rPr>
                <a:t>k</a:t>
              </a:r>
              <a:r>
                <a:rPr kumimoji="0" lang="en-US" altLang="en-US" b="0" baseline="-25000" dirty="0">
                  <a:solidFill>
                    <a:srgbClr val="001932"/>
                  </a:solidFill>
                  <a:ea typeface="+mn-ea"/>
                </a:rPr>
                <a:t>1</a:t>
              </a:r>
              <a:r>
                <a:rPr kumimoji="0" lang="en-US" altLang="en-US" b="0" dirty="0">
                  <a:solidFill>
                    <a:srgbClr val="001932"/>
                  </a:solidFill>
                  <a:ea typeface="+mn-ea"/>
                </a:rPr>
                <a:t>, </a:t>
              </a:r>
              <a:r>
                <a:rPr kumimoji="0" lang="en-US" altLang="en-US" b="0" i="1" dirty="0">
                  <a:solidFill>
                    <a:srgbClr val="001932"/>
                  </a:solidFill>
                  <a:ea typeface="+mn-ea"/>
                </a:rPr>
                <a:t>k</a:t>
              </a:r>
              <a:r>
                <a:rPr kumimoji="0" lang="en-US" altLang="en-US" b="0" baseline="-25000" dirty="0">
                  <a:solidFill>
                    <a:srgbClr val="001932"/>
                  </a:solidFill>
                  <a:ea typeface="+mn-ea"/>
                </a:rPr>
                <a:t>2</a:t>
              </a:r>
              <a:r>
                <a:rPr kumimoji="0" lang="en-US" altLang="en-US" b="0" dirty="0">
                  <a:solidFill>
                    <a:srgbClr val="001932"/>
                  </a:solidFill>
                  <a:ea typeface="+mn-ea"/>
                </a:rPr>
                <a:t>)</a:t>
              </a:r>
              <a:endParaRPr kumimoji="0" lang="en-US" altLang="en-US" b="0" dirty="0">
                <a:solidFill>
                  <a:srgbClr val="FFFFFF"/>
                </a:solidFill>
                <a:ea typeface="+mn-ea"/>
              </a:endParaRP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83A26EF1-7407-4C8F-1703-4DC73EDD7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0" y="5029200"/>
              <a:ext cx="1219200" cy="5334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Monotype Sorts" pitchFamily="2" charset="2"/>
                <a:buChar char="b"/>
                <a:defRPr kumimoji="1" sz="24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A50021"/>
                </a:buClr>
                <a:buChar char="•"/>
                <a:defRPr kumimoji="1" sz="2000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A50021"/>
                </a:buClr>
                <a:buChar char="–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Char char="»"/>
                <a:defRPr kumimoji="1" b="1">
                  <a:solidFill>
                    <a:srgbClr val="FFFF99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spcBef>
                  <a:spcPct val="0"/>
                </a:spcBef>
                <a:buClrTx/>
                <a:buSzTx/>
                <a:buNone/>
              </a:pPr>
              <a:r>
                <a:rPr kumimoji="0" lang="en-US" altLang="en-US" b="0">
                  <a:solidFill>
                    <a:srgbClr val="001932"/>
                  </a:solidFill>
                  <a:ea typeface="+mn-ea"/>
                  <a:sym typeface="Symbol" panose="05050102010706020507" pitchFamily="18" charset="2"/>
                </a:rPr>
                <a:t></a:t>
              </a:r>
              <a:r>
                <a:rPr kumimoji="0" lang="en-US" altLang="en-US" b="0">
                  <a:solidFill>
                    <a:srgbClr val="001932"/>
                  </a:solidFill>
                  <a:ea typeface="+mn-ea"/>
                </a:rPr>
                <a:t> </a:t>
              </a:r>
              <a:r>
                <a:rPr kumimoji="0" lang="en-US" altLang="en-US" b="0" i="1">
                  <a:solidFill>
                    <a:srgbClr val="001932"/>
                  </a:solidFill>
                  <a:ea typeface="+mn-ea"/>
                </a:rPr>
                <a:t>k</a:t>
              </a:r>
              <a:r>
                <a:rPr kumimoji="0" lang="en-US" altLang="en-US" b="0" i="1" baseline="-25000">
                  <a:solidFill>
                    <a:srgbClr val="001932"/>
                  </a:solidFill>
                  <a:ea typeface="+mn-ea"/>
                </a:rPr>
                <a:t>n-</a:t>
              </a:r>
              <a:r>
                <a:rPr kumimoji="0" lang="en-US" altLang="en-US" b="0" baseline="-25000">
                  <a:solidFill>
                    <a:srgbClr val="001932"/>
                  </a:solidFill>
                  <a:ea typeface="+mn-ea"/>
                </a:rPr>
                <a:t>1</a:t>
              </a:r>
              <a:endParaRPr kumimoji="0" lang="en-US" altLang="en-US" b="0" baseline="-25000">
                <a:solidFill>
                  <a:srgbClr val="FFFFFF"/>
                </a:solidFill>
                <a:ea typeface="+mn-ea"/>
              </a:endParaRPr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EDD83A1B-D17A-9125-1DCC-B76A0C7DF1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5200" y="4343400"/>
              <a:ext cx="1295400" cy="6858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sz="240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13A14619-7EFB-06F1-C254-B56EE2B17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4495800"/>
              <a:ext cx="0" cy="5334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sz="240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241B80A1-FE44-3856-9AED-8590A0CA01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96200" y="4343400"/>
              <a:ext cx="533400" cy="6858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sz="2400">
                <a:solidFill>
                  <a:srgbClr val="FFFFFF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F074EC7-8E58-A632-DF41-CB351EF1B18D}"/>
              </a:ext>
            </a:extLst>
          </p:cNvPr>
          <p:cNvSpPr txBox="1"/>
          <p:nvPr/>
        </p:nvSpPr>
        <p:spPr>
          <a:xfrm>
            <a:off x="2362199" y="3902551"/>
            <a:ext cx="2743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Different types of multiway search trees are modifications of this architecture</a:t>
            </a:r>
          </a:p>
        </p:txBody>
      </p:sp>
    </p:spTree>
    <p:extLst>
      <p:ext uri="{BB962C8B-B14F-4D97-AF65-F5344CB8AC3E}">
        <p14:creationId xmlns:p14="http://schemas.microsoft.com/office/powerpoint/2010/main" val="1381215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FFC000"/>
                </a:solidFill>
              </a:rPr>
              <a:t>2-3 Trees</a:t>
            </a:r>
            <a:endParaRPr sz="3800" b="1" spc="-18" dirty="0">
              <a:solidFill>
                <a:srgbClr val="FFC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2942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altLang="en-US" sz="2800" dirty="0"/>
              <a:t>A </a:t>
            </a:r>
            <a:r>
              <a:rPr lang="en-US" altLang="en-US" sz="2800" b="1" dirty="0"/>
              <a:t>2-3 tree</a:t>
            </a:r>
            <a:r>
              <a:rPr lang="en-US" altLang="en-US" sz="2800" dirty="0"/>
              <a:t> is a </a:t>
            </a:r>
            <a:r>
              <a:rPr lang="en-US" altLang="en-US" sz="2800" b="1" u="sng" dirty="0">
                <a:solidFill>
                  <a:srgbClr val="7030A0"/>
                </a:solidFill>
              </a:rPr>
              <a:t>multiway</a:t>
            </a:r>
            <a:r>
              <a:rPr lang="en-US" altLang="en-US" sz="2800" b="1" dirty="0">
                <a:solidFill>
                  <a:srgbClr val="7030A0"/>
                </a:solidFill>
              </a:rPr>
              <a:t> </a:t>
            </a:r>
            <a:r>
              <a:rPr lang="en-US" altLang="en-US" sz="2800" b="1" u="sng" dirty="0">
                <a:solidFill>
                  <a:srgbClr val="7030A0"/>
                </a:solidFill>
              </a:rPr>
              <a:t>balanced</a:t>
            </a:r>
            <a:r>
              <a:rPr lang="en-US" altLang="en-US" sz="2800" b="1" dirty="0">
                <a:solidFill>
                  <a:srgbClr val="7030A0"/>
                </a:solidFill>
              </a:rPr>
              <a:t> search tree</a:t>
            </a:r>
          </a:p>
          <a:p>
            <a:pPr lvl="1">
              <a:defRPr/>
            </a:pPr>
            <a:r>
              <a:rPr lang="en-US" sz="2400" dirty="0">
                <a:cs typeface="Arial" charset="0"/>
              </a:rPr>
              <a:t>It is an example of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ＭＳ Ｐゴシック" charset="0"/>
                <a:cs typeface="+mn-cs"/>
              </a:rPr>
              <a:t>representation change</a:t>
            </a:r>
          </a:p>
          <a:p>
            <a:pPr marL="0" indent="0">
              <a:buNone/>
              <a:defRPr/>
            </a:pPr>
            <a:endParaRPr lang="en-US" altLang="en-US" sz="800" noProof="0" dirty="0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r>
              <a:rPr lang="en-US" altLang="en-US" sz="2800" dirty="0">
                <a:solidFill>
                  <a:srgbClr val="000000"/>
                </a:solidFill>
                <a:latin typeface="Arial"/>
              </a:rPr>
              <a:t>Specifically, a </a:t>
            </a:r>
            <a:r>
              <a:rPr lang="en-US" altLang="en-US" sz="2800" b="1" dirty="0">
                <a:solidFill>
                  <a:srgbClr val="000000"/>
                </a:solidFill>
                <a:latin typeface="Arial"/>
              </a:rPr>
              <a:t>2-3 tree </a:t>
            </a:r>
            <a:r>
              <a:rPr lang="en-US" altLang="en-US" sz="2800" dirty="0">
                <a:solidFill>
                  <a:srgbClr val="000000"/>
                </a:solidFill>
                <a:latin typeface="Arial"/>
              </a:rPr>
              <a:t>is a search tree that</a:t>
            </a:r>
          </a:p>
          <a:p>
            <a:pPr lvl="1"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may have 2-nodes and 3-nodes</a:t>
            </a:r>
          </a:p>
          <a:p>
            <a:pPr lvl="1"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is height-balanced </a:t>
            </a:r>
            <a:r>
              <a:rPr lang="en-US" altLang="en-US" sz="2000" dirty="0">
                <a:solidFill>
                  <a:srgbClr val="000000"/>
                </a:solidFill>
                <a:latin typeface="Arial"/>
              </a:rPr>
              <a:t>(all leaves are on the same level)</a:t>
            </a:r>
          </a:p>
          <a:p>
            <a:pPr marL="0" indent="0">
              <a:buNone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0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45DA70-EE89-59F7-FA18-4B7137B885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3856822"/>
            <a:ext cx="7734300" cy="269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640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5FD0C2A-B962-AEAF-D1BC-C28DDB6E0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09800"/>
            <a:ext cx="7287341" cy="414593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2-3 Trees,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874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4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altLang="en-US" sz="2800" dirty="0"/>
              <a:t>A 2-3 tree is constructed</a:t>
            </a:r>
          </a:p>
          <a:p>
            <a:pPr lvl="1">
              <a:defRPr/>
            </a:pPr>
            <a:r>
              <a:rPr lang="en-US" altLang="en-US" sz="2400" dirty="0"/>
              <a:t>by successive insertions of keys into </a:t>
            </a:r>
            <a:r>
              <a:rPr lang="en-US" altLang="en-US" sz="2400" u="sng" dirty="0"/>
              <a:t>leaves</a:t>
            </a:r>
            <a:r>
              <a:rPr lang="en-US" altLang="en-US" sz="2400" dirty="0"/>
              <a:t> of the tree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2D0765DA-A73B-AD68-605D-3F8D12F9E5F6}"/>
              </a:ext>
            </a:extLst>
          </p:cNvPr>
          <p:cNvSpPr txBox="1">
            <a:spLocks/>
          </p:cNvSpPr>
          <p:nvPr/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 algn="r">
              <a:defRPr/>
            </a:pPr>
            <a:fld id="{C65781BD-3F4D-4CA7-A858-CE94DEA3B426}" type="slidenum">
              <a:rPr lang="en-US" smtClean="0">
                <a:solidFill>
                  <a:srgbClr val="000000"/>
                </a:solidFill>
              </a:rPr>
              <a:pPr algn="r">
                <a:defRPr/>
              </a:pPr>
              <a:t>29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C348D57D-35D0-F2AB-A3C7-F148B78EF0E6}"/>
              </a:ext>
            </a:extLst>
          </p:cNvPr>
          <p:cNvSpPr txBox="1">
            <a:spLocks/>
          </p:cNvSpPr>
          <p:nvPr/>
        </p:nvSpPr>
        <p:spPr bwMode="auto">
          <a:xfrm>
            <a:off x="457200" y="2209800"/>
            <a:ext cx="4038600" cy="4136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4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defRPr/>
            </a:pPr>
            <a:r>
              <a:rPr lang="en-US" altLang="en-US" sz="2400" dirty="0"/>
              <a:t>and </a:t>
            </a:r>
            <a:r>
              <a:rPr lang="en-US" altLang="en-US" sz="2400" b="1" dirty="0">
                <a:solidFill>
                  <a:srgbClr val="7030A0"/>
                </a:solidFill>
              </a:rPr>
              <a:t>if the leaf become a </a:t>
            </a:r>
            <a:r>
              <a:rPr lang="en-US" altLang="en-US" sz="2400" b="1">
                <a:solidFill>
                  <a:srgbClr val="7030A0"/>
                </a:solidFill>
              </a:rPr>
              <a:t>4-node (has 3 </a:t>
            </a:r>
            <a:r>
              <a:rPr lang="en-US" altLang="en-US" sz="2400" b="1" dirty="0">
                <a:solidFill>
                  <a:srgbClr val="7030A0"/>
                </a:solidFill>
              </a:rPr>
              <a:t>keys)</a:t>
            </a:r>
            <a:r>
              <a:rPr lang="en-US" altLang="en-US" sz="2400" dirty="0"/>
              <a:t>, it’s split into two with the middle key promoted to the parent</a:t>
            </a:r>
          </a:p>
          <a:p>
            <a:pPr lvl="1">
              <a:defRPr/>
            </a:pPr>
            <a:r>
              <a:rPr lang="en-US" altLang="en-US" sz="2400" dirty="0"/>
              <a:t>and in case of </a:t>
            </a:r>
            <a:r>
              <a:rPr lang="en-US" altLang="en-US" sz="2400" b="1" dirty="0">
                <a:solidFill>
                  <a:srgbClr val="7030A0"/>
                </a:solidFill>
              </a:rPr>
              <a:t>inserting a third key in the root</a:t>
            </a:r>
            <a:r>
              <a:rPr lang="en-US" altLang="en-US" sz="2400" dirty="0"/>
              <a:t>, a new root is created to accept the middle key: can lead to several other node splits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E97540-D79D-DCF3-2F16-8CB05CF997AD}"/>
              </a:ext>
            </a:extLst>
          </p:cNvPr>
          <p:cNvSpPr txBox="1"/>
          <p:nvPr/>
        </p:nvSpPr>
        <p:spPr>
          <a:xfrm>
            <a:off x="4495800" y="2971800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  </a:t>
            </a:r>
            <a:r>
              <a:rPr lang="en-US" b="1" dirty="0">
                <a:solidFill>
                  <a:srgbClr val="00B050"/>
                </a:solidFill>
              </a:rPr>
              <a:t>9           5              8                                                             3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8969B0-A6D9-FEEE-6607-203BD03089EA}"/>
              </a:ext>
            </a:extLst>
          </p:cNvPr>
          <p:cNvSpPr txBox="1"/>
          <p:nvPr/>
        </p:nvSpPr>
        <p:spPr>
          <a:xfrm>
            <a:off x="4800600" y="4274056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  </a:t>
            </a:r>
            <a:r>
              <a:rPr lang="en-US" b="1" dirty="0">
                <a:solidFill>
                  <a:srgbClr val="00B050"/>
                </a:solidFill>
              </a:rPr>
              <a:t>2                                                                        4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E60A65-F343-48BF-6E3F-1D011692387A}"/>
              </a:ext>
            </a:extLst>
          </p:cNvPr>
          <p:cNvSpPr txBox="1"/>
          <p:nvPr/>
        </p:nvSpPr>
        <p:spPr>
          <a:xfrm>
            <a:off x="5334000" y="5879068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  </a:t>
            </a:r>
            <a:r>
              <a:rPr lang="en-US" b="1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362FE3-DBD9-5F19-4698-D65BE94D82BA}"/>
              </a:ext>
            </a:extLst>
          </p:cNvPr>
          <p:cNvSpPr/>
          <p:nvPr/>
        </p:nvSpPr>
        <p:spPr>
          <a:xfrm>
            <a:off x="5638800" y="6093730"/>
            <a:ext cx="45720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5219B61-1433-2C35-C1E5-ABF2725AAB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6108820"/>
            <a:ext cx="482917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712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2-3 Trees,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1563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altLang="en-US" sz="2800" dirty="0"/>
              <a:t>Analysis of 2-3 tree</a:t>
            </a:r>
          </a:p>
          <a:p>
            <a:pPr lvl="1">
              <a:defRPr/>
            </a:pPr>
            <a:r>
              <a:rPr lang="en-US" altLang="en-US" sz="2400" dirty="0"/>
              <a:t>log</a:t>
            </a:r>
            <a:r>
              <a:rPr lang="en-US" altLang="en-US" sz="2400" baseline="-25000" dirty="0"/>
              <a:t>3 </a:t>
            </a:r>
            <a:r>
              <a:rPr lang="en-US" altLang="en-US" sz="2400" dirty="0"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cs typeface="Times New Roman" panose="02020603050405020304" pitchFamily="18" charset="0"/>
              </a:rPr>
              <a:t>n </a:t>
            </a:r>
            <a:r>
              <a:rPr lang="en-US" altLang="en-US" sz="2400" dirty="0">
                <a:cs typeface="Times New Roman" panose="02020603050405020304" pitchFamily="18" charset="0"/>
              </a:rPr>
              <a:t>+ 1) - 1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en-US" sz="2400" i="1" dirty="0"/>
              <a:t>h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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/>
              <a:t>log</a:t>
            </a:r>
            <a:r>
              <a:rPr lang="en-US" altLang="en-US" sz="2400" baseline="-25000" dirty="0"/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 (</a:t>
            </a:r>
            <a:r>
              <a:rPr lang="en-US" altLang="en-US" sz="2400" i="1" dirty="0">
                <a:cs typeface="Times New Roman" panose="02020603050405020304" pitchFamily="18" charset="0"/>
              </a:rPr>
              <a:t>n </a:t>
            </a:r>
            <a:r>
              <a:rPr lang="en-US" altLang="en-US" sz="2400" dirty="0">
                <a:cs typeface="Times New Roman" panose="02020603050405020304" pitchFamily="18" charset="0"/>
              </a:rPr>
              <a:t>+ 1) - 1</a:t>
            </a:r>
          </a:p>
          <a:p>
            <a:pPr lvl="1"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Search, insertion, and deletion are in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sz="2400" dirty="0">
                <a:cs typeface="Times New Roman" panose="02020603050405020304" pitchFamily="18" charset="0"/>
              </a:rPr>
              <a:t>(</a:t>
            </a:r>
            <a:r>
              <a:rPr lang="en-US" altLang="en-US" sz="2400" dirty="0"/>
              <a:t>log </a:t>
            </a:r>
            <a:r>
              <a:rPr lang="en-US" altLang="en-US" sz="2400" i="1" dirty="0"/>
              <a:t>n</a:t>
            </a:r>
            <a:r>
              <a:rPr lang="en-US" altLang="en-US" sz="2400" dirty="0">
                <a:cs typeface="Times New Roman" panose="02020603050405020304" pitchFamily="18" charset="0"/>
              </a:rPr>
              <a:t>) </a:t>
            </a:r>
            <a:br>
              <a:rPr lang="en-US" altLang="en-US" sz="1600" dirty="0">
                <a:cs typeface="Times New Roman" panose="02020603050405020304" pitchFamily="18" charset="0"/>
              </a:rPr>
            </a:br>
            <a:endParaRPr lang="en-US" altLang="en-US" sz="1600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2D0765DA-A73B-AD68-605D-3F8D12F9E5F6}"/>
              </a:ext>
            </a:extLst>
          </p:cNvPr>
          <p:cNvSpPr txBox="1">
            <a:spLocks/>
          </p:cNvSpPr>
          <p:nvPr/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 algn="r">
              <a:defRPr/>
            </a:pPr>
            <a:fld id="{C65781BD-3F4D-4CA7-A858-CE94DEA3B426}" type="slidenum">
              <a:rPr lang="en-US" smtClean="0">
                <a:solidFill>
                  <a:srgbClr val="000000"/>
                </a:solidFill>
              </a:rPr>
              <a:pPr algn="r">
                <a:defRPr/>
              </a:pPr>
              <a:t>30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6A714-7E48-88A9-2627-17AEE140EACD}"/>
              </a:ext>
            </a:extLst>
          </p:cNvPr>
          <p:cNvSpPr txBox="1"/>
          <p:nvPr/>
        </p:nvSpPr>
        <p:spPr>
          <a:xfrm>
            <a:off x="5334000" y="5624927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en-US" b="1" dirty="0">
                <a:solidFill>
                  <a:srgbClr val="7030A0"/>
                </a:solidFill>
              </a:rPr>
              <a:t>The idea of 2-3 tree can be generalized by allowing more keys per node (2-3-4 trees, B-trees)</a:t>
            </a:r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6632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05200" y="2362200"/>
            <a:ext cx="533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+mj-lt"/>
                <a:ea typeface="ＭＳ Ｐゴシック" charset="0"/>
                <a:cs typeface="+mj-cs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296890882"/>
      </p:ext>
    </p:extLst>
  </p:cSld>
  <p:clrMapOvr>
    <a:masterClrMapping/>
  </p:clrMapOvr>
</p:sld>
</file>

<file path=ppt/theme/theme1.xml><?xml version="1.0" encoding="utf-8"?>
<a:theme xmlns:a="http://schemas.openxmlformats.org/drawingml/2006/main" name="DataScienc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DataScience</Template>
  <TotalTime>6378</TotalTime>
  <Words>2117</Words>
  <Application>Microsoft Macintosh PowerPoint</Application>
  <PresentationFormat>Widescreen</PresentationFormat>
  <Paragraphs>289</Paragraphs>
  <Slides>31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Agency FB</vt:lpstr>
      <vt:lpstr>Arial</vt:lpstr>
      <vt:lpstr>Calibri</vt:lpstr>
      <vt:lpstr>MTMI</vt:lpstr>
      <vt:lpstr>MTSYN</vt:lpstr>
      <vt:lpstr>Open Sans</vt:lpstr>
      <vt:lpstr>Symbol</vt:lpstr>
      <vt:lpstr>Times New Roman</vt:lpstr>
      <vt:lpstr>TimesTen-Roman</vt:lpstr>
      <vt:lpstr>DataScience</vt:lpstr>
      <vt:lpstr>Custom Design</vt:lpstr>
      <vt:lpstr>Bitmap Image</vt:lpstr>
      <vt:lpstr>Topic 4</vt:lpstr>
      <vt:lpstr>Transform and Conquer</vt:lpstr>
      <vt:lpstr>PowerPoint Presentation</vt:lpstr>
      <vt:lpstr>Presorting</vt:lpstr>
      <vt:lpstr>Presorting, Contd.</vt:lpstr>
      <vt:lpstr>Example 1: Searching with Presorting</vt:lpstr>
      <vt:lpstr>Example 2: Element Uniqueness with Presorting</vt:lpstr>
      <vt:lpstr>PowerPoint Presentation</vt:lpstr>
      <vt:lpstr>Searching</vt:lpstr>
      <vt:lpstr>Searching, Contd.</vt:lpstr>
      <vt:lpstr>Binary Search Tree</vt:lpstr>
      <vt:lpstr>Binary Search Tree, Contd.</vt:lpstr>
      <vt:lpstr>Binary Search Tree, Contd.</vt:lpstr>
      <vt:lpstr>Binary Search Tree, Contd.</vt:lpstr>
      <vt:lpstr>AVL Trees</vt:lpstr>
      <vt:lpstr>AVL Trees, Contd.</vt:lpstr>
      <vt:lpstr>AVL Trees, Contd.</vt:lpstr>
      <vt:lpstr>AVL Trees, Contd.</vt:lpstr>
      <vt:lpstr>AVL Trees, Contd.</vt:lpstr>
      <vt:lpstr>AVL Trees, Contd.</vt:lpstr>
      <vt:lpstr>AVL Trees, Contd.</vt:lpstr>
      <vt:lpstr>AVL Trees, Contd.</vt:lpstr>
      <vt:lpstr>AVL Trees, Contd.</vt:lpstr>
      <vt:lpstr>AVL Trees, Contd.</vt:lpstr>
      <vt:lpstr>AVL Trees, Contd.</vt:lpstr>
      <vt:lpstr>AVL Trees, Contd.</vt:lpstr>
      <vt:lpstr>Multiway Search Trees</vt:lpstr>
      <vt:lpstr>2-3 Trees</vt:lpstr>
      <vt:lpstr>2-3 Trees, Contd.</vt:lpstr>
      <vt:lpstr>2-3 Trees, Contd.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Science</dc:title>
  <dc:creator>Jf</dc:creator>
  <cp:lastModifiedBy>Am-tmeem Alsa.</cp:lastModifiedBy>
  <cp:revision>241</cp:revision>
  <cp:lastPrinted>2019-09-01T09:07:45Z</cp:lastPrinted>
  <dcterms:created xsi:type="dcterms:W3CDTF">2015-03-22T23:49:48Z</dcterms:created>
  <dcterms:modified xsi:type="dcterms:W3CDTF">2025-02-08T19:07:31Z</dcterms:modified>
</cp:coreProperties>
</file>