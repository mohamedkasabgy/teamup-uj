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78" r:id="rId2"/>
    <p:sldMasterId id="2147484398" r:id="rId3"/>
  </p:sldMasterIdLst>
  <p:notesMasterIdLst>
    <p:notesMasterId r:id="rId31"/>
  </p:notesMasterIdLst>
  <p:handoutMasterIdLst>
    <p:handoutMasterId r:id="rId32"/>
  </p:handoutMasterIdLst>
  <p:sldIdLst>
    <p:sldId id="479" r:id="rId4"/>
    <p:sldId id="481" r:id="rId5"/>
    <p:sldId id="524" r:id="rId6"/>
    <p:sldId id="534" r:id="rId7"/>
    <p:sldId id="535" r:id="rId8"/>
    <p:sldId id="548" r:id="rId9"/>
    <p:sldId id="547" r:id="rId10"/>
    <p:sldId id="549" r:id="rId11"/>
    <p:sldId id="552" r:id="rId12"/>
    <p:sldId id="551" r:id="rId13"/>
    <p:sldId id="525" r:id="rId14"/>
    <p:sldId id="539" r:id="rId15"/>
    <p:sldId id="537" r:id="rId16"/>
    <p:sldId id="538" r:id="rId17"/>
    <p:sldId id="527" r:id="rId18"/>
    <p:sldId id="542" r:id="rId19"/>
    <p:sldId id="543" r:id="rId20"/>
    <p:sldId id="528" r:id="rId21"/>
    <p:sldId id="502" r:id="rId22"/>
    <p:sldId id="529" r:id="rId23"/>
    <p:sldId id="530" r:id="rId24"/>
    <p:sldId id="544" r:id="rId25"/>
    <p:sldId id="531" r:id="rId26"/>
    <p:sldId id="545" r:id="rId27"/>
    <p:sldId id="532" r:id="rId28"/>
    <p:sldId id="546" r:id="rId29"/>
    <p:sldId id="533" r:id="rId30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tthew Hayes" initials="" lastIdx="2" clrIdx="0"/>
  <p:cmAuthor id="1" name="Graeme Malcolm" initials="GM" lastIdx="9" clrIdx="1">
    <p:extLst>
      <p:ext uri="{19B8F6BF-5375-455C-9EA6-DF929625EA0E}">
        <p15:presenceInfo xmlns:p15="http://schemas.microsoft.com/office/powerpoint/2012/main" userId="S-1-5-21-2127521184-1604012920-1887927527-565654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0050"/>
    <a:srgbClr val="5A8DE6"/>
    <a:srgbClr val="0000CC"/>
    <a:srgbClr val="FFFFCC"/>
    <a:srgbClr val="FFFFFF"/>
    <a:srgbClr val="000066"/>
    <a:srgbClr val="BBAE54"/>
    <a:srgbClr val="2C0000"/>
    <a:srgbClr val="3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03" autoAdjust="0"/>
    <p:restoredTop sz="88889" autoAdjust="0"/>
  </p:normalViewPr>
  <p:slideViewPr>
    <p:cSldViewPr>
      <p:cViewPr>
        <p:scale>
          <a:sx n="61" d="100"/>
          <a:sy n="61" d="100"/>
        </p:scale>
        <p:origin x="1330" y="31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8947"/>
    </p:cViewPr>
  </p:outlineViewPr>
  <p:notesTextViewPr>
    <p:cViewPr>
      <p:scale>
        <a:sx n="150" d="100"/>
        <a:sy n="150" d="100"/>
      </p:scale>
      <p:origin x="0" y="-350"/>
    </p:cViewPr>
  </p:notesTextViewPr>
  <p:sorterViewPr>
    <p:cViewPr>
      <p:scale>
        <a:sx n="100" d="100"/>
        <a:sy n="100" d="100"/>
      </p:scale>
      <p:origin x="0" y="-3974"/>
    </p:cViewPr>
  </p:sorterViewPr>
  <p:notesViewPr>
    <p:cSldViewPr>
      <p:cViewPr varScale="1">
        <p:scale>
          <a:sx n="61" d="100"/>
          <a:sy n="61" d="100"/>
        </p:scale>
        <p:origin x="1632" y="38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260F0ECF-F84D-43BE-A58E-0DB2F99E2671}" type="datetimeFigureOut">
              <a:rPr lang="en-US" altLang="en-US"/>
              <a:pPr>
                <a:defRPr/>
              </a:pPr>
              <a:t>4/8/2026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A312E49B-09D1-47A2-B871-8DE206184B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130376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FCC8B620-7FB1-4D4A-893E-5909C901B9B8}" type="datetimeFigureOut">
              <a:rPr lang="en-US" altLang="en-US"/>
              <a:pPr>
                <a:defRPr/>
              </a:pPr>
              <a:t>4/8/2026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5929A2E2-B731-4145-A8A4-FEBDEFC5FF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179171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433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969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747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1302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857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74E25-15DD-9DC4-D071-941A2415A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D949A830-B0C8-1D2B-F0B5-A15948802F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11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8FF67-9676-30F4-36DE-8B9AF9AAD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244417C8-7908-25E8-DBD2-873317903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254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67470-284F-37F8-6BC4-D51F4D091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1D336966-2413-B8D6-4B31-B011484B0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577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E2144-8555-89A7-5184-DA7EA820D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04171106-218E-0969-4708-0362698E0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789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75410-BB05-A59C-774B-CFCCE9385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9A8AD54D-5967-1DA8-8082-E6C0F3551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9388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5129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7503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3287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compute Theta in the worst case and not Big O since we are considering cases not solutions</a:t>
            </a:r>
          </a:p>
        </p:txBody>
      </p:sp>
    </p:spTree>
    <p:extLst>
      <p:ext uri="{BB962C8B-B14F-4D97-AF65-F5344CB8AC3E}">
        <p14:creationId xmlns:p14="http://schemas.microsoft.com/office/powerpoint/2010/main" val="42149400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2624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solidFill>
                  <a:srgbClr val="111111"/>
                </a:solidFill>
                <a:effectLst/>
                <a:latin typeface="Open Sans" panose="020B0606030504020204" pitchFamily="34" charset="0"/>
              </a:rPr>
              <a:t>Pythagoras method is most related to Euclidean distance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447426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One can avoid computing square roots by comparing distance squares instead. In that case square root will be needed only once after the loop is terminated.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8911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9692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Permutations</a:t>
            </a:r>
            <a:r>
              <a:rPr lang="en-AU" dirty="0"/>
              <a:t>: Order matters, used when arranging elements.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Example:</a:t>
            </a:r>
            <a:r>
              <a:rPr lang="en-AU" dirty="0"/>
              <a:t> For the set {A,B,C}, the permutations of choosing 2 elements are AB, AC, BA, BC, CA, and CB.</a:t>
            </a:r>
          </a:p>
          <a:p>
            <a:pPr>
              <a:buFont typeface="Arial" panose="020B0604020202020204" pitchFamily="34" charset="0"/>
              <a:buChar char="•"/>
            </a:pPr>
            <a:endParaRPr lang="en-AU" dirty="0"/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Combinations</a:t>
            </a:r>
            <a:r>
              <a:rPr lang="en-AU" dirty="0"/>
              <a:t>: Order does not matter, used when choosing elements.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Example:</a:t>
            </a:r>
            <a:r>
              <a:rPr lang="en-AU" dirty="0"/>
              <a:t> For the set {A,B,C}, the combinations of choosing 2 elements are AB, AC, and BC. (Order does not matter here.)</a:t>
            </a:r>
          </a:p>
          <a:p>
            <a:pPr>
              <a:buFont typeface="Arial" panose="020B0604020202020204" pitchFamily="34" charset="0"/>
              <a:buChar char="•"/>
            </a:pPr>
            <a:endParaRPr lang="en-AU" dirty="0"/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Subsets</a:t>
            </a:r>
            <a:r>
              <a:rPr lang="en-AU" dirty="0"/>
              <a:t>: All possible collections of elements, including none or all of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Example:</a:t>
            </a:r>
            <a:r>
              <a:rPr lang="en-AU" dirty="0"/>
              <a:t> For the set {A,B,C}, the subsets are ∅, {A}, {B}, {C}, {A,B}, {A</a:t>
            </a:r>
            <a:r>
              <a:rPr lang="en-AU"/>
              <a:t>, B}, </a:t>
            </a:r>
            <a:r>
              <a:rPr lang="en-AU" dirty="0"/>
              <a:t>{A,</a:t>
            </a:r>
            <a:r>
              <a:rPr lang="en-AU"/>
              <a:t>C}, </a:t>
            </a:r>
            <a:r>
              <a:rPr lang="en-AU" dirty="0"/>
              <a:t>{B,</a:t>
            </a:r>
            <a:r>
              <a:rPr lang="en-AU"/>
              <a:t>C}, </a:t>
            </a:r>
            <a:r>
              <a:rPr lang="en-AU" dirty="0"/>
              <a:t>and {A,B,</a:t>
            </a:r>
            <a:r>
              <a:rPr lang="en-AU"/>
              <a:t>C}.</a:t>
            </a:r>
            <a:endParaRPr lang="en-AU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528996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0924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4729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6166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b="1" i="0" dirty="0"/>
              <a:t>Number of subsets is 15 (excluding empty subset)</a:t>
            </a:r>
          </a:p>
          <a:p>
            <a:r>
              <a:rPr lang="en-US" altLang="en-US" i="1" dirty="0"/>
              <a:t>Omega(</a:t>
            </a:r>
            <a:r>
              <a:rPr lang="en-US" altLang="en-US" dirty="0"/>
              <a:t>2^</a:t>
            </a:r>
            <a:r>
              <a:rPr lang="en-US" altLang="en-US" i="1" dirty="0"/>
              <a:t>n), </a:t>
            </a:r>
            <a:r>
              <a:rPr lang="en-US" altLang="en-US" dirty="0"/>
              <a:t>no matter how efficiently individual subsets are generated</a:t>
            </a:r>
          </a:p>
          <a:p>
            <a:r>
              <a:rPr lang="en-US" altLang="en-US" dirty="0"/>
              <a:t>The TSP and knapsack problem are the best-known examples of so-called </a:t>
            </a:r>
            <a:r>
              <a:rPr lang="en-US" altLang="en-US" b="1" i="1" dirty="0"/>
              <a:t>NP-hard problems</a:t>
            </a:r>
            <a:r>
              <a:rPr lang="en-US" altLang="en-US" dirty="0"/>
              <a:t>; No polynomial-time algorithm is known for any </a:t>
            </a:r>
            <a:r>
              <a:rPr lang="en-US" altLang="en-US" i="1" dirty="0"/>
              <a:t>NP-</a:t>
            </a:r>
            <a:r>
              <a:rPr lang="en-US" altLang="en-US" dirty="0"/>
              <a:t>hard problem</a:t>
            </a:r>
          </a:p>
        </p:txBody>
      </p:sp>
    </p:spTree>
    <p:extLst>
      <p:ext uri="{BB962C8B-B14F-4D97-AF65-F5344CB8AC3E}">
        <p14:creationId xmlns:p14="http://schemas.microsoft.com/office/powerpoint/2010/main" val="18249344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7683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compute Big O and not Theta in the worst case since we are considering solutions not cases</a:t>
            </a:r>
          </a:p>
        </p:txBody>
      </p:sp>
    </p:spTree>
    <p:extLst>
      <p:ext uri="{BB962C8B-B14F-4D97-AF65-F5344CB8AC3E}">
        <p14:creationId xmlns:p14="http://schemas.microsoft.com/office/powerpoint/2010/main" val="37543458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The Hungarian method is defined as a combinatorial optimization technique that solves the assignment problems in polynomial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417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>
            <a:lvl1pPr>
              <a:defRPr sz="4000" b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75513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19200"/>
          </a:xfrm>
        </p:spPr>
        <p:txBody>
          <a:bodyPr/>
          <a:lstStyle>
            <a:lvl1pPr>
              <a:defRPr sz="3600" b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5262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48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8576"/>
            <a:ext cx="12192000" cy="1247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81202"/>
            <a:ext cx="5384800" cy="3916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2"/>
            <a:ext cx="5384800" cy="3916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43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8265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8576"/>
            <a:ext cx="12192000" cy="1247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1999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96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7856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8576"/>
            <a:ext cx="12192000" cy="1247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612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90602"/>
            <a:ext cx="2743200" cy="4906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90602"/>
            <a:ext cx="8026400" cy="4906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620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90600"/>
            <a:ext cx="109728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81202"/>
            <a:ext cx="5384800" cy="3916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1"/>
            <a:ext cx="5384800" cy="1881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014790"/>
            <a:ext cx="5384800" cy="1882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825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Media" preserve="1">
  <p:cSld name="Title, Text and Media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90600"/>
            <a:ext cx="109728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981202"/>
            <a:ext cx="5384800" cy="3916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Media Placeholder 3"/>
          <p:cNvSpPr>
            <a:spLocks noGrp="1"/>
          </p:cNvSpPr>
          <p:nvPr>
            <p:ph type="media" sz="half" idx="2"/>
          </p:nvPr>
        </p:nvSpPr>
        <p:spPr>
          <a:xfrm>
            <a:off x="6197600" y="1981202"/>
            <a:ext cx="5384800" cy="3916363"/>
          </a:xfrm>
        </p:spPr>
        <p:txBody>
          <a:bodyPr/>
          <a:lstStyle/>
          <a:p>
            <a:pPr lvl="0"/>
            <a:r>
              <a:rPr lang="en-US" noProof="0"/>
              <a:t>Click icon to add media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961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990602"/>
            <a:ext cx="10972800" cy="4906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595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A585E1-CF01-406D-858C-101913AACD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2728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7BED28-CF36-4AE1-B3BC-441DDA300B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83907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7AB5C3-E46F-47EA-B2C7-0537058F2B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15900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11607-FEDE-4B3C-B093-8F69E31FE0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3591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A3879A-5510-441C-AF5A-BB7EDDA569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30370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A0A3C-4E93-4AE8-9691-5880DE9519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6478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190B27-A95E-4E85-A968-48FC38C18B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96243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B2C8D-9373-4A5C-966D-3D5A3E53D1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59022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5217E3-9142-477F-B01F-5956A03AE7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85203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2FD06C-BD9A-4128-BB6C-2F9A3DB4FA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43557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FAFB62-30DA-4A3E-98AA-4C489BA2EE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65834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57C07769-1AF4-4483-A15F-523E65EAF4F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E054756C-1162-44E0-A955-98A380AFAC4A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5760" cy="535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4577F350-74C7-4B89-8380-ED1EF3137212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147"/>
              <a:ext cx="5760" cy="1173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folHlink"/>
                </a:gs>
              </a:gsLst>
              <a:lin ang="5400000" scaled="1"/>
            </a:gradFill>
            <a:ln>
              <a:noFill/>
            </a:ln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</p:grpSp>
      <p:sp>
        <p:nvSpPr>
          <p:cNvPr id="7" name="Rectangle 10">
            <a:extLst>
              <a:ext uri="{FF2B5EF4-FFF2-40B4-BE49-F238E27FC236}">
                <a16:creationId xmlns:a16="http://schemas.microsoft.com/office/drawing/2014/main" id="{060C47F6-E11D-413C-A406-8EA73E738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067" y="2700338"/>
            <a:ext cx="215900" cy="4157662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US" altLang="en-US" sz="2400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10363200" cy="9144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117600" y="1981200"/>
            <a:ext cx="10058400" cy="39624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3FF5D6-31DF-47FF-806D-75A0F64876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727200" y="6248400"/>
            <a:ext cx="2540000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FE0E4E-5248-45A0-8C0A-0E80460491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978400" y="62484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rgbClr val="FFFFFF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Design and Analysis of Algorithms - Chapter 3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0620880-92AC-428A-9AAA-963215DE3F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5504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FFFFFF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fld id="{DE4215AF-9529-4B47-8283-72E6AEBA12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04198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DA3B0870-A9EA-456A-99AB-D1CFD1B8DD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91849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77C449E7-4EB1-4C67-8352-9AA54524F3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55352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266825"/>
            <a:ext cx="5435600" cy="4905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1600" y="1266825"/>
            <a:ext cx="5435600" cy="4905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6C44247-0B4A-48E2-87E5-F249A77121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85140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A1A7397A-457F-42D5-A48E-198F8AD409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6201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FD5BE224-A2B0-4831-9F59-6A9DDB58A0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6729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0E94499D-5D6F-4A7B-AC29-7F7A4ACFCB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32657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75BB37A-7D39-47EB-984E-2BFDB54603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69133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D61EF7A-BF7F-484E-A434-4A2C56D67C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41955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DB10AB1D-1352-4DCF-98F1-3D4CD79450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44084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94800" y="152400"/>
            <a:ext cx="27940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52400"/>
            <a:ext cx="81788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5BC5F403-9C67-4F06-8F31-2EAB709685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79784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52400"/>
            <a:ext cx="111760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2800" y="1266825"/>
            <a:ext cx="5435600" cy="4905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1600" y="1266825"/>
            <a:ext cx="5435600" cy="4905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3B698D3-7924-4A94-B0AD-BC79B96AC3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3041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95400"/>
            <a:ext cx="109728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28575"/>
            <a:ext cx="12192000" cy="9906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92" r:id="rId1"/>
    <p:sldLayoutId id="2147484393" r:id="rId2"/>
    <p:sldLayoutId id="2147484373" r:id="rId3"/>
    <p:sldLayoutId id="2147484374" r:id="rId4"/>
    <p:sldLayoutId id="2147484394" r:id="rId5"/>
    <p:sldLayoutId id="2147484395" r:id="rId6"/>
    <p:sldLayoutId id="2147484396" r:id="rId7"/>
    <p:sldLayoutId id="2147484397" r:id="rId8"/>
    <p:sldLayoutId id="2147484375" r:id="rId9"/>
    <p:sldLayoutId id="2147484376" r:id="rId10"/>
    <p:sldLayoutId id="2147484377" r:id="rId11"/>
    <p:sldLayoutId id="2147484378" r:id="rId12"/>
    <p:sldLayoutId id="2147484379" r:id="rId13"/>
    <p:sldLayoutId id="2147484380" r:id="rId14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ＭＳ Ｐゴシック" charset="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ea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ea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ea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ea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SzPct val="75000"/>
        <a:buBlip>
          <a:blip r:embed="rId17"/>
        </a:buBlip>
        <a:defRPr sz="3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SzPct val="65000"/>
        <a:buBlip>
          <a:blip r:embed="rId18"/>
        </a:buBlip>
        <a:defRPr sz="2800">
          <a:solidFill>
            <a:srgbClr val="000050"/>
          </a:solidFill>
          <a:latin typeface="+mn-lt"/>
          <a:ea typeface="ＭＳ Ｐゴシック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65000"/>
        <a:buBlip>
          <a:blip r:embed="rId19"/>
        </a:buBlip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0BFDEB6E-1DDE-4718-956D-E92CB94A55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81" r:id="rId1"/>
    <p:sldLayoutId id="2147484382" r:id="rId2"/>
    <p:sldLayoutId id="2147484383" r:id="rId3"/>
    <p:sldLayoutId id="2147484384" r:id="rId4"/>
    <p:sldLayoutId id="2147484385" r:id="rId5"/>
    <p:sldLayoutId id="2147484386" r:id="rId6"/>
    <p:sldLayoutId id="2147484387" r:id="rId7"/>
    <p:sldLayoutId id="2147484388" r:id="rId8"/>
    <p:sldLayoutId id="2147484389" r:id="rId9"/>
    <p:sldLayoutId id="2147484390" r:id="rId10"/>
    <p:sldLayoutId id="214748439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">
            <a:extLst>
              <a:ext uri="{FF2B5EF4-FFF2-40B4-BE49-F238E27FC236}">
                <a16:creationId xmlns:a16="http://schemas.microsoft.com/office/drawing/2014/main" id="{F2C8181D-DDF3-4795-9478-3D109A2D3D24}"/>
              </a:ext>
            </a:extLst>
          </p:cNvPr>
          <p:cNvGrpSpPr>
            <a:grpSpLocks/>
          </p:cNvGrpSpPr>
          <p:nvPr/>
        </p:nvGrpSpPr>
        <p:grpSpPr bwMode="auto">
          <a:xfrm>
            <a:off x="11106151" y="733426"/>
            <a:ext cx="960967" cy="531813"/>
            <a:chOff x="5247" y="462"/>
            <a:chExt cx="454" cy="335"/>
          </a:xfrm>
        </p:grpSpPr>
        <p:sp>
          <p:nvSpPr>
            <p:cNvPr id="1047" name="AutoShape 4">
              <a:extLst>
                <a:ext uri="{FF2B5EF4-FFF2-40B4-BE49-F238E27FC236}">
                  <a16:creationId xmlns:a16="http://schemas.microsoft.com/office/drawing/2014/main" id="{EA85BBA6-1B4E-414A-92D1-45C955DB373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5564" y="462"/>
              <a:ext cx="137" cy="335"/>
            </a:xfrm>
            <a:prstGeom prst="parallelogram">
              <a:avLst>
                <a:gd name="adj" fmla="val 52954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48" name="AutoShape 5">
              <a:extLst>
                <a:ext uri="{FF2B5EF4-FFF2-40B4-BE49-F238E27FC236}">
                  <a16:creationId xmlns:a16="http://schemas.microsoft.com/office/drawing/2014/main" id="{572A6559-C6A3-4898-B61D-656A96BBFD3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5407" y="462"/>
              <a:ext cx="138" cy="335"/>
            </a:xfrm>
            <a:prstGeom prst="parallelogram">
              <a:avLst>
                <a:gd name="adj" fmla="val 52954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49" name="AutoShape 6">
              <a:extLst>
                <a:ext uri="{FF2B5EF4-FFF2-40B4-BE49-F238E27FC236}">
                  <a16:creationId xmlns:a16="http://schemas.microsoft.com/office/drawing/2014/main" id="{4456A082-85F8-45FE-A250-7D41FE42212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5247" y="462"/>
              <a:ext cx="138" cy="335"/>
            </a:xfrm>
            <a:prstGeom prst="parallelogram">
              <a:avLst>
                <a:gd name="adj" fmla="val 52954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</p:grpSp>
      <p:grpSp>
        <p:nvGrpSpPr>
          <p:cNvPr id="1027" name="Group 7">
            <a:extLst>
              <a:ext uri="{FF2B5EF4-FFF2-40B4-BE49-F238E27FC236}">
                <a16:creationId xmlns:a16="http://schemas.microsoft.com/office/drawing/2014/main" id="{E1A897DE-D6D9-490A-8152-BCADC875ECF7}"/>
              </a:ext>
            </a:extLst>
          </p:cNvPr>
          <p:cNvGrpSpPr>
            <a:grpSpLocks/>
          </p:cNvGrpSpPr>
          <p:nvPr/>
        </p:nvGrpSpPr>
        <p:grpSpPr bwMode="auto">
          <a:xfrm>
            <a:off x="103717" y="6040439"/>
            <a:ext cx="709083" cy="727075"/>
            <a:chOff x="49" y="3805"/>
            <a:chExt cx="335" cy="458"/>
          </a:xfrm>
        </p:grpSpPr>
        <p:sp>
          <p:nvSpPr>
            <p:cNvPr id="1044" name="AutoShape 8">
              <a:extLst>
                <a:ext uri="{FF2B5EF4-FFF2-40B4-BE49-F238E27FC236}">
                  <a16:creationId xmlns:a16="http://schemas.microsoft.com/office/drawing/2014/main" id="{73BC076C-C86A-43FA-802B-21F78613D7F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148" y="3706"/>
              <a:ext cx="137" cy="335"/>
            </a:xfrm>
            <a:prstGeom prst="parallelogram">
              <a:avLst>
                <a:gd name="adj" fmla="val 52954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45" name="AutoShape 9">
              <a:extLst>
                <a:ext uri="{FF2B5EF4-FFF2-40B4-BE49-F238E27FC236}">
                  <a16:creationId xmlns:a16="http://schemas.microsoft.com/office/drawing/2014/main" id="{5970E003-4FCA-45AB-97CF-3FEA3305FD9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142" y="3869"/>
              <a:ext cx="138" cy="335"/>
            </a:xfrm>
            <a:prstGeom prst="parallelogram">
              <a:avLst>
                <a:gd name="adj" fmla="val 52954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46" name="AutoShape 10">
              <a:extLst>
                <a:ext uri="{FF2B5EF4-FFF2-40B4-BE49-F238E27FC236}">
                  <a16:creationId xmlns:a16="http://schemas.microsoft.com/office/drawing/2014/main" id="{AABDF731-A7D5-4BD8-B851-61624057A41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142" y="4029"/>
              <a:ext cx="138" cy="335"/>
            </a:xfrm>
            <a:prstGeom prst="parallelogram">
              <a:avLst>
                <a:gd name="adj" fmla="val 52954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</p:grpSp>
      <p:sp>
        <p:nvSpPr>
          <p:cNvPr id="3083" name="Rectangle 11">
            <a:extLst>
              <a:ext uri="{FF2B5EF4-FFF2-40B4-BE49-F238E27FC236}">
                <a16:creationId xmlns:a16="http://schemas.microsoft.com/office/drawing/2014/main" id="{709E9DD8-C7F7-4BD3-A250-4B5CAA0620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266825"/>
            <a:ext cx="11074400" cy="4905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84" name="Rectangle 12">
            <a:extLst>
              <a:ext uri="{FF2B5EF4-FFF2-40B4-BE49-F238E27FC236}">
                <a16:creationId xmlns:a16="http://schemas.microsoft.com/office/drawing/2014/main" id="{0F0AAC5A-D04B-4154-B782-F08C6403CD6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34067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400"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87" name="Rectangle 15">
            <a:extLst>
              <a:ext uri="{FF2B5EF4-FFF2-40B4-BE49-F238E27FC236}">
                <a16:creationId xmlns:a16="http://schemas.microsoft.com/office/drawing/2014/main" id="{C8C19609-40B0-45E1-9CE6-982D7CA25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684" y="0"/>
            <a:ext cx="304800" cy="68580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folHlink"/>
              </a:gs>
              <a:gs pos="100000">
                <a:schemeClr val="bg2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defRPr/>
            </a:pPr>
            <a:endParaRPr lang="en-US" altLang="ko-KR" sz="2400">
              <a:ea typeface="굴림" panose="020B0600000101010101" pitchFamily="50" charset="-127"/>
            </a:endParaRPr>
          </a:p>
        </p:txBody>
      </p:sp>
      <p:sp>
        <p:nvSpPr>
          <p:cNvPr id="3088" name="AutoShape 16">
            <a:extLst>
              <a:ext uri="{FF2B5EF4-FFF2-40B4-BE49-F238E27FC236}">
                <a16:creationId xmlns:a16="http://schemas.microsoft.com/office/drawing/2014/main" id="{3FF3A969-29FD-4D3D-B4FC-12F29B9724F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06400" y="914400"/>
            <a:ext cx="11785600" cy="228600"/>
          </a:xfrm>
          <a:prstGeom prst="homePlate">
            <a:avLst>
              <a:gd name="adj" fmla="val 67846"/>
            </a:avLst>
          </a:prstGeom>
          <a:gradFill rotWithShape="0">
            <a:gsLst>
              <a:gs pos="0">
                <a:schemeClr val="bg2"/>
              </a:gs>
              <a:gs pos="50000">
                <a:schemeClr val="folHlink"/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defRPr/>
            </a:pPr>
            <a:endParaRPr lang="en-US" altLang="ko-KR" sz="2400">
              <a:ea typeface="굴림" panose="020B0600000101010101" pitchFamily="50" charset="-127"/>
            </a:endParaRPr>
          </a:p>
        </p:txBody>
      </p:sp>
      <p:sp>
        <p:nvSpPr>
          <p:cNvPr id="1032" name="Rectangle 17">
            <a:extLst>
              <a:ext uri="{FF2B5EF4-FFF2-40B4-BE49-F238E27FC236}">
                <a16:creationId xmlns:a16="http://schemas.microsoft.com/office/drawing/2014/main" id="{70FAE286-60E5-401D-8BA9-28643C9DC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2179638"/>
            <a:ext cx="254000" cy="4678362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US" altLang="en-US" sz="2400"/>
          </a:p>
        </p:txBody>
      </p:sp>
      <p:grpSp>
        <p:nvGrpSpPr>
          <p:cNvPr id="1033" name="Group 18">
            <a:extLst>
              <a:ext uri="{FF2B5EF4-FFF2-40B4-BE49-F238E27FC236}">
                <a16:creationId xmlns:a16="http://schemas.microsoft.com/office/drawing/2014/main" id="{52C72EAF-6C32-42D6-8C46-EC982B5A7D60}"/>
              </a:ext>
            </a:extLst>
          </p:cNvPr>
          <p:cNvGrpSpPr>
            <a:grpSpLocks/>
          </p:cNvGrpSpPr>
          <p:nvPr/>
        </p:nvGrpSpPr>
        <p:grpSpPr bwMode="auto">
          <a:xfrm>
            <a:off x="103717" y="5903913"/>
            <a:ext cx="711200" cy="749300"/>
            <a:chOff x="49" y="3719"/>
            <a:chExt cx="336" cy="472"/>
          </a:xfrm>
        </p:grpSpPr>
        <p:sp>
          <p:nvSpPr>
            <p:cNvPr id="1041" name="AutoShape 19">
              <a:extLst>
                <a:ext uri="{FF2B5EF4-FFF2-40B4-BE49-F238E27FC236}">
                  <a16:creationId xmlns:a16="http://schemas.microsoft.com/office/drawing/2014/main" id="{750FBAF4-D98F-423F-90F9-1C5AFB5F344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137" y="3629"/>
              <a:ext cx="150" cy="335"/>
            </a:xfrm>
            <a:prstGeom prst="parallelogram">
              <a:avLst>
                <a:gd name="adj" fmla="val 52954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42" name="AutoShape 20">
              <a:extLst>
                <a:ext uri="{FF2B5EF4-FFF2-40B4-BE49-F238E27FC236}">
                  <a16:creationId xmlns:a16="http://schemas.microsoft.com/office/drawing/2014/main" id="{B4FEA104-ABBF-4B04-A04B-C1E4807F968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141" y="3786"/>
              <a:ext cx="151" cy="335"/>
            </a:xfrm>
            <a:prstGeom prst="parallelogram">
              <a:avLst>
                <a:gd name="adj" fmla="val 52954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43" name="AutoShape 21">
              <a:extLst>
                <a:ext uri="{FF2B5EF4-FFF2-40B4-BE49-F238E27FC236}">
                  <a16:creationId xmlns:a16="http://schemas.microsoft.com/office/drawing/2014/main" id="{195AE9A0-9C9E-41E8-B35D-320236AB49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142" y="3948"/>
              <a:ext cx="150" cy="336"/>
            </a:xfrm>
            <a:prstGeom prst="parallelogram">
              <a:avLst>
                <a:gd name="adj" fmla="val 52954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</p:grpSp>
      <p:sp>
        <p:nvSpPr>
          <p:cNvPr id="3094" name="Rectangle 22">
            <a:extLst>
              <a:ext uri="{FF2B5EF4-FFF2-40B4-BE49-F238E27FC236}">
                <a16:creationId xmlns:a16="http://schemas.microsoft.com/office/drawing/2014/main" id="{22BE0ED3-9544-476E-8417-D3F1543D65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12800" y="152400"/>
            <a:ext cx="11176000" cy="685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grpSp>
        <p:nvGrpSpPr>
          <p:cNvPr id="1035" name="Group 23">
            <a:extLst>
              <a:ext uri="{FF2B5EF4-FFF2-40B4-BE49-F238E27FC236}">
                <a16:creationId xmlns:a16="http://schemas.microsoft.com/office/drawing/2014/main" id="{C976AA90-CE2F-4C19-8513-415850FB2CC7}"/>
              </a:ext>
            </a:extLst>
          </p:cNvPr>
          <p:cNvGrpSpPr>
            <a:grpSpLocks/>
          </p:cNvGrpSpPr>
          <p:nvPr/>
        </p:nvGrpSpPr>
        <p:grpSpPr bwMode="auto">
          <a:xfrm>
            <a:off x="10919885" y="731838"/>
            <a:ext cx="986367" cy="533400"/>
            <a:chOff x="5159" y="461"/>
            <a:chExt cx="466" cy="336"/>
          </a:xfrm>
        </p:grpSpPr>
        <p:sp>
          <p:nvSpPr>
            <p:cNvPr id="1038" name="AutoShape 24">
              <a:extLst>
                <a:ext uri="{FF2B5EF4-FFF2-40B4-BE49-F238E27FC236}">
                  <a16:creationId xmlns:a16="http://schemas.microsoft.com/office/drawing/2014/main" id="{E5BFCE80-CAD7-4D5A-9311-905B460F8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5" y="462"/>
              <a:ext cx="150" cy="335"/>
            </a:xfrm>
            <a:prstGeom prst="parallelogram">
              <a:avLst>
                <a:gd name="adj" fmla="val 52954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39" name="AutoShape 25">
              <a:extLst>
                <a:ext uri="{FF2B5EF4-FFF2-40B4-BE49-F238E27FC236}">
                  <a16:creationId xmlns:a16="http://schemas.microsoft.com/office/drawing/2014/main" id="{3644A4E0-0A3D-472E-B92E-F7E680941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8" y="462"/>
              <a:ext cx="151" cy="335"/>
            </a:xfrm>
            <a:prstGeom prst="parallelogram">
              <a:avLst>
                <a:gd name="adj" fmla="val 52954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1040" name="AutoShape 26">
              <a:extLst>
                <a:ext uri="{FF2B5EF4-FFF2-40B4-BE49-F238E27FC236}">
                  <a16:creationId xmlns:a16="http://schemas.microsoft.com/office/drawing/2014/main" id="{D63EA65B-641D-4D44-9443-E2E864C0E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9" y="461"/>
              <a:ext cx="150" cy="336"/>
            </a:xfrm>
            <a:prstGeom prst="parallelogram">
              <a:avLst>
                <a:gd name="adj" fmla="val 52954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</p:grpSp>
      <p:sp>
        <p:nvSpPr>
          <p:cNvPr id="1036" name="Rectangle 27">
            <a:extLst>
              <a:ext uri="{FF2B5EF4-FFF2-40B4-BE49-F238E27FC236}">
                <a16:creationId xmlns:a16="http://schemas.microsoft.com/office/drawing/2014/main" id="{3DF986E7-B9AD-4300-9B00-8CADFF7AD797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9211733" y="64262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defRPr/>
            </a:pPr>
            <a:r>
              <a:rPr lang="en-US" altLang="en-US" sz="1400">
                <a:latin typeface="Arial Narrow" panose="020B0606020202030204" pitchFamily="34" charset="0"/>
                <a:ea typeface="ヒラギノ角ゴ Pro W3" pitchFamily="84" charset="-128"/>
              </a:rPr>
              <a:t>3-</a:t>
            </a:r>
            <a:fld id="{83D9EAB4-431B-4EFE-AA88-36CE7A0E2898}" type="slidenum">
              <a:rPr lang="en-US" altLang="en-US" sz="1400" smtClean="0">
                <a:latin typeface="Arial Narrow" panose="020B0606020202030204" pitchFamily="34" charset="0"/>
                <a:ea typeface="ヒラギノ角ゴ Pro W3" pitchFamily="84" charset="-128"/>
              </a:rPr>
              <a:pPr algn="r">
                <a:defRPr/>
              </a:pPr>
              <a:t>‹#›</a:t>
            </a:fld>
            <a:endParaRPr lang="en-US" altLang="en-US" sz="1400">
              <a:latin typeface="Arial Narrow" panose="020B0606020202030204" pitchFamily="34" charset="0"/>
              <a:ea typeface="ヒラギノ角ゴ Pro W3" pitchFamily="84" charset="-128"/>
            </a:endParaRPr>
          </a:p>
        </p:txBody>
      </p:sp>
      <p:sp>
        <p:nvSpPr>
          <p:cNvPr id="1037" name="Rectangle 29">
            <a:extLst>
              <a:ext uri="{FF2B5EF4-FFF2-40B4-BE49-F238E27FC236}">
                <a16:creationId xmlns:a16="http://schemas.microsoft.com/office/drawing/2014/main" id="{F5DBF9A0-857E-445F-B2E7-23B673D454E0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3556000" y="6488113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1000">
                <a:latin typeface="Arial Narrow" panose="020B0606020202030204" pitchFamily="34" charset="0"/>
                <a:ea typeface="ヒラギノ角ゴ Pro W3" pitchFamily="84" charset="-128"/>
              </a:rPr>
              <a:t>A. Levitin </a:t>
            </a:r>
            <a:r>
              <a:rPr lang="en-US" altLang="en-US" sz="1000">
                <a:latin typeface="Arial" panose="020B0604020202020204" pitchFamily="34" charset="0"/>
                <a:ea typeface="ヒラギノ角ゴ Pro W3" pitchFamily="84" charset="-128"/>
              </a:rPr>
              <a:t>“</a:t>
            </a:r>
            <a:r>
              <a:rPr lang="en-US" altLang="en-US" sz="1000">
                <a:latin typeface="Arial Narrow" panose="020B0606020202030204" pitchFamily="34" charset="0"/>
                <a:ea typeface="ヒラギノ角ゴ Pro W3" pitchFamily="84" charset="-128"/>
              </a:rPr>
              <a:t>Introduction to the Design &amp; Analysis of Algorithms,</a:t>
            </a:r>
            <a:r>
              <a:rPr lang="en-US" altLang="en-US" sz="1000">
                <a:latin typeface="Arial" panose="020B0604020202020204" pitchFamily="34" charset="0"/>
                <a:ea typeface="ヒラギノ角ゴ Pro W3" pitchFamily="84" charset="-128"/>
              </a:rPr>
              <a:t>”</a:t>
            </a:r>
            <a:r>
              <a:rPr lang="en-US" altLang="en-US" sz="1000">
                <a:latin typeface="Arial Narrow" panose="020B0606020202030204" pitchFamily="34" charset="0"/>
                <a:ea typeface="ヒラギノ角ゴ Pro W3" pitchFamily="84" charset="-128"/>
              </a:rPr>
              <a:t> 3</a:t>
            </a:r>
            <a:r>
              <a:rPr lang="en-US" altLang="en-US" sz="1000" baseline="30000">
                <a:latin typeface="Arial Narrow" panose="020B0606020202030204" pitchFamily="34" charset="0"/>
                <a:ea typeface="ヒラギノ角ゴ Pro W3" pitchFamily="84" charset="-128"/>
              </a:rPr>
              <a:t>rd</a:t>
            </a:r>
            <a:r>
              <a:rPr lang="en-US" altLang="en-US" sz="1000">
                <a:latin typeface="Arial Narrow" panose="020B0606020202030204" pitchFamily="34" charset="0"/>
                <a:ea typeface="ヒラギノ角ゴ Pro W3" pitchFamily="84" charset="-128"/>
              </a:rPr>
              <a:t> ed., Ch. 3</a:t>
            </a:r>
          </a:p>
        </p:txBody>
      </p:sp>
    </p:spTree>
    <p:extLst>
      <p:ext uri="{BB962C8B-B14F-4D97-AF65-F5344CB8AC3E}">
        <p14:creationId xmlns:p14="http://schemas.microsoft.com/office/powerpoint/2010/main" val="4153618001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399" r:id="rId1"/>
    <p:sldLayoutId id="2147484400" r:id="rId2"/>
    <p:sldLayoutId id="2147484401" r:id="rId3"/>
    <p:sldLayoutId id="2147484402" r:id="rId4"/>
    <p:sldLayoutId id="2147484403" r:id="rId5"/>
    <p:sldLayoutId id="2147484404" r:id="rId6"/>
    <p:sldLayoutId id="2147484405" r:id="rId7"/>
    <p:sldLayoutId id="2147484406" r:id="rId8"/>
    <p:sldLayoutId id="2147484407" r:id="rId9"/>
    <p:sldLayoutId id="2147484408" r:id="rId10"/>
    <p:sldLayoutId id="2147484409" r:id="rId11"/>
    <p:sldLayoutId id="214748441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50021"/>
        </a:buClr>
        <a:buSzPct val="75000"/>
        <a:buFont typeface="Monotype Sorts" pitchFamily="2" charset="2"/>
        <a:buChar char="b"/>
        <a:defRPr kumimoji="1" sz="2400" b="1" kern="1200">
          <a:solidFill>
            <a:srgbClr val="FFFF99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A50021"/>
        </a:buClr>
        <a:buChar char="•"/>
        <a:defRPr kumimoji="1" sz="2000" b="1" kern="1200">
          <a:solidFill>
            <a:srgbClr val="FFFF99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A50021"/>
        </a:buClr>
        <a:buChar char="–"/>
        <a:defRPr kumimoji="1" b="1" kern="1200">
          <a:solidFill>
            <a:srgbClr val="FFFF99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A50021"/>
        </a:buClr>
        <a:buChar char="–"/>
        <a:defRPr kumimoji="1" b="1" kern="1200">
          <a:solidFill>
            <a:srgbClr val="FFFF99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A50021"/>
        </a:buClr>
        <a:buChar char="»"/>
        <a:defRPr kumimoji="1" b="1" kern="1200">
          <a:solidFill>
            <a:srgbClr val="FFFF99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saade.perso.math.cnrs.fr/HungarianAlgorithm/HungarianAlgorithm.html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saade.perso.math.cnrs.fr/HungarianAlgorithm/HungarianAlgorithm.html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hesaurus.com/browse/realistic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Topic 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CC"/>
                </a:solidFill>
              </a:rPr>
              <a:t>Brute Force</a:t>
            </a:r>
          </a:p>
          <a:p>
            <a:r>
              <a:rPr lang="en-US" b="1" dirty="0">
                <a:solidFill>
                  <a:srgbClr val="00B050"/>
                </a:solidFill>
                <a:latin typeface="Agency FB" panose="020B0503020202020204" pitchFamily="34" charset="0"/>
              </a:rPr>
              <a:t>Prof. Hanan Elazhary</a:t>
            </a:r>
          </a:p>
          <a:p>
            <a:endParaRPr lang="en-US" b="1" dirty="0">
              <a:solidFill>
                <a:srgbClr val="0000CC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1DDC7D-9AC9-1A5F-C492-B67EF3D30262}"/>
              </a:ext>
            </a:extLst>
          </p:cNvPr>
          <p:cNvSpPr txBox="1"/>
          <p:nvPr/>
        </p:nvSpPr>
        <p:spPr>
          <a:xfrm>
            <a:off x="2819400" y="6410980"/>
            <a:ext cx="9387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Main source: </a:t>
            </a:r>
            <a:r>
              <a:rPr lang="en-US" sz="1200" dirty="0"/>
              <a:t>A. Levitin, Introduction to the Design and Analysis of Algorithms, 3</a:t>
            </a:r>
            <a:r>
              <a:rPr lang="en-US" sz="1200" baseline="30000" dirty="0"/>
              <a:t>rd</a:t>
            </a:r>
            <a:r>
              <a:rPr lang="en-US" sz="1200" dirty="0"/>
              <a:t> edition</a:t>
            </a:r>
          </a:p>
        </p:txBody>
      </p:sp>
    </p:spTree>
    <p:extLst>
      <p:ext uri="{BB962C8B-B14F-4D97-AF65-F5344CB8AC3E}">
        <p14:creationId xmlns:p14="http://schemas.microsoft.com/office/powerpoint/2010/main" val="314059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4000" b="1" dirty="0">
                <a:solidFill>
                  <a:srgbClr val="FF0000"/>
                </a:solidFill>
              </a:rPr>
              <a:t>Brute Force</a:t>
            </a:r>
            <a:endParaRPr sz="4000" b="1" spc="-18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algn="r"/>
            <a:fld id="{C65781BD-3F4D-4CA7-A858-CE94DEA3B426}" type="slidenum">
              <a:rPr lang="en-US" smtClean="0"/>
              <a:pPr algn="r"/>
              <a:t>2</a:t>
            </a:fld>
            <a:endParaRPr lang="en-US" dirty="0"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358170"/>
            <a:ext cx="11430000" cy="4967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FF6600"/>
              </a:buClr>
              <a:tabLst>
                <a:tab pos="465671" algn="l"/>
              </a:tabLst>
            </a:pPr>
            <a:r>
              <a:rPr lang="en-US" sz="2800" dirty="0">
                <a:cs typeface="Arial" charset="0"/>
              </a:rPr>
              <a:t>A straightforward approach to solving a problem </a:t>
            </a:r>
            <a:r>
              <a:rPr lang="en-US" sz="1800" dirty="0">
                <a:cs typeface="Arial" charset="0"/>
              </a:rPr>
              <a:t>(algorithm design strategy)</a:t>
            </a:r>
            <a:r>
              <a:rPr lang="en-US" sz="2800" dirty="0">
                <a:cs typeface="Arial" charset="0"/>
              </a:rPr>
              <a:t>, usually based directly on the problem statement and definitions of the concepts involved</a:t>
            </a:r>
          </a:p>
          <a:p>
            <a:pPr>
              <a:buClr>
                <a:srgbClr val="FF6600"/>
              </a:buClr>
              <a:tabLst>
                <a:tab pos="465671" algn="l"/>
              </a:tabLst>
            </a:pPr>
            <a:endParaRPr lang="en-US" sz="1200" dirty="0">
              <a:cs typeface="Arial" charset="0"/>
            </a:endParaRPr>
          </a:p>
          <a:p>
            <a:pPr>
              <a:buClr>
                <a:srgbClr val="FF6600"/>
              </a:buClr>
              <a:tabLst>
                <a:tab pos="465671" algn="l"/>
              </a:tabLst>
            </a:pPr>
            <a:r>
              <a:rPr lang="en-US" sz="2800" dirty="0">
                <a:cs typeface="Arial" charset="0"/>
              </a:rPr>
              <a:t>Examples: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</a:pPr>
            <a:r>
              <a:rPr lang="en-US" sz="2400" dirty="0">
                <a:cs typeface="Arial" charset="0"/>
              </a:rPr>
              <a:t>Computing a</a:t>
            </a:r>
            <a:r>
              <a:rPr lang="en-US" sz="2400" baseline="30000" dirty="0">
                <a:cs typeface="Arial" charset="0"/>
              </a:rPr>
              <a:t>n</a:t>
            </a:r>
            <a:r>
              <a:rPr lang="en-US" sz="2400" dirty="0">
                <a:cs typeface="Arial" charset="0"/>
              </a:rPr>
              <a:t> (a &gt; 0, n a nonnegative integer)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</a:pPr>
            <a:r>
              <a:rPr lang="en-US" sz="2400" dirty="0">
                <a:cs typeface="Arial" charset="0"/>
              </a:rPr>
              <a:t>Computing n!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</a:pPr>
            <a:r>
              <a:rPr lang="en-US" sz="2400" dirty="0">
                <a:cs typeface="Arial" charset="0"/>
              </a:rPr>
              <a:t>Multiplying two matrices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</a:pPr>
            <a:r>
              <a:rPr lang="en-US" sz="2400" dirty="0">
                <a:cs typeface="Arial" charset="0"/>
              </a:rPr>
              <a:t>Searching for a key of a given value in a list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</a:pPr>
            <a:endParaRPr lang="en-US" sz="11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</a:pPr>
            <a:endParaRPr lang="en-US" sz="1200" dirty="0">
              <a:cs typeface="Arial" charset="0"/>
            </a:endParaRPr>
          </a:p>
          <a:p>
            <a:pPr marL="342900" lvl="1" indent="-342900">
              <a:buClr>
                <a:srgbClr val="FF6600"/>
              </a:buClr>
              <a:buSzPct val="75000"/>
              <a:buBlip>
                <a:blip r:embed="rId3"/>
              </a:buBlip>
              <a:tabLst>
                <a:tab pos="465671" algn="l"/>
              </a:tabLst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cs typeface="Arial" charset="0"/>
              </a:rPr>
              <a:t>This strategy refers to the force of the computer</a:t>
            </a:r>
          </a:p>
          <a:p>
            <a:pPr marL="342900" lvl="1" indent="-342900">
              <a:buClr>
                <a:srgbClr val="FF6600"/>
              </a:buClr>
              <a:buSzPct val="75000"/>
              <a:buBlip>
                <a:blip r:embed="rId3"/>
              </a:buBlip>
              <a:tabLst>
                <a:tab pos="465671" algn="l"/>
              </a:tabLst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cs typeface="Arial" charset="0"/>
              </a:rPr>
              <a:t>Often, this is the easiest strategy to apply </a:t>
            </a:r>
          </a:p>
        </p:txBody>
      </p:sp>
    </p:spTree>
    <p:extLst>
      <p:ext uri="{BB962C8B-B14F-4D97-AF65-F5344CB8AC3E}">
        <p14:creationId xmlns:p14="http://schemas.microsoft.com/office/powerpoint/2010/main" val="740046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B050"/>
                </a:solidFill>
              </a:rPr>
              <a:t>Example 1: Selection Sort</a:t>
            </a:r>
            <a:endParaRPr sz="3800"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670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Explanation of the algorithm</a:t>
            </a:r>
          </a:p>
          <a:p>
            <a:pPr marL="800100" lvl="1" indent="-342900">
              <a:buClr>
                <a:srgbClr val="FF6600"/>
              </a:buClr>
              <a:buFont typeface="+mj-lt"/>
              <a:buAutoNum type="arabicPeriod"/>
              <a:tabLst>
                <a:tab pos="465671" algn="l"/>
              </a:tabLst>
              <a:defRPr/>
            </a:pPr>
            <a:r>
              <a:rPr lang="en-AU" sz="2400" b="1" dirty="0"/>
              <a:t>Find the smallest element</a:t>
            </a:r>
            <a:r>
              <a:rPr lang="en-AU" sz="2400" dirty="0"/>
              <a:t> in the unsorted portion of the array.</a:t>
            </a:r>
          </a:p>
          <a:p>
            <a:pPr marL="800100" lvl="1" indent="-342900">
              <a:buClr>
                <a:srgbClr val="FF6600"/>
              </a:buClr>
              <a:buFont typeface="+mj-lt"/>
              <a:buAutoNum type="arabicPeriod"/>
              <a:tabLst>
                <a:tab pos="465671" algn="l"/>
              </a:tabLst>
              <a:defRPr/>
            </a:pPr>
            <a:r>
              <a:rPr lang="en-AU" sz="2400" b="1" dirty="0"/>
              <a:t>Swap</a:t>
            </a:r>
            <a:r>
              <a:rPr lang="en-AU" sz="2400" dirty="0"/>
              <a:t> it with the first unsorted element.</a:t>
            </a:r>
          </a:p>
          <a:p>
            <a:pPr marL="800100" lvl="1" indent="-342900">
              <a:buClr>
                <a:srgbClr val="FF6600"/>
              </a:buClr>
              <a:buFont typeface="+mj-lt"/>
              <a:buAutoNum type="arabicPeriod"/>
              <a:tabLst>
                <a:tab pos="465671" algn="l"/>
              </a:tabLst>
              <a:defRPr/>
            </a:pPr>
            <a:r>
              <a:rPr lang="en-AU" sz="2400" dirty="0"/>
              <a:t>Move the boundary of the sorted portion (increment the index of the sorted part).</a:t>
            </a:r>
          </a:p>
          <a:p>
            <a:pPr marL="800100" lvl="1" indent="-342900">
              <a:buClr>
                <a:srgbClr val="FF6600"/>
              </a:buClr>
              <a:buFont typeface="+mj-lt"/>
              <a:buAutoNum type="arabicPeriod"/>
              <a:tabLst>
                <a:tab pos="465671" algn="l"/>
              </a:tabLst>
              <a:defRPr/>
            </a:pPr>
            <a:r>
              <a:rPr lang="en-AU" sz="2400" dirty="0"/>
              <a:t>Repeat steps 1–3 for the remaining unsorted portion until the entire array is sorted.</a:t>
            </a:r>
            <a:endParaRPr lang="en-US" altLang="en-US" sz="36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36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46BEAD-375E-5C30-DE48-FFBF2A65A5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7520" y="3951479"/>
            <a:ext cx="4754880" cy="23768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0FF116-4D96-82D7-FAB9-D0B6C45C1302}"/>
              </a:ext>
            </a:extLst>
          </p:cNvPr>
          <p:cNvSpPr txBox="1"/>
          <p:nvPr/>
        </p:nvSpPr>
        <p:spPr>
          <a:xfrm>
            <a:off x="3985259" y="4343400"/>
            <a:ext cx="26974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Sorting a list containing 89, 45, 68, 90, 29, 34, 17</a:t>
            </a:r>
          </a:p>
        </p:txBody>
      </p:sp>
    </p:spTree>
    <p:extLst>
      <p:ext uri="{BB962C8B-B14F-4D97-AF65-F5344CB8AC3E}">
        <p14:creationId xmlns:p14="http://schemas.microsoft.com/office/powerpoint/2010/main" val="1893171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Example 1: Selection Sort, Contd.</a:t>
            </a:r>
            <a:endParaRPr sz="3800"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3090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The algorithm</a:t>
            </a: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</p:txBody>
      </p:sp>
      <p:pic>
        <p:nvPicPr>
          <p:cNvPr id="2" name="Picture 11">
            <a:extLst>
              <a:ext uri="{FF2B5EF4-FFF2-40B4-BE49-F238E27FC236}">
                <a16:creationId xmlns:a16="http://schemas.microsoft.com/office/drawing/2014/main" id="{3F266F59-3404-4F4C-7C1E-B0D331719E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93186"/>
            <a:ext cx="6855762" cy="3090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CF948B-6629-FD1D-55F3-035852F7D1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9600" y="4994782"/>
            <a:ext cx="7289407" cy="11774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1CA036-AE3A-B2BF-4522-F4218FCF08E5}"/>
              </a:ext>
            </a:extLst>
          </p:cNvPr>
          <p:cNvSpPr txBox="1"/>
          <p:nvPr/>
        </p:nvSpPr>
        <p:spPr>
          <a:xfrm>
            <a:off x="2895600" y="350520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start a new iteration with the current element considered the minimum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6C7FD-B0FC-C460-0322-39119D29B745}"/>
              </a:ext>
            </a:extLst>
          </p:cNvPr>
          <p:cNvSpPr txBox="1"/>
          <p:nvPr/>
        </p:nvSpPr>
        <p:spPr>
          <a:xfrm>
            <a:off x="4267200" y="4507467"/>
            <a:ext cx="7772400" cy="375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At the end of the iteration, swap the current with the minimum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12F66B-E1B6-BF12-E7D6-74F16178E458}"/>
              </a:ext>
            </a:extLst>
          </p:cNvPr>
          <p:cNvSpPr txBox="1"/>
          <p:nvPr/>
        </p:nvSpPr>
        <p:spPr>
          <a:xfrm>
            <a:off x="4724400" y="3838728"/>
            <a:ext cx="701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From the following item to the last, 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11715A-DD88-C5D9-F318-C9F2D188B23A}"/>
              </a:ext>
            </a:extLst>
          </p:cNvPr>
          <p:cNvSpPr txBox="1"/>
          <p:nvPr/>
        </p:nvSpPr>
        <p:spPr>
          <a:xfrm>
            <a:off x="5334000" y="4188996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keep searching for any smaller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4D4396-91FC-5E47-F084-5D5D8A2618B1}"/>
              </a:ext>
            </a:extLst>
          </p:cNvPr>
          <p:cNvSpPr txBox="1"/>
          <p:nvPr/>
        </p:nvSpPr>
        <p:spPr>
          <a:xfrm>
            <a:off x="3657600" y="3180210"/>
            <a:ext cx="838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From the first element to the one before the last, …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91F2882-C278-D8DB-7C28-43D1B9B6E6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3962" y="1228383"/>
            <a:ext cx="3879145" cy="1857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39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Example 1: Selection Sort, Contd.</a:t>
            </a:r>
            <a:endParaRPr sz="3800"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619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Analysis of the algorithm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The input size is n, the basic operation is comparison, one case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Time efficiency is  </a:t>
            </a: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DE45E9-D420-1B91-CA8E-0D19011849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2999" y="2133600"/>
            <a:ext cx="7606393" cy="1981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E7E296-69FE-DF95-2434-F8192FE1C2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478" y="3581400"/>
            <a:ext cx="5746082" cy="258991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0B3F44F-99DF-63FA-2522-B8A8A1AB45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4750" y="4285807"/>
            <a:ext cx="16192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88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E9BAE-1992-C1AE-783D-C58968B91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ADEC03D1-DE02-EB99-9C9A-6B72D16BAC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B050"/>
                </a:solidFill>
              </a:rPr>
              <a:t>Example 2: Bubble Sort</a:t>
            </a:r>
            <a:endParaRPr sz="3800"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76CE5D-98D5-3546-2363-8A28EAC5E47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2435554C-38F6-23C3-163C-C6C447B3D6B3}"/>
              </a:ext>
            </a:extLst>
          </p:cNvPr>
          <p:cNvSpPr txBox="1">
            <a:spLocks/>
          </p:cNvSpPr>
          <p:nvPr/>
        </p:nvSpPr>
        <p:spPr bwMode="auto">
          <a:xfrm>
            <a:off x="381000" y="990600"/>
            <a:ext cx="11430000" cy="7300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Explanation of the algorithm</a:t>
            </a:r>
          </a:p>
          <a:p>
            <a:pPr marL="800100" lvl="1" indent="-342900">
              <a:buClr>
                <a:srgbClr val="FF6600"/>
              </a:buClr>
              <a:buFont typeface="+mj-lt"/>
              <a:buAutoNum type="arabicPeriod"/>
              <a:tabLst>
                <a:tab pos="465671" algn="l"/>
              </a:tabLst>
              <a:defRPr/>
            </a:pPr>
            <a:r>
              <a:rPr lang="en-AU" sz="2400" b="1" dirty="0"/>
              <a:t>Compare </a:t>
            </a:r>
            <a:r>
              <a:rPr lang="en-AU" sz="2400" dirty="0"/>
              <a:t>adjacent elements in the array.</a:t>
            </a:r>
          </a:p>
          <a:p>
            <a:pPr marL="800100" lvl="1" indent="-342900">
              <a:buClr>
                <a:srgbClr val="FF6600"/>
              </a:buClr>
              <a:buFont typeface="+mj-lt"/>
              <a:buAutoNum type="arabicPeriod"/>
              <a:tabLst>
                <a:tab pos="465671" algn="l"/>
              </a:tabLst>
              <a:defRPr/>
            </a:pPr>
            <a:r>
              <a:rPr lang="en-AU" sz="2400" b="1" dirty="0"/>
              <a:t>Swap </a:t>
            </a:r>
            <a:r>
              <a:rPr lang="en-AU" sz="2400" dirty="0"/>
              <a:t>them if they are in the wrong order. </a:t>
            </a:r>
          </a:p>
          <a:p>
            <a:pPr marL="800100" lvl="1" indent="-342900">
              <a:buClr>
                <a:srgbClr val="FF6600"/>
              </a:buClr>
              <a:buFont typeface="+mj-lt"/>
              <a:buAutoNum type="arabicPeriod"/>
              <a:tabLst>
                <a:tab pos="465671" algn="l"/>
              </a:tabLst>
              <a:defRPr/>
            </a:pPr>
            <a:r>
              <a:rPr lang="en-AU" sz="2400" dirty="0"/>
              <a:t>After each pass, the largest element "bubbles up" to its correct position.</a:t>
            </a:r>
          </a:p>
          <a:p>
            <a:pPr marL="800100" lvl="1" indent="-342900">
              <a:buClr>
                <a:srgbClr val="FF6600"/>
              </a:buClr>
              <a:buFont typeface="+mj-lt"/>
              <a:buAutoNum type="arabicPeriod"/>
              <a:tabLst>
                <a:tab pos="465671" algn="l"/>
              </a:tabLst>
              <a:defRPr/>
            </a:pPr>
            <a:r>
              <a:rPr lang="en-AU" sz="2400" dirty="0"/>
              <a:t>Repeat steps 1–3 for the remaining unsorted portion of the array until no swaps are needed.</a:t>
            </a:r>
          </a:p>
          <a:p>
            <a:pPr marL="800100" lvl="1" indent="-342900">
              <a:buClr>
                <a:srgbClr val="FF6600"/>
              </a:buClr>
              <a:buFont typeface="+mj-lt"/>
              <a:buAutoNum type="arabicPeriod"/>
              <a:tabLst>
                <a:tab pos="465671" algn="l"/>
              </a:tabLst>
              <a:defRPr/>
            </a:pPr>
            <a:endParaRPr lang="en-AU" altLang="en-US" sz="2400" b="1" dirty="0"/>
          </a:p>
          <a:p>
            <a:pPr marL="800100" lvl="1" indent="-342900">
              <a:buClr>
                <a:srgbClr val="FF6600"/>
              </a:buClr>
              <a:buFont typeface="+mj-lt"/>
              <a:buAutoNum type="arabicPeriod"/>
              <a:tabLst>
                <a:tab pos="465671" algn="l"/>
              </a:tabLst>
              <a:defRPr/>
            </a:pPr>
            <a:endParaRPr lang="en-US" altLang="en-US" sz="2400" b="1" dirty="0"/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r>
              <a:rPr lang="en-AU" sz="1600" dirty="0"/>
              <a:t>.</a:t>
            </a: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AU" sz="1600" dirty="0"/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AU" sz="1600" dirty="0"/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AU" sz="1600" dirty="0"/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AU" sz="1600" dirty="0"/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AU" sz="1600" dirty="0"/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AU" sz="1600" dirty="0"/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91FFE0-319F-6AB3-0325-F66AA123E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8931"/>
              </p:ext>
            </p:extLst>
          </p:nvPr>
        </p:nvGraphicFramePr>
        <p:xfrm>
          <a:off x="919567" y="3629729"/>
          <a:ext cx="10891432" cy="2773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33233">
                  <a:extLst>
                    <a:ext uri="{9D8B030D-6E8A-4147-A177-3AD203B41FA5}">
                      <a16:colId xmlns:a16="http://schemas.microsoft.com/office/drawing/2014/main" val="2308164284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1779469661"/>
                    </a:ext>
                  </a:extLst>
                </a:gridCol>
                <a:gridCol w="3729411">
                  <a:extLst>
                    <a:ext uri="{9D8B030D-6E8A-4147-A177-3AD203B41FA5}">
                      <a16:colId xmlns:a16="http://schemas.microsoft.com/office/drawing/2014/main" val="461763534"/>
                    </a:ext>
                  </a:extLst>
                </a:gridCol>
                <a:gridCol w="1604588">
                  <a:extLst>
                    <a:ext uri="{9D8B030D-6E8A-4147-A177-3AD203B41FA5}">
                      <a16:colId xmlns:a16="http://schemas.microsoft.com/office/drawing/2014/main" val="20759151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Example: Sorting a list containing 89, 45, 68, 90, 29, 34, 17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Clr>
                          <a:srgbClr val="FF6600"/>
                        </a:buClr>
                        <a:buNone/>
                        <a:tabLst>
                          <a:tab pos="465671" algn="l"/>
                        </a:tabLst>
                        <a:defRPr/>
                      </a:pPr>
                      <a:r>
                        <a:rPr lang="en-AU" sz="1600" b="1" dirty="0"/>
                        <a:t>Step 1</a:t>
                      </a:r>
                      <a:r>
                        <a:rPr lang="en-AU" sz="1600" dirty="0"/>
                        <a:t>: First Pass (Bubble the largest element to the end)</a:t>
                      </a:r>
                    </a:p>
                    <a:p>
                      <a:pPr marL="0" indent="0">
                        <a:buNone/>
                      </a:pPr>
                      <a:r>
                        <a:rPr lang="en-AU" sz="1600" dirty="0"/>
                        <a:t>[</a:t>
                      </a:r>
                      <a:r>
                        <a:rPr lang="en-AU" sz="1600" b="1" dirty="0"/>
                        <a:t>45, 89</a:t>
                      </a:r>
                      <a:r>
                        <a:rPr lang="en-AU" sz="1600" dirty="0"/>
                        <a:t>, 68, 90, 29, 34, 17]</a:t>
                      </a:r>
                    </a:p>
                    <a:p>
                      <a:pPr marL="0" indent="0">
                        <a:buNone/>
                      </a:pPr>
                      <a:r>
                        <a:rPr lang="en-AU" sz="1600" dirty="0"/>
                        <a:t>[45, </a:t>
                      </a:r>
                      <a:r>
                        <a:rPr lang="en-AU" sz="1600" b="1" dirty="0"/>
                        <a:t>68, 89, </a:t>
                      </a:r>
                      <a:r>
                        <a:rPr lang="en-AU" sz="1600" b="0" dirty="0"/>
                        <a:t>90</a:t>
                      </a:r>
                      <a:r>
                        <a:rPr lang="en-AU" sz="1600" dirty="0"/>
                        <a:t>, 29, 34, 17]</a:t>
                      </a:r>
                      <a:br>
                        <a:rPr lang="en-AU" sz="1600" dirty="0"/>
                      </a:br>
                      <a:r>
                        <a:rPr lang="en-AU" sz="1600" dirty="0"/>
                        <a:t>[45, 68, </a:t>
                      </a:r>
                      <a:r>
                        <a:rPr lang="en-AU" sz="1600" b="1" dirty="0"/>
                        <a:t>89, 90, </a:t>
                      </a:r>
                      <a:r>
                        <a:rPr lang="en-AU" sz="1600" b="0" dirty="0"/>
                        <a:t>29</a:t>
                      </a:r>
                      <a:r>
                        <a:rPr lang="en-AU" sz="1600" dirty="0"/>
                        <a:t>, 34, 17]</a:t>
                      </a:r>
                      <a:br>
                        <a:rPr lang="en-AU" sz="1600" dirty="0"/>
                      </a:br>
                      <a:r>
                        <a:rPr lang="en-AU" sz="1600" dirty="0"/>
                        <a:t>[45, 68, 89, </a:t>
                      </a:r>
                      <a:r>
                        <a:rPr lang="en-AU" sz="1600" b="1" dirty="0"/>
                        <a:t>29, 90, </a:t>
                      </a:r>
                      <a:r>
                        <a:rPr lang="en-AU" sz="1600" b="0" dirty="0"/>
                        <a:t>34</a:t>
                      </a:r>
                      <a:r>
                        <a:rPr lang="en-AU" sz="1600" dirty="0"/>
                        <a:t>, 17]</a:t>
                      </a:r>
                    </a:p>
                    <a:p>
                      <a:pPr marL="0" indent="0">
                        <a:buNone/>
                      </a:pPr>
                      <a:r>
                        <a:rPr lang="en-AU" sz="1600" dirty="0"/>
                        <a:t>[45, 68, 89, 29, </a:t>
                      </a:r>
                      <a:r>
                        <a:rPr lang="en-AU" sz="1600" b="1" dirty="0"/>
                        <a:t>34, 90, </a:t>
                      </a:r>
                      <a:r>
                        <a:rPr lang="en-AU" sz="1600" b="0" dirty="0"/>
                        <a:t>17</a:t>
                      </a:r>
                      <a:r>
                        <a:rPr lang="en-AU" sz="1600" dirty="0"/>
                        <a:t>]</a:t>
                      </a:r>
                      <a:br>
                        <a:rPr lang="en-AU" sz="1600" dirty="0"/>
                      </a:br>
                      <a:r>
                        <a:rPr lang="en-AU" sz="1600" dirty="0"/>
                        <a:t>[45, 68, 89, 29, 34, </a:t>
                      </a:r>
                      <a:r>
                        <a:rPr lang="en-AU" sz="1600" b="1" dirty="0"/>
                        <a:t>17, </a:t>
                      </a:r>
                      <a:r>
                        <a:rPr lang="en-AU" sz="1600" b="1" dirty="0">
                          <a:highlight>
                            <a:srgbClr val="FFFF00"/>
                          </a:highlight>
                        </a:rPr>
                        <a:t>90</a:t>
                      </a:r>
                      <a:r>
                        <a:rPr lang="en-AU" sz="1600" dirty="0"/>
                        <a:t>]</a:t>
                      </a:r>
                    </a:p>
                    <a:p>
                      <a:r>
                        <a:rPr lang="en-AU" sz="1600" dirty="0"/>
                        <a:t>After the first pass, the largest element </a:t>
                      </a:r>
                      <a:r>
                        <a:rPr lang="en-AU" sz="1600" b="1" dirty="0"/>
                        <a:t>90</a:t>
                      </a:r>
                      <a:r>
                        <a:rPr lang="en-AU" sz="1600" dirty="0"/>
                        <a:t> has bubbled up to the end of the 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Step 2</a:t>
                      </a:r>
                      <a:r>
                        <a:rPr lang="en-A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Second Pass (Bubble the next largest element)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AU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45, 68</a:t>
                      </a:r>
                      <a:r>
                        <a:rPr lang="en-A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89, 29, 34, 17, 90]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[45, </a:t>
                      </a:r>
                      <a:r>
                        <a:rPr lang="en-AU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68, 89, </a:t>
                      </a:r>
                      <a:r>
                        <a:rPr lang="en-AU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  <a:r>
                        <a:rPr lang="en-A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34, 17, 90]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[45, 68, </a:t>
                      </a:r>
                      <a:r>
                        <a:rPr lang="en-AU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29, 89,</a:t>
                      </a:r>
                      <a:r>
                        <a:rPr lang="en-A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AU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34, 17</a:t>
                      </a:r>
                      <a:r>
                        <a:rPr lang="en-A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90]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A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45, 68, 29, </a:t>
                      </a:r>
                      <a:r>
                        <a:rPr lang="en-AU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34, 89</a:t>
                      </a:r>
                      <a:r>
                        <a:rPr lang="en-A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17, 90]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[45, 68, 29, 34, </a:t>
                      </a:r>
                      <a:r>
                        <a:rPr lang="en-AU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17, </a:t>
                      </a:r>
                      <a:r>
                        <a:rPr lang="en-AU" sz="1600" b="1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89</a:t>
                      </a:r>
                      <a:r>
                        <a:rPr lang="en-AU" sz="16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, 90</a:t>
                      </a:r>
                      <a:r>
                        <a:rPr lang="en-A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endParaRPr lang="en-AU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A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After the second pass, 89 is in its correct position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Step 2: Third Pass (Bubble the next largest element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…….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037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9992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598DD-ED9A-D1BC-505E-551C843F2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BC15F678-2A70-7D92-A7A2-502733AEE2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Example 2: Bubble Sort, Contd.</a:t>
            </a:r>
            <a:endParaRPr sz="3800"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1685DE-0EE5-2C6A-476D-FDBCFE652D5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7E195DE8-5FAA-4818-C044-9D324E00E202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619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Analysis of the algorithm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The input size is n, the basic operation is comparison, one case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Time efficiency is  </a:t>
            </a: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8C44A1E-E545-EC54-7BEB-70E3F5D461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4750" y="4285807"/>
            <a:ext cx="1619250" cy="571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21E20B-AAFA-2B90-1362-CF55E514F830}"/>
              </a:ext>
            </a:extLst>
          </p:cNvPr>
          <p:cNvSpPr txBox="1"/>
          <p:nvPr/>
        </p:nvSpPr>
        <p:spPr>
          <a:xfrm>
            <a:off x="5583761" y="3703145"/>
            <a:ext cx="6284389" cy="2585323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ALGORITHM</a:t>
            </a:r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  <a:lumOff val="25000"/>
                  </a:schemeClr>
                </a:solidFill>
                <a:latin typeface="+mj-lt"/>
              </a:rPr>
              <a:t>BubbleSort</a:t>
            </a:r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  <a:latin typeface="+mj-lt"/>
              </a:rPr>
              <a:t>(A[0..n-1])</a:t>
            </a:r>
          </a:p>
          <a:p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  <a:latin typeface="+mj-lt"/>
              </a:rPr>
              <a:t>      // Sorts a given array by bubble sort</a:t>
            </a:r>
          </a:p>
          <a:p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  <a:latin typeface="+mj-lt"/>
              </a:rPr>
              <a:t>      // Input: An array A[0..n-1] of orderable elements</a:t>
            </a:r>
          </a:p>
          <a:p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  <a:latin typeface="+mj-lt"/>
              </a:rPr>
              <a:t>      // Output: Array A[0..n-1] sorted in nondecreasing order</a:t>
            </a:r>
          </a:p>
          <a:p>
            <a:endParaRPr lang="en-US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r>
              <a:rPr lang="en-US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     for</a:t>
            </a:r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i</a:t>
            </a:r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← 0 </a:t>
            </a:r>
            <a:r>
              <a:rPr lang="en-US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to</a:t>
            </a:r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n - 2 </a:t>
            </a:r>
            <a:r>
              <a:rPr lang="en-US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do</a:t>
            </a:r>
          </a:p>
          <a:p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          </a:t>
            </a:r>
            <a:r>
              <a:rPr lang="en-US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for</a:t>
            </a:r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j ← 0 </a:t>
            </a:r>
            <a:r>
              <a:rPr lang="en-US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to</a:t>
            </a:r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n - 2 - </a:t>
            </a:r>
            <a:r>
              <a:rPr lang="en-US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i</a:t>
            </a:r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do</a:t>
            </a:r>
          </a:p>
          <a:p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                </a:t>
            </a:r>
            <a:r>
              <a:rPr lang="en-US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if</a:t>
            </a:r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A[j] &gt; A[j + 1] then</a:t>
            </a:r>
          </a:p>
          <a:p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                      Swap A[j] and A[j + 1]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0C8578D-52CF-DD70-8570-67179E696760}"/>
                  </a:ext>
                </a:extLst>
              </p:cNvPr>
              <p:cNvSpPr txBox="1"/>
              <p:nvPr/>
            </p:nvSpPr>
            <p:spPr>
              <a:xfrm>
                <a:off x="530988" y="2120087"/>
                <a:ext cx="11203811" cy="11891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0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</m:nary>
                        </m:e>
                      </m:nary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</m:d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nary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+...+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)(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)/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)/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dirty="0"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en-US" dirty="0">
                          <a:sym typeface="Symbol" panose="05050102010706020507" pitchFamily="18" charset="2"/>
                        </a:rPr>
                        <m:t></m:t>
                      </m:r>
                      <m:r>
                        <m:rPr>
                          <m:nor/>
                        </m:rPr>
                        <a:rPr lang="en-US" dirty="0"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dirty="0"/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0C8578D-52CF-DD70-8570-67179E696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88" y="2120087"/>
                <a:ext cx="11203811" cy="1189172"/>
              </a:xfrm>
              <a:prstGeom prst="rect">
                <a:avLst/>
              </a:prstGeom>
              <a:blipFill>
                <a:blip r:embed="rId7"/>
                <a:stretch>
                  <a:fillRect l="-6222" t="-70213" b="-84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2925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55104-66B3-1314-AB42-3381EED82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FD925845-9FEE-8721-0F00-3A8F8AE9DA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B050"/>
                </a:solidFill>
              </a:rPr>
              <a:t>Example 2: Insertion Sort</a:t>
            </a:r>
            <a:endParaRPr sz="3800"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12715A-3020-D7CA-17F3-C1C487BA945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42DADA96-036C-CC7C-6B34-E1D48D516E05}"/>
              </a:ext>
            </a:extLst>
          </p:cNvPr>
          <p:cNvSpPr txBox="1">
            <a:spLocks/>
          </p:cNvSpPr>
          <p:nvPr/>
        </p:nvSpPr>
        <p:spPr bwMode="auto">
          <a:xfrm>
            <a:off x="381000" y="990600"/>
            <a:ext cx="11430000" cy="685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Explanation of the algorithm</a:t>
            </a:r>
          </a:p>
          <a:p>
            <a:pPr marL="800100" lvl="1" indent="-342900">
              <a:buClr>
                <a:srgbClr val="FF6600"/>
              </a:buClr>
              <a:buFont typeface="+mj-lt"/>
              <a:buAutoNum type="arabicPeriod"/>
              <a:tabLst>
                <a:tab pos="465671" algn="l"/>
              </a:tabLst>
              <a:defRPr/>
            </a:pPr>
            <a:r>
              <a:rPr lang="en-AU" sz="2400" b="1" dirty="0"/>
              <a:t>Start from the second element (key) </a:t>
            </a:r>
            <a:r>
              <a:rPr lang="en-AU" sz="2400" dirty="0"/>
              <a:t>in the array.</a:t>
            </a:r>
          </a:p>
          <a:p>
            <a:pPr marL="800100" lvl="1" indent="-342900">
              <a:buClr>
                <a:srgbClr val="FF6600"/>
              </a:buClr>
              <a:buFont typeface="+mj-lt"/>
              <a:buAutoNum type="arabicPeriod"/>
              <a:tabLst>
                <a:tab pos="465671" algn="l"/>
              </a:tabLst>
              <a:defRPr/>
            </a:pPr>
            <a:r>
              <a:rPr lang="en-AU" sz="2400" b="1" dirty="0"/>
              <a:t>Compare the key </a:t>
            </a:r>
            <a:r>
              <a:rPr lang="en-AU" sz="2400" dirty="0"/>
              <a:t>with the elements in the sorted portion of the array (left side)</a:t>
            </a:r>
            <a:r>
              <a:rPr lang="en-AU" sz="2400" b="1" dirty="0"/>
              <a:t> </a:t>
            </a:r>
            <a:r>
              <a:rPr lang="en-AU" sz="2400" dirty="0"/>
              <a:t>and</a:t>
            </a:r>
            <a:r>
              <a:rPr lang="en-AU" sz="2400" b="1" dirty="0"/>
              <a:t> shift the larger elements </a:t>
            </a:r>
            <a:r>
              <a:rPr lang="en-AU" sz="2400" dirty="0"/>
              <a:t>to the right.</a:t>
            </a:r>
          </a:p>
          <a:p>
            <a:pPr marL="800100" lvl="1" indent="-342900">
              <a:buClr>
                <a:srgbClr val="FF6600"/>
              </a:buClr>
              <a:buFont typeface="+mj-lt"/>
              <a:buAutoNum type="arabicPeriod"/>
              <a:tabLst>
                <a:tab pos="465671" algn="l"/>
              </a:tabLst>
              <a:defRPr/>
            </a:pPr>
            <a:r>
              <a:rPr lang="en-AU" sz="2400" b="1" dirty="0"/>
              <a:t>Insert the key </a:t>
            </a:r>
            <a:r>
              <a:rPr lang="en-AU" sz="2400" dirty="0"/>
              <a:t>into its correct position in the sorted portion</a:t>
            </a:r>
            <a:r>
              <a:rPr lang="en-AU" sz="2400" b="1" dirty="0"/>
              <a:t>.</a:t>
            </a:r>
          </a:p>
          <a:p>
            <a:pPr marL="800100" lvl="1" indent="-342900">
              <a:buClr>
                <a:srgbClr val="FF6600"/>
              </a:buClr>
              <a:buFont typeface="+mj-lt"/>
              <a:buAutoNum type="arabicPeriod"/>
              <a:tabLst>
                <a:tab pos="465671" algn="l"/>
              </a:tabLst>
              <a:defRPr/>
            </a:pPr>
            <a:r>
              <a:rPr lang="en-AU" sz="2400" b="1" dirty="0"/>
              <a:t>Repeat steps 1–3 for the next element until the entire array is sorted</a:t>
            </a:r>
            <a:r>
              <a:rPr lang="en-AU" sz="1600" dirty="0"/>
              <a:t>.</a:t>
            </a:r>
            <a:endParaRPr lang="en-AU" altLang="en-US" sz="2400" b="1" dirty="0"/>
          </a:p>
          <a:p>
            <a:pPr marL="800100" lvl="1" indent="-342900">
              <a:buClr>
                <a:srgbClr val="FF6600"/>
              </a:buClr>
              <a:buFont typeface="+mj-lt"/>
              <a:buAutoNum type="arabicPeriod"/>
              <a:tabLst>
                <a:tab pos="465671" algn="l"/>
              </a:tabLst>
              <a:defRPr/>
            </a:pPr>
            <a:endParaRPr lang="en-US" altLang="en-US" sz="2400" b="1" dirty="0"/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r>
              <a:rPr lang="en-AU" sz="1600" dirty="0"/>
              <a:t>.</a:t>
            </a: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AU" sz="1600" dirty="0"/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AU" sz="1600" dirty="0"/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AU" sz="1600" dirty="0"/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AU" sz="1600" dirty="0"/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AU" sz="1600" dirty="0"/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AU" sz="1600" dirty="0"/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767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A9FCC-6A79-54A9-FEA2-6A317E897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43B62AB4-BE2F-C70B-2507-A880783F97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9100" y="136524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Example 2: Insertion Sort, Contd.</a:t>
            </a:r>
            <a:endParaRPr sz="3800"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0548A9-B5DC-6F68-F528-61A0CACC92B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52DFCDB4-9662-5BF2-764A-69A12C2DFE0F}"/>
              </a:ext>
            </a:extLst>
          </p:cNvPr>
          <p:cNvSpPr txBox="1">
            <a:spLocks/>
          </p:cNvSpPr>
          <p:nvPr/>
        </p:nvSpPr>
        <p:spPr bwMode="auto">
          <a:xfrm>
            <a:off x="381000" y="990600"/>
            <a:ext cx="11430000" cy="3791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r>
              <a:rPr lang="en-AU" sz="1600" dirty="0"/>
              <a:t>.</a:t>
            </a: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AU" sz="1600" dirty="0"/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AU" sz="1600" dirty="0"/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AU" sz="1600" dirty="0"/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AU" sz="1600" dirty="0"/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AU" sz="1600" dirty="0"/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AU" sz="1600" dirty="0"/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238FB8D-5A7E-5345-38A3-5366BA5A0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371478"/>
              </p:ext>
            </p:extLst>
          </p:nvPr>
        </p:nvGraphicFramePr>
        <p:xfrm>
          <a:off x="342900" y="636661"/>
          <a:ext cx="11141208" cy="60480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14700">
                  <a:extLst>
                    <a:ext uri="{9D8B030D-6E8A-4147-A177-3AD203B41FA5}">
                      <a16:colId xmlns:a16="http://schemas.microsoft.com/office/drawing/2014/main" val="1213670552"/>
                    </a:ext>
                  </a:extLst>
                </a:gridCol>
                <a:gridCol w="3686175">
                  <a:extLst>
                    <a:ext uri="{9D8B030D-6E8A-4147-A177-3AD203B41FA5}">
                      <a16:colId xmlns:a16="http://schemas.microsoft.com/office/drawing/2014/main" val="1298533955"/>
                    </a:ext>
                  </a:extLst>
                </a:gridCol>
                <a:gridCol w="4140333">
                  <a:extLst>
                    <a:ext uri="{9D8B030D-6E8A-4147-A177-3AD203B41FA5}">
                      <a16:colId xmlns:a16="http://schemas.microsoft.com/office/drawing/2014/main" val="491113732"/>
                    </a:ext>
                  </a:extLst>
                </a:gridCol>
              </a:tblGrid>
              <a:tr h="424532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dirty="0">
                          <a:solidFill>
                            <a:srgbClr val="00B050"/>
                          </a:solidFill>
                        </a:rPr>
                        <a:t>Example: Sorting a list containing </a:t>
                      </a:r>
                      <a:r>
                        <a:rPr lang="en-US" sz="1700" b="1" dirty="0">
                          <a:solidFill>
                            <a:schemeClr val="accent4">
                              <a:lumMod val="75000"/>
                              <a:lumOff val="25000"/>
                            </a:schemeClr>
                          </a:solidFill>
                        </a:rPr>
                        <a:t>[ 89, 45, 68, 90, 29, 34, 17]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4579709"/>
                  </a:ext>
                </a:extLst>
              </a:tr>
              <a:tr h="1876101">
                <a:tc>
                  <a:txBody>
                    <a:bodyPr/>
                    <a:lstStyle/>
                    <a:p>
                      <a:r>
                        <a:rPr lang="en-AU" sz="1700" b="1" dirty="0"/>
                        <a:t>First Pass (</a:t>
                      </a:r>
                      <a:r>
                        <a:rPr lang="en-AU" sz="1700" b="1" dirty="0" err="1"/>
                        <a:t>i</a:t>
                      </a:r>
                      <a:r>
                        <a:rPr lang="en-AU" sz="1700" b="1" dirty="0"/>
                        <a:t> = 1)</a:t>
                      </a:r>
                      <a:r>
                        <a:rPr lang="en-AU" sz="1700" dirty="0"/>
                        <a:t>:</a:t>
                      </a:r>
                    </a:p>
                    <a:p>
                      <a:r>
                        <a:rPr lang="en-AU" sz="1700" b="1" dirty="0"/>
                        <a:t>Key = 45</a:t>
                      </a:r>
                      <a:endParaRPr lang="en-AU" sz="1700" dirty="0"/>
                    </a:p>
                    <a:p>
                      <a:r>
                        <a:rPr lang="en-AU" sz="1700" dirty="0"/>
                        <a:t>Compare </a:t>
                      </a:r>
                      <a:r>
                        <a:rPr lang="en-AU" sz="1700" b="1" dirty="0"/>
                        <a:t>45</a:t>
                      </a:r>
                      <a:r>
                        <a:rPr lang="en-AU" sz="1700" dirty="0"/>
                        <a:t> with </a:t>
                      </a:r>
                      <a:r>
                        <a:rPr lang="en-AU" sz="1700" b="1" dirty="0"/>
                        <a:t>89</a:t>
                      </a:r>
                      <a:r>
                        <a:rPr lang="en-AU" sz="1700" dirty="0"/>
                        <a:t>: Since </a:t>
                      </a:r>
                      <a:r>
                        <a:rPr lang="en-AU" sz="1700" b="1" dirty="0"/>
                        <a:t>45 &lt; 89</a:t>
                      </a:r>
                      <a:r>
                        <a:rPr lang="en-AU" sz="1700" dirty="0"/>
                        <a:t>, shift </a:t>
                      </a:r>
                      <a:r>
                        <a:rPr lang="en-AU" sz="1700" b="1" dirty="0"/>
                        <a:t>89</a:t>
                      </a:r>
                      <a:r>
                        <a:rPr lang="en-AU" sz="1700" dirty="0"/>
                        <a:t> to the right.</a:t>
                      </a:r>
                    </a:p>
                    <a:p>
                      <a:r>
                        <a:rPr lang="en-AU" sz="1700" dirty="0"/>
                        <a:t>Insert </a:t>
                      </a:r>
                      <a:r>
                        <a:rPr lang="en-AU" sz="1700" b="1" dirty="0"/>
                        <a:t>45</a:t>
                      </a:r>
                      <a:r>
                        <a:rPr lang="en-AU" sz="1700" dirty="0"/>
                        <a:t> in the correct position:</a:t>
                      </a:r>
                    </a:p>
                    <a:p>
                      <a:r>
                        <a:rPr lang="en-AU" sz="1700" dirty="0"/>
                        <a:t>[45, 89, 68, 90, 29, 34, 17]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700" b="1" dirty="0"/>
                        <a:t>Third Pass (</a:t>
                      </a:r>
                      <a:r>
                        <a:rPr lang="en-AU" sz="1700" b="1" dirty="0" err="1"/>
                        <a:t>i</a:t>
                      </a:r>
                      <a:r>
                        <a:rPr lang="en-AU" sz="1700" b="1" dirty="0"/>
                        <a:t> = 3)</a:t>
                      </a:r>
                      <a:r>
                        <a:rPr lang="en-AU" sz="1700" dirty="0"/>
                        <a:t>:</a:t>
                      </a:r>
                    </a:p>
                    <a:p>
                      <a:r>
                        <a:rPr lang="en-AU" sz="1700" b="1" dirty="0"/>
                        <a:t>Key = 90</a:t>
                      </a:r>
                      <a:endParaRPr lang="en-AU" sz="1700" dirty="0"/>
                    </a:p>
                    <a:p>
                      <a:r>
                        <a:rPr lang="en-AU" sz="1700" dirty="0"/>
                        <a:t>Compare </a:t>
                      </a:r>
                      <a:r>
                        <a:rPr lang="en-AU" sz="1700" b="1" dirty="0"/>
                        <a:t>90</a:t>
                      </a:r>
                      <a:r>
                        <a:rPr lang="en-AU" sz="1700" dirty="0"/>
                        <a:t> with </a:t>
                      </a:r>
                      <a:r>
                        <a:rPr lang="en-AU" sz="1700" b="1" dirty="0"/>
                        <a:t>89</a:t>
                      </a:r>
                      <a:r>
                        <a:rPr lang="en-AU" sz="1700" dirty="0"/>
                        <a:t>: No shift needed.</a:t>
                      </a:r>
                    </a:p>
                    <a:p>
                      <a:r>
                        <a:rPr lang="en-AU" sz="1700" dirty="0"/>
                        <a:t>[45, 68, 89, 90, 29, 34, 17]</a:t>
                      </a:r>
                      <a:endParaRPr lang="en-US" sz="1700" dirty="0"/>
                    </a:p>
                    <a:p>
                      <a:endParaRPr lang="en-US" sz="17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700" b="1" dirty="0"/>
                        <a:t>Fifth Pass (</a:t>
                      </a:r>
                      <a:r>
                        <a:rPr lang="en-AU" sz="1700" b="1" dirty="0" err="1"/>
                        <a:t>i</a:t>
                      </a:r>
                      <a:r>
                        <a:rPr lang="en-AU" sz="1700" b="1" dirty="0"/>
                        <a:t> = 5)</a:t>
                      </a:r>
                      <a:r>
                        <a:rPr lang="en-AU" sz="1700" dirty="0"/>
                        <a:t>:</a:t>
                      </a:r>
                    </a:p>
                    <a:p>
                      <a:r>
                        <a:rPr lang="en-AU" sz="1700" b="1" dirty="0"/>
                        <a:t>Key = 34</a:t>
                      </a:r>
                      <a:endParaRPr lang="en-AU" sz="1700" dirty="0"/>
                    </a:p>
                    <a:p>
                      <a:r>
                        <a:rPr lang="en-AU" sz="1700" dirty="0"/>
                        <a:t>Compare </a:t>
                      </a:r>
                      <a:r>
                        <a:rPr lang="en-AU" sz="1700" b="1" dirty="0"/>
                        <a:t>34</a:t>
                      </a:r>
                      <a:r>
                        <a:rPr lang="en-AU" sz="1700" dirty="0"/>
                        <a:t> with </a:t>
                      </a:r>
                      <a:r>
                        <a:rPr lang="en-AU" sz="1700" b="1" dirty="0"/>
                        <a:t>90</a:t>
                      </a:r>
                      <a:r>
                        <a:rPr lang="en-AU" sz="1700" dirty="0"/>
                        <a:t>: Shift </a:t>
                      </a:r>
                      <a:r>
                        <a:rPr lang="en-AU" sz="1700" b="1" dirty="0"/>
                        <a:t>90</a:t>
                      </a:r>
                      <a:r>
                        <a:rPr lang="en-AU" sz="1700" dirty="0"/>
                        <a:t> to the right.</a:t>
                      </a:r>
                    </a:p>
                    <a:p>
                      <a:r>
                        <a:rPr lang="en-AU" sz="1700" dirty="0"/>
                        <a:t>Compare </a:t>
                      </a:r>
                      <a:r>
                        <a:rPr lang="en-AU" sz="1700" b="1" dirty="0"/>
                        <a:t>34</a:t>
                      </a:r>
                      <a:r>
                        <a:rPr lang="en-AU" sz="1700" dirty="0"/>
                        <a:t> with </a:t>
                      </a:r>
                      <a:r>
                        <a:rPr lang="en-AU" sz="1700" b="1" dirty="0"/>
                        <a:t>89</a:t>
                      </a:r>
                      <a:r>
                        <a:rPr lang="en-AU" sz="1700" dirty="0"/>
                        <a:t>: Shift </a:t>
                      </a:r>
                      <a:r>
                        <a:rPr lang="en-AU" sz="1700" b="1" dirty="0"/>
                        <a:t>89</a:t>
                      </a:r>
                      <a:r>
                        <a:rPr lang="en-AU" sz="1700" dirty="0"/>
                        <a:t> to the right.</a:t>
                      </a:r>
                    </a:p>
                    <a:p>
                      <a:r>
                        <a:rPr lang="en-AU" sz="1700" dirty="0"/>
                        <a:t>Compare </a:t>
                      </a:r>
                      <a:r>
                        <a:rPr lang="en-AU" sz="1700" b="1" dirty="0"/>
                        <a:t>34</a:t>
                      </a:r>
                      <a:r>
                        <a:rPr lang="en-AU" sz="1700" dirty="0"/>
                        <a:t> with </a:t>
                      </a:r>
                      <a:r>
                        <a:rPr lang="en-AU" sz="1700" b="1" dirty="0"/>
                        <a:t>68</a:t>
                      </a:r>
                      <a:r>
                        <a:rPr lang="en-AU" sz="1700" dirty="0"/>
                        <a:t>: Shift </a:t>
                      </a:r>
                      <a:r>
                        <a:rPr lang="en-AU" sz="1700" b="1" dirty="0"/>
                        <a:t>68</a:t>
                      </a:r>
                      <a:r>
                        <a:rPr lang="en-AU" sz="1700" dirty="0"/>
                        <a:t> to the right.</a:t>
                      </a:r>
                    </a:p>
                    <a:p>
                      <a:r>
                        <a:rPr lang="en-AU" sz="1700" dirty="0"/>
                        <a:t>Compare </a:t>
                      </a:r>
                      <a:r>
                        <a:rPr lang="en-AU" sz="1700" b="1" dirty="0"/>
                        <a:t>34</a:t>
                      </a:r>
                      <a:r>
                        <a:rPr lang="en-AU" sz="1700" dirty="0"/>
                        <a:t> with </a:t>
                      </a:r>
                      <a:r>
                        <a:rPr lang="en-AU" sz="1700" b="1" dirty="0"/>
                        <a:t>45</a:t>
                      </a:r>
                      <a:r>
                        <a:rPr lang="en-AU" sz="1700" dirty="0"/>
                        <a:t>: Shift </a:t>
                      </a:r>
                      <a:r>
                        <a:rPr lang="en-AU" sz="1700" b="1" dirty="0"/>
                        <a:t>45</a:t>
                      </a:r>
                      <a:r>
                        <a:rPr lang="en-AU" sz="1700" dirty="0"/>
                        <a:t> to the right.</a:t>
                      </a:r>
                    </a:p>
                    <a:p>
                      <a:r>
                        <a:rPr lang="en-AU" sz="1700" dirty="0"/>
                        <a:t>Insert </a:t>
                      </a:r>
                      <a:r>
                        <a:rPr lang="en-AU" sz="1700" b="1" dirty="0"/>
                        <a:t>34</a:t>
                      </a:r>
                      <a:r>
                        <a:rPr lang="en-AU" sz="1700" dirty="0"/>
                        <a:t> in the correct position:</a:t>
                      </a:r>
                    </a:p>
                    <a:p>
                      <a:r>
                        <a:rPr lang="en-AU" sz="1700" dirty="0"/>
                        <a:t>[29, 34, 45, 68, 89, 90, 17]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177197966"/>
                  </a:ext>
                </a:extLst>
              </a:tr>
              <a:tr h="3360367">
                <a:tc>
                  <a:txBody>
                    <a:bodyPr/>
                    <a:lstStyle/>
                    <a:p>
                      <a:r>
                        <a:rPr lang="en-AU" sz="1700" b="1" dirty="0"/>
                        <a:t>Second Pass (</a:t>
                      </a:r>
                      <a:r>
                        <a:rPr lang="en-AU" sz="1700" b="1" dirty="0" err="1"/>
                        <a:t>i</a:t>
                      </a:r>
                      <a:r>
                        <a:rPr lang="en-AU" sz="1700" b="1" dirty="0"/>
                        <a:t> = 2)</a:t>
                      </a:r>
                      <a:r>
                        <a:rPr lang="en-AU" sz="1700" dirty="0"/>
                        <a:t>:</a:t>
                      </a:r>
                    </a:p>
                    <a:p>
                      <a:r>
                        <a:rPr lang="en-AU" sz="1700" b="1" dirty="0"/>
                        <a:t>Key = 68</a:t>
                      </a:r>
                      <a:endParaRPr lang="en-AU" sz="1700" dirty="0"/>
                    </a:p>
                    <a:p>
                      <a:r>
                        <a:rPr lang="en-AU" sz="1700" dirty="0"/>
                        <a:t>Compare </a:t>
                      </a:r>
                      <a:r>
                        <a:rPr lang="en-AU" sz="1700" b="1" dirty="0"/>
                        <a:t>68</a:t>
                      </a:r>
                      <a:r>
                        <a:rPr lang="en-AU" sz="1700" dirty="0"/>
                        <a:t> with </a:t>
                      </a:r>
                      <a:r>
                        <a:rPr lang="en-AU" sz="1700" b="1" dirty="0"/>
                        <a:t>89</a:t>
                      </a:r>
                      <a:r>
                        <a:rPr lang="en-AU" sz="1700" dirty="0"/>
                        <a:t>: Since </a:t>
                      </a:r>
                      <a:r>
                        <a:rPr lang="en-AU" sz="1700" b="1" dirty="0"/>
                        <a:t>68 &lt; 89</a:t>
                      </a:r>
                      <a:r>
                        <a:rPr lang="en-AU" sz="1700" dirty="0"/>
                        <a:t>, shift </a:t>
                      </a:r>
                      <a:r>
                        <a:rPr lang="en-AU" sz="1700" b="1" dirty="0"/>
                        <a:t>89</a:t>
                      </a:r>
                      <a:r>
                        <a:rPr lang="en-AU" sz="1700" dirty="0"/>
                        <a:t> to the right.</a:t>
                      </a:r>
                    </a:p>
                    <a:p>
                      <a:r>
                        <a:rPr lang="en-AU" sz="1700" dirty="0"/>
                        <a:t>Insert </a:t>
                      </a:r>
                      <a:r>
                        <a:rPr lang="en-AU" sz="1700" b="1" dirty="0"/>
                        <a:t>68</a:t>
                      </a:r>
                      <a:r>
                        <a:rPr lang="en-AU" sz="1700" dirty="0"/>
                        <a:t> in the correct position</a:t>
                      </a:r>
                    </a:p>
                    <a:p>
                      <a:r>
                        <a:rPr lang="en-AU" sz="1700" dirty="0"/>
                        <a:t>[45, 68, 89, 90, 29, 34, 17]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700" b="1" dirty="0"/>
                        <a:t>Fourth Pass (</a:t>
                      </a:r>
                      <a:r>
                        <a:rPr lang="en-AU" sz="1700" b="1" dirty="0" err="1"/>
                        <a:t>i</a:t>
                      </a:r>
                      <a:r>
                        <a:rPr lang="en-AU" sz="1700" b="1" dirty="0"/>
                        <a:t> = 4)</a:t>
                      </a:r>
                      <a:r>
                        <a:rPr lang="en-AU" sz="1700" dirty="0"/>
                        <a:t>:</a:t>
                      </a:r>
                    </a:p>
                    <a:p>
                      <a:r>
                        <a:rPr lang="en-AU" sz="1700" b="1" dirty="0"/>
                        <a:t>Key = 29</a:t>
                      </a:r>
                      <a:endParaRPr lang="en-AU" sz="1700" dirty="0"/>
                    </a:p>
                    <a:p>
                      <a:r>
                        <a:rPr lang="en-AU" sz="1700" dirty="0"/>
                        <a:t>Compare </a:t>
                      </a:r>
                      <a:r>
                        <a:rPr lang="en-AU" sz="1700" b="1" dirty="0"/>
                        <a:t>29</a:t>
                      </a:r>
                      <a:r>
                        <a:rPr lang="en-AU" sz="1700" dirty="0"/>
                        <a:t> with </a:t>
                      </a:r>
                      <a:r>
                        <a:rPr lang="en-AU" sz="1700" b="1" dirty="0"/>
                        <a:t>90</a:t>
                      </a:r>
                      <a:r>
                        <a:rPr lang="en-AU" sz="1700" dirty="0"/>
                        <a:t>: Shift </a:t>
                      </a:r>
                      <a:r>
                        <a:rPr lang="en-AU" sz="1700" b="1" dirty="0"/>
                        <a:t>90</a:t>
                      </a:r>
                      <a:r>
                        <a:rPr lang="en-AU" sz="1700" dirty="0"/>
                        <a:t> to the right.</a:t>
                      </a:r>
                    </a:p>
                    <a:p>
                      <a:r>
                        <a:rPr lang="en-AU" sz="1700" dirty="0"/>
                        <a:t>Compare </a:t>
                      </a:r>
                      <a:r>
                        <a:rPr lang="en-AU" sz="1700" b="1" dirty="0"/>
                        <a:t>29</a:t>
                      </a:r>
                      <a:r>
                        <a:rPr lang="en-AU" sz="1700" dirty="0"/>
                        <a:t> with </a:t>
                      </a:r>
                      <a:r>
                        <a:rPr lang="en-AU" sz="1700" b="1" dirty="0"/>
                        <a:t>89</a:t>
                      </a:r>
                      <a:r>
                        <a:rPr lang="en-AU" sz="1700" dirty="0"/>
                        <a:t>: Shift </a:t>
                      </a:r>
                      <a:r>
                        <a:rPr lang="en-AU" sz="1700" b="1" dirty="0"/>
                        <a:t>89</a:t>
                      </a:r>
                      <a:r>
                        <a:rPr lang="en-AU" sz="1700" dirty="0"/>
                        <a:t> to the right.</a:t>
                      </a:r>
                    </a:p>
                    <a:p>
                      <a:r>
                        <a:rPr lang="en-AU" sz="1700" dirty="0"/>
                        <a:t>Compare </a:t>
                      </a:r>
                      <a:r>
                        <a:rPr lang="en-AU" sz="1700" b="1" dirty="0"/>
                        <a:t>29</a:t>
                      </a:r>
                      <a:r>
                        <a:rPr lang="en-AU" sz="1700" dirty="0"/>
                        <a:t> with </a:t>
                      </a:r>
                      <a:r>
                        <a:rPr lang="en-AU" sz="1700" b="1" dirty="0"/>
                        <a:t>68</a:t>
                      </a:r>
                      <a:r>
                        <a:rPr lang="en-AU" sz="1700" dirty="0"/>
                        <a:t>: Shift </a:t>
                      </a:r>
                      <a:r>
                        <a:rPr lang="en-AU" sz="1700" b="1" dirty="0"/>
                        <a:t>68</a:t>
                      </a:r>
                      <a:r>
                        <a:rPr lang="en-AU" sz="1700" dirty="0"/>
                        <a:t> to the right.</a:t>
                      </a:r>
                    </a:p>
                    <a:p>
                      <a:r>
                        <a:rPr lang="en-AU" sz="1700" dirty="0"/>
                        <a:t>Compare </a:t>
                      </a:r>
                      <a:r>
                        <a:rPr lang="en-AU" sz="1700" b="1" dirty="0"/>
                        <a:t>29</a:t>
                      </a:r>
                      <a:r>
                        <a:rPr lang="en-AU" sz="1700" dirty="0"/>
                        <a:t> with </a:t>
                      </a:r>
                      <a:r>
                        <a:rPr lang="en-AU" sz="1700" b="1" dirty="0"/>
                        <a:t>45</a:t>
                      </a:r>
                      <a:r>
                        <a:rPr lang="en-AU" sz="1700" dirty="0"/>
                        <a:t>: Shift </a:t>
                      </a:r>
                      <a:r>
                        <a:rPr lang="en-AU" sz="1700" b="1" dirty="0"/>
                        <a:t>45</a:t>
                      </a:r>
                      <a:r>
                        <a:rPr lang="en-AU" sz="1700" dirty="0"/>
                        <a:t> to the right.</a:t>
                      </a:r>
                    </a:p>
                    <a:p>
                      <a:r>
                        <a:rPr lang="en-AU" sz="1700" dirty="0"/>
                        <a:t>Insert </a:t>
                      </a:r>
                      <a:r>
                        <a:rPr lang="en-AU" sz="1700" b="1" dirty="0"/>
                        <a:t>29</a:t>
                      </a:r>
                      <a:r>
                        <a:rPr lang="en-AU" sz="1700" dirty="0"/>
                        <a:t> in the correct position:</a:t>
                      </a:r>
                    </a:p>
                    <a:p>
                      <a:r>
                        <a:rPr lang="en-AU" sz="1700" dirty="0"/>
                        <a:t>[29, 45, 68, 89, 90, 34, 17]</a:t>
                      </a:r>
                      <a:endParaRPr lang="en-US" sz="1700" dirty="0"/>
                    </a:p>
                    <a:p>
                      <a:endParaRPr lang="en-US" sz="17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700" b="1" dirty="0"/>
                        <a:t>Sixth Pass (</a:t>
                      </a:r>
                      <a:r>
                        <a:rPr lang="en-AU" sz="1700" b="1" dirty="0" err="1"/>
                        <a:t>i</a:t>
                      </a:r>
                      <a:r>
                        <a:rPr lang="en-AU" sz="1700" b="1" dirty="0"/>
                        <a:t> = 6)</a:t>
                      </a:r>
                      <a:r>
                        <a:rPr lang="en-AU" sz="1700" dirty="0"/>
                        <a:t>:</a:t>
                      </a:r>
                    </a:p>
                    <a:p>
                      <a:r>
                        <a:rPr lang="en-AU" sz="1700" b="1" dirty="0"/>
                        <a:t>Key = 17</a:t>
                      </a:r>
                    </a:p>
                    <a:p>
                      <a:r>
                        <a:rPr lang="en-AU" sz="1700" dirty="0"/>
                        <a:t>Compare </a:t>
                      </a:r>
                      <a:r>
                        <a:rPr lang="en-AU" sz="1700" b="1" dirty="0"/>
                        <a:t>17</a:t>
                      </a:r>
                      <a:r>
                        <a:rPr lang="en-AU" sz="1700" dirty="0"/>
                        <a:t> with </a:t>
                      </a:r>
                      <a:r>
                        <a:rPr lang="en-AU" sz="1700" b="1" dirty="0"/>
                        <a:t>90</a:t>
                      </a:r>
                      <a:r>
                        <a:rPr lang="en-AU" sz="1700" dirty="0"/>
                        <a:t>: Shift </a:t>
                      </a:r>
                      <a:r>
                        <a:rPr lang="en-AU" sz="1700" b="1" dirty="0"/>
                        <a:t>90</a:t>
                      </a:r>
                      <a:r>
                        <a:rPr lang="en-AU" sz="1700" dirty="0"/>
                        <a:t> to the right.</a:t>
                      </a:r>
                    </a:p>
                    <a:p>
                      <a:r>
                        <a:rPr lang="en-AU" sz="1700" dirty="0"/>
                        <a:t>Compare </a:t>
                      </a:r>
                      <a:r>
                        <a:rPr lang="en-AU" sz="1700" b="1" dirty="0"/>
                        <a:t>17</a:t>
                      </a:r>
                      <a:r>
                        <a:rPr lang="en-AU" sz="1700" dirty="0"/>
                        <a:t> with </a:t>
                      </a:r>
                      <a:r>
                        <a:rPr lang="en-AU" sz="1700" b="1" dirty="0"/>
                        <a:t>89</a:t>
                      </a:r>
                      <a:r>
                        <a:rPr lang="en-AU" sz="1700" dirty="0"/>
                        <a:t>: Shift </a:t>
                      </a:r>
                      <a:r>
                        <a:rPr lang="en-AU" sz="1700" b="1" dirty="0"/>
                        <a:t>89</a:t>
                      </a:r>
                      <a:r>
                        <a:rPr lang="en-AU" sz="1700" dirty="0"/>
                        <a:t> to the right.</a:t>
                      </a:r>
                    </a:p>
                    <a:p>
                      <a:r>
                        <a:rPr lang="en-AU" sz="1700" dirty="0"/>
                        <a:t>Compare </a:t>
                      </a:r>
                      <a:r>
                        <a:rPr lang="en-AU" sz="1700" b="1" dirty="0"/>
                        <a:t>17</a:t>
                      </a:r>
                      <a:r>
                        <a:rPr lang="en-AU" sz="1700" dirty="0"/>
                        <a:t> with </a:t>
                      </a:r>
                      <a:r>
                        <a:rPr lang="en-AU" sz="1700" b="1" dirty="0"/>
                        <a:t>68</a:t>
                      </a:r>
                      <a:r>
                        <a:rPr lang="en-AU" sz="1700" dirty="0"/>
                        <a:t>: Shift </a:t>
                      </a:r>
                      <a:r>
                        <a:rPr lang="en-AU" sz="1700" b="1" dirty="0"/>
                        <a:t>68</a:t>
                      </a:r>
                      <a:r>
                        <a:rPr lang="en-AU" sz="1700" dirty="0"/>
                        <a:t> to the right.</a:t>
                      </a:r>
                    </a:p>
                    <a:p>
                      <a:r>
                        <a:rPr lang="en-AU" sz="1700" dirty="0"/>
                        <a:t>Compare </a:t>
                      </a:r>
                      <a:r>
                        <a:rPr lang="en-AU" sz="1700" b="1" dirty="0"/>
                        <a:t>17</a:t>
                      </a:r>
                      <a:r>
                        <a:rPr lang="en-AU" sz="1700" dirty="0"/>
                        <a:t> with </a:t>
                      </a:r>
                      <a:r>
                        <a:rPr lang="en-AU" sz="1700" b="1" dirty="0"/>
                        <a:t>45</a:t>
                      </a:r>
                      <a:r>
                        <a:rPr lang="en-AU" sz="1700" dirty="0"/>
                        <a:t>: Shift </a:t>
                      </a:r>
                      <a:r>
                        <a:rPr lang="en-AU" sz="1700" b="1" dirty="0"/>
                        <a:t>45</a:t>
                      </a:r>
                      <a:r>
                        <a:rPr lang="en-AU" sz="1700" dirty="0"/>
                        <a:t> to the right.</a:t>
                      </a:r>
                    </a:p>
                    <a:p>
                      <a:r>
                        <a:rPr lang="en-AU" sz="1700" dirty="0"/>
                        <a:t>Compare </a:t>
                      </a:r>
                      <a:r>
                        <a:rPr lang="en-AU" sz="1700" b="1" dirty="0"/>
                        <a:t>17</a:t>
                      </a:r>
                      <a:r>
                        <a:rPr lang="en-AU" sz="1700" dirty="0"/>
                        <a:t> with </a:t>
                      </a:r>
                      <a:r>
                        <a:rPr lang="en-AU" sz="1700" b="1" dirty="0"/>
                        <a:t>34</a:t>
                      </a:r>
                      <a:r>
                        <a:rPr lang="en-AU" sz="1700" dirty="0"/>
                        <a:t>: Shift </a:t>
                      </a:r>
                      <a:r>
                        <a:rPr lang="en-AU" sz="1700" b="1" dirty="0"/>
                        <a:t>34</a:t>
                      </a:r>
                      <a:r>
                        <a:rPr lang="en-AU" sz="1700" dirty="0"/>
                        <a:t> to the right.</a:t>
                      </a:r>
                    </a:p>
                    <a:p>
                      <a:r>
                        <a:rPr lang="en-AU" sz="1700" dirty="0"/>
                        <a:t>Compare </a:t>
                      </a:r>
                      <a:r>
                        <a:rPr lang="en-AU" sz="1700" b="1" dirty="0"/>
                        <a:t>17</a:t>
                      </a:r>
                      <a:r>
                        <a:rPr lang="en-AU" sz="1700" dirty="0"/>
                        <a:t> with </a:t>
                      </a:r>
                      <a:r>
                        <a:rPr lang="en-AU" sz="1700" b="1" dirty="0"/>
                        <a:t>29</a:t>
                      </a:r>
                      <a:r>
                        <a:rPr lang="en-AU" sz="1700" dirty="0"/>
                        <a:t>: Shift </a:t>
                      </a:r>
                      <a:r>
                        <a:rPr lang="en-AU" sz="1700" b="1" dirty="0"/>
                        <a:t>29</a:t>
                      </a:r>
                      <a:r>
                        <a:rPr lang="en-AU" sz="1700" dirty="0"/>
                        <a:t> to the right.</a:t>
                      </a:r>
                    </a:p>
                    <a:p>
                      <a:r>
                        <a:rPr lang="en-AU" sz="1700" dirty="0"/>
                        <a:t>Insert </a:t>
                      </a:r>
                      <a:r>
                        <a:rPr lang="en-AU" sz="1700" b="1" dirty="0"/>
                        <a:t>17</a:t>
                      </a:r>
                      <a:r>
                        <a:rPr lang="en-AU" sz="1700" dirty="0"/>
                        <a:t> in the correct position</a:t>
                      </a:r>
                    </a:p>
                    <a:p>
                      <a:r>
                        <a:rPr lang="en-AU" sz="1700" dirty="0"/>
                        <a:t>[17, 29, 34, 45, 68, 89, 90]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171957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9527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7E590-EA26-63E3-D42D-2994162DA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C37A7001-616D-35D5-1A69-7AEBDE71F9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Example 2: Insertion Sort, Contd.</a:t>
            </a:r>
            <a:endParaRPr sz="3800"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126940-0F3D-6B09-8DB6-0050B1D0082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82E1DD99-CC35-0AC1-10D6-D5DAF26EFDF6}"/>
              </a:ext>
            </a:extLst>
          </p:cNvPr>
          <p:cNvSpPr txBox="1">
            <a:spLocks/>
          </p:cNvSpPr>
          <p:nvPr/>
        </p:nvSpPr>
        <p:spPr bwMode="auto">
          <a:xfrm>
            <a:off x="92208" y="1189575"/>
            <a:ext cx="11430000" cy="619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Analysis of the algorithm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The input size is n, the basic operation is comparison, one case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Time efficiency is  </a:t>
            </a: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6D89EB6-4549-01E6-BE47-7CDD620DAE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4285807"/>
            <a:ext cx="1619250" cy="571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45664B-E710-F584-5D47-A6016E5C68F3}"/>
              </a:ext>
            </a:extLst>
          </p:cNvPr>
          <p:cNvSpPr txBox="1"/>
          <p:nvPr/>
        </p:nvSpPr>
        <p:spPr>
          <a:xfrm>
            <a:off x="5257801" y="2272850"/>
            <a:ext cx="6465536" cy="397031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ALGORITHM</a:t>
            </a:r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InsertionSort</a:t>
            </a:r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(A[0..n-1])</a:t>
            </a:r>
          </a:p>
          <a:p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      // Sorts a given array by insertion sort</a:t>
            </a:r>
          </a:p>
          <a:p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      // Input: An array A[0..n-1] of orderable elements</a:t>
            </a:r>
          </a:p>
          <a:p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      // Output: Array A[0..n-1] sorted in nondecreasing order</a:t>
            </a:r>
          </a:p>
          <a:p>
            <a:endParaRPr lang="en-US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en-US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for</a:t>
            </a:r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i</a:t>
            </a:r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← 1 </a:t>
            </a:r>
            <a:r>
              <a:rPr lang="en-US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to</a:t>
            </a:r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n - 1 </a:t>
            </a:r>
            <a:r>
              <a:rPr lang="en-US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do</a:t>
            </a:r>
          </a:p>
          <a:p>
            <a:pPr lvl="1"/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  key ← A[</a:t>
            </a:r>
            <a:r>
              <a:rPr lang="en-US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i</a:t>
            </a:r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]      </a:t>
            </a:r>
            <a:r>
              <a:rPr lang="en-US" b="1" dirty="0">
                <a:solidFill>
                  <a:srgbClr val="7030A0"/>
                </a:solidFill>
              </a:rPr>
              <a:t>// Store the current element</a:t>
            </a:r>
          </a:p>
          <a:p>
            <a:pPr lvl="1"/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  j ← </a:t>
            </a:r>
            <a:r>
              <a:rPr lang="en-US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i</a:t>
            </a:r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- 1         </a:t>
            </a:r>
            <a:r>
              <a:rPr lang="en-US" b="1" dirty="0">
                <a:solidFill>
                  <a:srgbClr val="7030A0"/>
                </a:solidFill>
              </a:rPr>
              <a:t>// Start from the last sorted element</a:t>
            </a:r>
          </a:p>
          <a:p>
            <a:pPr lvl="1"/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  </a:t>
            </a:r>
            <a:r>
              <a:rPr lang="en-US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while</a:t>
            </a:r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j ≥ 0 </a:t>
            </a:r>
            <a:r>
              <a:rPr lang="en-US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and</a:t>
            </a:r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A[j] &gt; key </a:t>
            </a:r>
            <a:r>
              <a:rPr lang="en-US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do</a:t>
            </a:r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 </a:t>
            </a:r>
            <a:r>
              <a:rPr lang="en-US" b="1" dirty="0">
                <a:solidFill>
                  <a:srgbClr val="7030A0"/>
                </a:solidFill>
              </a:rPr>
              <a:t>// Shift elements greater than key to the right</a:t>
            </a:r>
          </a:p>
          <a:p>
            <a:pPr lvl="1"/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        A[j + 1] ← A[j]</a:t>
            </a:r>
          </a:p>
          <a:p>
            <a:pPr lvl="1"/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        j ← j - 1</a:t>
            </a:r>
          </a:p>
          <a:p>
            <a:pPr lvl="1"/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  A[j + 1] ← key  </a:t>
            </a:r>
            <a:r>
              <a:rPr lang="en-US" b="1" dirty="0">
                <a:solidFill>
                  <a:srgbClr val="7030A0"/>
                </a:solidFill>
              </a:rPr>
              <a:t>// Insert the key at its correct 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DF7A72-CF6C-391B-872C-651E0007A1F4}"/>
                  </a:ext>
                </a:extLst>
              </p:cNvPr>
              <p:cNvSpPr txBox="1"/>
              <p:nvPr/>
            </p:nvSpPr>
            <p:spPr>
              <a:xfrm>
                <a:off x="293336" y="2170391"/>
                <a:ext cx="5088287" cy="1968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0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AU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AU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</m:nary>
                        </m:e>
                      </m:nary>
                      <m:nary>
                        <m:naryPr>
                          <m:chr m:val="∑"/>
                          <m:limLoc m:val="undOvr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AU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nary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AU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+...+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AU" b="0" i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DF7A72-CF6C-391B-872C-651E0007A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336" y="2170391"/>
                <a:ext cx="5088287" cy="1968168"/>
              </a:xfrm>
              <a:prstGeom prst="rect">
                <a:avLst/>
              </a:prstGeom>
              <a:blipFill>
                <a:blip r:embed="rId7"/>
                <a:stretch>
                  <a:fillRect l="-7232" t="-41667" b="-5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3288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B050"/>
                </a:solidFill>
              </a:rPr>
              <a:t>Example 3: String Matching</a:t>
            </a:r>
            <a:endParaRPr sz="3800"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11C24A04-7DB4-7B09-44FF-5583BC1DF9C2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2646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Explanation of the problem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b="1" dirty="0">
                <a:cs typeface="Arial" charset="0"/>
              </a:rPr>
              <a:t>pattern</a:t>
            </a:r>
            <a:r>
              <a:rPr lang="en-US" altLang="en-US" sz="2400" dirty="0">
                <a:cs typeface="Arial" charset="0"/>
              </a:rPr>
              <a:t>: a string of </a:t>
            </a:r>
            <a:r>
              <a:rPr lang="en-US" altLang="en-US" sz="2400" u="sng" dirty="0">
                <a:cs typeface="Arial" charset="0"/>
              </a:rPr>
              <a:t>m</a:t>
            </a:r>
            <a:r>
              <a:rPr lang="en-US" altLang="en-US" sz="2400" dirty="0">
                <a:cs typeface="Arial" charset="0"/>
              </a:rPr>
              <a:t> characters to search for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b="1" dirty="0">
                <a:cs typeface="Arial" charset="0"/>
              </a:rPr>
              <a:t>text</a:t>
            </a:r>
            <a:r>
              <a:rPr lang="en-US" altLang="en-US" sz="2400" dirty="0">
                <a:cs typeface="Arial" charset="0"/>
              </a:rPr>
              <a:t>: a (longer) string of </a:t>
            </a:r>
            <a:r>
              <a:rPr lang="en-US" altLang="en-US" sz="2400" u="sng" dirty="0">
                <a:cs typeface="Arial" charset="0"/>
              </a:rPr>
              <a:t>n</a:t>
            </a:r>
            <a:r>
              <a:rPr lang="en-US" altLang="en-US" sz="2400" dirty="0">
                <a:cs typeface="Arial" charset="0"/>
              </a:rPr>
              <a:t> characters to search in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b="1" dirty="0">
                <a:cs typeface="Arial" charset="0"/>
              </a:rPr>
              <a:t>problem</a:t>
            </a:r>
            <a:r>
              <a:rPr lang="en-US" altLang="en-US" sz="2400" dirty="0">
                <a:cs typeface="Arial" charset="0"/>
              </a:rPr>
              <a:t>: find a substring in the text that matches the pattern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31EB38-ADE4-3BF5-2546-486C184521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491453"/>
            <a:ext cx="8947746" cy="111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189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Example 3: String Matching, Contd.</a:t>
            </a:r>
            <a:endParaRPr sz="3800"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3607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Explanation of the algorithm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Step 1: Align pattern at beginning of text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Step 2: Moving from left to right, compare each character of pattern to the corresponding character in text until </a:t>
            </a:r>
          </a:p>
          <a:p>
            <a:pPr lvl="2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000" dirty="0">
                <a:cs typeface="Arial" charset="0"/>
              </a:rPr>
              <a:t>all characters are found to match (successful search); or</a:t>
            </a:r>
          </a:p>
          <a:p>
            <a:pPr lvl="2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000" dirty="0">
                <a:cs typeface="Arial" charset="0"/>
              </a:rPr>
              <a:t>a mismatch is detected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Step 3: While pattern is not found, and the text is not yet exhausted, realign pattern one position to the right and </a:t>
            </a:r>
          </a:p>
          <a:p>
            <a:pPr lvl="2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000" dirty="0">
                <a:cs typeface="Arial" charset="0"/>
              </a:rPr>
              <a:t>repeat Step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F68D67-8515-F459-9EA0-6BF668A87A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4835525"/>
            <a:ext cx="6705600" cy="1137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22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Example 3: String Matching, Contd.</a:t>
            </a:r>
            <a:endParaRPr sz="3800" b="1" spc="-18" dirty="0">
              <a:solidFill>
                <a:srgbClr val="0070C0"/>
              </a:solidFill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3090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The algorithm</a:t>
            </a: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311CF5-C8A1-C25C-4F17-DD27E7FE9E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790700"/>
            <a:ext cx="7548248" cy="38389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DE24E0-80B6-A037-A2AF-834D2EDD75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5791200"/>
            <a:ext cx="7915525" cy="1013487"/>
          </a:xfrm>
          <a:prstGeom prst="rect">
            <a:avLst/>
          </a:prstGeom>
          <a:noFill/>
          <a:ln w="2857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7FF1D8AF-4BC1-48C8-0417-685EB2210D67}"/>
              </a:ext>
            </a:extLst>
          </p:cNvPr>
          <p:cNvSpPr txBox="1">
            <a:spLocks/>
          </p:cNvSpPr>
          <p:nvPr/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 algn="r">
              <a:defRPr/>
            </a:pPr>
            <a:fld id="{C65781BD-3F4D-4CA7-A858-CE94DEA3B426}" type="slidenum">
              <a:rPr lang="en-US" smtClean="0">
                <a:solidFill>
                  <a:srgbClr val="000000"/>
                </a:solidFill>
              </a:rPr>
              <a:pPr algn="r">
                <a:defRPr/>
              </a:pPr>
              <a:t>13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3AF621-4764-E326-6EF2-32B1876CC89E}"/>
              </a:ext>
            </a:extLst>
          </p:cNvPr>
          <p:cNvSpPr txBox="1"/>
          <p:nvPr/>
        </p:nvSpPr>
        <p:spPr>
          <a:xfrm>
            <a:off x="3575504" y="3741495"/>
            <a:ext cx="838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From the beginning of the text till (n-1) – m + 1 (the last character that can begin a pattern)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F54FB8-0099-FD86-1E66-FEDF745EE33E}"/>
              </a:ext>
            </a:extLst>
          </p:cNvPr>
          <p:cNvSpPr txBox="1"/>
          <p:nvPr/>
        </p:nvSpPr>
        <p:spPr>
          <a:xfrm>
            <a:off x="2438400" y="4049272"/>
            <a:ext cx="3276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From the beginning of the pattern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7AFC72-51BF-104F-C510-4D23BB57E264}"/>
              </a:ext>
            </a:extLst>
          </p:cNvPr>
          <p:cNvSpPr txBox="1"/>
          <p:nvPr/>
        </p:nvSpPr>
        <p:spPr>
          <a:xfrm>
            <a:off x="5431152" y="4374922"/>
            <a:ext cx="3306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till m-1 provided matching is TRUE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397041-5450-3102-D896-F8E9A3860E28}"/>
              </a:ext>
            </a:extLst>
          </p:cNvPr>
          <p:cNvSpPr/>
          <p:nvPr/>
        </p:nvSpPr>
        <p:spPr>
          <a:xfrm>
            <a:off x="6477000" y="5731626"/>
            <a:ext cx="762000" cy="1126374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417EBF-C034-B18D-3646-8E58562CBE08}"/>
              </a:ext>
            </a:extLst>
          </p:cNvPr>
          <p:cNvSpPr txBox="1"/>
          <p:nvPr/>
        </p:nvSpPr>
        <p:spPr>
          <a:xfrm>
            <a:off x="3575504" y="4993332"/>
            <a:ext cx="6711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If we finished a full match, return index of first matching character in text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B5B1192-F481-53D1-63D6-E7361A87F7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7176" y="1118727"/>
            <a:ext cx="6225224" cy="67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839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Example 3: String Matching, Contd.</a:t>
            </a:r>
            <a:endParaRPr sz="3800" b="1" spc="-18" dirty="0">
              <a:solidFill>
                <a:srgbClr val="0070C0"/>
              </a:solidFill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4862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Analysis of the algorithm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The basic operation is comparison, more than one case 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In the </a:t>
            </a:r>
            <a:r>
              <a:rPr lang="en-US" altLang="en-US" sz="2400" b="1" dirty="0">
                <a:cs typeface="Arial" charset="0"/>
              </a:rPr>
              <a:t>worst case</a:t>
            </a:r>
            <a:r>
              <a:rPr lang="en-US" altLang="en-US" sz="2400" dirty="0">
                <a:cs typeface="Arial" charset="0"/>
              </a:rPr>
              <a:t>, for each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n-m+1</a:t>
            </a:r>
            <a:r>
              <a:rPr lang="en-US" altLang="en-US" sz="2400" dirty="0">
                <a:cs typeface="Arial" charset="0"/>
              </a:rPr>
              <a:t> tries, we make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400" dirty="0">
                <a:cs typeface="Arial" charset="0"/>
              </a:rPr>
              <a:t> comparisons</a:t>
            </a:r>
            <a:r>
              <a:rPr lang="en-US" altLang="en-US" sz="1800" dirty="0">
                <a:cs typeface="Arial" charset="0"/>
              </a:rPr>
              <a:t> (at maximum)</a:t>
            </a: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Time efficiency is </a:t>
            </a:r>
            <a:r>
              <a:rPr lang="el-GR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400" dirty="0">
                <a:cs typeface="Arial" charset="0"/>
              </a:rPr>
              <a:t>comparisons (in the worst case)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A0D42B-7659-CAAB-6A26-646B39804C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7192" y="3160312"/>
            <a:ext cx="4945016" cy="1917455"/>
          </a:xfrm>
          <a:prstGeom prst="rect">
            <a:avLst/>
          </a:prstGeom>
          <a:noFill/>
          <a:ln w="28575">
            <a:solidFill>
              <a:srgbClr val="FFFF00"/>
            </a:solidFill>
            <a:miter lim="800000"/>
            <a:headEnd/>
            <a:tailEnd/>
          </a:ln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642CDCA3-F1D9-DA53-6C47-FAD6C19220E0}"/>
              </a:ext>
            </a:extLst>
          </p:cNvPr>
          <p:cNvSpPr txBox="1">
            <a:spLocks/>
          </p:cNvSpPr>
          <p:nvPr/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 algn="r">
              <a:defRPr/>
            </a:pPr>
            <a:fld id="{C65781BD-3F4D-4CA7-A858-CE94DEA3B426}" type="slidenum">
              <a:rPr lang="en-US" smtClean="0">
                <a:solidFill>
                  <a:srgbClr val="000000"/>
                </a:solidFill>
              </a:rPr>
              <a:pPr algn="r">
                <a:defRPr/>
              </a:pPr>
              <a:t>14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D19C89-4938-9B0C-B3B9-F655248474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210315"/>
            <a:ext cx="7915525" cy="1013487"/>
          </a:xfrm>
          <a:prstGeom prst="rect">
            <a:avLst/>
          </a:prstGeom>
          <a:noFill/>
          <a:ln w="2857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7304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B050"/>
                </a:solidFill>
              </a:rPr>
              <a:t>Example 4: Closet Pair Problem</a:t>
            </a:r>
            <a:endParaRPr sz="3800"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497651DA-AF6B-982E-F0F5-2F4F8449ADF4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353800" cy="4678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Explanation of the problem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find the two closest points in a set of n points (in the two-dimensional Cartesian plane)</a:t>
            </a: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14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Explanation of the algorithm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Compute the distance between every pair of distinct points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and return the indexes of the points for which the distance is the smallest</a:t>
            </a: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383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Example 4: Closet Pair Problem, Contd.</a:t>
            </a:r>
            <a:endParaRPr sz="3800"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497651DA-AF6B-982E-F0F5-2F4F8449ADF4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139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The algorithm</a:t>
            </a: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EEB892C6-9F79-0C1E-DE92-6ACC15FF39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876379"/>
            <a:ext cx="8428510" cy="3105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00DACE-951B-CAF3-AEBB-6B94E8E934FD}"/>
              </a:ext>
            </a:extLst>
          </p:cNvPr>
          <p:cNvSpPr txBox="1"/>
          <p:nvPr/>
        </p:nvSpPr>
        <p:spPr>
          <a:xfrm>
            <a:off x="4114800" y="3655711"/>
            <a:ext cx="563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030A0"/>
                </a:solidFill>
              </a:rPr>
              <a:t>Starting from the first point to the one before the last, …</a:t>
            </a:r>
            <a:endParaRPr lang="en-US" sz="1600" b="1" baseline="-25000" dirty="0">
              <a:solidFill>
                <a:srgbClr val="7030A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A00DEE-13CE-5FF5-6561-5A60BB3D7BAC}"/>
              </a:ext>
            </a:extLst>
          </p:cNvPr>
          <p:cNvSpPr txBox="1"/>
          <p:nvPr/>
        </p:nvSpPr>
        <p:spPr>
          <a:xfrm>
            <a:off x="4648200" y="4004846"/>
            <a:ext cx="563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030A0"/>
                </a:solidFill>
              </a:rPr>
              <a:t>for every other </a:t>
            </a:r>
            <a:r>
              <a:rPr lang="en-US" sz="1600" b="1" u="sng" dirty="0">
                <a:solidFill>
                  <a:srgbClr val="7030A0"/>
                </a:solidFill>
              </a:rPr>
              <a:t>following</a:t>
            </a:r>
            <a:r>
              <a:rPr lang="en-US" sz="1600" b="1" dirty="0">
                <a:solidFill>
                  <a:srgbClr val="7030A0"/>
                </a:solidFill>
              </a:rPr>
              <a:t> point (in the list)</a:t>
            </a:r>
            <a:endParaRPr lang="en-US" sz="1600" b="1" baseline="-25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037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Example 4: Closet Pair Problem, Contd.</a:t>
            </a:r>
            <a:endParaRPr sz="3800"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497651DA-AF6B-982E-F0F5-2F4F8449ADF4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4789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Analysis of the algorithm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The basic operation is the square root (a complicated operation) and 2 multiplications, but we can ignore the square root and compute it once at the end </a:t>
            </a:r>
            <a:r>
              <a:rPr lang="en-US" altLang="en-US" sz="1800" dirty="0">
                <a:cs typeface="Arial" charset="0"/>
              </a:rPr>
              <a:t>(why)</a:t>
            </a: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Time efficiency is</a:t>
            </a: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F75238-48F0-192D-D327-2694D342B7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7922" y="2588558"/>
            <a:ext cx="7732417" cy="16024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A795E9-90F1-8152-CEDF-37B75C7A2E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5225" y="4648200"/>
            <a:ext cx="1019175" cy="4095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87AC34-C482-0E0C-ECB7-7D7D5E16F6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7800" y="4464828"/>
            <a:ext cx="5905500" cy="1707372"/>
          </a:xfrm>
          <a:prstGeom prst="rect">
            <a:avLst/>
          </a:prstGeom>
          <a:ln w="28575">
            <a:solidFill>
              <a:srgbClr val="FFFF00"/>
            </a:solidFill>
          </a:ln>
        </p:spPr>
      </p:pic>
      <p:sp>
        <p:nvSpPr>
          <p:cNvPr id="13" name="Text Box 6">
            <a:extLst>
              <a:ext uri="{FF2B5EF4-FFF2-40B4-BE49-F238E27FC236}">
                <a16:creationId xmlns:a16="http://schemas.microsoft.com/office/drawing/2014/main" id="{46D643DA-EE88-C45A-ACC7-29A1CC7A2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420626"/>
            <a:ext cx="4495800" cy="83099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spcBef>
                <a:spcPct val="50000"/>
              </a:spcBef>
              <a:buClrTx/>
              <a:buSzTx/>
              <a:buNone/>
            </a:pPr>
            <a:r>
              <a:rPr kumimoji="0" lang="en-US" altLang="en-US" b="0" dirty="0">
                <a:solidFill>
                  <a:srgbClr val="FFFFFF"/>
                </a:solidFill>
                <a:ea typeface="+mn-ea"/>
              </a:rPr>
              <a:t>Divide-and-conquer approach can make it faster!</a:t>
            </a:r>
          </a:p>
        </p:txBody>
      </p:sp>
    </p:spTree>
    <p:extLst>
      <p:ext uri="{BB962C8B-B14F-4D97-AF65-F5344CB8AC3E}">
        <p14:creationId xmlns:p14="http://schemas.microsoft.com/office/powerpoint/2010/main" val="1855979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4000" b="1" dirty="0">
                <a:solidFill>
                  <a:srgbClr val="FFC000"/>
                </a:solidFill>
              </a:rPr>
              <a:t>Strengths and Weaknesses of Brute Force</a:t>
            </a:r>
            <a:endParaRPr sz="4000" b="1" spc="-18" dirty="0">
              <a:solidFill>
                <a:srgbClr val="FFC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4419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Tx/>
              <a:buBlip>
                <a:blip r:embed="rId3"/>
              </a:buBlip>
              <a:tabLst>
                <a:tab pos="465671" algn="l"/>
              </a:tabLst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Strengths</a:t>
            </a:r>
          </a:p>
          <a:p>
            <a:pPr lvl="1" indent="-342900">
              <a:buClr>
                <a:srgbClr val="FF6600"/>
              </a:buClr>
              <a:buSzPct val="75000"/>
              <a:buBlip>
                <a:blip r:embed="rId3"/>
              </a:buBlip>
              <a:tabLst>
                <a:tab pos="465671" algn="l"/>
              </a:tabLst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simplicity</a:t>
            </a:r>
          </a:p>
          <a:p>
            <a:pPr lvl="1" indent="-342900">
              <a:buClr>
                <a:srgbClr val="FF6600"/>
              </a:buClr>
              <a:buSzPct val="75000"/>
              <a:buBlip>
                <a:blip r:embed="rId3"/>
              </a:buBlip>
              <a:tabLst>
                <a:tab pos="465671" algn="l"/>
              </a:tabLst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wide applicability</a:t>
            </a:r>
          </a:p>
          <a:p>
            <a:pPr lvl="1" indent="-342900">
              <a:buClr>
                <a:srgbClr val="FF6600"/>
              </a:buClr>
              <a:buSzPct val="75000"/>
              <a:buBlip>
                <a:blip r:embed="rId3"/>
              </a:buBlip>
              <a:tabLst>
                <a:tab pos="465671" algn="l"/>
              </a:tabLst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yields reasonable algorithms for some important problems (e.g., matrix multiplication, sorting, searching, string matching) </a:t>
            </a:r>
          </a:p>
          <a:p>
            <a:pPr marL="400050" lvl="1" indent="0">
              <a:buClr>
                <a:srgbClr val="FF6600"/>
              </a:buClr>
              <a:buSzPct val="75000"/>
              <a:buNone/>
              <a:tabLst>
                <a:tab pos="465671" algn="l"/>
              </a:tabLst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charset="0"/>
              <a:cs typeface="Arial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Tx/>
              <a:buBlip>
                <a:blip r:embed="rId3"/>
              </a:buBlip>
              <a:tabLst>
                <a:tab pos="465671" algn="l"/>
              </a:tabLst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Weaknesses</a:t>
            </a:r>
          </a:p>
          <a:p>
            <a:pPr lvl="1" indent="-342900">
              <a:buClr>
                <a:srgbClr val="FF6600"/>
              </a:buClr>
              <a:buSzPct val="75000"/>
              <a:buBlip>
                <a:blip r:embed="rId3"/>
              </a:buBlip>
              <a:tabLst>
                <a:tab pos="465671" algn="l"/>
              </a:tabLst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rarely yields efficient algorithms </a:t>
            </a:r>
          </a:p>
          <a:p>
            <a:pPr lvl="1" indent="-342900">
              <a:buClr>
                <a:srgbClr val="FF6600"/>
              </a:buClr>
              <a:buSzPct val="75000"/>
              <a:buBlip>
                <a:blip r:embed="rId3"/>
              </a:buBlip>
              <a:tabLst>
                <a:tab pos="465671" algn="l"/>
              </a:tabLst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some brute-force algorithms are unacceptably slow </a:t>
            </a:r>
          </a:p>
          <a:p>
            <a:pPr lvl="1" indent="-342900">
              <a:buClr>
                <a:srgbClr val="FF6600"/>
              </a:buClr>
              <a:buSzPct val="75000"/>
              <a:buBlip>
                <a:blip r:embed="rId3"/>
              </a:buBlip>
              <a:tabLst>
                <a:tab pos="465671" algn="l"/>
              </a:tabLst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not as constructive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(creative)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 as some other design strategies</a:t>
            </a:r>
          </a:p>
        </p:txBody>
      </p:sp>
    </p:spTree>
    <p:extLst>
      <p:ext uri="{BB962C8B-B14F-4D97-AF65-F5344CB8AC3E}">
        <p14:creationId xmlns:p14="http://schemas.microsoft.com/office/powerpoint/2010/main" val="439940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5ADBABA-AD23-4E8E-ACD7-D9C2BBCED4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8" algn="ctr"/>
            <a:r>
              <a:rPr lang="en-US" sz="7200" b="1" dirty="0">
                <a:solidFill>
                  <a:srgbClr val="FF0000"/>
                </a:solidFill>
              </a:rPr>
              <a:t>Exhaustive Search</a:t>
            </a:r>
          </a:p>
        </p:txBody>
      </p:sp>
    </p:spTree>
    <p:extLst>
      <p:ext uri="{BB962C8B-B14F-4D97-AF65-F5344CB8AC3E}">
        <p14:creationId xmlns:p14="http://schemas.microsoft.com/office/powerpoint/2010/main" val="1887036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4000" b="1" dirty="0">
                <a:solidFill>
                  <a:srgbClr val="FF0000"/>
                </a:solidFill>
              </a:rPr>
              <a:t>Exhaustive Search</a:t>
            </a:r>
            <a:endParaRPr sz="4000" b="1" spc="-18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471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Tx/>
              <a:buBlip>
                <a:blip r:embed="rId3"/>
              </a:buBlip>
              <a:tabLst>
                <a:tab pos="465671" algn="l"/>
              </a:tabLst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A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brute force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approach for solving a problem </a:t>
            </a:r>
          </a:p>
          <a:p>
            <a:pPr lvl="1" indent="-342900">
              <a:buClr>
                <a:srgbClr val="FF6600"/>
              </a:buClr>
              <a:buSzPct val="75000"/>
              <a:buBlip>
                <a:blip r:embed="rId3"/>
              </a:buBlip>
              <a:tabLst>
                <a:tab pos="465671" algn="l"/>
              </a:tabLst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involving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search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 for an element with a special property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among all possible solutions</a:t>
            </a:r>
          </a:p>
          <a:p>
            <a:pPr lvl="1" indent="-342900">
              <a:buClr>
                <a:srgbClr val="FF6600"/>
              </a:buClr>
              <a:buSzPct val="75000"/>
              <a:buBlip>
                <a:blip r:embed="rId3"/>
              </a:buBlip>
              <a:tabLst>
                <a:tab pos="465671" algn="l"/>
              </a:tabLst>
            </a:pPr>
            <a:r>
              <a:rPr lang="en-US" sz="2400" b="1" dirty="0">
                <a:solidFill>
                  <a:srgbClr val="7030A0"/>
                </a:solidFill>
                <a:latin typeface="Arial"/>
                <a:cs typeface="Arial" charset="0"/>
              </a:rPr>
              <a:t>usually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 when we have combinatorial objects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such as permutations, combinations, or subsets of a set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Tx/>
              <a:buBlip>
                <a:blip r:embed="rId3"/>
              </a:buBlip>
              <a:tabLst>
                <a:tab pos="465671" algn="l"/>
              </a:tabLst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charset="0"/>
              <a:cs typeface="Arial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Tx/>
              <a:buBlip>
                <a:blip r:embed="rId3"/>
              </a:buBlip>
              <a:tabLst>
                <a:tab pos="465671" algn="l"/>
              </a:tabLst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Method:</a:t>
            </a:r>
          </a:p>
          <a:p>
            <a:pPr lvl="1" indent="-342900">
              <a:buClr>
                <a:srgbClr val="FF6600"/>
              </a:buClr>
              <a:buSzPct val="75000"/>
              <a:buBlip>
                <a:blip r:embed="rId3"/>
              </a:buBlip>
              <a:tabLst>
                <a:tab pos="465671" algn="l"/>
              </a:tabLst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generate a list </a:t>
            </a:r>
            <a:r>
              <a:rPr lang="en-US" sz="2400" dirty="0">
                <a:solidFill>
                  <a:srgbClr val="000000"/>
                </a:solidFill>
                <a:latin typeface="Arial"/>
                <a:cs typeface="Arial" charset="0"/>
              </a:rPr>
              <a:t>of all potential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solutions to the problem in a systematic manner</a:t>
            </a:r>
            <a:endParaRPr lang="en-US" sz="2400" dirty="0">
              <a:solidFill>
                <a:srgbClr val="000000"/>
              </a:solidFill>
              <a:latin typeface="Arial"/>
              <a:cs typeface="Arial" charset="0"/>
            </a:endParaRPr>
          </a:p>
          <a:p>
            <a:pPr lvl="1" indent="-342900">
              <a:buClr>
                <a:srgbClr val="FF6600"/>
              </a:buClr>
              <a:buSzPct val="75000"/>
              <a:buBlip>
                <a:blip r:embed="rId3"/>
              </a:buBlip>
              <a:tabLst>
                <a:tab pos="465671" algn="l"/>
              </a:tabLst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evaluate potential solutions one by one, disqualifying infeasible ones and, </a:t>
            </a:r>
          </a:p>
          <a:p>
            <a:pPr lvl="1" indent="-342900">
              <a:buClr>
                <a:srgbClr val="FF6600"/>
              </a:buClr>
              <a:buSzPct val="75000"/>
              <a:buBlip>
                <a:blip r:embed="rId3"/>
              </a:buBlip>
              <a:tabLst>
                <a:tab pos="465671" algn="l"/>
              </a:tabLst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for an optimization problem, keeping track of the best one found so far</a:t>
            </a:r>
          </a:p>
          <a:p>
            <a:pPr lvl="1" indent="-342900">
              <a:buClr>
                <a:srgbClr val="FF6600"/>
              </a:buClr>
              <a:buSzPct val="75000"/>
              <a:buBlip>
                <a:blip r:embed="rId3"/>
              </a:buBlip>
              <a:tabLst>
                <a:tab pos="465671" algn="l"/>
              </a:tabLst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and when search ends, announce the solution(s) found</a:t>
            </a:r>
          </a:p>
        </p:txBody>
      </p:sp>
    </p:spTree>
    <p:extLst>
      <p:ext uri="{BB962C8B-B14F-4D97-AF65-F5344CB8AC3E}">
        <p14:creationId xmlns:p14="http://schemas.microsoft.com/office/powerpoint/2010/main" val="1412076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B050"/>
                </a:solidFill>
              </a:rPr>
              <a:t>Example 1: Traveling Salesman Problem</a:t>
            </a:r>
            <a:endParaRPr sz="3800"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E1567348-871B-721C-3543-0752779DEFE1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2129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Explanation of the problem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Given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cs typeface="Arial" charset="0"/>
              </a:rPr>
              <a:t> cities with known distances between each pair, find the shortest tour that passes through all cities exactly once before returning to the starting city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Alternatively, find shortest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Hamiltonian circuit</a:t>
            </a:r>
            <a:r>
              <a:rPr lang="en-US" altLang="en-US" sz="2400" dirty="0">
                <a:cs typeface="Arial" charset="0"/>
              </a:rPr>
              <a:t> in a weighted connected graph</a:t>
            </a: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C13259-E268-D8B8-5AC4-4FF1F83669B7}"/>
              </a:ext>
            </a:extLst>
          </p:cNvPr>
          <p:cNvSpPr txBox="1"/>
          <p:nvPr/>
        </p:nvSpPr>
        <p:spPr>
          <a:xfrm>
            <a:off x="6553200" y="3334951"/>
            <a:ext cx="4800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4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</a:rPr>
              <a:t>A Hamiltonian </a:t>
            </a:r>
            <a:r>
              <a:rPr lang="en-US" altLang="en-US" sz="2400" b="1" u="sng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</a:rPr>
              <a:t>circuit</a:t>
            </a:r>
            <a:r>
              <a:rPr lang="en-US" altLang="en-US" sz="24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</a:rPr>
              <a:t> is defined as a </a:t>
            </a:r>
            <a:r>
              <a:rPr lang="en-US" altLang="en-US" sz="2400" b="1" u="sng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</a:rPr>
              <a:t>cycle</a:t>
            </a:r>
            <a:r>
              <a:rPr lang="en-US" altLang="en-US" sz="24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</a:rPr>
              <a:t> that passes through all the vertices of the graph exactly once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D5775BF-E7E0-496F-A8CB-69404F858DD3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3321644"/>
            <a:ext cx="2418605" cy="2427271"/>
            <a:chOff x="1872" y="2335"/>
            <a:chExt cx="1344" cy="1322"/>
          </a:xfrm>
        </p:grpSpPr>
        <p:sp>
          <p:nvSpPr>
            <p:cNvPr id="7" name="Oval 5">
              <a:extLst>
                <a:ext uri="{FF2B5EF4-FFF2-40B4-BE49-F238E27FC236}">
                  <a16:creationId xmlns:a16="http://schemas.microsoft.com/office/drawing/2014/main" id="{C613CF84-8133-FAD4-850B-5BB64971BC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448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b="0">
                  <a:solidFill>
                    <a:srgbClr val="7030A0"/>
                  </a:solidFill>
                  <a:ea typeface="+mn-ea"/>
                </a:rPr>
                <a:t>a</a:t>
              </a:r>
            </a:p>
          </p:txBody>
        </p:sp>
        <p:sp>
          <p:nvSpPr>
            <p:cNvPr id="8" name="Oval 6">
              <a:extLst>
                <a:ext uri="{FF2B5EF4-FFF2-40B4-BE49-F238E27FC236}">
                  <a16:creationId xmlns:a16="http://schemas.microsoft.com/office/drawing/2014/main" id="{398922A2-3E12-49D0-62EE-F16F1FD7B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448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b="0">
                  <a:solidFill>
                    <a:srgbClr val="7030A0"/>
                  </a:solidFill>
                  <a:ea typeface="+mn-ea"/>
                </a:rPr>
                <a:t>b</a:t>
              </a:r>
            </a:p>
          </p:txBody>
        </p:sp>
        <p:sp>
          <p:nvSpPr>
            <p:cNvPr id="10" name="Oval 7">
              <a:extLst>
                <a:ext uri="{FF2B5EF4-FFF2-40B4-BE49-F238E27FC236}">
                  <a16:creationId xmlns:a16="http://schemas.microsoft.com/office/drawing/2014/main" id="{3F73B56B-9C1A-1BD8-7A82-ED9E5E1883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312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b="0">
                  <a:solidFill>
                    <a:srgbClr val="7030A0"/>
                  </a:solidFill>
                  <a:ea typeface="+mn-ea"/>
                </a:rPr>
                <a:t>c</a:t>
              </a:r>
            </a:p>
          </p:txBody>
        </p:sp>
        <p:sp>
          <p:nvSpPr>
            <p:cNvPr id="11" name="Oval 8">
              <a:extLst>
                <a:ext uri="{FF2B5EF4-FFF2-40B4-BE49-F238E27FC236}">
                  <a16:creationId xmlns:a16="http://schemas.microsoft.com/office/drawing/2014/main" id="{E133FE3D-C881-B953-AEFE-29B3C3EF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312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b="0">
                  <a:solidFill>
                    <a:srgbClr val="7030A0"/>
                  </a:solidFill>
                  <a:ea typeface="+mn-ea"/>
                </a:rPr>
                <a:t>d</a:t>
              </a: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292006ED-5197-8E21-0E1D-72E6466600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592"/>
              <a:ext cx="672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en-US" sz="2400">
                <a:solidFill>
                  <a:srgbClr val="7030A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3832C3C2-0729-33B4-16AA-49BDEFC4C0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784"/>
              <a:ext cx="0" cy="52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en-US" sz="2400">
                <a:solidFill>
                  <a:srgbClr val="7030A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DF61AA4F-2824-3810-2B8C-DC04444E0E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456"/>
              <a:ext cx="672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en-US" sz="2400">
                <a:solidFill>
                  <a:srgbClr val="7030A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C82962E9-679E-B6A3-57D5-C62F240DBB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784"/>
              <a:ext cx="0" cy="52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en-US" sz="2400">
                <a:solidFill>
                  <a:srgbClr val="7030A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49036DDE-53AD-6D0B-F8A3-05E10ABBDB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736"/>
              <a:ext cx="720" cy="62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en-US" sz="2400">
                <a:solidFill>
                  <a:srgbClr val="7030A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9876C3F7-AED2-F655-FE52-C8139A0476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" y="2688"/>
              <a:ext cx="72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en-US" sz="2400">
                <a:solidFill>
                  <a:srgbClr val="7030A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52E6D6E5-72FC-6A11-7B06-61E32B4466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8" y="2887"/>
              <a:ext cx="182" cy="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sz="2000" b="0">
                  <a:solidFill>
                    <a:srgbClr val="7030A0"/>
                  </a:solidFill>
                  <a:latin typeface="Arial" panose="020B0604020202020204" pitchFamily="34" charset="0"/>
                  <a:ea typeface="+mn-ea"/>
                </a:rPr>
                <a:t>8</a:t>
              </a:r>
            </a:p>
          </p:txBody>
        </p:sp>
        <p:sp>
          <p:nvSpPr>
            <p:cNvPr id="19" name="Text Box 16">
              <a:extLst>
                <a:ext uri="{FF2B5EF4-FFF2-40B4-BE49-F238E27FC236}">
                  <a16:creationId xmlns:a16="http://schemas.microsoft.com/office/drawing/2014/main" id="{53C64DEE-EE74-872D-BFCB-8EE7A4DBA9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4" y="2335"/>
              <a:ext cx="182" cy="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sz="2000" b="0">
                  <a:solidFill>
                    <a:srgbClr val="7030A0"/>
                  </a:solidFill>
                  <a:latin typeface="Arial" panose="020B0604020202020204" pitchFamily="34" charset="0"/>
                  <a:ea typeface="+mn-ea"/>
                </a:rPr>
                <a:t>2</a:t>
              </a:r>
            </a:p>
          </p:txBody>
        </p:sp>
        <p:sp>
          <p:nvSpPr>
            <p:cNvPr id="20" name="Text Box 17">
              <a:extLst>
                <a:ext uri="{FF2B5EF4-FFF2-40B4-BE49-F238E27FC236}">
                  <a16:creationId xmlns:a16="http://schemas.microsoft.com/office/drawing/2014/main" id="{80426315-97AB-F99D-7D15-52A0777891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4" y="3439"/>
              <a:ext cx="182" cy="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sz="2000" b="0">
                  <a:solidFill>
                    <a:srgbClr val="7030A0"/>
                  </a:solidFill>
                  <a:latin typeface="Arial" panose="020B0604020202020204" pitchFamily="34" charset="0"/>
                  <a:ea typeface="+mn-ea"/>
                </a:rPr>
                <a:t>7</a:t>
              </a:r>
            </a:p>
          </p:txBody>
        </p:sp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D052937B-2CD8-D0F8-9218-46BAAAF517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0" y="2719"/>
              <a:ext cx="182" cy="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sz="2000" b="0">
                  <a:solidFill>
                    <a:srgbClr val="7030A0"/>
                  </a:solidFill>
                  <a:latin typeface="Arial" panose="020B0604020202020204" pitchFamily="34" charset="0"/>
                  <a:ea typeface="+mn-ea"/>
                </a:rPr>
                <a:t>5</a:t>
              </a:r>
            </a:p>
          </p:txBody>
        </p:sp>
        <p:sp>
          <p:nvSpPr>
            <p:cNvPr id="22" name="Text Box 19">
              <a:extLst>
                <a:ext uri="{FF2B5EF4-FFF2-40B4-BE49-F238E27FC236}">
                  <a16:creationId xmlns:a16="http://schemas.microsoft.com/office/drawing/2014/main" id="{67DC9631-1172-FC51-5F97-FDC39264E5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8" y="2719"/>
              <a:ext cx="182" cy="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sz="2000" b="0" dirty="0">
                  <a:solidFill>
                    <a:srgbClr val="7030A0"/>
                  </a:solidFill>
                  <a:latin typeface="Arial" panose="020B0604020202020204" pitchFamily="34" charset="0"/>
                  <a:ea typeface="+mn-ea"/>
                </a:rPr>
                <a:t>3</a:t>
              </a:r>
            </a:p>
          </p:txBody>
        </p:sp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6CF1848B-6B24-7497-B7BA-A3387C66E9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8" y="2863"/>
              <a:ext cx="182" cy="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sz="2000" b="0">
                  <a:solidFill>
                    <a:srgbClr val="7030A0"/>
                  </a:solidFill>
                  <a:latin typeface="Arial" panose="020B0604020202020204" pitchFamily="34" charset="0"/>
                  <a:ea typeface="+mn-ea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6347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b="1" dirty="0">
                <a:solidFill>
                  <a:srgbClr val="0070C0"/>
                </a:solidFill>
              </a:rPr>
              <a:t>Example 1: Traveling Salesman Problem, Contd.</a:t>
            </a:r>
            <a:endParaRPr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E1567348-871B-721C-3543-0752779DEFE1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4789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Explanation of the algorithm</a:t>
            </a: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16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Analysis of the algorithm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Time efficiency is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1FE808B-2C3D-2B7B-9B5E-A795120EEC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1918" y="1867904"/>
            <a:ext cx="5451498" cy="2838219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B38B50E8-3A15-8B99-F157-57C08A316C49}"/>
              </a:ext>
            </a:extLst>
          </p:cNvPr>
          <p:cNvGrpSpPr>
            <a:grpSpLocks/>
          </p:cNvGrpSpPr>
          <p:nvPr/>
        </p:nvGrpSpPr>
        <p:grpSpPr bwMode="auto">
          <a:xfrm>
            <a:off x="8053537" y="1917313"/>
            <a:ext cx="2418605" cy="2427271"/>
            <a:chOff x="1872" y="2335"/>
            <a:chExt cx="1344" cy="1322"/>
          </a:xfrm>
        </p:grpSpPr>
        <p:sp>
          <p:nvSpPr>
            <p:cNvPr id="27" name="Oval 5">
              <a:extLst>
                <a:ext uri="{FF2B5EF4-FFF2-40B4-BE49-F238E27FC236}">
                  <a16:creationId xmlns:a16="http://schemas.microsoft.com/office/drawing/2014/main" id="{0B721F15-3B02-9981-C9F7-F291BF881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448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b="0">
                  <a:solidFill>
                    <a:srgbClr val="7030A0"/>
                  </a:solidFill>
                  <a:ea typeface="+mn-ea"/>
                </a:rPr>
                <a:t>a</a:t>
              </a:r>
            </a:p>
          </p:txBody>
        </p:sp>
        <p:sp>
          <p:nvSpPr>
            <p:cNvPr id="28" name="Oval 6">
              <a:extLst>
                <a:ext uri="{FF2B5EF4-FFF2-40B4-BE49-F238E27FC236}">
                  <a16:creationId xmlns:a16="http://schemas.microsoft.com/office/drawing/2014/main" id="{075150D3-5BE0-31CD-2B6F-599FB8B1F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448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b="0">
                  <a:solidFill>
                    <a:srgbClr val="7030A0"/>
                  </a:solidFill>
                  <a:ea typeface="+mn-ea"/>
                </a:rPr>
                <a:t>b</a:t>
              </a:r>
            </a:p>
          </p:txBody>
        </p:sp>
        <p:sp>
          <p:nvSpPr>
            <p:cNvPr id="29" name="Oval 7">
              <a:extLst>
                <a:ext uri="{FF2B5EF4-FFF2-40B4-BE49-F238E27FC236}">
                  <a16:creationId xmlns:a16="http://schemas.microsoft.com/office/drawing/2014/main" id="{6A2CD8CD-813C-B8A4-E942-7C9048794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312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b="0">
                  <a:solidFill>
                    <a:srgbClr val="7030A0"/>
                  </a:solidFill>
                  <a:ea typeface="+mn-ea"/>
                </a:rPr>
                <a:t>c</a:t>
              </a:r>
            </a:p>
          </p:txBody>
        </p:sp>
        <p:sp>
          <p:nvSpPr>
            <p:cNvPr id="30" name="Oval 8">
              <a:extLst>
                <a:ext uri="{FF2B5EF4-FFF2-40B4-BE49-F238E27FC236}">
                  <a16:creationId xmlns:a16="http://schemas.microsoft.com/office/drawing/2014/main" id="{C780B422-EA43-5159-797F-AC4128249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312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b="0">
                  <a:solidFill>
                    <a:srgbClr val="7030A0"/>
                  </a:solidFill>
                  <a:ea typeface="+mn-ea"/>
                </a:rPr>
                <a:t>d</a:t>
              </a:r>
            </a:p>
          </p:txBody>
        </p:sp>
        <p:sp>
          <p:nvSpPr>
            <p:cNvPr id="31" name="Line 9">
              <a:extLst>
                <a:ext uri="{FF2B5EF4-FFF2-40B4-BE49-F238E27FC236}">
                  <a16:creationId xmlns:a16="http://schemas.microsoft.com/office/drawing/2014/main" id="{62FFF157-06BF-741E-1FE3-A55C64BB6C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592"/>
              <a:ext cx="672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en-US" sz="2400">
                <a:solidFill>
                  <a:srgbClr val="7030A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32" name="Line 10">
              <a:extLst>
                <a:ext uri="{FF2B5EF4-FFF2-40B4-BE49-F238E27FC236}">
                  <a16:creationId xmlns:a16="http://schemas.microsoft.com/office/drawing/2014/main" id="{D92735D6-1A13-1F82-0A2D-B433151346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784"/>
              <a:ext cx="0" cy="52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en-US" sz="2400">
                <a:solidFill>
                  <a:srgbClr val="7030A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33" name="Line 11">
              <a:extLst>
                <a:ext uri="{FF2B5EF4-FFF2-40B4-BE49-F238E27FC236}">
                  <a16:creationId xmlns:a16="http://schemas.microsoft.com/office/drawing/2014/main" id="{44FEA89C-F818-F946-CE50-356CDFE9D7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456"/>
              <a:ext cx="672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en-US" sz="2400">
                <a:solidFill>
                  <a:srgbClr val="7030A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34" name="Line 12">
              <a:extLst>
                <a:ext uri="{FF2B5EF4-FFF2-40B4-BE49-F238E27FC236}">
                  <a16:creationId xmlns:a16="http://schemas.microsoft.com/office/drawing/2014/main" id="{1AFB1A90-D5EA-D943-0873-87221C3326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784"/>
              <a:ext cx="0" cy="52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en-US" sz="2400">
                <a:solidFill>
                  <a:srgbClr val="7030A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35" name="Line 13">
              <a:extLst>
                <a:ext uri="{FF2B5EF4-FFF2-40B4-BE49-F238E27FC236}">
                  <a16:creationId xmlns:a16="http://schemas.microsoft.com/office/drawing/2014/main" id="{0DA72D1C-664E-9674-B40F-DDF549B2F7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736"/>
              <a:ext cx="720" cy="62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en-US" sz="2400">
                <a:solidFill>
                  <a:srgbClr val="7030A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36" name="Line 14">
              <a:extLst>
                <a:ext uri="{FF2B5EF4-FFF2-40B4-BE49-F238E27FC236}">
                  <a16:creationId xmlns:a16="http://schemas.microsoft.com/office/drawing/2014/main" id="{A73404A5-3ACB-0DEB-A209-F54987932E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" y="2688"/>
              <a:ext cx="72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en-US" sz="2400">
                <a:solidFill>
                  <a:srgbClr val="7030A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37" name="Text Box 15">
              <a:extLst>
                <a:ext uri="{FF2B5EF4-FFF2-40B4-BE49-F238E27FC236}">
                  <a16:creationId xmlns:a16="http://schemas.microsoft.com/office/drawing/2014/main" id="{76EA8CE7-7A64-D151-9192-D0F670CDAB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8" y="2887"/>
              <a:ext cx="182" cy="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sz="2000" b="0">
                  <a:solidFill>
                    <a:srgbClr val="7030A0"/>
                  </a:solidFill>
                  <a:latin typeface="Arial" panose="020B0604020202020204" pitchFamily="34" charset="0"/>
                  <a:ea typeface="+mn-ea"/>
                </a:rPr>
                <a:t>8</a:t>
              </a:r>
            </a:p>
          </p:txBody>
        </p:sp>
        <p:sp>
          <p:nvSpPr>
            <p:cNvPr id="38" name="Text Box 16">
              <a:extLst>
                <a:ext uri="{FF2B5EF4-FFF2-40B4-BE49-F238E27FC236}">
                  <a16:creationId xmlns:a16="http://schemas.microsoft.com/office/drawing/2014/main" id="{2DDA9CE1-EE28-F7AB-18A5-94A8809502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4" y="2335"/>
              <a:ext cx="182" cy="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sz="2000" b="0">
                  <a:solidFill>
                    <a:srgbClr val="7030A0"/>
                  </a:solidFill>
                  <a:latin typeface="Arial" panose="020B0604020202020204" pitchFamily="34" charset="0"/>
                  <a:ea typeface="+mn-ea"/>
                </a:rPr>
                <a:t>2</a:t>
              </a:r>
            </a:p>
          </p:txBody>
        </p:sp>
        <p:sp>
          <p:nvSpPr>
            <p:cNvPr id="39" name="Text Box 17">
              <a:extLst>
                <a:ext uri="{FF2B5EF4-FFF2-40B4-BE49-F238E27FC236}">
                  <a16:creationId xmlns:a16="http://schemas.microsoft.com/office/drawing/2014/main" id="{99DF4DA8-6677-6D80-A333-5EFF5B35D7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4" y="3439"/>
              <a:ext cx="182" cy="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sz="2000" b="0">
                  <a:solidFill>
                    <a:srgbClr val="7030A0"/>
                  </a:solidFill>
                  <a:latin typeface="Arial" panose="020B0604020202020204" pitchFamily="34" charset="0"/>
                  <a:ea typeface="+mn-ea"/>
                </a:rPr>
                <a:t>7</a:t>
              </a:r>
            </a:p>
          </p:txBody>
        </p:sp>
        <p:sp>
          <p:nvSpPr>
            <p:cNvPr id="40" name="Text Box 18">
              <a:extLst>
                <a:ext uri="{FF2B5EF4-FFF2-40B4-BE49-F238E27FC236}">
                  <a16:creationId xmlns:a16="http://schemas.microsoft.com/office/drawing/2014/main" id="{C3B76E68-5F86-D6E8-BDC5-88AA783744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0" y="2719"/>
              <a:ext cx="182" cy="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sz="2000" b="0">
                  <a:solidFill>
                    <a:srgbClr val="7030A0"/>
                  </a:solidFill>
                  <a:latin typeface="Arial" panose="020B0604020202020204" pitchFamily="34" charset="0"/>
                  <a:ea typeface="+mn-ea"/>
                </a:rPr>
                <a:t>5</a:t>
              </a:r>
            </a:p>
          </p:txBody>
        </p:sp>
        <p:sp>
          <p:nvSpPr>
            <p:cNvPr id="41" name="Text Box 19">
              <a:extLst>
                <a:ext uri="{FF2B5EF4-FFF2-40B4-BE49-F238E27FC236}">
                  <a16:creationId xmlns:a16="http://schemas.microsoft.com/office/drawing/2014/main" id="{1DF148D5-FD9C-36B3-9952-DEF7EBDC6A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8" y="2719"/>
              <a:ext cx="182" cy="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sz="2000" b="0" dirty="0">
                  <a:solidFill>
                    <a:srgbClr val="7030A0"/>
                  </a:solidFill>
                  <a:latin typeface="Arial" panose="020B0604020202020204" pitchFamily="34" charset="0"/>
                  <a:ea typeface="+mn-ea"/>
                </a:rPr>
                <a:t>3</a:t>
              </a:r>
            </a:p>
          </p:txBody>
        </p:sp>
        <p:sp>
          <p:nvSpPr>
            <p:cNvPr id="42" name="Text Box 20">
              <a:extLst>
                <a:ext uri="{FF2B5EF4-FFF2-40B4-BE49-F238E27FC236}">
                  <a16:creationId xmlns:a16="http://schemas.microsoft.com/office/drawing/2014/main" id="{D835C174-B097-8403-CAF5-DE4305DCFC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8" y="2863"/>
              <a:ext cx="182" cy="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sz="2000" b="0">
                  <a:solidFill>
                    <a:srgbClr val="7030A0"/>
                  </a:solidFill>
                  <a:latin typeface="Arial" panose="020B0604020202020204" pitchFamily="34" charset="0"/>
                  <a:ea typeface="+mn-ea"/>
                </a:rPr>
                <a:t>4</a:t>
              </a:r>
            </a:p>
          </p:txBody>
        </p:sp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F03F40F6-B5FF-E65F-4F0B-269325409B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0" y="5638800"/>
            <a:ext cx="1156608" cy="3810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F0E3486-E252-5E10-8085-6670A927BF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6327042"/>
            <a:ext cx="6208873" cy="38099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A7C7D3F-6867-AAEE-1CDE-AC5A8B405B1C}"/>
              </a:ext>
            </a:extLst>
          </p:cNvPr>
          <p:cNvSpPr/>
          <p:nvPr/>
        </p:nvSpPr>
        <p:spPr>
          <a:xfrm>
            <a:off x="1219200" y="2124788"/>
            <a:ext cx="604647" cy="2828212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B1D1DC-6574-F4BB-0CF1-53BCC323CD8D}"/>
              </a:ext>
            </a:extLst>
          </p:cNvPr>
          <p:cNvSpPr/>
          <p:nvPr/>
        </p:nvSpPr>
        <p:spPr>
          <a:xfrm>
            <a:off x="3124200" y="2133600"/>
            <a:ext cx="604647" cy="2828212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28E294-609C-512F-C094-F27ADA51B1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2096" y="5030088"/>
            <a:ext cx="5324475" cy="304800"/>
          </a:xfrm>
          <a:prstGeom prst="rect">
            <a:avLst/>
          </a:prstGeom>
          <a:ln w="28575">
            <a:solidFill>
              <a:srgbClr val="FFFF0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5C8710-134E-210F-FBF9-86D9C2A9129E}"/>
              </a:ext>
            </a:extLst>
          </p:cNvPr>
          <p:cNvSpPr txBox="1"/>
          <p:nvPr/>
        </p:nvSpPr>
        <p:spPr>
          <a:xfrm>
            <a:off x="5334000" y="5391627"/>
            <a:ext cx="6516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030A0"/>
                </a:solidFill>
              </a:rPr>
              <a:t>Number of permutations in TSP is (n-1)! excluding city of interest</a:t>
            </a:r>
            <a:endParaRPr lang="en-US" sz="1600" b="1" baseline="-25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0336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B050"/>
                </a:solidFill>
              </a:rPr>
              <a:t>Example 2: Knapsack Problem</a:t>
            </a:r>
            <a:endParaRPr sz="3800"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BBCB3BAF-B1D5-E112-5007-42672D4D18CD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5943600" cy="3385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Explanation of the problem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Given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cs typeface="Arial" charset="0"/>
              </a:rPr>
              <a:t> items</a:t>
            </a:r>
          </a:p>
          <a:p>
            <a:pPr lvl="2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200" dirty="0">
                <a:cs typeface="Arial" charset="0"/>
              </a:rPr>
              <a:t>weights    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</a:t>
            </a:r>
            <a:r>
              <a:rPr lang="en-US" alt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…  w</a:t>
            </a:r>
            <a:r>
              <a:rPr lang="en-US" alt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pPr lvl="2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200" dirty="0">
                <a:cs typeface="Arial" charset="0"/>
              </a:rPr>
              <a:t>values      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v</a:t>
            </a:r>
            <a:r>
              <a:rPr lang="en-US" alt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…  v</a:t>
            </a:r>
            <a:r>
              <a:rPr lang="en-US" alt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and a knapsack of capacity </a:t>
            </a:r>
            <a:r>
              <a:rPr lang="en-US" altLang="en-US" sz="24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</a:t>
            </a:r>
            <a:r>
              <a:rPr lang="en-US" altLang="en-US" sz="2400" dirty="0">
                <a:cs typeface="Arial" charset="0"/>
              </a:rPr>
              <a:t> 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find most valuable subset of the items that fit into the knapsack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and the </a:t>
            </a:r>
            <a:r>
              <a:rPr lang="en-US" altLang="en-US" sz="2400">
                <a:cs typeface="Arial" charset="0"/>
              </a:rPr>
              <a:t>corresponding optimal </a:t>
            </a:r>
            <a:r>
              <a:rPr lang="en-US" altLang="en-US" sz="2400" dirty="0">
                <a:cs typeface="Arial" charset="0"/>
              </a:rPr>
              <a:t>value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6F4866-0E46-36DD-310C-A0B4C055C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3133" y="3276600"/>
            <a:ext cx="5134295" cy="2971800"/>
          </a:xfrm>
          <a:prstGeom prst="rect">
            <a:avLst/>
          </a:prstGeom>
          <a:noFill/>
          <a:ln w="2857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457200" indent="-457200">
              <a:buFontTx/>
              <a:buNone/>
              <a:defRPr/>
            </a:pPr>
            <a:r>
              <a:rPr lang="en-US" altLang="en-US" sz="2400" kern="0" dirty="0"/>
              <a:t>Example:  Knapsack capacity W=16</a:t>
            </a:r>
          </a:p>
          <a:p>
            <a:pPr marL="457200" indent="-457200">
              <a:buFontTx/>
              <a:buNone/>
              <a:defRPr/>
            </a:pPr>
            <a:r>
              <a:rPr lang="en-US" altLang="en-US" sz="2400" u="sng" kern="0" dirty="0"/>
              <a:t>item        weight       value</a:t>
            </a:r>
          </a:p>
          <a:p>
            <a:pPr marL="457200" indent="-457200">
              <a:buFont typeface="Monotype Sorts" pitchFamily="2" charset="2"/>
              <a:buAutoNum type="arabicPlain"/>
              <a:defRPr/>
            </a:pPr>
            <a:r>
              <a:rPr lang="en-US" altLang="en-US" sz="2400" kern="0" dirty="0"/>
              <a:t>             2              $20</a:t>
            </a:r>
          </a:p>
          <a:p>
            <a:pPr marL="457200" indent="-457200">
              <a:buFont typeface="Monotype Sorts" pitchFamily="2" charset="2"/>
              <a:buAutoNum type="arabicPlain"/>
              <a:defRPr/>
            </a:pPr>
            <a:r>
              <a:rPr lang="en-US" altLang="en-US" sz="2400" kern="0" dirty="0"/>
              <a:t>             5              $30</a:t>
            </a:r>
          </a:p>
          <a:p>
            <a:pPr marL="457200" indent="-457200">
              <a:buFont typeface="Monotype Sorts" pitchFamily="2" charset="2"/>
              <a:buAutoNum type="arabicPlain"/>
              <a:defRPr/>
            </a:pPr>
            <a:r>
              <a:rPr lang="en-US" altLang="en-US" sz="2400" kern="0" dirty="0"/>
              <a:t>            10             $50</a:t>
            </a:r>
          </a:p>
          <a:p>
            <a:pPr marL="457200" indent="-457200">
              <a:buFont typeface="Monotype Sorts" pitchFamily="2" charset="2"/>
              <a:buAutoNum type="arabicPlain"/>
              <a:defRPr/>
            </a:pPr>
            <a:r>
              <a:rPr lang="en-US" altLang="en-US" sz="2400" kern="0" dirty="0"/>
              <a:t>             5              $10</a:t>
            </a:r>
          </a:p>
        </p:txBody>
      </p:sp>
    </p:spTree>
    <p:extLst>
      <p:ext uri="{BB962C8B-B14F-4D97-AF65-F5344CB8AC3E}">
        <p14:creationId xmlns:p14="http://schemas.microsoft.com/office/powerpoint/2010/main" val="41937280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Example 2: Knapsack Problem, Contd.</a:t>
            </a:r>
            <a:endParaRPr sz="3800"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BBCB3BAF-B1D5-E112-5007-42672D4D18CD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277600" cy="5010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Explanation of the algorithm</a:t>
            </a: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Analysis of the algorithm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Time efficiency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08167CA-B07F-6B3B-D378-702C4E03A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786674"/>
            <a:ext cx="4546036" cy="2628900"/>
          </a:xfrm>
          <a:prstGeom prst="rect">
            <a:avLst/>
          </a:prstGeom>
          <a:noFill/>
          <a:ln w="2857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457200" indent="-457200">
              <a:buFontTx/>
              <a:buNone/>
              <a:defRPr/>
            </a:pPr>
            <a:r>
              <a:rPr lang="en-US" altLang="en-US" sz="2000" b="1" kern="0" dirty="0"/>
              <a:t>Example:  Knapsack capacity W=16</a:t>
            </a:r>
          </a:p>
          <a:p>
            <a:pPr marL="457200" indent="-457200">
              <a:buFontTx/>
              <a:buNone/>
              <a:defRPr/>
            </a:pPr>
            <a:r>
              <a:rPr lang="en-US" altLang="en-US" sz="2000" b="1" u="sng" kern="0" dirty="0"/>
              <a:t>item        weight       value</a:t>
            </a:r>
          </a:p>
          <a:p>
            <a:pPr marL="457200" indent="-457200">
              <a:buFont typeface="Monotype Sorts" pitchFamily="2" charset="2"/>
              <a:buAutoNum type="arabicPlain"/>
              <a:defRPr/>
            </a:pPr>
            <a:r>
              <a:rPr lang="en-US" altLang="en-US" sz="2000" b="1" kern="0" dirty="0"/>
              <a:t>             2              $20</a:t>
            </a:r>
          </a:p>
          <a:p>
            <a:pPr marL="457200" indent="-457200">
              <a:buFont typeface="Monotype Sorts" pitchFamily="2" charset="2"/>
              <a:buAutoNum type="arabicPlain"/>
              <a:defRPr/>
            </a:pPr>
            <a:r>
              <a:rPr lang="en-US" altLang="en-US" sz="2000" b="1" kern="0" dirty="0"/>
              <a:t>             5              $30</a:t>
            </a:r>
          </a:p>
          <a:p>
            <a:pPr marL="457200" indent="-457200">
              <a:buFont typeface="Monotype Sorts" pitchFamily="2" charset="2"/>
              <a:buAutoNum type="arabicPlain"/>
              <a:defRPr/>
            </a:pPr>
            <a:r>
              <a:rPr lang="en-US" altLang="en-US" sz="2000" b="1" kern="0" dirty="0"/>
              <a:t>            10             $50</a:t>
            </a:r>
          </a:p>
          <a:p>
            <a:pPr marL="457200" indent="-457200">
              <a:buFont typeface="Monotype Sorts" pitchFamily="2" charset="2"/>
              <a:buAutoNum type="arabicPlain"/>
              <a:defRPr/>
            </a:pPr>
            <a:r>
              <a:rPr lang="en-US" altLang="en-US" sz="2000" b="1" kern="0" dirty="0"/>
              <a:t>             5              $10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2E0E8A-E7B1-1B49-6F5B-B5B51C214E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1800" y="1352491"/>
            <a:ext cx="4546035" cy="4819709"/>
          </a:xfrm>
          <a:prstGeom prst="rect">
            <a:avLst/>
          </a:prstGeom>
        </p:spPr>
      </p:pic>
      <p:sp>
        <p:nvSpPr>
          <p:cNvPr id="12" name="Text Box 6">
            <a:extLst>
              <a:ext uri="{FF2B5EF4-FFF2-40B4-BE49-F238E27FC236}">
                <a16:creationId xmlns:a16="http://schemas.microsoft.com/office/drawing/2014/main" id="{A8ED46C7-ADC8-3B5C-3FC8-0C68D7076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7619" y="6389282"/>
            <a:ext cx="7517835" cy="40011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spcBef>
                <a:spcPct val="50000"/>
              </a:spcBef>
              <a:buClrTx/>
              <a:buSzTx/>
              <a:buNone/>
            </a:pPr>
            <a:r>
              <a:rPr kumimoji="0" lang="en-US" altLang="en-US" sz="2000" b="0" dirty="0">
                <a:solidFill>
                  <a:srgbClr val="001932"/>
                </a:solidFill>
                <a:ea typeface="+mn-ea"/>
              </a:rPr>
              <a:t>Each subset can be represented by a binary string (bit vector, Ch 5)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090DE5-FC47-107D-06C0-A0AB3C00BB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7918" y="5744030"/>
            <a:ext cx="1143000" cy="514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6BEBB0-1032-D92B-7BC6-10E3EC7BEB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4805756"/>
            <a:ext cx="5334000" cy="411266"/>
          </a:xfrm>
          <a:prstGeom prst="rect">
            <a:avLst/>
          </a:prstGeom>
          <a:ln w="28575">
            <a:solidFill>
              <a:srgbClr val="FFFF00"/>
            </a:solidFill>
          </a:ln>
        </p:spPr>
      </p:pic>
    </p:spTree>
    <p:extLst>
      <p:ext uri="{BB962C8B-B14F-4D97-AF65-F5344CB8AC3E}">
        <p14:creationId xmlns:p14="http://schemas.microsoft.com/office/powerpoint/2010/main" val="3313383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B050"/>
                </a:solidFill>
              </a:rPr>
              <a:t>Example 3: The Assignment Problem</a:t>
            </a:r>
            <a:endParaRPr sz="3800"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5D5FF002-1184-050E-FB7A-AF15EC24C7B3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449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Explanation of the problem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There are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cs typeface="Arial" charset="0"/>
              </a:rPr>
              <a:t> people who need to be assigned to n jobs, one person per job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The cost of assigning person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dirty="0">
                <a:cs typeface="Arial" charset="0"/>
              </a:rPr>
              <a:t> to job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400" dirty="0">
                <a:cs typeface="Arial" charset="0"/>
              </a:rPr>
              <a:t> is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C[</a:t>
            </a:r>
            <a:r>
              <a:rPr lang="en-US" alt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Find an assignment that minimizes the total cost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Explanation of the algorithm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Generate all legitimate assignments, 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compute their costs, 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and select the cheapest one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n! assignments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820D1A-5305-FEA5-0C6F-6391A32E8E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9039" y="3276600"/>
            <a:ext cx="5057161" cy="1950295"/>
          </a:xfrm>
          <a:prstGeom prst="rect">
            <a:avLst/>
          </a:prstGeom>
          <a:ln w="28575">
            <a:solidFill>
              <a:srgbClr val="FFFF00"/>
            </a:solidFill>
          </a:ln>
        </p:spPr>
      </p:pic>
    </p:spTree>
    <p:extLst>
      <p:ext uri="{BB962C8B-B14F-4D97-AF65-F5344CB8AC3E}">
        <p14:creationId xmlns:p14="http://schemas.microsoft.com/office/powerpoint/2010/main" val="4048816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Example 3: The Assignment Problem, Contd.</a:t>
            </a:r>
            <a:endParaRPr sz="3800"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5D5FF002-1184-050E-FB7A-AF15EC24C7B3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4567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0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Analysis of the algorithm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One can pick the best person for the job </a:t>
            </a: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	   by looking at the minimum in each column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This can reduce the search space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Time efficiency is O(n!)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5F20F876-D989-35C0-24A8-2DDAE4022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345286"/>
              </p:ext>
            </p:extLst>
          </p:nvPr>
        </p:nvGraphicFramePr>
        <p:xfrm>
          <a:off x="7715183" y="838202"/>
          <a:ext cx="3867217" cy="5461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16150">
                  <a:extLst>
                    <a:ext uri="{9D8B030D-6E8A-4147-A177-3AD203B41FA5}">
                      <a16:colId xmlns:a16="http://schemas.microsoft.com/office/drawing/2014/main" val="2338639029"/>
                    </a:ext>
                  </a:extLst>
                </a:gridCol>
                <a:gridCol w="1951067">
                  <a:extLst>
                    <a:ext uri="{9D8B030D-6E8A-4147-A177-3AD203B41FA5}">
                      <a16:colId xmlns:a16="http://schemas.microsoft.com/office/drawing/2014/main" val="25886857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Assignment (columns)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Total Cost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705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1,2,3,4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9+4+1+4 = 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74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1,2,4,3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9+4+8+9 = 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604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1,3,2,4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b="0" dirty="0"/>
                        <a:t>9+3+8+4=24</a:t>
                      </a:r>
                      <a:endParaRPr lang="en-US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365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1,3,4,2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b="0" dirty="0"/>
                        <a:t>9+3+8+6=26</a:t>
                      </a:r>
                      <a:endParaRPr lang="en-US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147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1,4,2,3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b="0" dirty="0"/>
                        <a:t>9+7+8+9=33</a:t>
                      </a:r>
                      <a:endParaRPr lang="en-US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902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1,4,3,2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 b="0" dirty="0"/>
                        <a:t>9+7+1+6=23</a:t>
                      </a:r>
                      <a:endParaRPr lang="en-US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313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2,1,3,4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6+2+1+4 = 13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0564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2,1,4,3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560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2,3,1,4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145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2,3,4,1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873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2,4,1,3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7352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2,4,3,1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465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86395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D6367F4-87C2-35B1-DED2-79A711A2511D}"/>
              </a:ext>
            </a:extLst>
          </p:cNvPr>
          <p:cNvSpPr txBox="1"/>
          <p:nvPr/>
        </p:nvSpPr>
        <p:spPr>
          <a:xfrm flipH="1">
            <a:off x="3731235" y="6091535"/>
            <a:ext cx="6245425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 eaLnBrk="0" hangingPunct="0"/>
            <a:r>
              <a:rPr lang="en-US" sz="2400" dirty="0">
                <a:solidFill>
                  <a:srgbClr val="001932"/>
                </a:solidFill>
                <a:latin typeface="Times New Roman" panose="02020603050405020304" pitchFamily="18" charset="0"/>
                <a:ea typeface="+mn-ea"/>
              </a:rPr>
              <a:t>Number of possible assignment = 24 = 4!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62CE77-D017-70D1-4E97-911EF85A59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000546"/>
            <a:ext cx="4724400" cy="1821966"/>
          </a:xfrm>
          <a:prstGeom prst="rect">
            <a:avLst/>
          </a:prstGeom>
          <a:ln w="28575">
            <a:solidFill>
              <a:srgbClr val="FFFF0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2EB96F-98DB-5BBF-0141-1EE9266835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7000" y="5866751"/>
            <a:ext cx="5324475" cy="304800"/>
          </a:xfrm>
          <a:prstGeom prst="rect">
            <a:avLst/>
          </a:prstGeom>
          <a:ln w="28575">
            <a:solidFill>
              <a:srgbClr val="FFFF0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88C339-C452-17DB-960D-29F593C9C909}"/>
              </a:ext>
            </a:extLst>
          </p:cNvPr>
          <p:cNvSpPr txBox="1"/>
          <p:nvPr/>
        </p:nvSpPr>
        <p:spPr>
          <a:xfrm>
            <a:off x="2819400" y="6581001"/>
            <a:ext cx="9067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8"/>
              </a:rPr>
              <a:t>https://saade.perso.math.cnrs.fr/HungarianAlgorithm/HungarianAlgorithm.html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CF0747-F6C0-92F9-BD73-2D99A48406B9}"/>
              </a:ext>
            </a:extLst>
          </p:cNvPr>
          <p:cNvSpPr txBox="1"/>
          <p:nvPr/>
        </p:nvSpPr>
        <p:spPr>
          <a:xfrm>
            <a:off x="9296400" y="4187489"/>
            <a:ext cx="20207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030A0"/>
                </a:solidFill>
              </a:rPr>
              <a:t>permutations of persons (to jobs)</a:t>
            </a:r>
            <a:endParaRPr lang="en-US" sz="1600" b="1" baseline="-25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9859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4000" b="1" dirty="0">
                <a:solidFill>
                  <a:srgbClr val="FFC000"/>
                </a:solidFill>
              </a:rPr>
              <a:t>Final Comments on Exhaustive Search</a:t>
            </a:r>
            <a:endParaRPr sz="4000" b="1" spc="-18" dirty="0">
              <a:solidFill>
                <a:srgbClr val="FFC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5503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Tx/>
              <a:buBlip>
                <a:blip r:embed="rId3"/>
              </a:buBlip>
              <a:tabLst>
                <a:tab pos="465671" algn="l"/>
              </a:tabLst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Exhaustive-search algorithms run in a realistic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(reasonable)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 amount of time only on very small instances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Tx/>
              <a:buBlip>
                <a:blip r:embed="rId3"/>
              </a:buBlip>
              <a:tabLst>
                <a:tab pos="465671" algn="l"/>
              </a:tabLst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charset="0"/>
              <a:cs typeface="Arial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Tx/>
              <a:buBlip>
                <a:blip r:embed="rId3"/>
              </a:buBlip>
              <a:tabLst>
                <a:tab pos="465671" algn="l"/>
              </a:tabLst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In many cases, exhaustive search or its variation is the only known way to get exact solution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Tx/>
              <a:buBlip>
                <a:blip r:embed="rId3"/>
              </a:buBlip>
              <a:tabLst>
                <a:tab pos="465671" algn="l"/>
              </a:tabLst>
              <a:defRPr/>
            </a:pPr>
            <a:endParaRPr lang="en-US" sz="2800" dirty="0">
              <a:solidFill>
                <a:srgbClr val="000000"/>
              </a:solidFill>
              <a:latin typeface="Arial"/>
              <a:cs typeface="Arial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Tx/>
              <a:buBlip>
                <a:blip r:embed="rId3"/>
              </a:buBlip>
              <a:tabLst>
                <a:tab pos="465671" algn="l"/>
              </a:tabLst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In some cases, there are much better alternatives! </a:t>
            </a:r>
          </a:p>
          <a:p>
            <a:pPr lvl="1" indent="-342900">
              <a:buClr>
                <a:srgbClr val="FF6600"/>
              </a:buClr>
              <a:buSzPct val="75000"/>
              <a:buBlip>
                <a:blip r:embed="rId3"/>
              </a:buBlip>
              <a:tabLst>
                <a:tab pos="465671" algn="l"/>
              </a:tabLst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Euler circuits</a:t>
            </a:r>
          </a:p>
          <a:p>
            <a:pPr lvl="1" indent="-342900">
              <a:buClr>
                <a:srgbClr val="FF6600"/>
              </a:buClr>
              <a:buSzPct val="75000"/>
              <a:buBlip>
                <a:blip r:embed="rId3"/>
              </a:buBlip>
              <a:tabLst>
                <a:tab pos="465671" algn="l"/>
              </a:tabLst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shortest paths</a:t>
            </a:r>
          </a:p>
          <a:p>
            <a:pPr lvl="1" indent="-342900">
              <a:buClr>
                <a:srgbClr val="FF6600"/>
              </a:buClr>
              <a:buSzPct val="75000"/>
              <a:buBlip>
                <a:blip r:embed="rId3"/>
              </a:buBlip>
              <a:tabLst>
                <a:tab pos="465671" algn="l"/>
              </a:tabLst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minimum spanning tree</a:t>
            </a:r>
          </a:p>
          <a:p>
            <a:pPr lvl="1" indent="-342900">
              <a:buClr>
                <a:srgbClr val="FF6600"/>
              </a:buClr>
              <a:buSzPct val="75000"/>
              <a:buBlip>
                <a:blip r:embed="rId3"/>
              </a:buBlip>
              <a:tabLst>
                <a:tab pos="465671" algn="l"/>
              </a:tabLst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assignment problem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Tx/>
              <a:buBlip>
                <a:blip r:embed="rId3"/>
              </a:buBlip>
              <a:tabLst>
                <a:tab pos="465671" algn="l"/>
              </a:tabLst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charset="0"/>
              <a:cs typeface="Arial" charset="0"/>
            </a:endParaRP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9CFDA896-1446-5DC5-CE83-54EE23D59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937518"/>
            <a:ext cx="6019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spcBef>
                <a:spcPct val="50000"/>
              </a:spcBef>
              <a:buClrTx/>
              <a:buSzTx/>
              <a:buNone/>
            </a:pPr>
            <a:r>
              <a:rPr kumimoji="0" lang="en-US" altLang="en-US" b="0" dirty="0">
                <a:solidFill>
                  <a:srgbClr val="FF9933"/>
                </a:solidFill>
                <a:ea typeface="+mn-ea"/>
              </a:rPr>
              <a:t>The Hungarian method for solving the assignment problems runs in O(n^3) 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27040-60F1-2715-3BE2-A6262D921CD2}"/>
              </a:ext>
            </a:extLst>
          </p:cNvPr>
          <p:cNvSpPr txBox="1"/>
          <p:nvPr/>
        </p:nvSpPr>
        <p:spPr>
          <a:xfrm>
            <a:off x="2819400" y="6504801"/>
            <a:ext cx="9067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6"/>
              </a:rPr>
              <a:t>https://www.thesaurus.com/browse/realistic</a:t>
            </a:r>
            <a:r>
              <a:rPr lang="en-US" sz="1200" dirty="0"/>
              <a:t>; </a:t>
            </a:r>
            <a:r>
              <a:rPr lang="en-US" sz="1200" dirty="0">
                <a:hlinkClick r:id="rId7"/>
              </a:rPr>
              <a:t>https://saade.perso.math.cnrs.fr/HungarianAlgorithm/HungarianAlgorithm.html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6186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DataScienc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S1">
  <a:themeElements>
    <a:clrScheme name="">
      <a:dk1>
        <a:srgbClr val="001932"/>
      </a:dk1>
      <a:lt1>
        <a:srgbClr val="FFFFFF"/>
      </a:lt1>
      <a:dk2>
        <a:srgbClr val="2181B7"/>
      </a:dk2>
      <a:lt2>
        <a:srgbClr val="CCFFFF"/>
      </a:lt2>
      <a:accent1>
        <a:srgbClr val="99FFCC"/>
      </a:accent1>
      <a:accent2>
        <a:srgbClr val="01B0FF"/>
      </a:accent2>
      <a:accent3>
        <a:srgbClr val="ABC1D8"/>
      </a:accent3>
      <a:accent4>
        <a:srgbClr val="DADADA"/>
      </a:accent4>
      <a:accent5>
        <a:srgbClr val="CAFFE2"/>
      </a:accent5>
      <a:accent6>
        <a:srgbClr val="019FE7"/>
      </a:accent6>
      <a:hlink>
        <a:srgbClr val="FFFF99"/>
      </a:hlink>
      <a:folHlink>
        <a:srgbClr val="1C6D9A"/>
      </a:folHlink>
    </a:clrScheme>
    <a:fontScheme name="CS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FF0000"/>
          </a:solidFill>
          <a:prstDash val="solid"/>
          <a:round/>
          <a:headEnd type="none" w="sm" len="sm"/>
          <a:tailEnd type="triangl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FF0000"/>
          </a:solidFill>
          <a:prstDash val="solid"/>
          <a:round/>
          <a:headEnd type="none" w="sm" len="sm"/>
          <a:tailEnd type="triangl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CS1 1">
        <a:dk1>
          <a:srgbClr val="001932"/>
        </a:dk1>
        <a:lt1>
          <a:srgbClr val="FFFFFF"/>
        </a:lt1>
        <a:dk2>
          <a:srgbClr val="2181B7"/>
        </a:dk2>
        <a:lt2>
          <a:srgbClr val="CCFFFF"/>
        </a:lt2>
        <a:accent1>
          <a:srgbClr val="99FFCC"/>
        </a:accent1>
        <a:accent2>
          <a:srgbClr val="01B0FF"/>
        </a:accent2>
        <a:accent3>
          <a:srgbClr val="ABC1D8"/>
        </a:accent3>
        <a:accent4>
          <a:srgbClr val="DADADA"/>
        </a:accent4>
        <a:accent5>
          <a:srgbClr val="CAFFE2"/>
        </a:accent5>
        <a:accent6>
          <a:srgbClr val="019FE7"/>
        </a:accent6>
        <a:hlink>
          <a:srgbClr val="6666FF"/>
        </a:hlink>
        <a:folHlink>
          <a:srgbClr val="1C6D9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1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666699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B9B9E7"/>
        </a:accent6>
        <a:hlink>
          <a:srgbClr val="CC00CC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 4">
        <a:dk1>
          <a:srgbClr val="000000"/>
        </a:dk1>
        <a:lt1>
          <a:srgbClr val="FFFFCC"/>
        </a:lt1>
        <a:dk2>
          <a:srgbClr val="FF6600"/>
        </a:dk2>
        <a:lt2>
          <a:srgbClr val="333300"/>
        </a:lt2>
        <a:accent1>
          <a:srgbClr val="800000"/>
        </a:accent1>
        <a:accent2>
          <a:srgbClr val="CC6600"/>
        </a:accent2>
        <a:accent3>
          <a:srgbClr val="FFFFE2"/>
        </a:accent3>
        <a:accent4>
          <a:srgbClr val="000000"/>
        </a:accent4>
        <a:accent5>
          <a:srgbClr val="C0AAAA"/>
        </a:accent5>
        <a:accent6>
          <a:srgbClr val="B95C00"/>
        </a:accent6>
        <a:hlink>
          <a:srgbClr val="8080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 5">
        <a:dk1>
          <a:srgbClr val="1C3956"/>
        </a:dk1>
        <a:lt1>
          <a:srgbClr val="FFFFFF"/>
        </a:lt1>
        <a:dk2>
          <a:srgbClr val="003366"/>
        </a:dk2>
        <a:lt2>
          <a:srgbClr val="DDDDDD"/>
        </a:lt2>
        <a:accent1>
          <a:srgbClr val="3D7CBB"/>
        </a:accent1>
        <a:accent2>
          <a:srgbClr val="00152A"/>
        </a:accent2>
        <a:accent3>
          <a:srgbClr val="AAADB8"/>
        </a:accent3>
        <a:accent4>
          <a:srgbClr val="DADADA"/>
        </a:accent4>
        <a:accent5>
          <a:srgbClr val="AFBFDA"/>
        </a:accent5>
        <a:accent6>
          <a:srgbClr val="001225"/>
        </a:accent6>
        <a:hlink>
          <a:srgbClr val="33CCCC"/>
        </a:hlink>
        <a:folHlink>
          <a:srgbClr val="96B9D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1 6">
        <a:dk1>
          <a:srgbClr val="000000"/>
        </a:dk1>
        <a:lt1>
          <a:srgbClr val="FFFFFF"/>
        </a:lt1>
        <a:dk2>
          <a:srgbClr val="440044"/>
        </a:dk2>
        <a:lt2>
          <a:srgbClr val="491D49"/>
        </a:lt2>
        <a:accent1>
          <a:srgbClr val="9D9DBD"/>
        </a:accent1>
        <a:accent2>
          <a:srgbClr val="14213C"/>
        </a:accent2>
        <a:accent3>
          <a:srgbClr val="FFFFFF"/>
        </a:accent3>
        <a:accent4>
          <a:srgbClr val="000000"/>
        </a:accent4>
        <a:accent5>
          <a:srgbClr val="CCCCDB"/>
        </a:accent5>
        <a:accent6>
          <a:srgbClr val="111D35"/>
        </a:accent6>
        <a:hlink>
          <a:srgbClr val="666699"/>
        </a:hlink>
        <a:folHlink>
          <a:srgbClr val="DBDBF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 7">
        <a:dk1>
          <a:srgbClr val="000000"/>
        </a:dk1>
        <a:lt1>
          <a:srgbClr val="FFFFFF"/>
        </a:lt1>
        <a:dk2>
          <a:srgbClr val="000000"/>
        </a:dk2>
        <a:lt2>
          <a:srgbClr val="001A00"/>
        </a:lt2>
        <a:accent1>
          <a:srgbClr val="339966"/>
        </a:accent1>
        <a:accent2>
          <a:srgbClr val="003300"/>
        </a:accent2>
        <a:accent3>
          <a:srgbClr val="FFFFFF"/>
        </a:accent3>
        <a:accent4>
          <a:srgbClr val="000000"/>
        </a:accent4>
        <a:accent5>
          <a:srgbClr val="ADCAB8"/>
        </a:accent5>
        <a:accent6>
          <a:srgbClr val="002D00"/>
        </a:accent6>
        <a:hlink>
          <a:srgbClr val="FF9933"/>
        </a:hlink>
        <a:folHlink>
          <a:srgbClr val="AFE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 8">
        <a:dk1>
          <a:srgbClr val="000000"/>
        </a:dk1>
        <a:lt1>
          <a:srgbClr val="FFFFFF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D60093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C20085"/>
        </a:accent6>
        <a:hlink>
          <a:srgbClr val="9966FF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DataScience</Template>
  <TotalTime>5289</TotalTime>
  <Words>2804</Words>
  <Application>Microsoft Office PowerPoint</Application>
  <PresentationFormat>Widescreen</PresentationFormat>
  <Paragraphs>448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27</vt:i4>
      </vt:variant>
    </vt:vector>
  </HeadingPairs>
  <TitlesOfParts>
    <vt:vector size="40" baseType="lpstr">
      <vt:lpstr>Agency FB</vt:lpstr>
      <vt:lpstr>Arial</vt:lpstr>
      <vt:lpstr>Arial Narrow</vt:lpstr>
      <vt:lpstr>Calibri</vt:lpstr>
      <vt:lpstr>Cambria Math</vt:lpstr>
      <vt:lpstr>Monotype Sorts</vt:lpstr>
      <vt:lpstr>Open Sans</vt:lpstr>
      <vt:lpstr>Roboto</vt:lpstr>
      <vt:lpstr>Symbol</vt:lpstr>
      <vt:lpstr>Times New Roman</vt:lpstr>
      <vt:lpstr>DataScience</vt:lpstr>
      <vt:lpstr>Custom Design</vt:lpstr>
      <vt:lpstr>CS1</vt:lpstr>
      <vt:lpstr>Topic 2</vt:lpstr>
      <vt:lpstr>Brute Force</vt:lpstr>
      <vt:lpstr>Example 1: Selection Sort</vt:lpstr>
      <vt:lpstr>Example 1: Selection Sort, Contd.</vt:lpstr>
      <vt:lpstr>Example 1: Selection Sort, Contd.</vt:lpstr>
      <vt:lpstr>Example 2: Bubble Sort</vt:lpstr>
      <vt:lpstr>Example 2: Bubble Sort, Contd.</vt:lpstr>
      <vt:lpstr>Example 2: Insertion Sort</vt:lpstr>
      <vt:lpstr>Example 2: Insertion Sort, Contd.</vt:lpstr>
      <vt:lpstr>Example 2: Insertion Sort, Contd.</vt:lpstr>
      <vt:lpstr>Example 3: String Matching</vt:lpstr>
      <vt:lpstr>Example 3: String Matching, Contd.</vt:lpstr>
      <vt:lpstr>Example 3: String Matching, Contd.</vt:lpstr>
      <vt:lpstr>Example 3: String Matching, Contd.</vt:lpstr>
      <vt:lpstr>Example 4: Closet Pair Problem</vt:lpstr>
      <vt:lpstr>Example 4: Closet Pair Problem, Contd.</vt:lpstr>
      <vt:lpstr>Example 4: Closet Pair Problem, Contd.</vt:lpstr>
      <vt:lpstr>Strengths and Weaknesses of Brute Force</vt:lpstr>
      <vt:lpstr>PowerPoint Presentation</vt:lpstr>
      <vt:lpstr>Exhaustive Search</vt:lpstr>
      <vt:lpstr>Example 1: Traveling Salesman Problem</vt:lpstr>
      <vt:lpstr>Example 1: Traveling Salesman Problem, Contd.</vt:lpstr>
      <vt:lpstr>Example 2: Knapsack Problem</vt:lpstr>
      <vt:lpstr>Example 2: Knapsack Problem, Contd.</vt:lpstr>
      <vt:lpstr>Example 3: The Assignment Problem</vt:lpstr>
      <vt:lpstr>Example 3: The Assignment Problem, Contd.</vt:lpstr>
      <vt:lpstr>Final Comments on Exhaustive Search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Science</dc:title>
  <dc:creator>Jf</dc:creator>
  <cp:lastModifiedBy>ريان خالد علي عذيب</cp:lastModifiedBy>
  <cp:revision>253</cp:revision>
  <cp:lastPrinted>2019-09-01T09:07:45Z</cp:lastPrinted>
  <dcterms:created xsi:type="dcterms:W3CDTF">2015-03-22T23:49:48Z</dcterms:created>
  <dcterms:modified xsi:type="dcterms:W3CDTF">2026-04-08T16:09:11Z</dcterms:modified>
</cp:coreProperties>
</file>